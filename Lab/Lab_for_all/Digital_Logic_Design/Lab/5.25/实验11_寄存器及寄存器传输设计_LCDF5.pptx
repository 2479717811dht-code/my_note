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31"/>
  </p:notesMasterIdLst>
  <p:sldIdLst>
    <p:sldId id="256" r:id="rId4"/>
    <p:sldId id="270" r:id="rId5"/>
    <p:sldId id="271" r:id="rId6"/>
    <p:sldId id="272" r:id="rId7"/>
    <p:sldId id="313" r:id="rId8"/>
    <p:sldId id="342" r:id="rId9"/>
    <p:sldId id="343" r:id="rId10"/>
    <p:sldId id="344" r:id="rId11"/>
    <p:sldId id="351" r:id="rId12"/>
    <p:sldId id="345" r:id="rId13"/>
    <p:sldId id="350" r:id="rId14"/>
    <p:sldId id="353" r:id="rId15"/>
    <p:sldId id="346" r:id="rId16"/>
    <p:sldId id="352" r:id="rId17"/>
    <p:sldId id="347" r:id="rId18"/>
    <p:sldId id="284" r:id="rId19"/>
    <p:sldId id="362" r:id="rId20"/>
    <p:sldId id="318" r:id="rId21"/>
    <p:sldId id="357" r:id="rId22"/>
    <p:sldId id="356" r:id="rId23"/>
    <p:sldId id="358" r:id="rId24"/>
    <p:sldId id="354" r:id="rId25"/>
    <p:sldId id="338" r:id="rId26"/>
    <p:sldId id="363" r:id="rId27"/>
    <p:sldId id="355" r:id="rId28"/>
    <p:sldId id="361" r:id="rId29"/>
    <p:sldId id="269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313"/>
            <p14:sldId id="342"/>
            <p14:sldId id="343"/>
            <p14:sldId id="344"/>
            <p14:sldId id="351"/>
            <p14:sldId id="345"/>
            <p14:sldId id="350"/>
            <p14:sldId id="353"/>
            <p14:sldId id="346"/>
            <p14:sldId id="352"/>
            <p14:sldId id="347"/>
            <p14:sldId id="284"/>
            <p14:sldId id="362"/>
            <p14:sldId id="318"/>
            <p14:sldId id="357"/>
            <p14:sldId id="356"/>
            <p14:sldId id="358"/>
            <p14:sldId id="354"/>
            <p14:sldId id="338"/>
            <p14:sldId id="363"/>
            <p14:sldId id="355"/>
            <p14:sldId id="361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2" autoAdjust="0"/>
    <p:restoredTop sz="95227" autoAdjust="0"/>
  </p:normalViewPr>
  <p:slideViewPr>
    <p:cSldViewPr>
      <p:cViewPr varScale="1">
        <p:scale>
          <a:sx n="85" d="100"/>
          <a:sy n="85" d="100"/>
        </p:scale>
        <p:origin x="1110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11</a:t>
            </a:r>
            <a:r>
              <a:rPr lang="zh-CN" altLang="en-US" sz="3600" b="1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</a:t>
            </a:r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寄存器和</a:t>
            </a:r>
            <a:r>
              <a:rPr lang="zh-CN" altLang="zh-CN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寄存器</a:t>
            </a:r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传输设计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  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r>
              <a:rPr lang="zh-CN" altLang="en-US" dirty="0" smtClean="0"/>
              <a:t>实验</a:t>
            </a:r>
            <a:r>
              <a:rPr lang="zh-CN" altLang="en-US" dirty="0"/>
              <a:t>设备与</a:t>
            </a:r>
            <a:r>
              <a:rPr lang="zh-CN" altLang="en-US" dirty="0" smtClean="0"/>
              <a:t>材料</a:t>
            </a:r>
            <a:endParaRPr lang="en-US" altLang="zh-CN" dirty="0" smtClean="0"/>
          </a:p>
          <a:p>
            <a:r>
              <a:rPr lang="zh-CN" altLang="en-US" dirty="0" smtClean="0"/>
              <a:t>实验任务</a:t>
            </a:r>
            <a:endParaRPr lang="en-US" altLang="zh-CN" dirty="0" smtClean="0"/>
          </a:p>
          <a:p>
            <a:r>
              <a:rPr lang="zh-CN" altLang="en-US" dirty="0" smtClean="0"/>
              <a:t>实验原理</a:t>
            </a:r>
            <a:endParaRPr lang="en-US" altLang="zh-CN" dirty="0" smtClean="0"/>
          </a:p>
          <a:p>
            <a:r>
              <a:rPr lang="zh-CN" altLang="en-US" dirty="0" smtClean="0"/>
              <a:t>实验内容与步骤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8820472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 smtClean="0"/>
              <a:t>掌握寄存器传输电路的</a:t>
            </a:r>
            <a:r>
              <a:rPr lang="zh-CN" altLang="en-US" sz="2800" dirty="0"/>
              <a:t>工作</a:t>
            </a:r>
            <a:r>
              <a:rPr lang="zh-CN" altLang="en-US" sz="2800" dirty="0" smtClean="0"/>
              <a:t>原理</a:t>
            </a: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 smtClean="0"/>
              <a:t>掌握</a:t>
            </a:r>
            <a:r>
              <a:rPr lang="zh-CN" altLang="en-US" sz="2800" dirty="0"/>
              <a:t>寄存器</a:t>
            </a:r>
            <a:r>
              <a:rPr lang="zh-CN" altLang="en-US" sz="2800" dirty="0" smtClean="0"/>
              <a:t>传输电路的设计</a:t>
            </a:r>
            <a:r>
              <a:rPr lang="zh-CN" altLang="en-US" sz="2800" dirty="0"/>
              <a:t>方法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 smtClean="0"/>
              <a:t>掌握</a:t>
            </a:r>
            <a:r>
              <a:rPr lang="en-US" altLang="zh-CN" sz="2800" dirty="0" smtClean="0"/>
              <a:t>ALU</a:t>
            </a:r>
            <a:r>
              <a:rPr lang="zh-CN" altLang="en-US" sz="2800" dirty="0"/>
              <a:t>和寄存器传输</a:t>
            </a:r>
            <a:r>
              <a:rPr lang="zh-CN" altLang="en-US" sz="2800" dirty="0" smtClean="0"/>
              <a:t>电路的综合应用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实验设备与材料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	1</a:t>
            </a:r>
            <a:r>
              <a:rPr lang="zh-CN" altLang="en-US" dirty="0"/>
              <a:t>套</a:t>
            </a:r>
          </a:p>
          <a:p>
            <a:r>
              <a:rPr lang="zh-CN" altLang="en-US" dirty="0" smtClean="0"/>
              <a:t>实验</a:t>
            </a:r>
            <a:r>
              <a:rPr lang="zh-CN" altLang="en-US" dirty="0"/>
              <a:t>材料</a:t>
            </a:r>
          </a:p>
          <a:p>
            <a:pPr lvl="1"/>
            <a:r>
              <a:rPr lang="zh-CN" altLang="en-US" dirty="0" smtClean="0"/>
              <a:t>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寄存器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寄存器传输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基于多路选择器总线的寄存器</a:t>
            </a:r>
            <a:r>
              <a:rPr lang="zh-CN" altLang="en-US" dirty="0" smtClean="0"/>
              <a:t>传输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寄存器传输应用设计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16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itchFamily="2" charset="-122"/>
                <a:cs typeface="Times New Roman" pitchFamily="18" charset="0"/>
              </a:rPr>
              <a:t>一</a:t>
            </a:r>
            <a:r>
              <a:rPr lang="zh-CN" altLang="en-US" dirty="0">
                <a:ea typeface="宋体" pitchFamily="2" charset="-122"/>
                <a:cs typeface="Times New Roman" pitchFamily="18" charset="0"/>
              </a:rPr>
              <a:t>组二进制</a:t>
            </a:r>
            <a:r>
              <a:rPr lang="zh-CN" altLang="en-US" dirty="0" smtClean="0">
                <a:ea typeface="宋体" pitchFamily="2" charset="-122"/>
                <a:cs typeface="Times New Roman" pitchFamily="18" charset="0"/>
              </a:rPr>
              <a:t>存储单元</a:t>
            </a:r>
            <a:endParaRPr lang="en-US" altLang="zh-CN" dirty="0" smtClean="0">
              <a:ea typeface="宋体" pitchFamily="2" charset="-122"/>
              <a:cs typeface="Times New Roman" pitchFamily="18" charset="0"/>
            </a:endParaRPr>
          </a:p>
          <a:p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r>
              <a:rPr lang="zh-CN" altLang="en-US" dirty="0" smtClean="0">
                <a:ea typeface="宋体" pitchFamily="2" charset="-122"/>
                <a:cs typeface="Times New Roman" pitchFamily="18" charset="0"/>
              </a:rPr>
              <a:t>一</a:t>
            </a:r>
            <a:r>
              <a:rPr lang="zh-CN" altLang="en-US" dirty="0">
                <a:ea typeface="宋体" pitchFamily="2" charset="-122"/>
                <a:cs typeface="Times New Roman" pitchFamily="18" charset="0"/>
              </a:rPr>
              <a:t>个寄存器可以用于存储一列二进制</a:t>
            </a:r>
            <a:r>
              <a:rPr lang="zh-CN" altLang="en-US" dirty="0" smtClean="0">
                <a:ea typeface="宋体" pitchFamily="2" charset="-122"/>
                <a:cs typeface="Times New Roman" pitchFamily="18" charset="0"/>
              </a:rPr>
              <a:t>值，通常</a:t>
            </a:r>
            <a:r>
              <a:rPr lang="zh-CN" altLang="en-US" dirty="0">
                <a:ea typeface="宋体" pitchFamily="2" charset="-122"/>
                <a:cs typeface="Times New Roman" pitchFamily="18" charset="0"/>
              </a:rPr>
              <a:t>用于进行简单数据存储</a:t>
            </a:r>
            <a:r>
              <a:rPr lang="zh-CN" altLang="en-US" dirty="0" smtClean="0">
                <a:ea typeface="宋体" pitchFamily="2" charset="-122"/>
                <a:cs typeface="Times New Roman" pitchFamily="18" charset="0"/>
              </a:rPr>
              <a:t>、移动</a:t>
            </a:r>
            <a:r>
              <a:rPr lang="zh-CN" altLang="en-US" dirty="0">
                <a:ea typeface="宋体" pitchFamily="2" charset="-122"/>
                <a:cs typeface="Times New Roman" pitchFamily="18" charset="0"/>
              </a:rPr>
              <a:t>和处理等</a:t>
            </a:r>
            <a:r>
              <a:rPr lang="zh-CN" altLang="en-US" dirty="0" smtClean="0">
                <a:ea typeface="宋体" pitchFamily="2" charset="-122"/>
                <a:cs typeface="Times New Roman" pitchFamily="18" charset="0"/>
              </a:rPr>
              <a:t>操作</a:t>
            </a:r>
            <a:endParaRPr lang="en-US" altLang="zh-CN" dirty="0" smtClean="0">
              <a:ea typeface="宋体" pitchFamily="2" charset="-122"/>
              <a:cs typeface="Times New Roman" pitchFamily="18" charset="0"/>
            </a:endParaRPr>
          </a:p>
          <a:p>
            <a:endParaRPr lang="en-US" altLang="zh-CN" dirty="0">
              <a:ea typeface="宋体" pitchFamily="2" charset="-122"/>
              <a:cs typeface="Times New Roman" pitchFamily="18" charset="0"/>
            </a:endParaRPr>
          </a:p>
          <a:p>
            <a:r>
              <a:rPr lang="zh-CN" altLang="en-US" dirty="0">
                <a:ea typeface="宋体" pitchFamily="2" charset="-122"/>
                <a:cs typeface="Times New Roman" pitchFamily="18" charset="0"/>
              </a:rPr>
              <a:t>能存储信息并保存多个时钟</a:t>
            </a:r>
            <a:r>
              <a:rPr lang="zh-CN" altLang="en-US" dirty="0" smtClean="0">
                <a:ea typeface="宋体" pitchFamily="2" charset="-122"/>
                <a:cs typeface="Times New Roman" pitchFamily="18" charset="0"/>
              </a:rPr>
              <a:t>周期，</a:t>
            </a:r>
            <a:r>
              <a:rPr lang="zh-CN" altLang="en-US" dirty="0">
                <a:ea typeface="宋体" pitchFamily="2" charset="-122"/>
                <a:cs typeface="Times New Roman" pitchFamily="18" charset="0"/>
              </a:rPr>
              <a:t>能用信号来控制“保存”或“加载”信息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035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采用门控时钟的寄存器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ea typeface="宋体" pitchFamily="2" charset="-122"/>
              </a:rPr>
              <a:t>如果</a:t>
            </a:r>
            <a:r>
              <a:rPr lang="en-US" altLang="zh-CN" sz="2800" u="sng" dirty="0">
                <a:ea typeface="宋体" pitchFamily="2" charset="-122"/>
              </a:rPr>
              <a:t>Load</a:t>
            </a:r>
            <a:r>
              <a:rPr lang="zh-CN" altLang="en-US" sz="2800" dirty="0">
                <a:ea typeface="宋体" pitchFamily="2" charset="-122"/>
              </a:rPr>
              <a:t>信号为</a:t>
            </a:r>
            <a:r>
              <a:rPr lang="en-US" altLang="zh-CN" sz="2800" dirty="0">
                <a:ea typeface="宋体" pitchFamily="2" charset="-122"/>
              </a:rPr>
              <a:t>1</a:t>
            </a:r>
            <a:r>
              <a:rPr lang="zh-CN" altLang="en-US" sz="2800" dirty="0">
                <a:ea typeface="宋体" pitchFamily="2" charset="-122"/>
              </a:rPr>
              <a:t>，允许时钟信号通过，如果为</a:t>
            </a:r>
            <a:r>
              <a:rPr lang="en-US" altLang="zh-CN" sz="2800" dirty="0">
                <a:ea typeface="宋体" pitchFamily="2" charset="-122"/>
              </a:rPr>
              <a:t>0</a:t>
            </a:r>
            <a:r>
              <a:rPr lang="zh-CN" altLang="en-US" sz="2800" dirty="0">
                <a:ea typeface="宋体" pitchFamily="2" charset="-122"/>
              </a:rPr>
              <a:t>则阻止时钟信号通过</a:t>
            </a:r>
            <a:endParaRPr lang="en-US" altLang="zh-CN" sz="2800" dirty="0">
              <a:ea typeface="宋体" pitchFamily="2" charset="-122"/>
            </a:endParaRPr>
          </a:p>
          <a:p>
            <a:r>
              <a:rPr lang="zh-CN" altLang="en-US" sz="2800" dirty="0">
                <a:ea typeface="宋体" pitchFamily="2" charset="-122"/>
              </a:rPr>
              <a:t>例如： 对于上升沿触发的边沿触发器或负向脉冲触发的主从触发器：</a:t>
            </a:r>
            <a:endParaRPr lang="en-US" altLang="zh-CN" sz="2800" dirty="0">
              <a:ea typeface="宋体" pitchFamily="2" charset="-122"/>
            </a:endParaRPr>
          </a:p>
          <a:p>
            <a:endParaRPr lang="zh-CN" altLang="en-US" sz="2800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79155" y="4046215"/>
            <a:ext cx="4572000" cy="457200"/>
            <a:chOff x="720" y="2448"/>
            <a:chExt cx="2592" cy="288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720" y="2448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1104" y="244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104" y="2736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1536" y="244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1536" y="2448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920" y="244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920" y="2736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2304" y="244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304" y="244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640" y="244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640" y="2736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2976" y="244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976" y="244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40"/>
          <p:cNvGrpSpPr>
            <a:grpSpLocks/>
          </p:cNvGrpSpPr>
          <p:nvPr/>
        </p:nvGrpSpPr>
        <p:grpSpPr bwMode="auto">
          <a:xfrm>
            <a:off x="3079155" y="4732015"/>
            <a:ext cx="4572000" cy="457200"/>
            <a:chOff x="2544" y="2400"/>
            <a:chExt cx="2880" cy="288"/>
          </a:xfrm>
        </p:grpSpPr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2544" y="2688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3552" y="240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3552" y="2400"/>
              <a:ext cx="10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>
              <a:off x="4573" y="240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4573" y="2688"/>
              <a:ext cx="5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5136" y="240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5136" y="24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41"/>
          <p:cNvGrpSpPr>
            <a:grpSpLocks/>
          </p:cNvGrpSpPr>
          <p:nvPr/>
        </p:nvGrpSpPr>
        <p:grpSpPr bwMode="auto">
          <a:xfrm>
            <a:off x="3079155" y="5494015"/>
            <a:ext cx="4648200" cy="457200"/>
            <a:chOff x="2544" y="2880"/>
            <a:chExt cx="2928" cy="288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2544" y="2880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3936" y="288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3936" y="316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V="1">
              <a:off x="4411" y="288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4416" y="2880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1691680" y="3861048"/>
            <a:ext cx="124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dirty="0"/>
              <a:t>Clock</a:t>
            </a: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1750418" y="4710087"/>
            <a:ext cx="100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/>
              <a:t>Load</a:t>
            </a:r>
          </a:p>
        </p:txBody>
      </p:sp>
      <p:grpSp>
        <p:nvGrpSpPr>
          <p:cNvPr id="34" name="Group 36"/>
          <p:cNvGrpSpPr>
            <a:grpSpLocks/>
          </p:cNvGrpSpPr>
          <p:nvPr/>
        </p:nvGrpSpPr>
        <p:grpSpPr bwMode="auto">
          <a:xfrm>
            <a:off x="3836393" y="6062340"/>
            <a:ext cx="3962400" cy="457200"/>
            <a:chOff x="150" y="4046"/>
            <a:chExt cx="2496" cy="288"/>
          </a:xfrm>
        </p:grpSpPr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1760" y="4072"/>
              <a:ext cx="3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150" y="4046"/>
              <a:ext cx="24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Gated Clock = Clock + Load</a:t>
              </a:r>
            </a:p>
          </p:txBody>
        </p:sp>
      </p:grpSp>
      <p:sp>
        <p:nvSpPr>
          <p:cNvPr id="37" name="Line 39"/>
          <p:cNvSpPr>
            <a:spLocks noChangeShapeType="1"/>
          </p:cNvSpPr>
          <p:nvPr/>
        </p:nvSpPr>
        <p:spPr bwMode="auto">
          <a:xfrm>
            <a:off x="5882680" y="3789040"/>
            <a:ext cx="0" cy="242411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1409626" y="5373216"/>
            <a:ext cx="222627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 smtClean="0"/>
              <a:t>触发器</a:t>
            </a:r>
            <a:endParaRPr lang="en-US" altLang="zh-CN" sz="2800" dirty="0" smtClean="0"/>
          </a:p>
          <a:p>
            <a:pPr eaLnBrk="1" hangingPunct="1"/>
            <a:r>
              <a:rPr lang="en-US" altLang="zh-CN" sz="2800" dirty="0" smtClean="0"/>
              <a:t>Gated </a:t>
            </a:r>
            <a:r>
              <a:rPr lang="en-US" altLang="zh-CN" sz="2800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30708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en-US" altLang="zh-CN" dirty="0"/>
              <a:t>Load</a:t>
            </a:r>
            <a:r>
              <a:rPr lang="zh-CN" altLang="en-US" dirty="0"/>
              <a:t>控制反馈的寄存器</a:t>
            </a:r>
          </a:p>
        </p:txBody>
      </p:sp>
      <p:sp>
        <p:nvSpPr>
          <p:cNvPr id="4" name="Freeform 4"/>
          <p:cNvSpPr>
            <a:spLocks/>
          </p:cNvSpPr>
          <p:nvPr/>
        </p:nvSpPr>
        <p:spPr bwMode="auto">
          <a:xfrm>
            <a:off x="5480645" y="5351164"/>
            <a:ext cx="646113" cy="855663"/>
          </a:xfrm>
          <a:custGeom>
            <a:avLst/>
            <a:gdLst>
              <a:gd name="T0" fmla="*/ 2147483647 w 407"/>
              <a:gd name="T1" fmla="*/ 0 h 539"/>
              <a:gd name="T2" fmla="*/ 2147483647 w 407"/>
              <a:gd name="T3" fmla="*/ 0 h 539"/>
              <a:gd name="T4" fmla="*/ 2147483647 w 407"/>
              <a:gd name="T5" fmla="*/ 2147483647 h 539"/>
              <a:gd name="T6" fmla="*/ 0 w 407"/>
              <a:gd name="T7" fmla="*/ 2147483647 h 539"/>
              <a:gd name="T8" fmla="*/ 0 w 407"/>
              <a:gd name="T9" fmla="*/ 2147483647 h 539"/>
              <a:gd name="T10" fmla="*/ 2147483647 w 407"/>
              <a:gd name="T11" fmla="*/ 2147483647 h 539"/>
              <a:gd name="T12" fmla="*/ 2147483647 w 407"/>
              <a:gd name="T13" fmla="*/ 2147483647 h 539"/>
              <a:gd name="T14" fmla="*/ 2147483647 w 407"/>
              <a:gd name="T15" fmla="*/ 2147483647 h 539"/>
              <a:gd name="T16" fmla="*/ 2147483647 w 407"/>
              <a:gd name="T17" fmla="*/ 2147483647 h 539"/>
              <a:gd name="T18" fmla="*/ 2147483647 w 407"/>
              <a:gd name="T19" fmla="*/ 2147483647 h 539"/>
              <a:gd name="T20" fmla="*/ 2147483647 w 407"/>
              <a:gd name="T21" fmla="*/ 2147483647 h 539"/>
              <a:gd name="T22" fmla="*/ 2147483647 w 407"/>
              <a:gd name="T23" fmla="*/ 2147483647 h 539"/>
              <a:gd name="T24" fmla="*/ 2147483647 w 407"/>
              <a:gd name="T25" fmla="*/ 0 h 539"/>
              <a:gd name="T26" fmla="*/ 2147483647 w 407"/>
              <a:gd name="T27" fmla="*/ 0 h 539"/>
              <a:gd name="T28" fmla="*/ 2147483647 w 407"/>
              <a:gd name="T29" fmla="*/ 0 h 539"/>
              <a:gd name="T30" fmla="*/ 2147483647 w 407"/>
              <a:gd name="T31" fmla="*/ 2147483647 h 539"/>
              <a:gd name="T32" fmla="*/ 2147483647 w 407"/>
              <a:gd name="T33" fmla="*/ 2147483647 h 539"/>
              <a:gd name="T34" fmla="*/ 2147483647 w 407"/>
              <a:gd name="T35" fmla="*/ 2147483647 h 539"/>
              <a:gd name="T36" fmla="*/ 2147483647 w 407"/>
              <a:gd name="T37" fmla="*/ 2147483647 h 539"/>
              <a:gd name="T38" fmla="*/ 2147483647 w 407"/>
              <a:gd name="T39" fmla="*/ 2147483647 h 539"/>
              <a:gd name="T40" fmla="*/ 2147483647 w 407"/>
              <a:gd name="T41" fmla="*/ 2147483647 h 539"/>
              <a:gd name="T42" fmla="*/ 2147483647 w 407"/>
              <a:gd name="T43" fmla="*/ 2147483647 h 539"/>
              <a:gd name="T44" fmla="*/ 2147483647 w 407"/>
              <a:gd name="T45" fmla="*/ 2147483647 h 539"/>
              <a:gd name="T46" fmla="*/ 2147483647 w 407"/>
              <a:gd name="T47" fmla="*/ 2147483647 h 539"/>
              <a:gd name="T48" fmla="*/ 2147483647 w 407"/>
              <a:gd name="T49" fmla="*/ 0 h 53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07" h="539">
                <a:moveTo>
                  <a:pt x="8" y="0"/>
                </a:moveTo>
                <a:lnTo>
                  <a:pt x="5" y="0"/>
                </a:lnTo>
                <a:lnTo>
                  <a:pt x="3" y="2"/>
                </a:lnTo>
                <a:lnTo>
                  <a:pt x="0" y="5"/>
                </a:lnTo>
                <a:lnTo>
                  <a:pt x="0" y="534"/>
                </a:lnTo>
                <a:lnTo>
                  <a:pt x="3" y="537"/>
                </a:lnTo>
                <a:lnTo>
                  <a:pt x="5" y="539"/>
                </a:lnTo>
                <a:lnTo>
                  <a:pt x="402" y="539"/>
                </a:lnTo>
                <a:lnTo>
                  <a:pt x="405" y="537"/>
                </a:lnTo>
                <a:lnTo>
                  <a:pt x="407" y="534"/>
                </a:lnTo>
                <a:lnTo>
                  <a:pt x="407" y="5"/>
                </a:lnTo>
                <a:lnTo>
                  <a:pt x="405" y="2"/>
                </a:lnTo>
                <a:lnTo>
                  <a:pt x="402" y="0"/>
                </a:lnTo>
                <a:lnTo>
                  <a:pt x="400" y="0"/>
                </a:lnTo>
                <a:lnTo>
                  <a:pt x="8" y="0"/>
                </a:lnTo>
                <a:lnTo>
                  <a:pt x="8" y="15"/>
                </a:lnTo>
                <a:lnTo>
                  <a:pt x="400" y="15"/>
                </a:lnTo>
                <a:lnTo>
                  <a:pt x="392" y="7"/>
                </a:lnTo>
                <a:lnTo>
                  <a:pt x="392" y="532"/>
                </a:lnTo>
                <a:lnTo>
                  <a:pt x="400" y="524"/>
                </a:lnTo>
                <a:lnTo>
                  <a:pt x="8" y="524"/>
                </a:lnTo>
                <a:lnTo>
                  <a:pt x="15" y="532"/>
                </a:lnTo>
                <a:lnTo>
                  <a:pt x="15" y="7"/>
                </a:lnTo>
                <a:lnTo>
                  <a:pt x="8" y="15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661620" y="5632152"/>
            <a:ext cx="174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C</a:t>
            </a:r>
            <a:endParaRPr lang="en-US" altLang="zh-CN" sz="800" i="1" baseline="-250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545733" y="5460702"/>
            <a:ext cx="174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 altLang="zh-CN" sz="800" i="1" baseline="-2500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921970" y="5448002"/>
            <a:ext cx="187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 altLang="zh-CN" sz="800" i="1" baseline="-25000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5480645" y="5898852"/>
            <a:ext cx="125413" cy="111125"/>
          </a:xfrm>
          <a:custGeom>
            <a:avLst/>
            <a:gdLst>
              <a:gd name="T0" fmla="*/ 2147483647 w 79"/>
              <a:gd name="T1" fmla="*/ 2147483647 h 70"/>
              <a:gd name="T2" fmla="*/ 2147483647 w 79"/>
              <a:gd name="T3" fmla="*/ 2147483647 h 70"/>
              <a:gd name="T4" fmla="*/ 2147483647 w 79"/>
              <a:gd name="T5" fmla="*/ 0 h 70"/>
              <a:gd name="T6" fmla="*/ 2147483647 w 79"/>
              <a:gd name="T7" fmla="*/ 0 h 70"/>
              <a:gd name="T8" fmla="*/ 2147483647 w 79"/>
              <a:gd name="T9" fmla="*/ 2147483647 h 70"/>
              <a:gd name="T10" fmla="*/ 2147483647 w 79"/>
              <a:gd name="T11" fmla="*/ 2147483647 h 70"/>
              <a:gd name="T12" fmla="*/ 2147483647 w 79"/>
              <a:gd name="T13" fmla="*/ 2147483647 h 70"/>
              <a:gd name="T14" fmla="*/ 0 w 79"/>
              <a:gd name="T15" fmla="*/ 2147483647 h 70"/>
              <a:gd name="T16" fmla="*/ 0 w 79"/>
              <a:gd name="T17" fmla="*/ 2147483647 h 70"/>
              <a:gd name="T18" fmla="*/ 2147483647 w 79"/>
              <a:gd name="T19" fmla="*/ 2147483647 h 70"/>
              <a:gd name="T20" fmla="*/ 2147483647 w 79"/>
              <a:gd name="T21" fmla="*/ 2147483647 h 70"/>
              <a:gd name="T22" fmla="*/ 2147483647 w 79"/>
              <a:gd name="T23" fmla="*/ 2147483647 h 70"/>
              <a:gd name="T24" fmla="*/ 2147483647 w 79"/>
              <a:gd name="T25" fmla="*/ 2147483647 h 70"/>
              <a:gd name="T26" fmla="*/ 2147483647 w 79"/>
              <a:gd name="T27" fmla="*/ 2147483647 h 70"/>
              <a:gd name="T28" fmla="*/ 2147483647 w 79"/>
              <a:gd name="T29" fmla="*/ 2147483647 h 70"/>
              <a:gd name="T30" fmla="*/ 2147483647 w 79"/>
              <a:gd name="T31" fmla="*/ 2147483647 h 70"/>
              <a:gd name="T32" fmla="*/ 2147483647 w 79"/>
              <a:gd name="T33" fmla="*/ 2147483647 h 70"/>
              <a:gd name="T34" fmla="*/ 2147483647 w 79"/>
              <a:gd name="T35" fmla="*/ 2147483647 h 70"/>
              <a:gd name="T36" fmla="*/ 2147483647 w 79"/>
              <a:gd name="T37" fmla="*/ 2147483647 h 70"/>
              <a:gd name="T38" fmla="*/ 2147483647 w 79"/>
              <a:gd name="T39" fmla="*/ 2147483647 h 70"/>
              <a:gd name="T40" fmla="*/ 2147483647 w 79"/>
              <a:gd name="T41" fmla="*/ 2147483647 h 70"/>
              <a:gd name="T42" fmla="*/ 2147483647 w 79"/>
              <a:gd name="T43" fmla="*/ 2147483647 h 70"/>
              <a:gd name="T44" fmla="*/ 2147483647 w 79"/>
              <a:gd name="T45" fmla="*/ 2147483647 h 70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79" h="70">
                <a:moveTo>
                  <a:pt x="13" y="1"/>
                </a:moveTo>
                <a:lnTo>
                  <a:pt x="12" y="1"/>
                </a:lnTo>
                <a:lnTo>
                  <a:pt x="9" y="0"/>
                </a:lnTo>
                <a:lnTo>
                  <a:pt x="5" y="0"/>
                </a:lnTo>
                <a:lnTo>
                  <a:pt x="4" y="1"/>
                </a:lnTo>
                <a:lnTo>
                  <a:pt x="1" y="2"/>
                </a:lnTo>
                <a:lnTo>
                  <a:pt x="1" y="3"/>
                </a:lnTo>
                <a:lnTo>
                  <a:pt x="0" y="6"/>
                </a:lnTo>
                <a:lnTo>
                  <a:pt x="0" y="10"/>
                </a:lnTo>
                <a:lnTo>
                  <a:pt x="1" y="11"/>
                </a:lnTo>
                <a:lnTo>
                  <a:pt x="3" y="14"/>
                </a:lnTo>
                <a:lnTo>
                  <a:pt x="67" y="69"/>
                </a:lnTo>
                <a:lnTo>
                  <a:pt x="68" y="69"/>
                </a:lnTo>
                <a:lnTo>
                  <a:pt x="70" y="70"/>
                </a:lnTo>
                <a:lnTo>
                  <a:pt x="74" y="70"/>
                </a:lnTo>
                <a:lnTo>
                  <a:pt x="76" y="69"/>
                </a:lnTo>
                <a:lnTo>
                  <a:pt x="78" y="68"/>
                </a:lnTo>
                <a:lnTo>
                  <a:pt x="78" y="66"/>
                </a:lnTo>
                <a:lnTo>
                  <a:pt x="79" y="64"/>
                </a:lnTo>
                <a:lnTo>
                  <a:pt x="79" y="60"/>
                </a:lnTo>
                <a:lnTo>
                  <a:pt x="78" y="59"/>
                </a:lnTo>
                <a:lnTo>
                  <a:pt x="77" y="56"/>
                </a:lnTo>
                <a:lnTo>
                  <a:pt x="13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5480645" y="5986164"/>
            <a:ext cx="125413" cy="90488"/>
          </a:xfrm>
          <a:custGeom>
            <a:avLst/>
            <a:gdLst>
              <a:gd name="T0" fmla="*/ 2147483647 w 79"/>
              <a:gd name="T1" fmla="*/ 2147483647 h 57"/>
              <a:gd name="T2" fmla="*/ 2147483647 w 79"/>
              <a:gd name="T3" fmla="*/ 2147483647 h 57"/>
              <a:gd name="T4" fmla="*/ 2147483647 w 79"/>
              <a:gd name="T5" fmla="*/ 2147483647 h 57"/>
              <a:gd name="T6" fmla="*/ 2147483647 w 79"/>
              <a:gd name="T7" fmla="*/ 2147483647 h 57"/>
              <a:gd name="T8" fmla="*/ 2147483647 w 79"/>
              <a:gd name="T9" fmla="*/ 2147483647 h 57"/>
              <a:gd name="T10" fmla="*/ 2147483647 w 79"/>
              <a:gd name="T11" fmla="*/ 2147483647 h 57"/>
              <a:gd name="T12" fmla="*/ 2147483647 w 79"/>
              <a:gd name="T13" fmla="*/ 0 h 57"/>
              <a:gd name="T14" fmla="*/ 2147483647 w 79"/>
              <a:gd name="T15" fmla="*/ 0 h 57"/>
              <a:gd name="T16" fmla="*/ 2147483647 w 79"/>
              <a:gd name="T17" fmla="*/ 2147483647 h 57"/>
              <a:gd name="T18" fmla="*/ 2147483647 w 79"/>
              <a:gd name="T19" fmla="*/ 2147483647 h 57"/>
              <a:gd name="T20" fmla="*/ 2147483647 w 79"/>
              <a:gd name="T21" fmla="*/ 2147483647 h 57"/>
              <a:gd name="T22" fmla="*/ 0 w 79"/>
              <a:gd name="T23" fmla="*/ 2147483647 h 57"/>
              <a:gd name="T24" fmla="*/ 0 w 79"/>
              <a:gd name="T25" fmla="*/ 2147483647 h 57"/>
              <a:gd name="T26" fmla="*/ 2147483647 w 79"/>
              <a:gd name="T27" fmla="*/ 2147483647 h 57"/>
              <a:gd name="T28" fmla="*/ 2147483647 w 79"/>
              <a:gd name="T29" fmla="*/ 2147483647 h 57"/>
              <a:gd name="T30" fmla="*/ 2147483647 w 79"/>
              <a:gd name="T31" fmla="*/ 2147483647 h 57"/>
              <a:gd name="T32" fmla="*/ 2147483647 w 79"/>
              <a:gd name="T33" fmla="*/ 2147483647 h 57"/>
              <a:gd name="T34" fmla="*/ 2147483647 w 79"/>
              <a:gd name="T35" fmla="*/ 2147483647 h 57"/>
              <a:gd name="T36" fmla="*/ 2147483647 w 79"/>
              <a:gd name="T37" fmla="*/ 2147483647 h 5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79" h="57">
                <a:moveTo>
                  <a:pt x="76" y="14"/>
                </a:moveTo>
                <a:lnTo>
                  <a:pt x="78" y="11"/>
                </a:lnTo>
                <a:lnTo>
                  <a:pt x="79" y="9"/>
                </a:lnTo>
                <a:lnTo>
                  <a:pt x="79" y="5"/>
                </a:lnTo>
                <a:lnTo>
                  <a:pt x="77" y="2"/>
                </a:lnTo>
                <a:lnTo>
                  <a:pt x="76" y="1"/>
                </a:lnTo>
                <a:lnTo>
                  <a:pt x="73" y="0"/>
                </a:lnTo>
                <a:lnTo>
                  <a:pt x="69" y="0"/>
                </a:lnTo>
                <a:lnTo>
                  <a:pt x="68" y="1"/>
                </a:lnTo>
                <a:lnTo>
                  <a:pt x="4" y="43"/>
                </a:lnTo>
                <a:lnTo>
                  <a:pt x="1" y="46"/>
                </a:lnTo>
                <a:lnTo>
                  <a:pt x="0" y="48"/>
                </a:lnTo>
                <a:lnTo>
                  <a:pt x="0" y="52"/>
                </a:lnTo>
                <a:lnTo>
                  <a:pt x="3" y="55"/>
                </a:lnTo>
                <a:lnTo>
                  <a:pt x="4" y="56"/>
                </a:lnTo>
                <a:lnTo>
                  <a:pt x="6" y="57"/>
                </a:lnTo>
                <a:lnTo>
                  <a:pt x="10" y="57"/>
                </a:lnTo>
                <a:lnTo>
                  <a:pt x="12" y="56"/>
                </a:lnTo>
                <a:lnTo>
                  <a:pt x="7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5480645" y="4071639"/>
            <a:ext cx="646113" cy="858838"/>
          </a:xfrm>
          <a:custGeom>
            <a:avLst/>
            <a:gdLst>
              <a:gd name="T0" fmla="*/ 2147483647 w 407"/>
              <a:gd name="T1" fmla="*/ 0 h 541"/>
              <a:gd name="T2" fmla="*/ 2147483647 w 407"/>
              <a:gd name="T3" fmla="*/ 0 h 541"/>
              <a:gd name="T4" fmla="*/ 2147483647 w 407"/>
              <a:gd name="T5" fmla="*/ 2147483647 h 541"/>
              <a:gd name="T6" fmla="*/ 0 w 407"/>
              <a:gd name="T7" fmla="*/ 2147483647 h 541"/>
              <a:gd name="T8" fmla="*/ 0 w 407"/>
              <a:gd name="T9" fmla="*/ 2147483647 h 541"/>
              <a:gd name="T10" fmla="*/ 2147483647 w 407"/>
              <a:gd name="T11" fmla="*/ 2147483647 h 541"/>
              <a:gd name="T12" fmla="*/ 2147483647 w 407"/>
              <a:gd name="T13" fmla="*/ 2147483647 h 541"/>
              <a:gd name="T14" fmla="*/ 2147483647 w 407"/>
              <a:gd name="T15" fmla="*/ 2147483647 h 541"/>
              <a:gd name="T16" fmla="*/ 2147483647 w 407"/>
              <a:gd name="T17" fmla="*/ 2147483647 h 541"/>
              <a:gd name="T18" fmla="*/ 2147483647 w 407"/>
              <a:gd name="T19" fmla="*/ 2147483647 h 541"/>
              <a:gd name="T20" fmla="*/ 2147483647 w 407"/>
              <a:gd name="T21" fmla="*/ 2147483647 h 541"/>
              <a:gd name="T22" fmla="*/ 2147483647 w 407"/>
              <a:gd name="T23" fmla="*/ 2147483647 h 541"/>
              <a:gd name="T24" fmla="*/ 2147483647 w 407"/>
              <a:gd name="T25" fmla="*/ 0 h 541"/>
              <a:gd name="T26" fmla="*/ 2147483647 w 407"/>
              <a:gd name="T27" fmla="*/ 0 h 541"/>
              <a:gd name="T28" fmla="*/ 2147483647 w 407"/>
              <a:gd name="T29" fmla="*/ 0 h 541"/>
              <a:gd name="T30" fmla="*/ 2147483647 w 407"/>
              <a:gd name="T31" fmla="*/ 2147483647 h 541"/>
              <a:gd name="T32" fmla="*/ 2147483647 w 407"/>
              <a:gd name="T33" fmla="*/ 2147483647 h 541"/>
              <a:gd name="T34" fmla="*/ 2147483647 w 407"/>
              <a:gd name="T35" fmla="*/ 2147483647 h 541"/>
              <a:gd name="T36" fmla="*/ 2147483647 w 407"/>
              <a:gd name="T37" fmla="*/ 2147483647 h 541"/>
              <a:gd name="T38" fmla="*/ 2147483647 w 407"/>
              <a:gd name="T39" fmla="*/ 2147483647 h 541"/>
              <a:gd name="T40" fmla="*/ 2147483647 w 407"/>
              <a:gd name="T41" fmla="*/ 2147483647 h 541"/>
              <a:gd name="T42" fmla="*/ 2147483647 w 407"/>
              <a:gd name="T43" fmla="*/ 2147483647 h 541"/>
              <a:gd name="T44" fmla="*/ 2147483647 w 407"/>
              <a:gd name="T45" fmla="*/ 2147483647 h 541"/>
              <a:gd name="T46" fmla="*/ 2147483647 w 407"/>
              <a:gd name="T47" fmla="*/ 2147483647 h 541"/>
              <a:gd name="T48" fmla="*/ 2147483647 w 407"/>
              <a:gd name="T49" fmla="*/ 0 h 54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07" h="541">
                <a:moveTo>
                  <a:pt x="8" y="0"/>
                </a:moveTo>
                <a:lnTo>
                  <a:pt x="5" y="0"/>
                </a:lnTo>
                <a:lnTo>
                  <a:pt x="3" y="3"/>
                </a:lnTo>
                <a:lnTo>
                  <a:pt x="0" y="5"/>
                </a:lnTo>
                <a:lnTo>
                  <a:pt x="0" y="536"/>
                </a:lnTo>
                <a:lnTo>
                  <a:pt x="3" y="538"/>
                </a:lnTo>
                <a:lnTo>
                  <a:pt x="5" y="541"/>
                </a:lnTo>
                <a:lnTo>
                  <a:pt x="402" y="541"/>
                </a:lnTo>
                <a:lnTo>
                  <a:pt x="405" y="538"/>
                </a:lnTo>
                <a:lnTo>
                  <a:pt x="407" y="536"/>
                </a:lnTo>
                <a:lnTo>
                  <a:pt x="407" y="5"/>
                </a:lnTo>
                <a:lnTo>
                  <a:pt x="405" y="3"/>
                </a:lnTo>
                <a:lnTo>
                  <a:pt x="402" y="0"/>
                </a:lnTo>
                <a:lnTo>
                  <a:pt x="400" y="0"/>
                </a:lnTo>
                <a:lnTo>
                  <a:pt x="8" y="0"/>
                </a:lnTo>
                <a:lnTo>
                  <a:pt x="8" y="15"/>
                </a:lnTo>
                <a:lnTo>
                  <a:pt x="400" y="15"/>
                </a:lnTo>
                <a:lnTo>
                  <a:pt x="392" y="8"/>
                </a:lnTo>
                <a:lnTo>
                  <a:pt x="392" y="533"/>
                </a:lnTo>
                <a:lnTo>
                  <a:pt x="400" y="526"/>
                </a:lnTo>
                <a:lnTo>
                  <a:pt x="8" y="526"/>
                </a:lnTo>
                <a:lnTo>
                  <a:pt x="15" y="533"/>
                </a:lnTo>
                <a:lnTo>
                  <a:pt x="15" y="8"/>
                </a:lnTo>
                <a:lnTo>
                  <a:pt x="8" y="15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661620" y="4639964"/>
            <a:ext cx="174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C</a:t>
            </a:r>
            <a:endParaRPr lang="en-US" altLang="zh-CN" sz="800" i="1" baseline="-25000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5545733" y="4184352"/>
            <a:ext cx="174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D</a:t>
            </a:r>
            <a:endParaRPr lang="en-US" altLang="zh-CN" sz="800" i="1" baseline="-25000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5921970" y="4171652"/>
            <a:ext cx="187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Q</a:t>
            </a:r>
            <a:endParaRPr lang="en-US" altLang="zh-CN" sz="800" i="1" baseline="-25000"/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5480645" y="4619327"/>
            <a:ext cx="125413" cy="114300"/>
          </a:xfrm>
          <a:custGeom>
            <a:avLst/>
            <a:gdLst>
              <a:gd name="T0" fmla="*/ 2147483647 w 79"/>
              <a:gd name="T1" fmla="*/ 2147483647 h 72"/>
              <a:gd name="T2" fmla="*/ 2147483647 w 79"/>
              <a:gd name="T3" fmla="*/ 2147483647 h 72"/>
              <a:gd name="T4" fmla="*/ 2147483647 w 79"/>
              <a:gd name="T5" fmla="*/ 0 h 72"/>
              <a:gd name="T6" fmla="*/ 2147483647 w 79"/>
              <a:gd name="T7" fmla="*/ 0 h 72"/>
              <a:gd name="T8" fmla="*/ 2147483647 w 79"/>
              <a:gd name="T9" fmla="*/ 2147483647 h 72"/>
              <a:gd name="T10" fmla="*/ 2147483647 w 79"/>
              <a:gd name="T11" fmla="*/ 2147483647 h 72"/>
              <a:gd name="T12" fmla="*/ 2147483647 w 79"/>
              <a:gd name="T13" fmla="*/ 2147483647 h 72"/>
              <a:gd name="T14" fmla="*/ 0 w 79"/>
              <a:gd name="T15" fmla="*/ 2147483647 h 72"/>
              <a:gd name="T16" fmla="*/ 0 w 79"/>
              <a:gd name="T17" fmla="*/ 2147483647 h 72"/>
              <a:gd name="T18" fmla="*/ 2147483647 w 79"/>
              <a:gd name="T19" fmla="*/ 2147483647 h 72"/>
              <a:gd name="T20" fmla="*/ 2147483647 w 79"/>
              <a:gd name="T21" fmla="*/ 2147483647 h 72"/>
              <a:gd name="T22" fmla="*/ 2147483647 w 79"/>
              <a:gd name="T23" fmla="*/ 2147483647 h 72"/>
              <a:gd name="T24" fmla="*/ 2147483647 w 79"/>
              <a:gd name="T25" fmla="*/ 2147483647 h 72"/>
              <a:gd name="T26" fmla="*/ 2147483647 w 79"/>
              <a:gd name="T27" fmla="*/ 2147483647 h 72"/>
              <a:gd name="T28" fmla="*/ 2147483647 w 79"/>
              <a:gd name="T29" fmla="*/ 2147483647 h 72"/>
              <a:gd name="T30" fmla="*/ 2147483647 w 79"/>
              <a:gd name="T31" fmla="*/ 2147483647 h 72"/>
              <a:gd name="T32" fmla="*/ 2147483647 w 79"/>
              <a:gd name="T33" fmla="*/ 2147483647 h 72"/>
              <a:gd name="T34" fmla="*/ 2147483647 w 79"/>
              <a:gd name="T35" fmla="*/ 2147483647 h 72"/>
              <a:gd name="T36" fmla="*/ 2147483647 w 79"/>
              <a:gd name="T37" fmla="*/ 2147483647 h 72"/>
              <a:gd name="T38" fmla="*/ 2147483647 w 79"/>
              <a:gd name="T39" fmla="*/ 2147483647 h 72"/>
              <a:gd name="T40" fmla="*/ 2147483647 w 79"/>
              <a:gd name="T41" fmla="*/ 2147483647 h 72"/>
              <a:gd name="T42" fmla="*/ 2147483647 w 79"/>
              <a:gd name="T43" fmla="*/ 2147483647 h 72"/>
              <a:gd name="T44" fmla="*/ 2147483647 w 79"/>
              <a:gd name="T45" fmla="*/ 2147483647 h 7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79" h="72">
                <a:moveTo>
                  <a:pt x="13" y="1"/>
                </a:moveTo>
                <a:lnTo>
                  <a:pt x="12" y="1"/>
                </a:lnTo>
                <a:lnTo>
                  <a:pt x="9" y="0"/>
                </a:lnTo>
                <a:lnTo>
                  <a:pt x="5" y="0"/>
                </a:lnTo>
                <a:lnTo>
                  <a:pt x="4" y="1"/>
                </a:lnTo>
                <a:lnTo>
                  <a:pt x="1" y="2"/>
                </a:lnTo>
                <a:lnTo>
                  <a:pt x="1" y="4"/>
                </a:lnTo>
                <a:lnTo>
                  <a:pt x="0" y="6"/>
                </a:lnTo>
                <a:lnTo>
                  <a:pt x="0" y="10"/>
                </a:lnTo>
                <a:lnTo>
                  <a:pt x="1" y="11"/>
                </a:lnTo>
                <a:lnTo>
                  <a:pt x="3" y="14"/>
                </a:lnTo>
                <a:lnTo>
                  <a:pt x="67" y="70"/>
                </a:lnTo>
                <a:lnTo>
                  <a:pt x="68" y="70"/>
                </a:lnTo>
                <a:lnTo>
                  <a:pt x="70" y="72"/>
                </a:lnTo>
                <a:lnTo>
                  <a:pt x="74" y="72"/>
                </a:lnTo>
                <a:lnTo>
                  <a:pt x="76" y="70"/>
                </a:lnTo>
                <a:lnTo>
                  <a:pt x="78" y="69"/>
                </a:lnTo>
                <a:lnTo>
                  <a:pt x="78" y="68"/>
                </a:lnTo>
                <a:lnTo>
                  <a:pt x="79" y="65"/>
                </a:lnTo>
                <a:lnTo>
                  <a:pt x="79" y="61"/>
                </a:lnTo>
                <a:lnTo>
                  <a:pt x="78" y="60"/>
                </a:lnTo>
                <a:lnTo>
                  <a:pt x="77" y="58"/>
                </a:lnTo>
                <a:lnTo>
                  <a:pt x="13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5480645" y="4708227"/>
            <a:ext cx="125413" cy="92075"/>
          </a:xfrm>
          <a:custGeom>
            <a:avLst/>
            <a:gdLst>
              <a:gd name="T0" fmla="*/ 2147483647 w 79"/>
              <a:gd name="T1" fmla="*/ 2147483647 h 58"/>
              <a:gd name="T2" fmla="*/ 2147483647 w 79"/>
              <a:gd name="T3" fmla="*/ 2147483647 h 58"/>
              <a:gd name="T4" fmla="*/ 2147483647 w 79"/>
              <a:gd name="T5" fmla="*/ 2147483647 h 58"/>
              <a:gd name="T6" fmla="*/ 2147483647 w 79"/>
              <a:gd name="T7" fmla="*/ 2147483647 h 58"/>
              <a:gd name="T8" fmla="*/ 2147483647 w 79"/>
              <a:gd name="T9" fmla="*/ 2147483647 h 58"/>
              <a:gd name="T10" fmla="*/ 2147483647 w 79"/>
              <a:gd name="T11" fmla="*/ 2147483647 h 58"/>
              <a:gd name="T12" fmla="*/ 2147483647 w 79"/>
              <a:gd name="T13" fmla="*/ 0 h 58"/>
              <a:gd name="T14" fmla="*/ 2147483647 w 79"/>
              <a:gd name="T15" fmla="*/ 0 h 58"/>
              <a:gd name="T16" fmla="*/ 2147483647 w 79"/>
              <a:gd name="T17" fmla="*/ 2147483647 h 58"/>
              <a:gd name="T18" fmla="*/ 2147483647 w 79"/>
              <a:gd name="T19" fmla="*/ 2147483647 h 58"/>
              <a:gd name="T20" fmla="*/ 2147483647 w 79"/>
              <a:gd name="T21" fmla="*/ 2147483647 h 58"/>
              <a:gd name="T22" fmla="*/ 0 w 79"/>
              <a:gd name="T23" fmla="*/ 2147483647 h 58"/>
              <a:gd name="T24" fmla="*/ 0 w 79"/>
              <a:gd name="T25" fmla="*/ 2147483647 h 58"/>
              <a:gd name="T26" fmla="*/ 2147483647 w 79"/>
              <a:gd name="T27" fmla="*/ 2147483647 h 58"/>
              <a:gd name="T28" fmla="*/ 2147483647 w 79"/>
              <a:gd name="T29" fmla="*/ 2147483647 h 58"/>
              <a:gd name="T30" fmla="*/ 2147483647 w 79"/>
              <a:gd name="T31" fmla="*/ 2147483647 h 58"/>
              <a:gd name="T32" fmla="*/ 2147483647 w 79"/>
              <a:gd name="T33" fmla="*/ 2147483647 h 58"/>
              <a:gd name="T34" fmla="*/ 2147483647 w 79"/>
              <a:gd name="T35" fmla="*/ 2147483647 h 58"/>
              <a:gd name="T36" fmla="*/ 2147483647 w 79"/>
              <a:gd name="T37" fmla="*/ 2147483647 h 5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79" h="58">
                <a:moveTo>
                  <a:pt x="76" y="14"/>
                </a:moveTo>
                <a:lnTo>
                  <a:pt x="78" y="12"/>
                </a:lnTo>
                <a:lnTo>
                  <a:pt x="79" y="9"/>
                </a:lnTo>
                <a:lnTo>
                  <a:pt x="79" y="5"/>
                </a:lnTo>
                <a:lnTo>
                  <a:pt x="77" y="3"/>
                </a:lnTo>
                <a:lnTo>
                  <a:pt x="76" y="2"/>
                </a:lnTo>
                <a:lnTo>
                  <a:pt x="73" y="0"/>
                </a:lnTo>
                <a:lnTo>
                  <a:pt x="69" y="0"/>
                </a:lnTo>
                <a:lnTo>
                  <a:pt x="68" y="2"/>
                </a:lnTo>
                <a:lnTo>
                  <a:pt x="4" y="44"/>
                </a:lnTo>
                <a:lnTo>
                  <a:pt x="1" y="46"/>
                </a:lnTo>
                <a:lnTo>
                  <a:pt x="0" y="49"/>
                </a:lnTo>
                <a:lnTo>
                  <a:pt x="0" y="53"/>
                </a:lnTo>
                <a:lnTo>
                  <a:pt x="3" y="55"/>
                </a:lnTo>
                <a:lnTo>
                  <a:pt x="4" y="57"/>
                </a:lnTo>
                <a:lnTo>
                  <a:pt x="6" y="58"/>
                </a:lnTo>
                <a:lnTo>
                  <a:pt x="10" y="58"/>
                </a:lnTo>
                <a:lnTo>
                  <a:pt x="12" y="57"/>
                </a:lnTo>
                <a:lnTo>
                  <a:pt x="7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5277445" y="4708227"/>
            <a:ext cx="215900" cy="25400"/>
          </a:xfrm>
          <a:custGeom>
            <a:avLst/>
            <a:gdLst>
              <a:gd name="T0" fmla="*/ 2147483647 w 136"/>
              <a:gd name="T1" fmla="*/ 2147483647 h 16"/>
              <a:gd name="T2" fmla="*/ 2147483647 w 136"/>
              <a:gd name="T3" fmla="*/ 2147483647 h 16"/>
              <a:gd name="T4" fmla="*/ 2147483647 w 136"/>
              <a:gd name="T5" fmla="*/ 2147483647 h 16"/>
              <a:gd name="T6" fmla="*/ 2147483647 w 136"/>
              <a:gd name="T7" fmla="*/ 2147483647 h 16"/>
              <a:gd name="T8" fmla="*/ 2147483647 w 136"/>
              <a:gd name="T9" fmla="*/ 2147483647 h 16"/>
              <a:gd name="T10" fmla="*/ 2147483647 w 136"/>
              <a:gd name="T11" fmla="*/ 2147483647 h 16"/>
              <a:gd name="T12" fmla="*/ 2147483647 w 136"/>
              <a:gd name="T13" fmla="*/ 0 h 16"/>
              <a:gd name="T14" fmla="*/ 2147483647 w 136"/>
              <a:gd name="T15" fmla="*/ 0 h 16"/>
              <a:gd name="T16" fmla="*/ 2147483647 w 136"/>
              <a:gd name="T17" fmla="*/ 2147483647 h 16"/>
              <a:gd name="T18" fmla="*/ 0 w 136"/>
              <a:gd name="T19" fmla="*/ 2147483647 h 16"/>
              <a:gd name="T20" fmla="*/ 0 w 136"/>
              <a:gd name="T21" fmla="*/ 2147483647 h 16"/>
              <a:gd name="T22" fmla="*/ 2147483647 w 136"/>
              <a:gd name="T23" fmla="*/ 2147483647 h 16"/>
              <a:gd name="T24" fmla="*/ 2147483647 w 136"/>
              <a:gd name="T25" fmla="*/ 2147483647 h 16"/>
              <a:gd name="T26" fmla="*/ 2147483647 w 136"/>
              <a:gd name="T27" fmla="*/ 2147483647 h 16"/>
              <a:gd name="T28" fmla="*/ 2147483647 w 136"/>
              <a:gd name="T29" fmla="*/ 2147483647 h 1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36" h="16">
                <a:moveTo>
                  <a:pt x="128" y="16"/>
                </a:moveTo>
                <a:lnTo>
                  <a:pt x="131" y="16"/>
                </a:lnTo>
                <a:lnTo>
                  <a:pt x="133" y="13"/>
                </a:lnTo>
                <a:lnTo>
                  <a:pt x="136" y="11"/>
                </a:lnTo>
                <a:lnTo>
                  <a:pt x="136" y="5"/>
                </a:lnTo>
                <a:lnTo>
                  <a:pt x="133" y="3"/>
                </a:lnTo>
                <a:lnTo>
                  <a:pt x="131" y="0"/>
                </a:lnTo>
                <a:lnTo>
                  <a:pt x="5" y="0"/>
                </a:lnTo>
                <a:lnTo>
                  <a:pt x="2" y="3"/>
                </a:lnTo>
                <a:lnTo>
                  <a:pt x="0" y="5"/>
                </a:lnTo>
                <a:lnTo>
                  <a:pt x="0" y="11"/>
                </a:lnTo>
                <a:lnTo>
                  <a:pt x="2" y="13"/>
                </a:lnTo>
                <a:lnTo>
                  <a:pt x="5" y="16"/>
                </a:lnTo>
                <a:lnTo>
                  <a:pt x="8" y="16"/>
                </a:lnTo>
                <a:lnTo>
                  <a:pt x="12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4678958" y="6308427"/>
            <a:ext cx="65881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Clock</a:t>
            </a:r>
            <a:endParaRPr lang="en-US" altLang="zh-CN" sz="800" i="1" baseline="-25000"/>
          </a:p>
        </p:txBody>
      </p:sp>
      <p:sp>
        <p:nvSpPr>
          <p:cNvPr id="18" name="Freeform 18"/>
          <p:cNvSpPr>
            <a:spLocks/>
          </p:cNvSpPr>
          <p:nvPr/>
        </p:nvSpPr>
        <p:spPr bwMode="auto">
          <a:xfrm>
            <a:off x="6117233" y="4251027"/>
            <a:ext cx="747712" cy="23812"/>
          </a:xfrm>
          <a:custGeom>
            <a:avLst/>
            <a:gdLst>
              <a:gd name="T0" fmla="*/ 2147483647 w 471"/>
              <a:gd name="T1" fmla="*/ 0 h 15"/>
              <a:gd name="T2" fmla="*/ 2147483647 w 471"/>
              <a:gd name="T3" fmla="*/ 0 h 15"/>
              <a:gd name="T4" fmla="*/ 2147483647 w 471"/>
              <a:gd name="T5" fmla="*/ 2147483647 h 15"/>
              <a:gd name="T6" fmla="*/ 0 w 471"/>
              <a:gd name="T7" fmla="*/ 2147483647 h 15"/>
              <a:gd name="T8" fmla="*/ 0 w 471"/>
              <a:gd name="T9" fmla="*/ 2147483647 h 15"/>
              <a:gd name="T10" fmla="*/ 2147483647 w 471"/>
              <a:gd name="T11" fmla="*/ 2147483647 h 15"/>
              <a:gd name="T12" fmla="*/ 2147483647 w 471"/>
              <a:gd name="T13" fmla="*/ 2147483647 h 15"/>
              <a:gd name="T14" fmla="*/ 2147483647 w 471"/>
              <a:gd name="T15" fmla="*/ 2147483647 h 15"/>
              <a:gd name="T16" fmla="*/ 2147483647 w 471"/>
              <a:gd name="T17" fmla="*/ 2147483647 h 15"/>
              <a:gd name="T18" fmla="*/ 2147483647 w 471"/>
              <a:gd name="T19" fmla="*/ 2147483647 h 15"/>
              <a:gd name="T20" fmla="*/ 2147483647 w 471"/>
              <a:gd name="T21" fmla="*/ 2147483647 h 15"/>
              <a:gd name="T22" fmla="*/ 2147483647 w 471"/>
              <a:gd name="T23" fmla="*/ 2147483647 h 15"/>
              <a:gd name="T24" fmla="*/ 2147483647 w 471"/>
              <a:gd name="T25" fmla="*/ 0 h 15"/>
              <a:gd name="T26" fmla="*/ 2147483647 w 471"/>
              <a:gd name="T27" fmla="*/ 0 h 15"/>
              <a:gd name="T28" fmla="*/ 2147483647 w 471"/>
              <a:gd name="T29" fmla="*/ 0 h 1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71" h="15">
                <a:moveTo>
                  <a:pt x="8" y="0"/>
                </a:moveTo>
                <a:lnTo>
                  <a:pt x="5" y="0"/>
                </a:lnTo>
                <a:lnTo>
                  <a:pt x="3" y="2"/>
                </a:lnTo>
                <a:lnTo>
                  <a:pt x="0" y="5"/>
                </a:lnTo>
                <a:lnTo>
                  <a:pt x="0" y="10"/>
                </a:lnTo>
                <a:lnTo>
                  <a:pt x="3" y="13"/>
                </a:lnTo>
                <a:lnTo>
                  <a:pt x="5" y="15"/>
                </a:lnTo>
                <a:lnTo>
                  <a:pt x="466" y="15"/>
                </a:lnTo>
                <a:lnTo>
                  <a:pt x="469" y="13"/>
                </a:lnTo>
                <a:lnTo>
                  <a:pt x="471" y="10"/>
                </a:lnTo>
                <a:lnTo>
                  <a:pt x="471" y="5"/>
                </a:lnTo>
                <a:lnTo>
                  <a:pt x="469" y="2"/>
                </a:lnTo>
                <a:lnTo>
                  <a:pt x="466" y="0"/>
                </a:lnTo>
                <a:lnTo>
                  <a:pt x="464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9"/>
          <p:cNvSpPr>
            <a:spLocks/>
          </p:cNvSpPr>
          <p:nvPr/>
        </p:nvSpPr>
        <p:spPr bwMode="auto">
          <a:xfrm>
            <a:off x="6129933" y="5541664"/>
            <a:ext cx="747712" cy="25400"/>
          </a:xfrm>
          <a:custGeom>
            <a:avLst/>
            <a:gdLst>
              <a:gd name="T0" fmla="*/ 2147483647 w 471"/>
              <a:gd name="T1" fmla="*/ 0 h 16"/>
              <a:gd name="T2" fmla="*/ 2147483647 w 471"/>
              <a:gd name="T3" fmla="*/ 0 h 16"/>
              <a:gd name="T4" fmla="*/ 2147483647 w 471"/>
              <a:gd name="T5" fmla="*/ 2147483647 h 16"/>
              <a:gd name="T6" fmla="*/ 0 w 471"/>
              <a:gd name="T7" fmla="*/ 2147483647 h 16"/>
              <a:gd name="T8" fmla="*/ 0 w 471"/>
              <a:gd name="T9" fmla="*/ 2147483647 h 16"/>
              <a:gd name="T10" fmla="*/ 2147483647 w 471"/>
              <a:gd name="T11" fmla="*/ 2147483647 h 16"/>
              <a:gd name="T12" fmla="*/ 2147483647 w 471"/>
              <a:gd name="T13" fmla="*/ 2147483647 h 16"/>
              <a:gd name="T14" fmla="*/ 2147483647 w 471"/>
              <a:gd name="T15" fmla="*/ 2147483647 h 16"/>
              <a:gd name="T16" fmla="*/ 2147483647 w 471"/>
              <a:gd name="T17" fmla="*/ 2147483647 h 16"/>
              <a:gd name="T18" fmla="*/ 2147483647 w 471"/>
              <a:gd name="T19" fmla="*/ 2147483647 h 16"/>
              <a:gd name="T20" fmla="*/ 2147483647 w 471"/>
              <a:gd name="T21" fmla="*/ 2147483647 h 16"/>
              <a:gd name="T22" fmla="*/ 2147483647 w 471"/>
              <a:gd name="T23" fmla="*/ 2147483647 h 16"/>
              <a:gd name="T24" fmla="*/ 2147483647 w 471"/>
              <a:gd name="T25" fmla="*/ 0 h 16"/>
              <a:gd name="T26" fmla="*/ 2147483647 w 471"/>
              <a:gd name="T27" fmla="*/ 0 h 16"/>
              <a:gd name="T28" fmla="*/ 2147483647 w 471"/>
              <a:gd name="T29" fmla="*/ 0 h 1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71" h="16">
                <a:moveTo>
                  <a:pt x="7" y="0"/>
                </a:moveTo>
                <a:lnTo>
                  <a:pt x="5" y="0"/>
                </a:lnTo>
                <a:lnTo>
                  <a:pt x="2" y="3"/>
                </a:lnTo>
                <a:lnTo>
                  <a:pt x="0" y="5"/>
                </a:lnTo>
                <a:lnTo>
                  <a:pt x="0" y="10"/>
                </a:lnTo>
                <a:lnTo>
                  <a:pt x="2" y="13"/>
                </a:lnTo>
                <a:lnTo>
                  <a:pt x="5" y="16"/>
                </a:lnTo>
                <a:lnTo>
                  <a:pt x="466" y="16"/>
                </a:lnTo>
                <a:lnTo>
                  <a:pt x="469" y="13"/>
                </a:lnTo>
                <a:lnTo>
                  <a:pt x="471" y="10"/>
                </a:lnTo>
                <a:lnTo>
                  <a:pt x="471" y="5"/>
                </a:lnTo>
                <a:lnTo>
                  <a:pt x="469" y="3"/>
                </a:lnTo>
                <a:lnTo>
                  <a:pt x="466" y="0"/>
                </a:lnTo>
                <a:lnTo>
                  <a:pt x="463" y="0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719858" y="5965527"/>
            <a:ext cx="349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In0</a:t>
            </a:r>
            <a:endParaRPr lang="en-US" altLang="zh-CN" sz="800" i="1" baseline="-25000"/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1707158" y="4503439"/>
            <a:ext cx="349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In1</a:t>
            </a:r>
            <a:endParaRPr lang="en-US" altLang="zh-CN" sz="800" i="1" baseline="-25000"/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6155333" y="3919239"/>
            <a:ext cx="30956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A1</a:t>
            </a:r>
            <a:endParaRPr lang="en-US" altLang="zh-CN" sz="800" i="1" baseline="-25000"/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6155333" y="5184477"/>
            <a:ext cx="30956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A0</a:t>
            </a:r>
            <a:endParaRPr lang="en-US" altLang="zh-CN" sz="800" i="1" baseline="-25000"/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6879233" y="4097039"/>
            <a:ext cx="2952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Y1</a:t>
            </a:r>
            <a:endParaRPr lang="en-US" altLang="zh-CN" sz="800" i="1" baseline="-25000"/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6904633" y="5398789"/>
            <a:ext cx="2952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Y0</a:t>
            </a:r>
            <a:endParaRPr lang="en-US" altLang="zh-CN" sz="800" i="1" baseline="-25000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 flipH="1">
            <a:off x="4767858" y="4351039"/>
            <a:ext cx="71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 flipH="1">
            <a:off x="4767858" y="5601989"/>
            <a:ext cx="71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AutoShape 28"/>
          <p:cNvSpPr>
            <a:spLocks noChangeAspect="1" noChangeArrowheads="1"/>
          </p:cNvSpPr>
          <p:nvPr/>
        </p:nvSpPr>
        <p:spPr bwMode="auto">
          <a:xfrm>
            <a:off x="3275608" y="3665239"/>
            <a:ext cx="630237" cy="512763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" name="Freeform 29"/>
          <p:cNvSpPr>
            <a:spLocks noChangeAspect="1"/>
          </p:cNvSpPr>
          <p:nvPr/>
        </p:nvSpPr>
        <p:spPr bwMode="auto">
          <a:xfrm>
            <a:off x="4151908" y="4084339"/>
            <a:ext cx="630237" cy="512763"/>
          </a:xfrm>
          <a:custGeom>
            <a:avLst/>
            <a:gdLst>
              <a:gd name="T0" fmla="*/ 0 w 708"/>
              <a:gd name="T1" fmla="*/ 0 h 576"/>
              <a:gd name="T2" fmla="*/ 2147483647 w 708"/>
              <a:gd name="T3" fmla="*/ 2147483647 h 576"/>
              <a:gd name="T4" fmla="*/ 2147483647 w 708"/>
              <a:gd name="T5" fmla="*/ 2147483647 h 576"/>
              <a:gd name="T6" fmla="*/ 2147483647 w 708"/>
              <a:gd name="T7" fmla="*/ 2147483647 h 576"/>
              <a:gd name="T8" fmla="*/ 2147483647 w 708"/>
              <a:gd name="T9" fmla="*/ 2147483647 h 576"/>
              <a:gd name="T10" fmla="*/ 2147483647 w 708"/>
              <a:gd name="T11" fmla="*/ 2147483647 h 576"/>
              <a:gd name="T12" fmla="*/ 2147483647 w 708"/>
              <a:gd name="T13" fmla="*/ 2147483647 h 576"/>
              <a:gd name="T14" fmla="*/ 2147483647 w 708"/>
              <a:gd name="T15" fmla="*/ 2147483647 h 576"/>
              <a:gd name="T16" fmla="*/ 2147483647 w 708"/>
              <a:gd name="T17" fmla="*/ 2147483647 h 576"/>
              <a:gd name="T18" fmla="*/ 2147483647 w 708"/>
              <a:gd name="T19" fmla="*/ 2147483647 h 576"/>
              <a:gd name="T20" fmla="*/ 0 w 708"/>
              <a:gd name="T21" fmla="*/ 2147483647 h 576"/>
              <a:gd name="T22" fmla="*/ 2147483647 w 708"/>
              <a:gd name="T23" fmla="*/ 2147483647 h 576"/>
              <a:gd name="T24" fmla="*/ 2147483647 w 708"/>
              <a:gd name="T25" fmla="*/ 2147483647 h 576"/>
              <a:gd name="T26" fmla="*/ 2147483647 w 708"/>
              <a:gd name="T27" fmla="*/ 2147483647 h 576"/>
              <a:gd name="T28" fmla="*/ 2147483647 w 708"/>
              <a:gd name="T29" fmla="*/ 2147483647 h 576"/>
              <a:gd name="T30" fmla="*/ 2147483647 w 708"/>
              <a:gd name="T31" fmla="*/ 2147483647 h 576"/>
              <a:gd name="T32" fmla="*/ 2147483647 w 708"/>
              <a:gd name="T33" fmla="*/ 2147483647 h 576"/>
              <a:gd name="T34" fmla="*/ 2147483647 w 708"/>
              <a:gd name="T35" fmla="*/ 2147483647 h 576"/>
              <a:gd name="T36" fmla="*/ 2147483647 w 708"/>
              <a:gd name="T37" fmla="*/ 2147483647 h 576"/>
              <a:gd name="T38" fmla="*/ 2147483647 w 708"/>
              <a:gd name="T39" fmla="*/ 2147483647 h 576"/>
              <a:gd name="T40" fmla="*/ 2147483647 w 708"/>
              <a:gd name="T41" fmla="*/ 2147483647 h 576"/>
              <a:gd name="T42" fmla="*/ 2147483647 w 708"/>
              <a:gd name="T43" fmla="*/ 2147483647 h 576"/>
              <a:gd name="T44" fmla="*/ 2147483647 w 708"/>
              <a:gd name="T45" fmla="*/ 2147483647 h 576"/>
              <a:gd name="T46" fmla="*/ 2147483647 w 708"/>
              <a:gd name="T47" fmla="*/ 2147483647 h 576"/>
              <a:gd name="T48" fmla="*/ 2147483647 w 708"/>
              <a:gd name="T49" fmla="*/ 2147483647 h 576"/>
              <a:gd name="T50" fmla="*/ 2147483647 w 708"/>
              <a:gd name="T51" fmla="*/ 2147483647 h 576"/>
              <a:gd name="T52" fmla="*/ 2147483647 w 708"/>
              <a:gd name="T53" fmla="*/ 2147483647 h 576"/>
              <a:gd name="T54" fmla="*/ 2147483647 w 708"/>
              <a:gd name="T55" fmla="*/ 2147483647 h 576"/>
              <a:gd name="T56" fmla="*/ 2147483647 w 708"/>
              <a:gd name="T57" fmla="*/ 2147483647 h 576"/>
              <a:gd name="T58" fmla="*/ 2147483647 w 708"/>
              <a:gd name="T59" fmla="*/ 2147483647 h 576"/>
              <a:gd name="T60" fmla="*/ 2147483647 w 708"/>
              <a:gd name="T61" fmla="*/ 2147483647 h 576"/>
              <a:gd name="T62" fmla="*/ 2147483647 w 708"/>
              <a:gd name="T63" fmla="*/ 2147483647 h 576"/>
              <a:gd name="T64" fmla="*/ 2147483647 w 708"/>
              <a:gd name="T65" fmla="*/ 2147483647 h 576"/>
              <a:gd name="T66" fmla="*/ 2147483647 w 708"/>
              <a:gd name="T67" fmla="*/ 2147483647 h 576"/>
              <a:gd name="T68" fmla="*/ 2147483647 w 708"/>
              <a:gd name="T69" fmla="*/ 2147483647 h 576"/>
              <a:gd name="T70" fmla="*/ 2147483647 w 708"/>
              <a:gd name="T71" fmla="*/ 2147483647 h 576"/>
              <a:gd name="T72" fmla="*/ 2147483647 w 708"/>
              <a:gd name="T73" fmla="*/ 2147483647 h 576"/>
              <a:gd name="T74" fmla="*/ 2147483647 w 708"/>
              <a:gd name="T75" fmla="*/ 2147483647 h 576"/>
              <a:gd name="T76" fmla="*/ 2147483647 w 708"/>
              <a:gd name="T77" fmla="*/ 2147483647 h 576"/>
              <a:gd name="T78" fmla="*/ 2147483647 w 708"/>
              <a:gd name="T79" fmla="*/ 2147483647 h 576"/>
              <a:gd name="T80" fmla="*/ 2147483647 w 708"/>
              <a:gd name="T81" fmla="*/ 2147483647 h 576"/>
              <a:gd name="T82" fmla="*/ 2147483647 w 708"/>
              <a:gd name="T83" fmla="*/ 2147483647 h 576"/>
              <a:gd name="T84" fmla="*/ 2147483647 w 708"/>
              <a:gd name="T85" fmla="*/ 2147483647 h 576"/>
              <a:gd name="T86" fmla="*/ 2147483647 w 708"/>
              <a:gd name="T87" fmla="*/ 0 h 576"/>
              <a:gd name="T88" fmla="*/ 0 w 708"/>
              <a:gd name="T89" fmla="*/ 0 h 57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708" h="576">
                <a:moveTo>
                  <a:pt x="0" y="0"/>
                </a:moveTo>
                <a:lnTo>
                  <a:pt x="17" y="40"/>
                </a:lnTo>
                <a:lnTo>
                  <a:pt x="39" y="95"/>
                </a:lnTo>
                <a:lnTo>
                  <a:pt x="54" y="157"/>
                </a:lnTo>
                <a:lnTo>
                  <a:pt x="66" y="227"/>
                </a:lnTo>
                <a:lnTo>
                  <a:pt x="74" y="284"/>
                </a:lnTo>
                <a:lnTo>
                  <a:pt x="69" y="338"/>
                </a:lnTo>
                <a:lnTo>
                  <a:pt x="58" y="399"/>
                </a:lnTo>
                <a:lnTo>
                  <a:pt x="45" y="458"/>
                </a:lnTo>
                <a:lnTo>
                  <a:pt x="28" y="512"/>
                </a:lnTo>
                <a:lnTo>
                  <a:pt x="0" y="572"/>
                </a:lnTo>
                <a:lnTo>
                  <a:pt x="210" y="576"/>
                </a:lnTo>
                <a:lnTo>
                  <a:pt x="297" y="570"/>
                </a:lnTo>
                <a:lnTo>
                  <a:pt x="342" y="567"/>
                </a:lnTo>
                <a:lnTo>
                  <a:pt x="375" y="559"/>
                </a:lnTo>
                <a:lnTo>
                  <a:pt x="409" y="549"/>
                </a:lnTo>
                <a:lnTo>
                  <a:pt x="445" y="533"/>
                </a:lnTo>
                <a:lnTo>
                  <a:pt x="486" y="515"/>
                </a:lnTo>
                <a:lnTo>
                  <a:pt x="526" y="490"/>
                </a:lnTo>
                <a:lnTo>
                  <a:pt x="552" y="470"/>
                </a:lnTo>
                <a:lnTo>
                  <a:pt x="577" y="447"/>
                </a:lnTo>
                <a:lnTo>
                  <a:pt x="604" y="420"/>
                </a:lnTo>
                <a:lnTo>
                  <a:pt x="628" y="398"/>
                </a:lnTo>
                <a:lnTo>
                  <a:pt x="651" y="370"/>
                </a:lnTo>
                <a:lnTo>
                  <a:pt x="680" y="333"/>
                </a:lnTo>
                <a:lnTo>
                  <a:pt x="708" y="286"/>
                </a:lnTo>
                <a:lnTo>
                  <a:pt x="682" y="245"/>
                </a:lnTo>
                <a:lnTo>
                  <a:pt x="658" y="210"/>
                </a:lnTo>
                <a:lnTo>
                  <a:pt x="638" y="185"/>
                </a:lnTo>
                <a:lnTo>
                  <a:pt x="616" y="161"/>
                </a:lnTo>
                <a:lnTo>
                  <a:pt x="592" y="138"/>
                </a:lnTo>
                <a:lnTo>
                  <a:pt x="572" y="120"/>
                </a:lnTo>
                <a:lnTo>
                  <a:pt x="552" y="103"/>
                </a:lnTo>
                <a:lnTo>
                  <a:pt x="528" y="85"/>
                </a:lnTo>
                <a:lnTo>
                  <a:pt x="506" y="72"/>
                </a:lnTo>
                <a:lnTo>
                  <a:pt x="480" y="58"/>
                </a:lnTo>
                <a:lnTo>
                  <a:pt x="451" y="43"/>
                </a:lnTo>
                <a:lnTo>
                  <a:pt x="415" y="29"/>
                </a:lnTo>
                <a:lnTo>
                  <a:pt x="385" y="20"/>
                </a:lnTo>
                <a:lnTo>
                  <a:pt x="350" y="11"/>
                </a:lnTo>
                <a:lnTo>
                  <a:pt x="313" y="5"/>
                </a:lnTo>
                <a:lnTo>
                  <a:pt x="278" y="1"/>
                </a:lnTo>
                <a:lnTo>
                  <a:pt x="253" y="1"/>
                </a:lnTo>
                <a:lnTo>
                  <a:pt x="227" y="0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 bwMode="auto">
          <a:xfrm>
            <a:off x="2634258" y="3855739"/>
            <a:ext cx="420687" cy="420688"/>
            <a:chOff x="1968" y="1507"/>
            <a:chExt cx="480" cy="480"/>
          </a:xfrm>
        </p:grpSpPr>
        <p:sp>
          <p:nvSpPr>
            <p:cNvPr id="31" name="AutoShape 31"/>
            <p:cNvSpPr>
              <a:spLocks noChangeAspect="1" noChangeArrowheads="1"/>
            </p:cNvSpPr>
            <p:nvPr/>
          </p:nvSpPr>
          <p:spPr bwMode="auto">
            <a:xfrm rot="5400000">
              <a:off x="1920" y="1555"/>
              <a:ext cx="480" cy="38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Oval 32"/>
            <p:cNvSpPr>
              <a:spLocks noChangeAspect="1" noChangeArrowheads="1"/>
            </p:cNvSpPr>
            <p:nvPr/>
          </p:nvSpPr>
          <p:spPr bwMode="auto">
            <a:xfrm>
              <a:off x="2352" y="1699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" name="Oval 33"/>
          <p:cNvSpPr>
            <a:spLocks noChangeArrowheads="1"/>
          </p:cNvSpPr>
          <p:nvPr/>
        </p:nvSpPr>
        <p:spPr bwMode="auto">
          <a:xfrm>
            <a:off x="5240933" y="5960764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" name="AutoShape 34"/>
          <p:cNvSpPr>
            <a:spLocks noChangeAspect="1" noChangeArrowheads="1"/>
          </p:cNvSpPr>
          <p:nvPr/>
        </p:nvSpPr>
        <p:spPr bwMode="auto">
          <a:xfrm>
            <a:off x="3275608" y="4262139"/>
            <a:ext cx="630237" cy="512763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" name="AutoShape 35"/>
          <p:cNvSpPr>
            <a:spLocks noChangeAspect="1" noChangeArrowheads="1"/>
          </p:cNvSpPr>
          <p:nvPr/>
        </p:nvSpPr>
        <p:spPr bwMode="auto">
          <a:xfrm>
            <a:off x="3275608" y="5144789"/>
            <a:ext cx="630237" cy="512763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" name="AutoShape 36"/>
          <p:cNvSpPr>
            <a:spLocks noChangeAspect="1" noChangeArrowheads="1"/>
          </p:cNvSpPr>
          <p:nvPr/>
        </p:nvSpPr>
        <p:spPr bwMode="auto">
          <a:xfrm>
            <a:off x="3275608" y="5741689"/>
            <a:ext cx="630237" cy="512763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" name="Freeform 37"/>
          <p:cNvSpPr>
            <a:spLocks noChangeAspect="1"/>
          </p:cNvSpPr>
          <p:nvPr/>
        </p:nvSpPr>
        <p:spPr bwMode="auto">
          <a:xfrm>
            <a:off x="4164608" y="5335289"/>
            <a:ext cx="630237" cy="512763"/>
          </a:xfrm>
          <a:custGeom>
            <a:avLst/>
            <a:gdLst>
              <a:gd name="T0" fmla="*/ 0 w 708"/>
              <a:gd name="T1" fmla="*/ 0 h 576"/>
              <a:gd name="T2" fmla="*/ 2147483647 w 708"/>
              <a:gd name="T3" fmla="*/ 2147483647 h 576"/>
              <a:gd name="T4" fmla="*/ 2147483647 w 708"/>
              <a:gd name="T5" fmla="*/ 2147483647 h 576"/>
              <a:gd name="T6" fmla="*/ 2147483647 w 708"/>
              <a:gd name="T7" fmla="*/ 2147483647 h 576"/>
              <a:gd name="T8" fmla="*/ 2147483647 w 708"/>
              <a:gd name="T9" fmla="*/ 2147483647 h 576"/>
              <a:gd name="T10" fmla="*/ 2147483647 w 708"/>
              <a:gd name="T11" fmla="*/ 2147483647 h 576"/>
              <a:gd name="T12" fmla="*/ 2147483647 w 708"/>
              <a:gd name="T13" fmla="*/ 2147483647 h 576"/>
              <a:gd name="T14" fmla="*/ 2147483647 w 708"/>
              <a:gd name="T15" fmla="*/ 2147483647 h 576"/>
              <a:gd name="T16" fmla="*/ 2147483647 w 708"/>
              <a:gd name="T17" fmla="*/ 2147483647 h 576"/>
              <a:gd name="T18" fmla="*/ 2147483647 w 708"/>
              <a:gd name="T19" fmla="*/ 2147483647 h 576"/>
              <a:gd name="T20" fmla="*/ 0 w 708"/>
              <a:gd name="T21" fmla="*/ 2147483647 h 576"/>
              <a:gd name="T22" fmla="*/ 2147483647 w 708"/>
              <a:gd name="T23" fmla="*/ 2147483647 h 576"/>
              <a:gd name="T24" fmla="*/ 2147483647 w 708"/>
              <a:gd name="T25" fmla="*/ 2147483647 h 576"/>
              <a:gd name="T26" fmla="*/ 2147483647 w 708"/>
              <a:gd name="T27" fmla="*/ 2147483647 h 576"/>
              <a:gd name="T28" fmla="*/ 2147483647 w 708"/>
              <a:gd name="T29" fmla="*/ 2147483647 h 576"/>
              <a:gd name="T30" fmla="*/ 2147483647 w 708"/>
              <a:gd name="T31" fmla="*/ 2147483647 h 576"/>
              <a:gd name="T32" fmla="*/ 2147483647 w 708"/>
              <a:gd name="T33" fmla="*/ 2147483647 h 576"/>
              <a:gd name="T34" fmla="*/ 2147483647 w 708"/>
              <a:gd name="T35" fmla="*/ 2147483647 h 576"/>
              <a:gd name="T36" fmla="*/ 2147483647 w 708"/>
              <a:gd name="T37" fmla="*/ 2147483647 h 576"/>
              <a:gd name="T38" fmla="*/ 2147483647 w 708"/>
              <a:gd name="T39" fmla="*/ 2147483647 h 576"/>
              <a:gd name="T40" fmla="*/ 2147483647 w 708"/>
              <a:gd name="T41" fmla="*/ 2147483647 h 576"/>
              <a:gd name="T42" fmla="*/ 2147483647 w 708"/>
              <a:gd name="T43" fmla="*/ 2147483647 h 576"/>
              <a:gd name="T44" fmla="*/ 2147483647 w 708"/>
              <a:gd name="T45" fmla="*/ 2147483647 h 576"/>
              <a:gd name="T46" fmla="*/ 2147483647 w 708"/>
              <a:gd name="T47" fmla="*/ 2147483647 h 576"/>
              <a:gd name="T48" fmla="*/ 2147483647 w 708"/>
              <a:gd name="T49" fmla="*/ 2147483647 h 576"/>
              <a:gd name="T50" fmla="*/ 2147483647 w 708"/>
              <a:gd name="T51" fmla="*/ 2147483647 h 576"/>
              <a:gd name="T52" fmla="*/ 2147483647 w 708"/>
              <a:gd name="T53" fmla="*/ 2147483647 h 576"/>
              <a:gd name="T54" fmla="*/ 2147483647 w 708"/>
              <a:gd name="T55" fmla="*/ 2147483647 h 576"/>
              <a:gd name="T56" fmla="*/ 2147483647 w 708"/>
              <a:gd name="T57" fmla="*/ 2147483647 h 576"/>
              <a:gd name="T58" fmla="*/ 2147483647 w 708"/>
              <a:gd name="T59" fmla="*/ 2147483647 h 576"/>
              <a:gd name="T60" fmla="*/ 2147483647 w 708"/>
              <a:gd name="T61" fmla="*/ 2147483647 h 576"/>
              <a:gd name="T62" fmla="*/ 2147483647 w 708"/>
              <a:gd name="T63" fmla="*/ 2147483647 h 576"/>
              <a:gd name="T64" fmla="*/ 2147483647 w 708"/>
              <a:gd name="T65" fmla="*/ 2147483647 h 576"/>
              <a:gd name="T66" fmla="*/ 2147483647 w 708"/>
              <a:gd name="T67" fmla="*/ 2147483647 h 576"/>
              <a:gd name="T68" fmla="*/ 2147483647 w 708"/>
              <a:gd name="T69" fmla="*/ 2147483647 h 576"/>
              <a:gd name="T70" fmla="*/ 2147483647 w 708"/>
              <a:gd name="T71" fmla="*/ 2147483647 h 576"/>
              <a:gd name="T72" fmla="*/ 2147483647 w 708"/>
              <a:gd name="T73" fmla="*/ 2147483647 h 576"/>
              <a:gd name="T74" fmla="*/ 2147483647 w 708"/>
              <a:gd name="T75" fmla="*/ 2147483647 h 576"/>
              <a:gd name="T76" fmla="*/ 2147483647 w 708"/>
              <a:gd name="T77" fmla="*/ 2147483647 h 576"/>
              <a:gd name="T78" fmla="*/ 2147483647 w 708"/>
              <a:gd name="T79" fmla="*/ 2147483647 h 576"/>
              <a:gd name="T80" fmla="*/ 2147483647 w 708"/>
              <a:gd name="T81" fmla="*/ 2147483647 h 576"/>
              <a:gd name="T82" fmla="*/ 2147483647 w 708"/>
              <a:gd name="T83" fmla="*/ 2147483647 h 576"/>
              <a:gd name="T84" fmla="*/ 2147483647 w 708"/>
              <a:gd name="T85" fmla="*/ 2147483647 h 576"/>
              <a:gd name="T86" fmla="*/ 2147483647 w 708"/>
              <a:gd name="T87" fmla="*/ 0 h 576"/>
              <a:gd name="T88" fmla="*/ 0 w 708"/>
              <a:gd name="T89" fmla="*/ 0 h 57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708" h="576">
                <a:moveTo>
                  <a:pt x="0" y="0"/>
                </a:moveTo>
                <a:lnTo>
                  <a:pt x="17" y="40"/>
                </a:lnTo>
                <a:lnTo>
                  <a:pt x="39" y="95"/>
                </a:lnTo>
                <a:lnTo>
                  <a:pt x="54" y="157"/>
                </a:lnTo>
                <a:lnTo>
                  <a:pt x="66" y="227"/>
                </a:lnTo>
                <a:lnTo>
                  <a:pt x="74" y="284"/>
                </a:lnTo>
                <a:lnTo>
                  <a:pt x="69" y="338"/>
                </a:lnTo>
                <a:lnTo>
                  <a:pt x="58" y="399"/>
                </a:lnTo>
                <a:lnTo>
                  <a:pt x="45" y="458"/>
                </a:lnTo>
                <a:lnTo>
                  <a:pt x="28" y="512"/>
                </a:lnTo>
                <a:lnTo>
                  <a:pt x="0" y="572"/>
                </a:lnTo>
                <a:lnTo>
                  <a:pt x="210" y="576"/>
                </a:lnTo>
                <a:lnTo>
                  <a:pt x="297" y="570"/>
                </a:lnTo>
                <a:lnTo>
                  <a:pt x="342" y="567"/>
                </a:lnTo>
                <a:lnTo>
                  <a:pt x="375" y="559"/>
                </a:lnTo>
                <a:lnTo>
                  <a:pt x="409" y="549"/>
                </a:lnTo>
                <a:lnTo>
                  <a:pt x="445" y="533"/>
                </a:lnTo>
                <a:lnTo>
                  <a:pt x="486" y="515"/>
                </a:lnTo>
                <a:lnTo>
                  <a:pt x="526" y="490"/>
                </a:lnTo>
                <a:lnTo>
                  <a:pt x="552" y="470"/>
                </a:lnTo>
                <a:lnTo>
                  <a:pt x="577" y="447"/>
                </a:lnTo>
                <a:lnTo>
                  <a:pt x="604" y="420"/>
                </a:lnTo>
                <a:lnTo>
                  <a:pt x="628" y="398"/>
                </a:lnTo>
                <a:lnTo>
                  <a:pt x="651" y="370"/>
                </a:lnTo>
                <a:lnTo>
                  <a:pt x="680" y="333"/>
                </a:lnTo>
                <a:lnTo>
                  <a:pt x="708" y="286"/>
                </a:lnTo>
                <a:lnTo>
                  <a:pt x="682" y="245"/>
                </a:lnTo>
                <a:lnTo>
                  <a:pt x="658" y="210"/>
                </a:lnTo>
                <a:lnTo>
                  <a:pt x="638" y="185"/>
                </a:lnTo>
                <a:lnTo>
                  <a:pt x="616" y="161"/>
                </a:lnTo>
                <a:lnTo>
                  <a:pt x="592" y="138"/>
                </a:lnTo>
                <a:lnTo>
                  <a:pt x="572" y="120"/>
                </a:lnTo>
                <a:lnTo>
                  <a:pt x="552" y="103"/>
                </a:lnTo>
                <a:lnTo>
                  <a:pt x="528" y="85"/>
                </a:lnTo>
                <a:lnTo>
                  <a:pt x="506" y="72"/>
                </a:lnTo>
                <a:lnTo>
                  <a:pt x="480" y="58"/>
                </a:lnTo>
                <a:lnTo>
                  <a:pt x="451" y="43"/>
                </a:lnTo>
                <a:lnTo>
                  <a:pt x="415" y="29"/>
                </a:lnTo>
                <a:lnTo>
                  <a:pt x="385" y="20"/>
                </a:lnTo>
                <a:lnTo>
                  <a:pt x="350" y="11"/>
                </a:lnTo>
                <a:lnTo>
                  <a:pt x="313" y="5"/>
                </a:lnTo>
                <a:lnTo>
                  <a:pt x="278" y="1"/>
                </a:lnTo>
                <a:lnTo>
                  <a:pt x="253" y="1"/>
                </a:lnTo>
                <a:lnTo>
                  <a:pt x="227" y="0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 bwMode="auto">
          <a:xfrm>
            <a:off x="2672358" y="5322589"/>
            <a:ext cx="420687" cy="420688"/>
            <a:chOff x="1968" y="1507"/>
            <a:chExt cx="480" cy="480"/>
          </a:xfrm>
        </p:grpSpPr>
        <p:sp>
          <p:nvSpPr>
            <p:cNvPr id="39" name="AutoShape 39"/>
            <p:cNvSpPr>
              <a:spLocks noChangeAspect="1" noChangeArrowheads="1"/>
            </p:cNvSpPr>
            <p:nvPr/>
          </p:nvSpPr>
          <p:spPr bwMode="auto">
            <a:xfrm rot="5400000">
              <a:off x="1920" y="1555"/>
              <a:ext cx="480" cy="38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Oval 40"/>
            <p:cNvSpPr>
              <a:spLocks noChangeAspect="1" noChangeArrowheads="1"/>
            </p:cNvSpPr>
            <p:nvPr/>
          </p:nvSpPr>
          <p:spPr bwMode="auto">
            <a:xfrm>
              <a:off x="2352" y="1699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3078758" y="4071639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2"/>
          <p:cNvSpPr>
            <a:spLocks noChangeShapeType="1"/>
          </p:cNvSpPr>
          <p:nvPr/>
        </p:nvSpPr>
        <p:spPr bwMode="auto">
          <a:xfrm>
            <a:off x="3091458" y="5538489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Group 43"/>
          <p:cNvGrpSpPr>
            <a:grpSpLocks/>
          </p:cNvGrpSpPr>
          <p:nvPr/>
        </p:nvGrpSpPr>
        <p:grpSpPr bwMode="auto">
          <a:xfrm>
            <a:off x="3904258" y="3931939"/>
            <a:ext cx="304800" cy="266700"/>
            <a:chOff x="3160" y="1728"/>
            <a:chExt cx="192" cy="192"/>
          </a:xfrm>
        </p:grpSpPr>
        <p:sp>
          <p:nvSpPr>
            <p:cNvPr id="44" name="Line 44"/>
            <p:cNvSpPr>
              <a:spLocks noChangeShapeType="1"/>
            </p:cNvSpPr>
            <p:nvPr/>
          </p:nvSpPr>
          <p:spPr bwMode="auto">
            <a:xfrm>
              <a:off x="3160" y="1728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5"/>
            <p:cNvSpPr>
              <a:spLocks noChangeShapeType="1"/>
            </p:cNvSpPr>
            <p:nvPr/>
          </p:nvSpPr>
          <p:spPr bwMode="auto">
            <a:xfrm>
              <a:off x="3232" y="1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3232" y="1920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" name="Group 47"/>
          <p:cNvGrpSpPr>
            <a:grpSpLocks/>
          </p:cNvGrpSpPr>
          <p:nvPr/>
        </p:nvGrpSpPr>
        <p:grpSpPr bwMode="auto">
          <a:xfrm>
            <a:off x="3913783" y="5389264"/>
            <a:ext cx="323850" cy="76200"/>
            <a:chOff x="3160" y="1728"/>
            <a:chExt cx="192" cy="192"/>
          </a:xfrm>
        </p:grpSpPr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3160" y="1728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9"/>
            <p:cNvSpPr>
              <a:spLocks noChangeShapeType="1"/>
            </p:cNvSpPr>
            <p:nvPr/>
          </p:nvSpPr>
          <p:spPr bwMode="auto">
            <a:xfrm>
              <a:off x="3232" y="1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3232" y="1920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" name="Group 51"/>
          <p:cNvGrpSpPr>
            <a:grpSpLocks/>
          </p:cNvGrpSpPr>
          <p:nvPr/>
        </p:nvGrpSpPr>
        <p:grpSpPr bwMode="auto">
          <a:xfrm flipV="1">
            <a:off x="3913783" y="5741689"/>
            <a:ext cx="323850" cy="257175"/>
            <a:chOff x="3160" y="1728"/>
            <a:chExt cx="192" cy="192"/>
          </a:xfrm>
        </p:grpSpPr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3160" y="1728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3232" y="1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4"/>
            <p:cNvSpPr>
              <a:spLocks noChangeShapeType="1"/>
            </p:cNvSpPr>
            <p:nvPr/>
          </p:nvSpPr>
          <p:spPr bwMode="auto">
            <a:xfrm>
              <a:off x="3232" y="1920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" name="Group 55"/>
          <p:cNvGrpSpPr>
            <a:grpSpLocks/>
          </p:cNvGrpSpPr>
          <p:nvPr/>
        </p:nvGrpSpPr>
        <p:grpSpPr bwMode="auto">
          <a:xfrm flipV="1">
            <a:off x="3894733" y="4465339"/>
            <a:ext cx="323850" cy="71438"/>
            <a:chOff x="3160" y="1728"/>
            <a:chExt cx="192" cy="192"/>
          </a:xfrm>
        </p:grpSpPr>
        <p:sp>
          <p:nvSpPr>
            <p:cNvPr id="56" name="Line 56"/>
            <p:cNvSpPr>
              <a:spLocks noChangeShapeType="1"/>
            </p:cNvSpPr>
            <p:nvPr/>
          </p:nvSpPr>
          <p:spPr bwMode="auto">
            <a:xfrm>
              <a:off x="3160" y="1728"/>
              <a:ext cx="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7"/>
            <p:cNvSpPr>
              <a:spLocks noChangeShapeType="1"/>
            </p:cNvSpPr>
            <p:nvPr/>
          </p:nvSpPr>
          <p:spPr bwMode="auto">
            <a:xfrm>
              <a:off x="3232" y="1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8"/>
            <p:cNvSpPr>
              <a:spLocks noChangeShapeType="1"/>
            </p:cNvSpPr>
            <p:nvPr/>
          </p:nvSpPr>
          <p:spPr bwMode="auto">
            <a:xfrm>
              <a:off x="3232" y="1920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" name="Group 59"/>
          <p:cNvGrpSpPr>
            <a:grpSpLocks/>
          </p:cNvGrpSpPr>
          <p:nvPr/>
        </p:nvGrpSpPr>
        <p:grpSpPr bwMode="auto">
          <a:xfrm>
            <a:off x="2437408" y="3392189"/>
            <a:ext cx="4229100" cy="904875"/>
            <a:chOff x="2148" y="2028"/>
            <a:chExt cx="2664" cy="570"/>
          </a:xfrm>
        </p:grpSpPr>
        <p:sp>
          <p:nvSpPr>
            <p:cNvPr id="60" name="Line 60"/>
            <p:cNvSpPr>
              <a:spLocks noChangeShapeType="1"/>
            </p:cNvSpPr>
            <p:nvPr/>
          </p:nvSpPr>
          <p:spPr bwMode="auto">
            <a:xfrm flipV="1">
              <a:off x="4812" y="2031"/>
              <a:ext cx="0" cy="5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1"/>
            <p:cNvSpPr>
              <a:spLocks noChangeShapeType="1"/>
            </p:cNvSpPr>
            <p:nvPr/>
          </p:nvSpPr>
          <p:spPr bwMode="auto">
            <a:xfrm flipH="1">
              <a:off x="2154" y="2031"/>
              <a:ext cx="26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2"/>
            <p:cNvSpPr>
              <a:spLocks noChangeShapeType="1"/>
            </p:cNvSpPr>
            <p:nvPr/>
          </p:nvSpPr>
          <p:spPr bwMode="auto">
            <a:xfrm flipH="1">
              <a:off x="2148" y="2279"/>
              <a:ext cx="5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3"/>
            <p:cNvSpPr>
              <a:spLocks noChangeShapeType="1"/>
            </p:cNvSpPr>
            <p:nvPr/>
          </p:nvSpPr>
          <p:spPr bwMode="auto">
            <a:xfrm>
              <a:off x="2148" y="2028"/>
              <a:ext cx="0" cy="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" name="Line 64"/>
          <p:cNvSpPr>
            <a:spLocks noChangeShapeType="1"/>
          </p:cNvSpPr>
          <p:nvPr/>
        </p:nvSpPr>
        <p:spPr bwMode="auto">
          <a:xfrm>
            <a:off x="5285383" y="4716164"/>
            <a:ext cx="0" cy="1660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65"/>
          <p:cNvSpPr>
            <a:spLocks noChangeShapeType="1"/>
          </p:cNvSpPr>
          <p:nvPr/>
        </p:nvSpPr>
        <p:spPr bwMode="auto">
          <a:xfrm flipV="1">
            <a:off x="6666508" y="4962227"/>
            <a:ext cx="0" cy="554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66"/>
          <p:cNvSpPr>
            <a:spLocks noChangeShapeType="1"/>
          </p:cNvSpPr>
          <p:nvPr/>
        </p:nvSpPr>
        <p:spPr bwMode="auto">
          <a:xfrm flipH="1">
            <a:off x="2470745" y="4971752"/>
            <a:ext cx="419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67"/>
          <p:cNvSpPr>
            <a:spLocks noChangeShapeType="1"/>
          </p:cNvSpPr>
          <p:nvPr/>
        </p:nvSpPr>
        <p:spPr bwMode="auto">
          <a:xfrm>
            <a:off x="2485033" y="4982864"/>
            <a:ext cx="0" cy="2778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Oval 68"/>
          <p:cNvSpPr>
            <a:spLocks noChangeArrowheads="1"/>
          </p:cNvSpPr>
          <p:nvPr/>
        </p:nvSpPr>
        <p:spPr bwMode="auto">
          <a:xfrm>
            <a:off x="2445345" y="581312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" name="Oval 69"/>
          <p:cNvSpPr>
            <a:spLocks noChangeArrowheads="1"/>
          </p:cNvSpPr>
          <p:nvPr/>
        </p:nvSpPr>
        <p:spPr bwMode="auto">
          <a:xfrm>
            <a:off x="2402483" y="434627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" name="Oval 70"/>
          <p:cNvSpPr>
            <a:spLocks noChangeArrowheads="1"/>
          </p:cNvSpPr>
          <p:nvPr/>
        </p:nvSpPr>
        <p:spPr bwMode="auto">
          <a:xfrm>
            <a:off x="6626820" y="422245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" name="Oval 71"/>
          <p:cNvSpPr>
            <a:spLocks noChangeArrowheads="1"/>
          </p:cNvSpPr>
          <p:nvPr/>
        </p:nvSpPr>
        <p:spPr bwMode="auto">
          <a:xfrm>
            <a:off x="6626820" y="551785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" name="Line 72"/>
          <p:cNvSpPr>
            <a:spLocks noChangeShapeType="1"/>
          </p:cNvSpPr>
          <p:nvPr/>
        </p:nvSpPr>
        <p:spPr bwMode="auto">
          <a:xfrm flipH="1">
            <a:off x="2475508" y="5259089"/>
            <a:ext cx="800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73"/>
          <p:cNvSpPr>
            <a:spLocks noChangeShapeType="1"/>
          </p:cNvSpPr>
          <p:nvPr/>
        </p:nvSpPr>
        <p:spPr bwMode="auto">
          <a:xfrm flipH="1">
            <a:off x="2080220" y="4649489"/>
            <a:ext cx="1176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74"/>
          <p:cNvSpPr>
            <a:spLocks noChangeShapeType="1"/>
          </p:cNvSpPr>
          <p:nvPr/>
        </p:nvSpPr>
        <p:spPr bwMode="auto">
          <a:xfrm flipH="1">
            <a:off x="2070695" y="4382789"/>
            <a:ext cx="1190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75"/>
          <p:cNvSpPr>
            <a:spLocks noChangeShapeType="1"/>
          </p:cNvSpPr>
          <p:nvPr/>
        </p:nvSpPr>
        <p:spPr bwMode="auto">
          <a:xfrm flipH="1">
            <a:off x="2456458" y="4049414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76"/>
          <p:cNvSpPr>
            <a:spLocks noChangeShapeType="1"/>
          </p:cNvSpPr>
          <p:nvPr/>
        </p:nvSpPr>
        <p:spPr bwMode="auto">
          <a:xfrm>
            <a:off x="2446933" y="4039889"/>
            <a:ext cx="0" cy="361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77"/>
          <p:cNvSpPr>
            <a:spLocks noChangeShapeType="1"/>
          </p:cNvSpPr>
          <p:nvPr/>
        </p:nvSpPr>
        <p:spPr bwMode="auto">
          <a:xfrm flipH="1">
            <a:off x="2259608" y="5849639"/>
            <a:ext cx="1025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78"/>
          <p:cNvSpPr>
            <a:spLocks noChangeShapeType="1"/>
          </p:cNvSpPr>
          <p:nvPr/>
        </p:nvSpPr>
        <p:spPr bwMode="auto">
          <a:xfrm flipH="1">
            <a:off x="2494558" y="5516264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79"/>
          <p:cNvSpPr>
            <a:spLocks noChangeShapeType="1"/>
          </p:cNvSpPr>
          <p:nvPr/>
        </p:nvSpPr>
        <p:spPr bwMode="auto">
          <a:xfrm>
            <a:off x="2485033" y="5506739"/>
            <a:ext cx="0" cy="361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80"/>
          <p:cNvSpPr>
            <a:spLocks noChangeShapeType="1"/>
          </p:cNvSpPr>
          <p:nvPr/>
        </p:nvSpPr>
        <p:spPr bwMode="auto">
          <a:xfrm flipH="1">
            <a:off x="2089745" y="6125864"/>
            <a:ext cx="1176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Line 81"/>
          <p:cNvSpPr>
            <a:spLocks noChangeShapeType="1"/>
          </p:cNvSpPr>
          <p:nvPr/>
        </p:nvSpPr>
        <p:spPr bwMode="auto">
          <a:xfrm flipV="1">
            <a:off x="2253258" y="4363739"/>
            <a:ext cx="0" cy="149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Oval 82"/>
          <p:cNvSpPr>
            <a:spLocks noChangeArrowheads="1"/>
          </p:cNvSpPr>
          <p:nvPr/>
        </p:nvSpPr>
        <p:spPr bwMode="auto">
          <a:xfrm>
            <a:off x="2207220" y="4341514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" name="Rectangle 83"/>
          <p:cNvSpPr>
            <a:spLocks noChangeArrowheads="1"/>
          </p:cNvSpPr>
          <p:nvPr/>
        </p:nvSpPr>
        <p:spPr bwMode="auto">
          <a:xfrm>
            <a:off x="1529358" y="4236739"/>
            <a:ext cx="5778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Load</a:t>
            </a:r>
            <a:endParaRPr lang="en-US" altLang="zh-CN" sz="800" i="1" baseline="-25000"/>
          </a:p>
        </p:txBody>
      </p:sp>
      <p:sp>
        <p:nvSpPr>
          <p:cNvPr id="84" name="Rectangle 84"/>
          <p:cNvSpPr>
            <a:spLocks noChangeArrowheads="1"/>
          </p:cNvSpPr>
          <p:nvPr/>
        </p:nvSpPr>
        <p:spPr bwMode="auto">
          <a:xfrm>
            <a:off x="2342158" y="3601739"/>
            <a:ext cx="2578100" cy="12319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" name="Rectangle 85"/>
          <p:cNvSpPr>
            <a:spLocks noChangeArrowheads="1"/>
          </p:cNvSpPr>
          <p:nvPr/>
        </p:nvSpPr>
        <p:spPr bwMode="auto">
          <a:xfrm>
            <a:off x="2354858" y="5087639"/>
            <a:ext cx="2578100" cy="12319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" name="Line 86"/>
          <p:cNvSpPr>
            <a:spLocks noChangeShapeType="1"/>
          </p:cNvSpPr>
          <p:nvPr/>
        </p:nvSpPr>
        <p:spPr bwMode="auto">
          <a:xfrm flipH="1">
            <a:off x="5288558" y="6002039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87"/>
          <p:cNvSpPr>
            <a:spLocks noChangeShapeType="1"/>
          </p:cNvSpPr>
          <p:nvPr/>
        </p:nvSpPr>
        <p:spPr bwMode="auto">
          <a:xfrm flipH="1">
            <a:off x="4902795" y="3081039"/>
            <a:ext cx="449263" cy="736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88"/>
          <p:cNvSpPr>
            <a:spLocks noChangeShapeType="1"/>
          </p:cNvSpPr>
          <p:nvPr/>
        </p:nvSpPr>
        <p:spPr bwMode="auto">
          <a:xfrm flipH="1">
            <a:off x="4940895" y="3068339"/>
            <a:ext cx="411163" cy="218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Rectangle 89"/>
          <p:cNvSpPr>
            <a:spLocks noChangeArrowheads="1"/>
          </p:cNvSpPr>
          <p:nvPr/>
        </p:nvSpPr>
        <p:spPr bwMode="auto">
          <a:xfrm>
            <a:off x="5313958" y="2801639"/>
            <a:ext cx="213836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000000"/>
                </a:solidFill>
                <a:latin typeface="Swiss 721 SWA" charset="0"/>
              </a:rPr>
              <a:t>2-to-1 Multiplexers</a:t>
            </a:r>
            <a:endParaRPr lang="en-US" altLang="zh-CN" sz="800" i="1" baseline="-25000"/>
          </a:p>
        </p:txBody>
      </p:sp>
      <p:sp>
        <p:nvSpPr>
          <p:cNvPr id="90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ea typeface="宋体" pitchFamily="2" charset="-122"/>
              </a:rPr>
              <a:t>进行有选择地加载寄存器的更可靠方法是：</a:t>
            </a:r>
          </a:p>
          <a:p>
            <a:pPr lvl="1"/>
            <a:r>
              <a:rPr lang="zh-CN" altLang="en-US" sz="2400" dirty="0">
                <a:ea typeface="宋体" pitchFamily="2" charset="-122"/>
              </a:rPr>
              <a:t>保证时钟的连续性，且</a:t>
            </a:r>
          </a:p>
          <a:p>
            <a:pPr lvl="1"/>
            <a:r>
              <a:rPr lang="zh-CN" altLang="en-US" sz="2400" dirty="0">
                <a:ea typeface="宋体" pitchFamily="2" charset="-122"/>
              </a:rPr>
              <a:t>选择性地使用加载控制来改变寄存器的内容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47089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en-US" altLang="zh-CN" dirty="0"/>
              <a:t>Load</a:t>
            </a:r>
            <a:r>
              <a:rPr lang="zh-CN" altLang="en-US" dirty="0"/>
              <a:t>控制反馈的寄存器</a:t>
            </a:r>
          </a:p>
        </p:txBody>
      </p:sp>
      <p:sp>
        <p:nvSpPr>
          <p:cNvPr id="90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ea typeface="宋体" pitchFamily="2" charset="-122"/>
              </a:rPr>
              <a:t>进行有选择地加载寄存器的更可靠方法是：</a:t>
            </a:r>
          </a:p>
          <a:p>
            <a:pPr lvl="1"/>
            <a:r>
              <a:rPr lang="zh-CN" altLang="en-US" sz="2400" dirty="0">
                <a:ea typeface="宋体" pitchFamily="2" charset="-122"/>
              </a:rPr>
              <a:t>保证时钟的连续性，且</a:t>
            </a:r>
          </a:p>
          <a:p>
            <a:pPr lvl="1"/>
            <a:r>
              <a:rPr lang="zh-CN" altLang="en-US" sz="2400" dirty="0">
                <a:ea typeface="宋体" pitchFamily="2" charset="-122"/>
              </a:rPr>
              <a:t>选择性地使用加载控制来改变寄存器的内容</a:t>
            </a:r>
          </a:p>
          <a:p>
            <a:pPr marL="0" indent="0">
              <a:buNone/>
            </a:pPr>
            <a:r>
              <a:rPr lang="en-US" altLang="zh-CN" sz="2400" dirty="0" smtClean="0"/>
              <a:t>	……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 smtClean="0"/>
              <a:t>reg</a:t>
            </a:r>
            <a:r>
              <a:rPr lang="en-US" altLang="zh-CN" sz="2400" dirty="0" smtClean="0"/>
              <a:t> [3:0] OUT;</a:t>
            </a:r>
          </a:p>
          <a:p>
            <a:pPr marL="0" indent="0">
              <a:buNone/>
            </a:pPr>
            <a:r>
              <a:rPr lang="en-US" altLang="zh-CN" sz="2400" dirty="0" smtClean="0"/>
              <a:t>	initial </a:t>
            </a:r>
            <a:r>
              <a:rPr lang="en-US" altLang="zh-CN" sz="2400" dirty="0"/>
              <a:t>OUT = 4'b0000;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always </a:t>
            </a:r>
            <a:r>
              <a:rPr lang="en-US" altLang="zh-CN" sz="2400" dirty="0"/>
              <a:t>@ (</a:t>
            </a:r>
            <a:r>
              <a:rPr lang="en-US" altLang="zh-CN" sz="2400" dirty="0" err="1"/>
              <a:t>posedge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clk</a:t>
            </a:r>
            <a:r>
              <a:rPr lang="en-US" altLang="zh-CN" sz="2400" dirty="0"/>
              <a:t>) begin</a:t>
            </a:r>
          </a:p>
          <a:p>
            <a:pPr marL="0" indent="0">
              <a:buNone/>
            </a:pPr>
            <a:r>
              <a:rPr lang="en-US" altLang="zh-CN" sz="2400" dirty="0"/>
              <a:t>		if (Load) OUT &lt;= IN;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end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……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09949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507288" cy="4637112"/>
          </a:xfrm>
        </p:spPr>
        <p:txBody>
          <a:bodyPr>
            <a:normAutofit/>
          </a:bodyPr>
          <a:lstStyle/>
          <a:p>
            <a:r>
              <a:rPr lang="zh-CN" altLang="en-US" sz="2800" u="sng" dirty="0">
                <a:ea typeface="宋体" pitchFamily="2" charset="-122"/>
                <a:cs typeface="Times New Roman" pitchFamily="18" charset="0"/>
              </a:rPr>
              <a:t>寄存器</a:t>
            </a:r>
            <a:r>
              <a:rPr lang="zh-CN" altLang="en-US" sz="2800" u="sng" dirty="0" smtClean="0">
                <a:ea typeface="宋体" pitchFamily="2" charset="-122"/>
                <a:cs typeface="Times New Roman" pitchFamily="18" charset="0"/>
              </a:rPr>
              <a:t>传输</a:t>
            </a:r>
            <a:r>
              <a:rPr lang="zh-CN" altLang="en-US" sz="2800" dirty="0" smtClean="0">
                <a:ea typeface="宋体" pitchFamily="2" charset="-122"/>
                <a:cs typeface="Times New Roman" pitchFamily="18" charset="0"/>
              </a:rPr>
              <a:t>：寄存器</a:t>
            </a:r>
            <a:r>
              <a:rPr lang="zh-CN" altLang="en-US" sz="2800" dirty="0">
                <a:ea typeface="宋体" pitchFamily="2" charset="-122"/>
                <a:cs typeface="Times New Roman" pitchFamily="18" charset="0"/>
              </a:rPr>
              <a:t>中数据的传输和</a:t>
            </a:r>
            <a:r>
              <a:rPr lang="zh-CN" altLang="en-US" sz="2800" dirty="0" smtClean="0">
                <a:ea typeface="宋体" pitchFamily="2" charset="-122"/>
                <a:cs typeface="Times New Roman" pitchFamily="18" charset="0"/>
              </a:rPr>
              <a:t>处理</a:t>
            </a:r>
            <a:endParaRPr lang="en-US" altLang="zh-CN" sz="2800" dirty="0" smtClean="0">
              <a:ea typeface="宋体" pitchFamily="2" charset="-122"/>
              <a:cs typeface="Times New Roman" pitchFamily="18" charset="0"/>
            </a:endParaRPr>
          </a:p>
          <a:p>
            <a:endParaRPr lang="en-US" altLang="zh-CN" sz="2800" dirty="0">
              <a:ea typeface="宋体" pitchFamily="2" charset="-122"/>
              <a:cs typeface="Times New Roman" pitchFamily="18" charset="0"/>
            </a:endParaRPr>
          </a:p>
          <a:p>
            <a:endParaRPr lang="en-US" altLang="zh-CN" sz="2800" dirty="0" smtClean="0">
              <a:ea typeface="宋体" pitchFamily="2" charset="-122"/>
              <a:cs typeface="Times New Roman" pitchFamily="18" charset="0"/>
            </a:endParaRPr>
          </a:p>
          <a:p>
            <a:endParaRPr lang="en-US" altLang="zh-CN" sz="2800" dirty="0">
              <a:ea typeface="宋体" pitchFamily="2" charset="-122"/>
              <a:cs typeface="Times New Roman" pitchFamily="18" charset="0"/>
            </a:endParaRPr>
          </a:p>
          <a:p>
            <a:endParaRPr lang="en-US" altLang="zh-CN" sz="2800" dirty="0" smtClean="0">
              <a:ea typeface="宋体" pitchFamily="2" charset="-122"/>
              <a:cs typeface="Times New Roman" pitchFamily="18" charset="0"/>
            </a:endParaRPr>
          </a:p>
          <a:p>
            <a:endParaRPr lang="en-US" altLang="zh-CN" sz="2800" dirty="0" smtClean="0">
              <a:ea typeface="宋体" pitchFamily="2" charset="-122"/>
              <a:cs typeface="Times New Roman" pitchFamily="18" charset="0"/>
            </a:endParaRPr>
          </a:p>
          <a:p>
            <a:endParaRPr lang="en-US" altLang="zh-CN" sz="2800" dirty="0" smtClean="0">
              <a:ea typeface="宋体" pitchFamily="2" charset="-122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u="sng" dirty="0">
                <a:ea typeface="宋体" pitchFamily="2" charset="-122"/>
                <a:cs typeface="Times New Roman" pitchFamily="18" charset="0"/>
              </a:rPr>
              <a:t>三个基本单元</a:t>
            </a:r>
            <a:r>
              <a:rPr lang="zh-CN" altLang="en-US" sz="2800" dirty="0">
                <a:ea typeface="宋体" pitchFamily="2" charset="-122"/>
                <a:cs typeface="Times New Roman" pitchFamily="18" charset="0"/>
              </a:rPr>
              <a:t>：寄存器组、操作、操作控制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ea typeface="宋体" pitchFamily="2" charset="-122"/>
                <a:cs typeface="Times New Roman" pitchFamily="18" charset="0"/>
              </a:rPr>
              <a:t>基本</a:t>
            </a:r>
            <a:r>
              <a:rPr lang="zh-CN" altLang="en-US" sz="2800" dirty="0" smtClean="0">
                <a:ea typeface="宋体" pitchFamily="2" charset="-122"/>
                <a:cs typeface="Times New Roman" pitchFamily="18" charset="0"/>
              </a:rPr>
              <a:t>操作</a:t>
            </a:r>
            <a:r>
              <a:rPr lang="en-US" altLang="zh-CN" sz="2800" dirty="0" smtClean="0">
                <a:ea typeface="宋体" pitchFamily="2" charset="-122"/>
                <a:cs typeface="Times New Roman" pitchFamily="18" charset="0"/>
              </a:rPr>
              <a:t>:</a:t>
            </a:r>
            <a:r>
              <a:rPr lang="zh-CN" altLang="en-US" sz="2800" dirty="0" smtClean="0">
                <a:ea typeface="宋体" pitchFamily="2" charset="-122"/>
                <a:cs typeface="Times New Roman" pitchFamily="18" charset="0"/>
              </a:rPr>
              <a:t>加载</a:t>
            </a:r>
            <a:r>
              <a:rPr lang="zh-CN" altLang="en-US" sz="2800" dirty="0">
                <a:ea typeface="宋体" pitchFamily="2" charset="-122"/>
                <a:cs typeface="Times New Roman" pitchFamily="18" charset="0"/>
              </a:rPr>
              <a:t>、计数、移位、加法、按</a:t>
            </a:r>
            <a:r>
              <a:rPr lang="zh-CN" altLang="en-US" sz="2800" dirty="0" smtClean="0">
                <a:ea typeface="宋体" pitchFamily="2" charset="-122"/>
                <a:cs typeface="Times New Roman" pitchFamily="18" charset="0"/>
              </a:rPr>
              <a:t>位</a:t>
            </a:r>
            <a:r>
              <a:rPr lang="zh-CN" altLang="en-US" sz="2800" dirty="0">
                <a:ea typeface="宋体" pitchFamily="2" charset="-122"/>
                <a:cs typeface="Times New Roman" pitchFamily="18" charset="0"/>
              </a:rPr>
              <a:t>操作</a:t>
            </a:r>
            <a:r>
              <a:rPr lang="zh-CN" altLang="en-US" sz="2800" dirty="0" smtClean="0">
                <a:ea typeface="宋体" pitchFamily="2" charset="-122"/>
                <a:cs typeface="Times New Roman" pitchFamily="18" charset="0"/>
              </a:rPr>
              <a:t>等</a:t>
            </a:r>
            <a:endParaRPr lang="en-US" altLang="zh-CN" sz="2800" dirty="0"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300288" y="2578844"/>
            <a:ext cx="1579562" cy="15621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控制单元</a:t>
            </a:r>
          </a:p>
          <a:p>
            <a:pPr eaLnBrk="1" hangingPunct="1"/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334000" y="2605831"/>
            <a:ext cx="1579563" cy="15621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数据通路</a:t>
            </a:r>
          </a:p>
          <a:p>
            <a:pPr eaLnBrk="1" hangingPunct="1"/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3854449" y="2883284"/>
            <a:ext cx="1495425" cy="130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3895725" y="3437681"/>
            <a:ext cx="145415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3867150" y="3839319"/>
            <a:ext cx="346075" cy="471487"/>
          </a:xfrm>
          <a:custGeom>
            <a:avLst/>
            <a:gdLst>
              <a:gd name="T0" fmla="*/ 0 w 314"/>
              <a:gd name="T1" fmla="*/ 0 h 297"/>
              <a:gd name="T2" fmla="*/ 2147483647 w 314"/>
              <a:gd name="T3" fmla="*/ 0 h 297"/>
              <a:gd name="T4" fmla="*/ 2147483647 w 314"/>
              <a:gd name="T5" fmla="*/ 2147483647 h 2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4" h="297">
                <a:moveTo>
                  <a:pt x="0" y="0"/>
                </a:moveTo>
                <a:lnTo>
                  <a:pt x="314" y="0"/>
                </a:lnTo>
                <a:lnTo>
                  <a:pt x="314" y="297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 rot="16200000">
            <a:off x="4940300" y="3966319"/>
            <a:ext cx="554038" cy="195262"/>
          </a:xfrm>
          <a:custGeom>
            <a:avLst/>
            <a:gdLst>
              <a:gd name="T0" fmla="*/ 0 w 314"/>
              <a:gd name="T1" fmla="*/ 0 h 297"/>
              <a:gd name="T2" fmla="*/ 2147483647 w 314"/>
              <a:gd name="T3" fmla="*/ 0 h 297"/>
              <a:gd name="T4" fmla="*/ 2147483647 w 314"/>
              <a:gd name="T5" fmla="*/ 2147483647 h 2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4" h="297">
                <a:moveTo>
                  <a:pt x="0" y="0"/>
                </a:moveTo>
                <a:lnTo>
                  <a:pt x="314" y="0"/>
                </a:lnTo>
                <a:lnTo>
                  <a:pt x="314" y="297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910013" y="2510581"/>
            <a:ext cx="127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/>
              <a:t>控制信号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978275" y="3009056"/>
            <a:ext cx="127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/>
              <a:t>状态信号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590925" y="4328269"/>
            <a:ext cx="127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/>
              <a:t>控制输出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686300" y="4298106"/>
            <a:ext cx="127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/>
              <a:t>数据输入</a:t>
            </a: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6923088" y="3361481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554913" y="3186856"/>
            <a:ext cx="127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/>
              <a:t>数据输出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1655763" y="3434506"/>
            <a:ext cx="625475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90513" y="3212976"/>
            <a:ext cx="127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/>
              <a:t>控制输入</a:t>
            </a:r>
          </a:p>
        </p:txBody>
      </p:sp>
    </p:spTree>
    <p:extLst>
      <p:ext uri="{BB962C8B-B14F-4D97-AF65-F5344CB8AC3E}">
        <p14:creationId xmlns:p14="http://schemas.microsoft.com/office/powerpoint/2010/main" val="308836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 smtClean="0"/>
              <a:t>寄存器传输原理的计数器</a:t>
            </a:r>
            <a:endParaRPr lang="zh-CN" altLang="en-US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777480"/>
              </p:ext>
            </p:extLst>
          </p:nvPr>
        </p:nvGraphicFramePr>
        <p:xfrm>
          <a:off x="3491880" y="1628800"/>
          <a:ext cx="4941939" cy="374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Visio" r:id="rId3" imgW="3100454" imgH="2176412" progId="Visio.Drawing.11">
                  <p:embed/>
                </p:oleObj>
              </mc:Choice>
              <mc:Fallback>
                <p:oleObj name="Visio" r:id="rId3" imgW="3100454" imgH="217641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1880" y="1628800"/>
                        <a:ext cx="4941939" cy="3744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xfrm>
            <a:off x="179512" y="1340768"/>
            <a:ext cx="3178696" cy="4896544"/>
          </a:xfrm>
        </p:spPr>
        <p:txBody>
          <a:bodyPr>
            <a:noAutofit/>
          </a:bodyPr>
          <a:lstStyle/>
          <a:p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功能：</a:t>
            </a:r>
            <a:r>
              <a:rPr lang="en-US" altLang="zh-CN" sz="2400" dirty="0">
                <a:ea typeface="宋体" pitchFamily="2" charset="-122"/>
                <a:cs typeface="Times New Roman" pitchFamily="18" charset="0"/>
              </a:rPr>
              <a:t>BTN[3</a:t>
            </a:r>
            <a:r>
              <a:rPr lang="en-US" altLang="zh-CN" sz="2400" dirty="0" smtClean="0">
                <a:ea typeface="宋体" pitchFamily="2" charset="-122"/>
                <a:cs typeface="Times New Roman" pitchFamily="18" charset="0"/>
              </a:rPr>
              <a:t>]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按一次，计一次数</a:t>
            </a:r>
            <a:endParaRPr lang="en-US" altLang="zh-CN" sz="2400" dirty="0" smtClean="0">
              <a:ea typeface="宋体" pitchFamily="2" charset="-122"/>
              <a:cs typeface="Times New Roman" pitchFamily="18" charset="0"/>
            </a:endParaRPr>
          </a:p>
          <a:p>
            <a:r>
              <a:rPr lang="en-US" altLang="zh-CN" sz="2400" dirty="0" smtClean="0">
                <a:ea typeface="宋体" pitchFamily="2" charset="-122"/>
                <a:cs typeface="Times New Roman" pitchFamily="18" charset="0"/>
              </a:rPr>
              <a:t>Load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控制模块</a:t>
            </a:r>
            <a:r>
              <a:rPr lang="en-US" altLang="zh-CN" sz="2400" dirty="0" smtClean="0">
                <a:ea typeface="宋体" pitchFamily="2" charset="-122"/>
                <a:cs typeface="Times New Roman" pitchFamily="18" charset="0"/>
              </a:rPr>
              <a:t>——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在去抖后的</a:t>
            </a:r>
            <a:r>
              <a:rPr lang="en-US" altLang="zh-CN" sz="2400" dirty="0" smtClean="0">
                <a:ea typeface="宋体" pitchFamily="2" charset="-122"/>
                <a:cs typeface="Times New Roman" pitchFamily="18" charset="0"/>
              </a:rPr>
              <a:t>BTN[3]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的上升沿产生</a:t>
            </a:r>
            <a:r>
              <a:rPr lang="en-US" altLang="zh-CN" sz="2400" dirty="0" smtClean="0"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个时钟周期宽度的</a:t>
            </a:r>
            <a:r>
              <a:rPr lang="en-US" altLang="zh-CN" sz="2400" dirty="0" smtClean="0">
                <a:ea typeface="宋体" pitchFamily="2" charset="-122"/>
                <a:cs typeface="Times New Roman" pitchFamily="18" charset="0"/>
              </a:rPr>
              <a:t>Load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信号</a:t>
            </a:r>
            <a:endParaRPr lang="en-US" altLang="zh-CN" sz="2400" dirty="0" smtClean="0">
              <a:ea typeface="宋体" pitchFamily="2" charset="-122"/>
              <a:cs typeface="Times New Roman" pitchFamily="18" charset="0"/>
            </a:endParaRPr>
          </a:p>
          <a:p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自</a:t>
            </a:r>
            <a:r>
              <a:rPr lang="zh-CN" altLang="en-US" sz="2400" dirty="0">
                <a:ea typeface="宋体" pitchFamily="2" charset="-122"/>
                <a:cs typeface="Times New Roman" pitchFamily="18" charset="0"/>
              </a:rPr>
              <a:t>增</a:t>
            </a:r>
            <a:r>
              <a:rPr lang="en-US" altLang="zh-CN" sz="2400" dirty="0">
                <a:ea typeface="宋体" pitchFamily="2" charset="-122"/>
                <a:cs typeface="Times New Roman" pitchFamily="18" charset="0"/>
              </a:rPr>
              <a:t>/</a:t>
            </a:r>
            <a:r>
              <a:rPr lang="zh-CN" altLang="en-US" sz="2400" dirty="0">
                <a:ea typeface="宋体" pitchFamily="2" charset="-122"/>
                <a:cs typeface="Times New Roman" pitchFamily="18" charset="0"/>
              </a:rPr>
              <a:t>自减器可以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用</a:t>
            </a:r>
            <a:r>
              <a:rPr lang="en-US" altLang="zh-CN" sz="2400" dirty="0" smtClean="0"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位加减法</a:t>
            </a:r>
            <a:r>
              <a:rPr lang="zh-CN" altLang="en-US" sz="2400" dirty="0">
                <a:ea typeface="宋体" pitchFamily="2" charset="-122"/>
                <a:cs typeface="Times New Roman" pitchFamily="18" charset="0"/>
              </a:rPr>
              <a:t>器实现</a:t>
            </a:r>
            <a:endParaRPr lang="en-US" altLang="zh-CN" sz="2400" dirty="0">
              <a:ea typeface="宋体" pitchFamily="2" charset="-122"/>
              <a:cs typeface="Times New Roman" pitchFamily="18" charset="0"/>
            </a:endParaRPr>
          </a:p>
          <a:p>
            <a:r>
              <a:rPr lang="zh-CN" altLang="en-US" sz="2400" dirty="0" smtClean="0">
                <a:ea typeface="宋体" pitchFamily="2" charset="-122"/>
                <a:cs typeface="Times New Roman" pitchFamily="18" charset="0"/>
              </a:rPr>
              <a:t>功能：</a:t>
            </a:r>
            <a:endParaRPr lang="en-US" altLang="zh-CN" sz="2400" dirty="0" smtClean="0">
              <a:ea typeface="宋体" pitchFamily="2" charset="-122"/>
              <a:cs typeface="Times New Roman" pitchFamily="18" charset="0"/>
            </a:endParaRPr>
          </a:p>
          <a:p>
            <a:pPr lvl="1"/>
            <a:r>
              <a:rPr lang="en-US" altLang="zh-CN" sz="1800" dirty="0" smtClean="0">
                <a:solidFill>
                  <a:schemeClr val="accent5">
                    <a:lumMod val="50000"/>
                  </a:schemeClr>
                </a:solidFill>
                <a:ea typeface="宋体" pitchFamily="2" charset="-122"/>
                <a:cs typeface="Times New Roman" pitchFamily="18" charset="0"/>
              </a:rPr>
              <a:t>BTN[3]</a:t>
            </a:r>
            <a:r>
              <a:rPr lang="zh-CN" altLang="en-US" sz="1800" dirty="0" smtClean="0">
                <a:solidFill>
                  <a:schemeClr val="accent5">
                    <a:lumMod val="50000"/>
                  </a:schemeClr>
                </a:solidFill>
                <a:ea typeface="宋体" pitchFamily="2" charset="-122"/>
                <a:cs typeface="Times New Roman" pitchFamily="18" charset="0"/>
              </a:rPr>
              <a:t>：计数</a:t>
            </a:r>
            <a:endParaRPr lang="en-US" altLang="zh-CN" sz="1800" dirty="0">
              <a:solidFill>
                <a:schemeClr val="accent5">
                  <a:lumMod val="50000"/>
                </a:schemeClr>
              </a:solidFill>
              <a:ea typeface="宋体" pitchFamily="2" charset="-122"/>
              <a:cs typeface="Times New Roman" pitchFamily="18" charset="0"/>
            </a:endParaRPr>
          </a:p>
          <a:p>
            <a:pPr lvl="1"/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  <a:ea typeface="宋体" pitchFamily="2" charset="-122"/>
                <a:cs typeface="Times New Roman" pitchFamily="18" charset="0"/>
              </a:rPr>
              <a:t>SW[0]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  <a:ea typeface="宋体" pitchFamily="2" charset="-122"/>
                <a:cs typeface="Times New Roman" pitchFamily="18" charset="0"/>
              </a:rPr>
              <a:t>：向上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  <a:ea typeface="宋体" pitchFamily="2" charset="-122"/>
                <a:cs typeface="Times New Roman" pitchFamily="18" charset="0"/>
              </a:rPr>
              <a:t>/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  <a:ea typeface="宋体" pitchFamily="2" charset="-122"/>
                <a:cs typeface="Times New Roman" pitchFamily="18" charset="0"/>
              </a:rPr>
              <a:t>下计数</a:t>
            </a:r>
            <a:endParaRPr lang="en-US" altLang="zh-CN" sz="1800" dirty="0">
              <a:solidFill>
                <a:schemeClr val="accent5">
                  <a:lumMod val="50000"/>
                </a:schemeClr>
              </a:solidFill>
              <a:ea typeface="宋体" pitchFamily="2" charset="-122"/>
              <a:cs typeface="Times New Roman" pitchFamily="18" charset="0"/>
            </a:endParaRPr>
          </a:p>
          <a:p>
            <a:pPr lvl="1"/>
            <a:r>
              <a:rPr lang="en-US" altLang="zh-CN" sz="1800" dirty="0" smtClean="0">
                <a:solidFill>
                  <a:schemeClr val="accent5">
                    <a:lumMod val="50000"/>
                  </a:schemeClr>
                </a:solidFill>
              </a:rPr>
              <a:t>SW[15]</a:t>
            </a:r>
            <a:r>
              <a:rPr lang="zh-CN" altLang="en-US" sz="1800" dirty="0" smtClean="0">
                <a:solidFill>
                  <a:schemeClr val="accent5">
                    <a:lumMod val="50000"/>
                  </a:schemeClr>
                </a:solidFill>
              </a:rPr>
              <a:t>：寄存器清零</a:t>
            </a:r>
            <a:endParaRPr lang="zh-CN" alt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云形标注 19"/>
          <p:cNvSpPr/>
          <p:nvPr/>
        </p:nvSpPr>
        <p:spPr>
          <a:xfrm>
            <a:off x="3635896" y="3246476"/>
            <a:ext cx="1728192" cy="1008112"/>
          </a:xfrm>
          <a:prstGeom prst="cloudCallout">
            <a:avLst>
              <a:gd name="adj1" fmla="val 33909"/>
              <a:gd name="adj2" fmla="val -1149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为什么要加它？</a:t>
            </a:r>
            <a:endParaRPr lang="zh-CN" altLang="en-US" b="1" dirty="0"/>
          </a:p>
        </p:txBody>
      </p:sp>
      <p:sp>
        <p:nvSpPr>
          <p:cNvPr id="23" name="线形标注 1(带强调线) 22"/>
          <p:cNvSpPr/>
          <p:nvPr/>
        </p:nvSpPr>
        <p:spPr>
          <a:xfrm>
            <a:off x="3635896" y="5589240"/>
            <a:ext cx="5184576" cy="612648"/>
          </a:xfrm>
          <a:prstGeom prst="accentCallout1">
            <a:avLst>
              <a:gd name="adj1" fmla="val -7082"/>
              <a:gd name="adj2" fmla="val -1303"/>
              <a:gd name="adj3" fmla="val -263505"/>
              <a:gd name="adj4" fmla="val 388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assign A_IN = (SW[15] == 1'b0)? A1: 4'b0000</a:t>
            </a:r>
            <a:r>
              <a:rPr lang="en-US" altLang="zh-CN" sz="2000" b="1" dirty="0" smtClean="0"/>
              <a:t>;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637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 smtClean="0"/>
              <a:t>寄存器传输原理的计数器</a:t>
            </a:r>
            <a:endParaRPr lang="zh-CN" altLang="en-US" dirty="0"/>
          </a:p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xfrm>
            <a:off x="395536" y="1196752"/>
            <a:ext cx="8424936" cy="4896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module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Load_Gen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(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   input wire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clk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    input wire clk_1ms,</a:t>
            </a:r>
          </a:p>
          <a:p>
            <a:pPr marL="0" indent="0">
              <a:buNone/>
            </a:pP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    input wire </a:t>
            </a:r>
            <a:r>
              <a:rPr lang="en-US" altLang="zh-CN" sz="1400" dirty="0" err="1" smtClean="0">
                <a:ea typeface="宋体" pitchFamily="2" charset="-122"/>
                <a:cs typeface="Times New Roman" pitchFamily="18" charset="0"/>
              </a:rPr>
              <a:t>btn_in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    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output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reg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Load_out</a:t>
            </a:r>
            <a:endParaRPr lang="en-US" altLang="zh-CN" sz="1400" dirty="0">
              <a:ea typeface="宋体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   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);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initial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Load_out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= 0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;</a:t>
            </a:r>
            <a:endParaRPr lang="en-US" altLang="zh-CN" sz="1400" dirty="0">
              <a:ea typeface="宋体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wire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btn_out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reg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old_btn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;</a:t>
            </a:r>
            <a:endParaRPr lang="en-US" altLang="zh-CN" sz="1400" dirty="0">
              <a:ea typeface="宋体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pbdebounce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p0(clk_1ms,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btn_in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btn_out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zh-CN" altLang="en-US" sz="1400" dirty="0">
                <a:ea typeface="宋体" pitchFamily="2" charset="-122"/>
                <a:cs typeface="Times New Roman" pitchFamily="18" charset="0"/>
              </a:rPr>
              <a:t>	 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always@(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posedge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clk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) begin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	if ((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old_btn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== 1'b0) &amp;&amp; (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btn_out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== 1'b1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))	//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btn</a:t>
            </a:r>
            <a:r>
              <a:rPr lang="zh-CN" altLang="en-US" sz="1400" dirty="0">
                <a:ea typeface="宋体" pitchFamily="2" charset="-122"/>
                <a:cs typeface="Times New Roman" pitchFamily="18" charset="0"/>
              </a:rPr>
              <a:t>出现上升沿</a:t>
            </a:r>
          </a:p>
          <a:p>
            <a:pPr marL="0" indent="0">
              <a:buNone/>
            </a:pPr>
            <a:r>
              <a:rPr lang="zh-CN" altLang="en-US" sz="1400" dirty="0">
                <a:ea typeface="宋体" pitchFamily="2" charset="-122"/>
                <a:cs typeface="Times New Roman" pitchFamily="18" charset="0"/>
              </a:rPr>
              <a:t>			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Load_out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&lt;= 1'b1;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	else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		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Load_out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&lt;= 1'b0;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end</a:t>
            </a:r>
            <a:endParaRPr lang="en-US" altLang="zh-CN" sz="1400" dirty="0">
              <a:ea typeface="宋体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always@(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posedge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clk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) 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begin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1400" dirty="0" smtClean="0">
                <a:ea typeface="宋体" pitchFamily="2" charset="-122"/>
                <a:cs typeface="Times New Roman" pitchFamily="18" charset="0"/>
              </a:rPr>
              <a:t>	//</a:t>
            </a:r>
            <a:r>
              <a:rPr lang="zh-CN" altLang="en-US" sz="1400" dirty="0">
                <a:ea typeface="宋体" pitchFamily="2" charset="-122"/>
                <a:cs typeface="Times New Roman" pitchFamily="18" charset="0"/>
              </a:rPr>
              <a:t>保存上一个周期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btn</a:t>
            </a:r>
            <a:r>
              <a:rPr lang="zh-CN" altLang="en-US" sz="1400" dirty="0">
                <a:ea typeface="宋体" pitchFamily="2" charset="-122"/>
                <a:cs typeface="Times New Roman" pitchFamily="18" charset="0"/>
              </a:rPr>
              <a:t>的状态</a:t>
            </a:r>
          </a:p>
          <a:p>
            <a:pPr marL="0" indent="0">
              <a:buNone/>
            </a:pPr>
            <a:r>
              <a:rPr lang="zh-CN" altLang="en-US" sz="1400" dirty="0">
                <a:ea typeface="宋体" pitchFamily="2" charset="-122"/>
                <a:cs typeface="Times New Roman" pitchFamily="18" charset="0"/>
              </a:rPr>
              <a:t>		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old_btn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 &lt;= </a:t>
            </a:r>
            <a:r>
              <a:rPr lang="en-US" altLang="zh-CN" sz="1400" dirty="0" err="1">
                <a:ea typeface="宋体" pitchFamily="2" charset="-122"/>
                <a:cs typeface="Times New Roman" pitchFamily="18" charset="0"/>
              </a:rPr>
              <a:t>btn_out</a:t>
            </a: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>
                <a:ea typeface="宋体" pitchFamily="2" charset="-122"/>
                <a:cs typeface="Times New Roman" pitchFamily="18" charset="0"/>
              </a:rPr>
              <a:t>	 end</a:t>
            </a:r>
          </a:p>
          <a:p>
            <a:pPr marL="0" indent="0">
              <a:buNone/>
            </a:pPr>
            <a:r>
              <a:rPr lang="en-US" altLang="zh-CN" sz="1400" dirty="0" err="1" smtClean="0">
                <a:ea typeface="宋体" pitchFamily="2" charset="-122"/>
                <a:cs typeface="Times New Roman" pitchFamily="18" charset="0"/>
              </a:rPr>
              <a:t>endmodule</a:t>
            </a:r>
            <a:endParaRPr lang="zh-CN" alt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852223"/>
              </p:ext>
            </p:extLst>
          </p:nvPr>
        </p:nvGraphicFramePr>
        <p:xfrm>
          <a:off x="5292078" y="1340769"/>
          <a:ext cx="3496860" cy="1871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592">
                  <a:extLst>
                    <a:ext uri="{9D8B030D-6E8A-4147-A177-3AD203B41FA5}">
                      <a16:colId xmlns:a16="http://schemas.microsoft.com/office/drawing/2014/main" val="2002896226"/>
                    </a:ext>
                  </a:extLst>
                </a:gridCol>
                <a:gridCol w="456324">
                  <a:extLst>
                    <a:ext uri="{9D8B030D-6E8A-4147-A177-3AD203B41FA5}">
                      <a16:colId xmlns:a16="http://schemas.microsoft.com/office/drawing/2014/main" val="490537546"/>
                    </a:ext>
                  </a:extLst>
                </a:gridCol>
                <a:gridCol w="456324">
                  <a:extLst>
                    <a:ext uri="{9D8B030D-6E8A-4147-A177-3AD203B41FA5}">
                      <a16:colId xmlns:a16="http://schemas.microsoft.com/office/drawing/2014/main" val="2686753058"/>
                    </a:ext>
                  </a:extLst>
                </a:gridCol>
                <a:gridCol w="456324">
                  <a:extLst>
                    <a:ext uri="{9D8B030D-6E8A-4147-A177-3AD203B41FA5}">
                      <a16:colId xmlns:a16="http://schemas.microsoft.com/office/drawing/2014/main" val="1866801760"/>
                    </a:ext>
                  </a:extLst>
                </a:gridCol>
                <a:gridCol w="456324">
                  <a:extLst>
                    <a:ext uri="{9D8B030D-6E8A-4147-A177-3AD203B41FA5}">
                      <a16:colId xmlns:a16="http://schemas.microsoft.com/office/drawing/2014/main" val="2015910343"/>
                    </a:ext>
                  </a:extLst>
                </a:gridCol>
                <a:gridCol w="456324">
                  <a:extLst>
                    <a:ext uri="{9D8B030D-6E8A-4147-A177-3AD203B41FA5}">
                      <a16:colId xmlns:a16="http://schemas.microsoft.com/office/drawing/2014/main" val="4129535809"/>
                    </a:ext>
                  </a:extLst>
                </a:gridCol>
                <a:gridCol w="456324">
                  <a:extLst>
                    <a:ext uri="{9D8B030D-6E8A-4147-A177-3AD203B41FA5}">
                      <a16:colId xmlns:a16="http://schemas.microsoft.com/office/drawing/2014/main" val="2728745983"/>
                    </a:ext>
                  </a:extLst>
                </a:gridCol>
                <a:gridCol w="456324">
                  <a:extLst>
                    <a:ext uri="{9D8B030D-6E8A-4147-A177-3AD203B41FA5}">
                      <a16:colId xmlns:a16="http://schemas.microsoft.com/office/drawing/2014/main" val="973732038"/>
                    </a:ext>
                  </a:extLst>
                </a:gridCol>
              </a:tblGrid>
              <a:tr h="3479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31483394"/>
                  </a:ext>
                </a:extLst>
              </a:tr>
              <a:tr h="347953"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562128"/>
                  </a:ext>
                </a:extLst>
              </a:tr>
              <a:tr h="34795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46937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450883"/>
                  </a:ext>
                </a:extLst>
              </a:tr>
              <a:tr h="40838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2640741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362297"/>
              </p:ext>
            </p:extLst>
          </p:nvPr>
        </p:nvGraphicFramePr>
        <p:xfrm>
          <a:off x="4283968" y="1340769"/>
          <a:ext cx="1197806" cy="19658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806">
                  <a:extLst>
                    <a:ext uri="{9D8B030D-6E8A-4147-A177-3AD203B41FA5}">
                      <a16:colId xmlns:a16="http://schemas.microsoft.com/office/drawing/2014/main" val="776751972"/>
                    </a:ext>
                  </a:extLst>
                </a:gridCol>
              </a:tblGrid>
              <a:tr h="284884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err="1" smtClean="0"/>
                        <a:t>clk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84700549"/>
                  </a:ext>
                </a:extLst>
              </a:tr>
              <a:tr h="284884">
                <a:tc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271311"/>
                  </a:ext>
                </a:extLst>
              </a:tr>
              <a:tr h="351987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err="1" smtClean="0"/>
                        <a:t>btn_in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04363651"/>
                  </a:ext>
                </a:extLst>
              </a:tr>
              <a:tr h="284884"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845752"/>
                  </a:ext>
                </a:extLst>
              </a:tr>
              <a:tr h="502838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err="1" smtClean="0"/>
                        <a:t>Load_out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25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06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基于</a:t>
            </a:r>
            <a:r>
              <a:rPr lang="zh-CN" altLang="en-US" dirty="0" smtClean="0"/>
              <a:t>多</a:t>
            </a:r>
            <a:r>
              <a:rPr lang="zh-CN" altLang="en-US" dirty="0"/>
              <a:t>路选择器</a:t>
            </a:r>
            <a:r>
              <a:rPr lang="zh-CN" altLang="en-US" dirty="0" smtClean="0"/>
              <a:t>总线的寄存器传输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2818656" cy="45259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ea typeface="宋体" pitchFamily="2" charset="-122"/>
                <a:cs typeface="Times New Roman" pitchFamily="18" charset="0"/>
              </a:rPr>
              <a:t>由一个多路选择器驱动的总线可以降低硬件</a:t>
            </a:r>
            <a:r>
              <a:rPr lang="zh-CN" altLang="en-US" sz="2800" dirty="0" smtClean="0">
                <a:ea typeface="宋体" pitchFamily="2" charset="-122"/>
                <a:cs typeface="Times New Roman" pitchFamily="18" charset="0"/>
              </a:rPr>
              <a:t>开销</a:t>
            </a:r>
            <a:endParaRPr lang="en-US" altLang="zh-CN" sz="2800" dirty="0" smtClean="0">
              <a:ea typeface="宋体" pitchFamily="2" charset="-122"/>
              <a:cs typeface="Times New Roman" pitchFamily="18" charset="0"/>
            </a:endParaRPr>
          </a:p>
          <a:p>
            <a:endParaRPr lang="en-US" altLang="zh-CN" sz="2800" dirty="0">
              <a:ea typeface="宋体" pitchFamily="2" charset="-122"/>
              <a:cs typeface="Times New Roman" pitchFamily="18" charset="0"/>
            </a:endParaRPr>
          </a:p>
          <a:p>
            <a:r>
              <a:rPr lang="zh-CN" altLang="en-US" sz="2800" dirty="0">
                <a:ea typeface="宋体" pitchFamily="2" charset="-122"/>
                <a:cs typeface="Times New Roman" pitchFamily="18" charset="0"/>
              </a:rPr>
              <a:t>这个结构不能实现多个寄存器相互之间的并行传输操作</a:t>
            </a:r>
            <a:endParaRPr lang="zh-CN" altLang="en-US" sz="2800" dirty="0"/>
          </a:p>
        </p:txBody>
      </p:sp>
      <p:grpSp>
        <p:nvGrpSpPr>
          <p:cNvPr id="4" name="Group 93"/>
          <p:cNvGrpSpPr>
            <a:grpSpLocks/>
          </p:cNvGrpSpPr>
          <p:nvPr/>
        </p:nvGrpSpPr>
        <p:grpSpPr bwMode="auto">
          <a:xfrm>
            <a:off x="4447430" y="1412776"/>
            <a:ext cx="3436938" cy="5026025"/>
            <a:chOff x="3384" y="571"/>
            <a:chExt cx="2165" cy="316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5248" y="571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L0</a:t>
              </a:r>
              <a:endParaRPr lang="en-US" altLang="zh-CN" sz="2800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3560" y="2150"/>
              <a:ext cx="440" cy="22"/>
            </a:xfrm>
            <a:custGeom>
              <a:avLst/>
              <a:gdLst>
                <a:gd name="T0" fmla="*/ 11 w 424"/>
                <a:gd name="T1" fmla="*/ 0 h 21"/>
                <a:gd name="T2" fmla="*/ 7 w 424"/>
                <a:gd name="T3" fmla="*/ 0 h 21"/>
                <a:gd name="T4" fmla="*/ 4 w 424"/>
                <a:gd name="T5" fmla="*/ 4 h 21"/>
                <a:gd name="T6" fmla="*/ 0 w 424"/>
                <a:gd name="T7" fmla="*/ 7 h 21"/>
                <a:gd name="T8" fmla="*/ 0 w 424"/>
                <a:gd name="T9" fmla="*/ 20 h 21"/>
                <a:gd name="T10" fmla="*/ 4 w 424"/>
                <a:gd name="T11" fmla="*/ 24 h 21"/>
                <a:gd name="T12" fmla="*/ 7 w 424"/>
                <a:gd name="T13" fmla="*/ 27 h 21"/>
                <a:gd name="T14" fmla="*/ 521 w 424"/>
                <a:gd name="T15" fmla="*/ 27 h 21"/>
                <a:gd name="T16" fmla="*/ 524 w 424"/>
                <a:gd name="T17" fmla="*/ 24 h 21"/>
                <a:gd name="T18" fmla="*/ 530 w 424"/>
                <a:gd name="T19" fmla="*/ 20 h 21"/>
                <a:gd name="T20" fmla="*/ 530 w 424"/>
                <a:gd name="T21" fmla="*/ 7 h 21"/>
                <a:gd name="T22" fmla="*/ 524 w 424"/>
                <a:gd name="T23" fmla="*/ 4 h 21"/>
                <a:gd name="T24" fmla="*/ 521 w 424"/>
                <a:gd name="T25" fmla="*/ 0 h 21"/>
                <a:gd name="T26" fmla="*/ 516 w 424"/>
                <a:gd name="T27" fmla="*/ 0 h 21"/>
                <a:gd name="T28" fmla="*/ 11 w 424"/>
                <a:gd name="T29" fmla="*/ 0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4" h="21">
                  <a:moveTo>
                    <a:pt x="11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4" y="18"/>
                  </a:lnTo>
                  <a:lnTo>
                    <a:pt x="7" y="21"/>
                  </a:lnTo>
                  <a:lnTo>
                    <a:pt x="417" y="21"/>
                  </a:lnTo>
                  <a:lnTo>
                    <a:pt x="420" y="18"/>
                  </a:lnTo>
                  <a:lnTo>
                    <a:pt x="424" y="14"/>
                  </a:lnTo>
                  <a:lnTo>
                    <a:pt x="424" y="7"/>
                  </a:lnTo>
                  <a:lnTo>
                    <a:pt x="420" y="4"/>
                  </a:lnTo>
                  <a:lnTo>
                    <a:pt x="417" y="0"/>
                  </a:lnTo>
                  <a:lnTo>
                    <a:pt x="413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3882" y="2150"/>
              <a:ext cx="118" cy="46"/>
            </a:xfrm>
            <a:custGeom>
              <a:avLst/>
              <a:gdLst>
                <a:gd name="T0" fmla="*/ 131 w 114"/>
                <a:gd name="T1" fmla="*/ 21 h 45"/>
                <a:gd name="T2" fmla="*/ 135 w 114"/>
                <a:gd name="T3" fmla="*/ 18 h 45"/>
                <a:gd name="T4" fmla="*/ 140 w 114"/>
                <a:gd name="T5" fmla="*/ 14 h 45"/>
                <a:gd name="T6" fmla="*/ 140 w 114"/>
                <a:gd name="T7" fmla="*/ 7 h 45"/>
                <a:gd name="T8" fmla="*/ 135 w 114"/>
                <a:gd name="T9" fmla="*/ 4 h 45"/>
                <a:gd name="T10" fmla="*/ 131 w 114"/>
                <a:gd name="T11" fmla="*/ 0 h 45"/>
                <a:gd name="T12" fmla="*/ 124 w 114"/>
                <a:gd name="T13" fmla="*/ 0 h 45"/>
                <a:gd name="T14" fmla="*/ 7 w 114"/>
                <a:gd name="T15" fmla="*/ 31 h 45"/>
                <a:gd name="T16" fmla="*/ 3 w 114"/>
                <a:gd name="T17" fmla="*/ 34 h 45"/>
                <a:gd name="T18" fmla="*/ 0 w 114"/>
                <a:gd name="T19" fmla="*/ 38 h 45"/>
                <a:gd name="T20" fmla="*/ 0 w 114"/>
                <a:gd name="T21" fmla="*/ 45 h 45"/>
                <a:gd name="T22" fmla="*/ 3 w 114"/>
                <a:gd name="T23" fmla="*/ 48 h 45"/>
                <a:gd name="T24" fmla="*/ 7 w 114"/>
                <a:gd name="T25" fmla="*/ 51 h 45"/>
                <a:gd name="T26" fmla="*/ 14 w 114"/>
                <a:gd name="T27" fmla="*/ 51 h 45"/>
                <a:gd name="T28" fmla="*/ 131 w 114"/>
                <a:gd name="T29" fmla="*/ 21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4" h="45">
                  <a:moveTo>
                    <a:pt x="107" y="21"/>
                  </a:moveTo>
                  <a:lnTo>
                    <a:pt x="110" y="18"/>
                  </a:lnTo>
                  <a:lnTo>
                    <a:pt x="114" y="14"/>
                  </a:lnTo>
                  <a:lnTo>
                    <a:pt x="114" y="7"/>
                  </a:lnTo>
                  <a:lnTo>
                    <a:pt x="110" y="4"/>
                  </a:lnTo>
                  <a:lnTo>
                    <a:pt x="107" y="0"/>
                  </a:lnTo>
                  <a:lnTo>
                    <a:pt x="100" y="0"/>
                  </a:lnTo>
                  <a:lnTo>
                    <a:pt x="7" y="25"/>
                  </a:lnTo>
                  <a:lnTo>
                    <a:pt x="3" y="28"/>
                  </a:lnTo>
                  <a:lnTo>
                    <a:pt x="0" y="32"/>
                  </a:lnTo>
                  <a:lnTo>
                    <a:pt x="0" y="39"/>
                  </a:lnTo>
                  <a:lnTo>
                    <a:pt x="3" y="42"/>
                  </a:lnTo>
                  <a:lnTo>
                    <a:pt x="7" y="45"/>
                  </a:lnTo>
                  <a:lnTo>
                    <a:pt x="14" y="45"/>
                  </a:lnTo>
                  <a:lnTo>
                    <a:pt x="107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3882" y="2127"/>
              <a:ext cx="118" cy="45"/>
            </a:xfrm>
            <a:custGeom>
              <a:avLst/>
              <a:gdLst>
                <a:gd name="T0" fmla="*/ 126 w 114"/>
                <a:gd name="T1" fmla="*/ 55 h 43"/>
                <a:gd name="T2" fmla="*/ 131 w 114"/>
                <a:gd name="T3" fmla="*/ 55 h 43"/>
                <a:gd name="T4" fmla="*/ 135 w 114"/>
                <a:gd name="T5" fmla="*/ 52 h 43"/>
                <a:gd name="T6" fmla="*/ 137 w 114"/>
                <a:gd name="T7" fmla="*/ 50 h 43"/>
                <a:gd name="T8" fmla="*/ 140 w 114"/>
                <a:gd name="T9" fmla="*/ 47 h 43"/>
                <a:gd name="T10" fmla="*/ 140 w 114"/>
                <a:gd name="T11" fmla="*/ 37 h 43"/>
                <a:gd name="T12" fmla="*/ 135 w 114"/>
                <a:gd name="T13" fmla="*/ 32 h 43"/>
                <a:gd name="T14" fmla="*/ 134 w 114"/>
                <a:gd name="T15" fmla="*/ 30 h 43"/>
                <a:gd name="T16" fmla="*/ 129 w 114"/>
                <a:gd name="T17" fmla="*/ 28 h 43"/>
                <a:gd name="T18" fmla="*/ 12 w 114"/>
                <a:gd name="T19" fmla="*/ 0 h 43"/>
                <a:gd name="T20" fmla="*/ 7 w 114"/>
                <a:gd name="T21" fmla="*/ 0 h 43"/>
                <a:gd name="T22" fmla="*/ 3 w 114"/>
                <a:gd name="T23" fmla="*/ 3 h 43"/>
                <a:gd name="T24" fmla="*/ 1 w 114"/>
                <a:gd name="T25" fmla="*/ 5 h 43"/>
                <a:gd name="T26" fmla="*/ 0 w 114"/>
                <a:gd name="T27" fmla="*/ 9 h 43"/>
                <a:gd name="T28" fmla="*/ 0 w 114"/>
                <a:gd name="T29" fmla="*/ 20 h 43"/>
                <a:gd name="T30" fmla="*/ 3 w 114"/>
                <a:gd name="T31" fmla="*/ 23 h 43"/>
                <a:gd name="T32" fmla="*/ 5 w 114"/>
                <a:gd name="T33" fmla="*/ 25 h 43"/>
                <a:gd name="T34" fmla="*/ 8 w 114"/>
                <a:gd name="T35" fmla="*/ 27 h 43"/>
                <a:gd name="T36" fmla="*/ 126 w 114"/>
                <a:gd name="T37" fmla="*/ 55 h 4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43">
                  <a:moveTo>
                    <a:pt x="102" y="43"/>
                  </a:moveTo>
                  <a:lnTo>
                    <a:pt x="107" y="43"/>
                  </a:lnTo>
                  <a:lnTo>
                    <a:pt x="110" y="40"/>
                  </a:lnTo>
                  <a:lnTo>
                    <a:pt x="112" y="38"/>
                  </a:lnTo>
                  <a:lnTo>
                    <a:pt x="114" y="35"/>
                  </a:lnTo>
                  <a:lnTo>
                    <a:pt x="114" y="29"/>
                  </a:lnTo>
                  <a:lnTo>
                    <a:pt x="110" y="26"/>
                  </a:lnTo>
                  <a:lnTo>
                    <a:pt x="109" y="24"/>
                  </a:lnTo>
                  <a:lnTo>
                    <a:pt x="105" y="2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102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3690" y="2107"/>
              <a:ext cx="109" cy="109"/>
            </a:xfrm>
            <a:custGeom>
              <a:avLst/>
              <a:gdLst>
                <a:gd name="T0" fmla="*/ 129 w 105"/>
                <a:gd name="T1" fmla="*/ 9 h 105"/>
                <a:gd name="T2" fmla="*/ 131 w 105"/>
                <a:gd name="T3" fmla="*/ 9 h 105"/>
                <a:gd name="T4" fmla="*/ 131 w 105"/>
                <a:gd name="T5" fmla="*/ 3 h 105"/>
                <a:gd name="T6" fmla="*/ 129 w 105"/>
                <a:gd name="T7" fmla="*/ 2 h 105"/>
                <a:gd name="T8" fmla="*/ 129 w 105"/>
                <a:gd name="T9" fmla="*/ 0 h 105"/>
                <a:gd name="T10" fmla="*/ 122 w 105"/>
                <a:gd name="T11" fmla="*/ 0 h 105"/>
                <a:gd name="T12" fmla="*/ 121 w 105"/>
                <a:gd name="T13" fmla="*/ 2 h 105"/>
                <a:gd name="T14" fmla="*/ 2 w 105"/>
                <a:gd name="T15" fmla="*/ 121 h 105"/>
                <a:gd name="T16" fmla="*/ 0 w 105"/>
                <a:gd name="T17" fmla="*/ 124 h 105"/>
                <a:gd name="T18" fmla="*/ 0 w 105"/>
                <a:gd name="T19" fmla="*/ 130 h 105"/>
                <a:gd name="T20" fmla="*/ 2 w 105"/>
                <a:gd name="T21" fmla="*/ 130 h 105"/>
                <a:gd name="T22" fmla="*/ 3 w 105"/>
                <a:gd name="T23" fmla="*/ 131 h 105"/>
                <a:gd name="T24" fmla="*/ 8 w 105"/>
                <a:gd name="T25" fmla="*/ 131 h 105"/>
                <a:gd name="T26" fmla="*/ 8 w 105"/>
                <a:gd name="T27" fmla="*/ 130 h 105"/>
                <a:gd name="T28" fmla="*/ 129 w 105"/>
                <a:gd name="T29" fmla="*/ 9 h 1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5" h="105">
                  <a:moveTo>
                    <a:pt x="103" y="9"/>
                  </a:moveTo>
                  <a:lnTo>
                    <a:pt x="105" y="9"/>
                  </a:lnTo>
                  <a:lnTo>
                    <a:pt x="105" y="3"/>
                  </a:lnTo>
                  <a:lnTo>
                    <a:pt x="103" y="2"/>
                  </a:lnTo>
                  <a:lnTo>
                    <a:pt x="103" y="0"/>
                  </a:lnTo>
                  <a:lnTo>
                    <a:pt x="98" y="0"/>
                  </a:lnTo>
                  <a:lnTo>
                    <a:pt x="97" y="2"/>
                  </a:lnTo>
                  <a:lnTo>
                    <a:pt x="2" y="97"/>
                  </a:lnTo>
                  <a:lnTo>
                    <a:pt x="0" y="99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3" y="105"/>
                  </a:lnTo>
                  <a:lnTo>
                    <a:pt x="8" y="105"/>
                  </a:lnTo>
                  <a:lnTo>
                    <a:pt x="8" y="104"/>
                  </a:lnTo>
                  <a:lnTo>
                    <a:pt x="103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>
              <a:spLocks noChangeAspect="1" noChangeArrowheads="1"/>
            </p:cNvSpPr>
            <p:nvPr/>
          </p:nvSpPr>
          <p:spPr bwMode="auto">
            <a:xfrm>
              <a:off x="3673" y="2050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n</a:t>
              </a:r>
              <a:endParaRPr lang="en-US" altLang="zh-CN" sz="2800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3549" y="1976"/>
              <a:ext cx="442" cy="22"/>
            </a:xfrm>
            <a:custGeom>
              <a:avLst/>
              <a:gdLst>
                <a:gd name="T0" fmla="*/ 10 w 425"/>
                <a:gd name="T1" fmla="*/ 0 h 21"/>
                <a:gd name="T2" fmla="*/ 7 w 425"/>
                <a:gd name="T3" fmla="*/ 0 h 21"/>
                <a:gd name="T4" fmla="*/ 3 w 425"/>
                <a:gd name="T5" fmla="*/ 3 h 21"/>
                <a:gd name="T6" fmla="*/ 0 w 425"/>
                <a:gd name="T7" fmla="*/ 7 h 21"/>
                <a:gd name="T8" fmla="*/ 0 w 425"/>
                <a:gd name="T9" fmla="*/ 20 h 21"/>
                <a:gd name="T10" fmla="*/ 3 w 425"/>
                <a:gd name="T11" fmla="*/ 23 h 21"/>
                <a:gd name="T12" fmla="*/ 7 w 425"/>
                <a:gd name="T13" fmla="*/ 27 h 21"/>
                <a:gd name="T14" fmla="*/ 529 w 425"/>
                <a:gd name="T15" fmla="*/ 27 h 21"/>
                <a:gd name="T16" fmla="*/ 535 w 425"/>
                <a:gd name="T17" fmla="*/ 23 h 21"/>
                <a:gd name="T18" fmla="*/ 538 w 425"/>
                <a:gd name="T19" fmla="*/ 20 h 21"/>
                <a:gd name="T20" fmla="*/ 538 w 425"/>
                <a:gd name="T21" fmla="*/ 7 h 21"/>
                <a:gd name="T22" fmla="*/ 535 w 425"/>
                <a:gd name="T23" fmla="*/ 3 h 21"/>
                <a:gd name="T24" fmla="*/ 529 w 425"/>
                <a:gd name="T25" fmla="*/ 0 h 21"/>
                <a:gd name="T26" fmla="*/ 525 w 425"/>
                <a:gd name="T27" fmla="*/ 0 h 21"/>
                <a:gd name="T28" fmla="*/ 10 w 425"/>
                <a:gd name="T29" fmla="*/ 0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5" h="21">
                  <a:moveTo>
                    <a:pt x="10" y="0"/>
                  </a:move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7" y="21"/>
                  </a:lnTo>
                  <a:lnTo>
                    <a:pt x="418" y="21"/>
                  </a:lnTo>
                  <a:lnTo>
                    <a:pt x="422" y="17"/>
                  </a:lnTo>
                  <a:lnTo>
                    <a:pt x="425" y="14"/>
                  </a:lnTo>
                  <a:lnTo>
                    <a:pt x="425" y="7"/>
                  </a:lnTo>
                  <a:lnTo>
                    <a:pt x="422" y="3"/>
                  </a:lnTo>
                  <a:lnTo>
                    <a:pt x="418" y="0"/>
                  </a:lnTo>
                  <a:lnTo>
                    <a:pt x="415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3870" y="1976"/>
              <a:ext cx="121" cy="47"/>
            </a:xfrm>
            <a:custGeom>
              <a:avLst/>
              <a:gdLst>
                <a:gd name="T0" fmla="*/ 140 w 116"/>
                <a:gd name="T1" fmla="*/ 27 h 45"/>
                <a:gd name="T2" fmla="*/ 143 w 116"/>
                <a:gd name="T3" fmla="*/ 25 h 45"/>
                <a:gd name="T4" fmla="*/ 147 w 116"/>
                <a:gd name="T5" fmla="*/ 21 h 45"/>
                <a:gd name="T6" fmla="*/ 149 w 116"/>
                <a:gd name="T7" fmla="*/ 20 h 45"/>
                <a:gd name="T8" fmla="*/ 149 w 116"/>
                <a:gd name="T9" fmla="*/ 8 h 45"/>
                <a:gd name="T10" fmla="*/ 147 w 116"/>
                <a:gd name="T11" fmla="*/ 5 h 45"/>
                <a:gd name="T12" fmla="*/ 143 w 116"/>
                <a:gd name="T13" fmla="*/ 2 h 45"/>
                <a:gd name="T14" fmla="*/ 141 w 116"/>
                <a:gd name="T15" fmla="*/ 0 h 45"/>
                <a:gd name="T16" fmla="*/ 134 w 116"/>
                <a:gd name="T17" fmla="*/ 0 h 45"/>
                <a:gd name="T18" fmla="*/ 9 w 116"/>
                <a:gd name="T19" fmla="*/ 30 h 45"/>
                <a:gd name="T20" fmla="*/ 6 w 116"/>
                <a:gd name="T21" fmla="*/ 32 h 45"/>
                <a:gd name="T22" fmla="*/ 2 w 116"/>
                <a:gd name="T23" fmla="*/ 36 h 45"/>
                <a:gd name="T24" fmla="*/ 0 w 116"/>
                <a:gd name="T25" fmla="*/ 40 h 45"/>
                <a:gd name="T26" fmla="*/ 0 w 116"/>
                <a:gd name="T27" fmla="*/ 48 h 45"/>
                <a:gd name="T28" fmla="*/ 2 w 116"/>
                <a:gd name="T29" fmla="*/ 52 h 45"/>
                <a:gd name="T30" fmla="*/ 6 w 116"/>
                <a:gd name="T31" fmla="*/ 55 h 45"/>
                <a:gd name="T32" fmla="*/ 7 w 116"/>
                <a:gd name="T33" fmla="*/ 57 h 45"/>
                <a:gd name="T34" fmla="*/ 18 w 116"/>
                <a:gd name="T35" fmla="*/ 57 h 45"/>
                <a:gd name="T36" fmla="*/ 140 w 116"/>
                <a:gd name="T37" fmla="*/ 27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6" h="45">
                  <a:moveTo>
                    <a:pt x="108" y="21"/>
                  </a:moveTo>
                  <a:lnTo>
                    <a:pt x="111" y="19"/>
                  </a:lnTo>
                  <a:lnTo>
                    <a:pt x="114" y="15"/>
                  </a:lnTo>
                  <a:lnTo>
                    <a:pt x="116" y="14"/>
                  </a:lnTo>
                  <a:lnTo>
                    <a:pt x="116" y="8"/>
                  </a:lnTo>
                  <a:lnTo>
                    <a:pt x="114" y="5"/>
                  </a:lnTo>
                  <a:lnTo>
                    <a:pt x="111" y="2"/>
                  </a:lnTo>
                  <a:lnTo>
                    <a:pt x="109" y="0"/>
                  </a:lnTo>
                  <a:lnTo>
                    <a:pt x="104" y="0"/>
                  </a:lnTo>
                  <a:lnTo>
                    <a:pt x="9" y="24"/>
                  </a:lnTo>
                  <a:lnTo>
                    <a:pt x="6" y="26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6" y="43"/>
                  </a:lnTo>
                  <a:lnTo>
                    <a:pt x="7" y="45"/>
                  </a:lnTo>
                  <a:lnTo>
                    <a:pt x="12" y="45"/>
                  </a:lnTo>
                  <a:lnTo>
                    <a:pt x="108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3870" y="1951"/>
              <a:ext cx="121" cy="47"/>
            </a:xfrm>
            <a:custGeom>
              <a:avLst/>
              <a:gdLst>
                <a:gd name="T0" fmla="*/ 134 w 116"/>
                <a:gd name="T1" fmla="*/ 57 h 45"/>
                <a:gd name="T2" fmla="*/ 141 w 116"/>
                <a:gd name="T3" fmla="*/ 57 h 45"/>
                <a:gd name="T4" fmla="*/ 146 w 116"/>
                <a:gd name="T5" fmla="*/ 53 h 45"/>
                <a:gd name="T6" fmla="*/ 147 w 116"/>
                <a:gd name="T7" fmla="*/ 51 h 45"/>
                <a:gd name="T8" fmla="*/ 149 w 116"/>
                <a:gd name="T9" fmla="*/ 48 h 45"/>
                <a:gd name="T10" fmla="*/ 149 w 116"/>
                <a:gd name="T11" fmla="*/ 40 h 45"/>
                <a:gd name="T12" fmla="*/ 146 w 116"/>
                <a:gd name="T13" fmla="*/ 33 h 45"/>
                <a:gd name="T14" fmla="*/ 143 w 116"/>
                <a:gd name="T15" fmla="*/ 32 h 45"/>
                <a:gd name="T16" fmla="*/ 140 w 116"/>
                <a:gd name="T17" fmla="*/ 30 h 45"/>
                <a:gd name="T18" fmla="*/ 18 w 116"/>
                <a:gd name="T19" fmla="*/ 0 h 45"/>
                <a:gd name="T20" fmla="*/ 7 w 116"/>
                <a:gd name="T21" fmla="*/ 0 h 45"/>
                <a:gd name="T22" fmla="*/ 4 w 116"/>
                <a:gd name="T23" fmla="*/ 3 h 45"/>
                <a:gd name="T24" fmla="*/ 2 w 116"/>
                <a:gd name="T25" fmla="*/ 5 h 45"/>
                <a:gd name="T26" fmla="*/ 0 w 116"/>
                <a:gd name="T27" fmla="*/ 8 h 45"/>
                <a:gd name="T28" fmla="*/ 0 w 116"/>
                <a:gd name="T29" fmla="*/ 19 h 45"/>
                <a:gd name="T30" fmla="*/ 4 w 116"/>
                <a:gd name="T31" fmla="*/ 23 h 45"/>
                <a:gd name="T32" fmla="*/ 6 w 116"/>
                <a:gd name="T33" fmla="*/ 25 h 45"/>
                <a:gd name="T34" fmla="*/ 9 w 116"/>
                <a:gd name="T35" fmla="*/ 26 h 45"/>
                <a:gd name="T36" fmla="*/ 134 w 116"/>
                <a:gd name="T37" fmla="*/ 57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6" h="45">
                  <a:moveTo>
                    <a:pt x="104" y="45"/>
                  </a:moveTo>
                  <a:lnTo>
                    <a:pt x="109" y="45"/>
                  </a:lnTo>
                  <a:lnTo>
                    <a:pt x="113" y="41"/>
                  </a:lnTo>
                  <a:lnTo>
                    <a:pt x="114" y="39"/>
                  </a:lnTo>
                  <a:lnTo>
                    <a:pt x="116" y="36"/>
                  </a:lnTo>
                  <a:lnTo>
                    <a:pt x="116" y="31"/>
                  </a:lnTo>
                  <a:lnTo>
                    <a:pt x="113" y="27"/>
                  </a:lnTo>
                  <a:lnTo>
                    <a:pt x="111" y="26"/>
                  </a:lnTo>
                  <a:lnTo>
                    <a:pt x="108" y="24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3"/>
                  </a:lnTo>
                  <a:lnTo>
                    <a:pt x="4" y="17"/>
                  </a:lnTo>
                  <a:lnTo>
                    <a:pt x="6" y="19"/>
                  </a:lnTo>
                  <a:lnTo>
                    <a:pt x="9" y="20"/>
                  </a:lnTo>
                  <a:lnTo>
                    <a:pt x="104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3678" y="1931"/>
              <a:ext cx="110" cy="110"/>
            </a:xfrm>
            <a:custGeom>
              <a:avLst/>
              <a:gdLst>
                <a:gd name="T0" fmla="*/ 130 w 106"/>
                <a:gd name="T1" fmla="*/ 8 h 105"/>
                <a:gd name="T2" fmla="*/ 132 w 106"/>
                <a:gd name="T3" fmla="*/ 8 h 105"/>
                <a:gd name="T4" fmla="*/ 132 w 106"/>
                <a:gd name="T5" fmla="*/ 3 h 105"/>
                <a:gd name="T6" fmla="*/ 130 w 106"/>
                <a:gd name="T7" fmla="*/ 1 h 105"/>
                <a:gd name="T8" fmla="*/ 130 w 106"/>
                <a:gd name="T9" fmla="*/ 0 h 105"/>
                <a:gd name="T10" fmla="*/ 123 w 106"/>
                <a:gd name="T11" fmla="*/ 0 h 105"/>
                <a:gd name="T12" fmla="*/ 121 w 106"/>
                <a:gd name="T13" fmla="*/ 1 h 105"/>
                <a:gd name="T14" fmla="*/ 2 w 106"/>
                <a:gd name="T15" fmla="*/ 128 h 105"/>
                <a:gd name="T16" fmla="*/ 0 w 106"/>
                <a:gd name="T17" fmla="*/ 130 h 105"/>
                <a:gd name="T18" fmla="*/ 0 w 106"/>
                <a:gd name="T19" fmla="*/ 136 h 105"/>
                <a:gd name="T20" fmla="*/ 2 w 106"/>
                <a:gd name="T21" fmla="*/ 136 h 105"/>
                <a:gd name="T22" fmla="*/ 4 w 106"/>
                <a:gd name="T23" fmla="*/ 138 h 105"/>
                <a:gd name="T24" fmla="*/ 9 w 106"/>
                <a:gd name="T25" fmla="*/ 138 h 105"/>
                <a:gd name="T26" fmla="*/ 9 w 106"/>
                <a:gd name="T27" fmla="*/ 136 h 105"/>
                <a:gd name="T28" fmla="*/ 130 w 106"/>
                <a:gd name="T29" fmla="*/ 8 h 1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6" h="105">
                  <a:moveTo>
                    <a:pt x="104" y="8"/>
                  </a:moveTo>
                  <a:lnTo>
                    <a:pt x="106" y="8"/>
                  </a:lnTo>
                  <a:lnTo>
                    <a:pt x="106" y="3"/>
                  </a:lnTo>
                  <a:lnTo>
                    <a:pt x="104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7" y="1"/>
                  </a:lnTo>
                  <a:lnTo>
                    <a:pt x="2" y="96"/>
                  </a:lnTo>
                  <a:lnTo>
                    <a:pt x="0" y="98"/>
                  </a:lnTo>
                  <a:lnTo>
                    <a:pt x="0" y="103"/>
                  </a:lnTo>
                  <a:lnTo>
                    <a:pt x="2" y="103"/>
                  </a:lnTo>
                  <a:lnTo>
                    <a:pt x="4" y="105"/>
                  </a:lnTo>
                  <a:lnTo>
                    <a:pt x="9" y="105"/>
                  </a:lnTo>
                  <a:lnTo>
                    <a:pt x="9" y="103"/>
                  </a:lnTo>
                  <a:lnTo>
                    <a:pt x="104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>
              <a:spLocks noChangeAspect="1" noChangeArrowheads="1"/>
            </p:cNvSpPr>
            <p:nvPr/>
          </p:nvSpPr>
          <p:spPr bwMode="auto">
            <a:xfrm>
              <a:off x="3663" y="1875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n</a:t>
              </a:r>
              <a:endParaRPr lang="en-US" altLang="zh-CN" sz="2800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3971" y="1793"/>
              <a:ext cx="444" cy="733"/>
            </a:xfrm>
            <a:custGeom>
              <a:avLst/>
              <a:gdLst>
                <a:gd name="T0" fmla="*/ 11 w 427"/>
                <a:gd name="T1" fmla="*/ 0 h 705"/>
                <a:gd name="T2" fmla="*/ 7 w 427"/>
                <a:gd name="T3" fmla="*/ 0 h 705"/>
                <a:gd name="T4" fmla="*/ 4 w 427"/>
                <a:gd name="T5" fmla="*/ 3 h 705"/>
                <a:gd name="T6" fmla="*/ 0 w 427"/>
                <a:gd name="T7" fmla="*/ 6 h 705"/>
                <a:gd name="T8" fmla="*/ 0 w 427"/>
                <a:gd name="T9" fmla="*/ 882 h 705"/>
                <a:gd name="T10" fmla="*/ 4 w 427"/>
                <a:gd name="T11" fmla="*/ 886 h 705"/>
                <a:gd name="T12" fmla="*/ 7 w 427"/>
                <a:gd name="T13" fmla="*/ 890 h 705"/>
                <a:gd name="T14" fmla="*/ 531 w 427"/>
                <a:gd name="T15" fmla="*/ 890 h 705"/>
                <a:gd name="T16" fmla="*/ 537 w 427"/>
                <a:gd name="T17" fmla="*/ 886 h 705"/>
                <a:gd name="T18" fmla="*/ 540 w 427"/>
                <a:gd name="T19" fmla="*/ 882 h 705"/>
                <a:gd name="T20" fmla="*/ 540 w 427"/>
                <a:gd name="T21" fmla="*/ 6 h 705"/>
                <a:gd name="T22" fmla="*/ 537 w 427"/>
                <a:gd name="T23" fmla="*/ 3 h 705"/>
                <a:gd name="T24" fmla="*/ 531 w 427"/>
                <a:gd name="T25" fmla="*/ 0 h 705"/>
                <a:gd name="T26" fmla="*/ 527 w 427"/>
                <a:gd name="T27" fmla="*/ 0 h 705"/>
                <a:gd name="T28" fmla="*/ 11 w 427"/>
                <a:gd name="T29" fmla="*/ 0 h 705"/>
                <a:gd name="T30" fmla="*/ 11 w 427"/>
                <a:gd name="T31" fmla="*/ 26 h 705"/>
                <a:gd name="T32" fmla="*/ 527 w 427"/>
                <a:gd name="T33" fmla="*/ 26 h 705"/>
                <a:gd name="T34" fmla="*/ 513 w 427"/>
                <a:gd name="T35" fmla="*/ 10 h 705"/>
                <a:gd name="T36" fmla="*/ 513 w 427"/>
                <a:gd name="T37" fmla="*/ 878 h 705"/>
                <a:gd name="T38" fmla="*/ 527 w 427"/>
                <a:gd name="T39" fmla="*/ 864 h 705"/>
                <a:gd name="T40" fmla="*/ 11 w 427"/>
                <a:gd name="T41" fmla="*/ 864 h 705"/>
                <a:gd name="T42" fmla="*/ 27 w 427"/>
                <a:gd name="T43" fmla="*/ 878 h 705"/>
                <a:gd name="T44" fmla="*/ 27 w 427"/>
                <a:gd name="T45" fmla="*/ 10 h 705"/>
                <a:gd name="T46" fmla="*/ 11 w 427"/>
                <a:gd name="T47" fmla="*/ 26 h 705"/>
                <a:gd name="T48" fmla="*/ 11 w 427"/>
                <a:gd name="T49" fmla="*/ 0 h 70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27" h="705">
                  <a:moveTo>
                    <a:pt x="11" y="0"/>
                  </a:moveTo>
                  <a:lnTo>
                    <a:pt x="7" y="0"/>
                  </a:lnTo>
                  <a:lnTo>
                    <a:pt x="4" y="3"/>
                  </a:lnTo>
                  <a:lnTo>
                    <a:pt x="0" y="6"/>
                  </a:lnTo>
                  <a:lnTo>
                    <a:pt x="0" y="698"/>
                  </a:lnTo>
                  <a:lnTo>
                    <a:pt x="4" y="701"/>
                  </a:lnTo>
                  <a:lnTo>
                    <a:pt x="7" y="705"/>
                  </a:lnTo>
                  <a:lnTo>
                    <a:pt x="420" y="705"/>
                  </a:lnTo>
                  <a:lnTo>
                    <a:pt x="424" y="701"/>
                  </a:lnTo>
                  <a:lnTo>
                    <a:pt x="427" y="698"/>
                  </a:lnTo>
                  <a:lnTo>
                    <a:pt x="427" y="6"/>
                  </a:lnTo>
                  <a:lnTo>
                    <a:pt x="424" y="3"/>
                  </a:lnTo>
                  <a:lnTo>
                    <a:pt x="420" y="0"/>
                  </a:lnTo>
                  <a:lnTo>
                    <a:pt x="417" y="0"/>
                  </a:lnTo>
                  <a:lnTo>
                    <a:pt x="11" y="0"/>
                  </a:lnTo>
                  <a:lnTo>
                    <a:pt x="11" y="20"/>
                  </a:lnTo>
                  <a:lnTo>
                    <a:pt x="417" y="20"/>
                  </a:lnTo>
                  <a:lnTo>
                    <a:pt x="406" y="10"/>
                  </a:lnTo>
                  <a:lnTo>
                    <a:pt x="406" y="694"/>
                  </a:lnTo>
                  <a:lnTo>
                    <a:pt x="417" y="684"/>
                  </a:lnTo>
                  <a:lnTo>
                    <a:pt x="11" y="684"/>
                  </a:lnTo>
                  <a:lnTo>
                    <a:pt x="21" y="694"/>
                  </a:lnTo>
                  <a:lnTo>
                    <a:pt x="21" y="10"/>
                  </a:lnTo>
                  <a:lnTo>
                    <a:pt x="11" y="2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>
              <a:spLocks noChangeAspect="1" noChangeArrowheads="1"/>
            </p:cNvSpPr>
            <p:nvPr/>
          </p:nvSpPr>
          <p:spPr bwMode="auto">
            <a:xfrm>
              <a:off x="4178" y="2204"/>
              <a:ext cx="23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MUX</a:t>
              </a:r>
              <a:endParaRPr lang="en-US" altLang="zh-CN" sz="2800"/>
            </a:p>
          </p:txBody>
        </p:sp>
        <p:sp>
          <p:nvSpPr>
            <p:cNvPr id="18" name="Rectangle 18"/>
            <p:cNvSpPr>
              <a:spLocks noChangeAspect="1" noChangeArrowheads="1"/>
            </p:cNvSpPr>
            <p:nvPr/>
          </p:nvSpPr>
          <p:spPr bwMode="auto">
            <a:xfrm>
              <a:off x="4040" y="1819"/>
              <a:ext cx="31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S1  S0</a:t>
              </a:r>
              <a:endParaRPr lang="en-US" altLang="zh-CN" sz="2800"/>
            </a:p>
          </p:txBody>
        </p:sp>
        <p:sp>
          <p:nvSpPr>
            <p:cNvPr id="19" name="Rectangle 19"/>
            <p:cNvSpPr>
              <a:spLocks noChangeAspect="1" noChangeArrowheads="1"/>
            </p:cNvSpPr>
            <p:nvPr/>
          </p:nvSpPr>
          <p:spPr bwMode="auto">
            <a:xfrm>
              <a:off x="4022" y="1920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0</a:t>
              </a:r>
              <a:endParaRPr lang="en-US" altLang="zh-CN" sz="2800"/>
            </a:p>
          </p:txBody>
        </p:sp>
        <p:sp>
          <p:nvSpPr>
            <p:cNvPr id="20" name="Rectangle 20"/>
            <p:cNvSpPr>
              <a:spLocks noChangeAspect="1" noChangeArrowheads="1"/>
            </p:cNvSpPr>
            <p:nvPr/>
          </p:nvSpPr>
          <p:spPr bwMode="auto">
            <a:xfrm>
              <a:off x="4018" y="209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1</a:t>
              </a:r>
              <a:endParaRPr lang="en-US" altLang="zh-CN" sz="2800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3552" y="2332"/>
              <a:ext cx="441" cy="21"/>
            </a:xfrm>
            <a:custGeom>
              <a:avLst/>
              <a:gdLst>
                <a:gd name="T0" fmla="*/ 11 w 424"/>
                <a:gd name="T1" fmla="*/ 0 h 21"/>
                <a:gd name="T2" fmla="*/ 7 w 424"/>
                <a:gd name="T3" fmla="*/ 0 h 21"/>
                <a:gd name="T4" fmla="*/ 4 w 424"/>
                <a:gd name="T5" fmla="*/ 4 h 21"/>
                <a:gd name="T6" fmla="*/ 0 w 424"/>
                <a:gd name="T7" fmla="*/ 7 h 21"/>
                <a:gd name="T8" fmla="*/ 0 w 424"/>
                <a:gd name="T9" fmla="*/ 14 h 21"/>
                <a:gd name="T10" fmla="*/ 4 w 424"/>
                <a:gd name="T11" fmla="*/ 17 h 21"/>
                <a:gd name="T12" fmla="*/ 7 w 424"/>
                <a:gd name="T13" fmla="*/ 21 h 21"/>
                <a:gd name="T14" fmla="*/ 528 w 424"/>
                <a:gd name="T15" fmla="*/ 21 h 21"/>
                <a:gd name="T16" fmla="*/ 533 w 424"/>
                <a:gd name="T17" fmla="*/ 17 h 21"/>
                <a:gd name="T18" fmla="*/ 537 w 424"/>
                <a:gd name="T19" fmla="*/ 14 h 21"/>
                <a:gd name="T20" fmla="*/ 537 w 424"/>
                <a:gd name="T21" fmla="*/ 7 h 21"/>
                <a:gd name="T22" fmla="*/ 533 w 424"/>
                <a:gd name="T23" fmla="*/ 4 h 21"/>
                <a:gd name="T24" fmla="*/ 528 w 424"/>
                <a:gd name="T25" fmla="*/ 0 h 21"/>
                <a:gd name="T26" fmla="*/ 524 w 424"/>
                <a:gd name="T27" fmla="*/ 0 h 21"/>
                <a:gd name="T28" fmla="*/ 11 w 424"/>
                <a:gd name="T29" fmla="*/ 0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4" h="21">
                  <a:moveTo>
                    <a:pt x="11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4" y="17"/>
                  </a:lnTo>
                  <a:lnTo>
                    <a:pt x="7" y="21"/>
                  </a:lnTo>
                  <a:lnTo>
                    <a:pt x="417" y="21"/>
                  </a:lnTo>
                  <a:lnTo>
                    <a:pt x="420" y="17"/>
                  </a:lnTo>
                  <a:lnTo>
                    <a:pt x="424" y="14"/>
                  </a:lnTo>
                  <a:lnTo>
                    <a:pt x="424" y="7"/>
                  </a:lnTo>
                  <a:lnTo>
                    <a:pt x="420" y="4"/>
                  </a:lnTo>
                  <a:lnTo>
                    <a:pt x="417" y="0"/>
                  </a:lnTo>
                  <a:lnTo>
                    <a:pt x="414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3873" y="2332"/>
              <a:ext cx="120" cy="46"/>
            </a:xfrm>
            <a:custGeom>
              <a:avLst/>
              <a:gdLst>
                <a:gd name="T0" fmla="*/ 131 w 116"/>
                <a:gd name="T1" fmla="*/ 21 h 45"/>
                <a:gd name="T2" fmla="*/ 136 w 116"/>
                <a:gd name="T3" fmla="*/ 19 h 45"/>
                <a:gd name="T4" fmla="*/ 139 w 116"/>
                <a:gd name="T5" fmla="*/ 16 h 45"/>
                <a:gd name="T6" fmla="*/ 142 w 116"/>
                <a:gd name="T7" fmla="*/ 14 h 45"/>
                <a:gd name="T8" fmla="*/ 142 w 116"/>
                <a:gd name="T9" fmla="*/ 9 h 45"/>
                <a:gd name="T10" fmla="*/ 139 w 116"/>
                <a:gd name="T11" fmla="*/ 5 h 45"/>
                <a:gd name="T12" fmla="*/ 136 w 116"/>
                <a:gd name="T13" fmla="*/ 2 h 45"/>
                <a:gd name="T14" fmla="*/ 133 w 116"/>
                <a:gd name="T15" fmla="*/ 0 h 45"/>
                <a:gd name="T16" fmla="*/ 128 w 116"/>
                <a:gd name="T17" fmla="*/ 0 h 45"/>
                <a:gd name="T18" fmla="*/ 9 w 116"/>
                <a:gd name="T19" fmla="*/ 30 h 45"/>
                <a:gd name="T20" fmla="*/ 5 w 116"/>
                <a:gd name="T21" fmla="*/ 32 h 45"/>
                <a:gd name="T22" fmla="*/ 2 w 116"/>
                <a:gd name="T23" fmla="*/ 35 h 45"/>
                <a:gd name="T24" fmla="*/ 0 w 116"/>
                <a:gd name="T25" fmla="*/ 37 h 45"/>
                <a:gd name="T26" fmla="*/ 0 w 116"/>
                <a:gd name="T27" fmla="*/ 42 h 45"/>
                <a:gd name="T28" fmla="*/ 2 w 116"/>
                <a:gd name="T29" fmla="*/ 46 h 45"/>
                <a:gd name="T30" fmla="*/ 5 w 116"/>
                <a:gd name="T31" fmla="*/ 49 h 45"/>
                <a:gd name="T32" fmla="*/ 7 w 116"/>
                <a:gd name="T33" fmla="*/ 51 h 45"/>
                <a:gd name="T34" fmla="*/ 12 w 116"/>
                <a:gd name="T35" fmla="*/ 51 h 45"/>
                <a:gd name="T36" fmla="*/ 131 w 116"/>
                <a:gd name="T37" fmla="*/ 21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6" h="45">
                  <a:moveTo>
                    <a:pt x="107" y="21"/>
                  </a:moveTo>
                  <a:lnTo>
                    <a:pt x="111" y="19"/>
                  </a:lnTo>
                  <a:lnTo>
                    <a:pt x="114" y="16"/>
                  </a:lnTo>
                  <a:lnTo>
                    <a:pt x="116" y="14"/>
                  </a:lnTo>
                  <a:lnTo>
                    <a:pt x="116" y="9"/>
                  </a:lnTo>
                  <a:lnTo>
                    <a:pt x="114" y="5"/>
                  </a:lnTo>
                  <a:lnTo>
                    <a:pt x="111" y="2"/>
                  </a:lnTo>
                  <a:lnTo>
                    <a:pt x="109" y="0"/>
                  </a:lnTo>
                  <a:lnTo>
                    <a:pt x="104" y="0"/>
                  </a:lnTo>
                  <a:lnTo>
                    <a:pt x="9" y="24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5" y="43"/>
                  </a:lnTo>
                  <a:lnTo>
                    <a:pt x="7" y="45"/>
                  </a:lnTo>
                  <a:lnTo>
                    <a:pt x="12" y="45"/>
                  </a:lnTo>
                  <a:lnTo>
                    <a:pt x="107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3873" y="2307"/>
              <a:ext cx="120" cy="46"/>
            </a:xfrm>
            <a:custGeom>
              <a:avLst/>
              <a:gdLst>
                <a:gd name="T0" fmla="*/ 128 w 116"/>
                <a:gd name="T1" fmla="*/ 51 h 45"/>
                <a:gd name="T2" fmla="*/ 133 w 116"/>
                <a:gd name="T3" fmla="*/ 51 h 45"/>
                <a:gd name="T4" fmla="*/ 137 w 116"/>
                <a:gd name="T5" fmla="*/ 47 h 45"/>
                <a:gd name="T6" fmla="*/ 139 w 116"/>
                <a:gd name="T7" fmla="*/ 46 h 45"/>
                <a:gd name="T8" fmla="*/ 142 w 116"/>
                <a:gd name="T9" fmla="*/ 42 h 45"/>
                <a:gd name="T10" fmla="*/ 142 w 116"/>
                <a:gd name="T11" fmla="*/ 37 h 45"/>
                <a:gd name="T12" fmla="*/ 137 w 116"/>
                <a:gd name="T13" fmla="*/ 34 h 45"/>
                <a:gd name="T14" fmla="*/ 136 w 116"/>
                <a:gd name="T15" fmla="*/ 32 h 45"/>
                <a:gd name="T16" fmla="*/ 131 w 116"/>
                <a:gd name="T17" fmla="*/ 30 h 45"/>
                <a:gd name="T18" fmla="*/ 12 w 116"/>
                <a:gd name="T19" fmla="*/ 0 h 45"/>
                <a:gd name="T20" fmla="*/ 7 w 116"/>
                <a:gd name="T21" fmla="*/ 0 h 45"/>
                <a:gd name="T22" fmla="*/ 4 w 116"/>
                <a:gd name="T23" fmla="*/ 3 h 45"/>
                <a:gd name="T24" fmla="*/ 2 w 116"/>
                <a:gd name="T25" fmla="*/ 5 h 45"/>
                <a:gd name="T26" fmla="*/ 0 w 116"/>
                <a:gd name="T27" fmla="*/ 8 h 45"/>
                <a:gd name="T28" fmla="*/ 0 w 116"/>
                <a:gd name="T29" fmla="*/ 14 h 45"/>
                <a:gd name="T30" fmla="*/ 4 w 116"/>
                <a:gd name="T31" fmla="*/ 17 h 45"/>
                <a:gd name="T32" fmla="*/ 5 w 116"/>
                <a:gd name="T33" fmla="*/ 19 h 45"/>
                <a:gd name="T34" fmla="*/ 9 w 116"/>
                <a:gd name="T35" fmla="*/ 21 h 45"/>
                <a:gd name="T36" fmla="*/ 128 w 116"/>
                <a:gd name="T37" fmla="*/ 51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6" h="45">
                  <a:moveTo>
                    <a:pt x="104" y="45"/>
                  </a:moveTo>
                  <a:lnTo>
                    <a:pt x="109" y="45"/>
                  </a:lnTo>
                  <a:lnTo>
                    <a:pt x="112" y="41"/>
                  </a:lnTo>
                  <a:lnTo>
                    <a:pt x="114" y="40"/>
                  </a:lnTo>
                  <a:lnTo>
                    <a:pt x="116" y="36"/>
                  </a:lnTo>
                  <a:lnTo>
                    <a:pt x="116" y="31"/>
                  </a:lnTo>
                  <a:lnTo>
                    <a:pt x="112" y="28"/>
                  </a:lnTo>
                  <a:lnTo>
                    <a:pt x="111" y="26"/>
                  </a:lnTo>
                  <a:lnTo>
                    <a:pt x="107" y="24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4"/>
                  </a:lnTo>
                  <a:lnTo>
                    <a:pt x="4" y="17"/>
                  </a:lnTo>
                  <a:lnTo>
                    <a:pt x="5" y="19"/>
                  </a:lnTo>
                  <a:lnTo>
                    <a:pt x="9" y="21"/>
                  </a:lnTo>
                  <a:lnTo>
                    <a:pt x="104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3680" y="2287"/>
              <a:ext cx="110" cy="109"/>
            </a:xfrm>
            <a:custGeom>
              <a:avLst/>
              <a:gdLst>
                <a:gd name="T0" fmla="*/ 130 w 106"/>
                <a:gd name="T1" fmla="*/ 8 h 105"/>
                <a:gd name="T2" fmla="*/ 132 w 106"/>
                <a:gd name="T3" fmla="*/ 8 h 105"/>
                <a:gd name="T4" fmla="*/ 132 w 106"/>
                <a:gd name="T5" fmla="*/ 3 h 105"/>
                <a:gd name="T6" fmla="*/ 130 w 106"/>
                <a:gd name="T7" fmla="*/ 2 h 105"/>
                <a:gd name="T8" fmla="*/ 130 w 106"/>
                <a:gd name="T9" fmla="*/ 0 h 105"/>
                <a:gd name="T10" fmla="*/ 123 w 106"/>
                <a:gd name="T11" fmla="*/ 0 h 105"/>
                <a:gd name="T12" fmla="*/ 121 w 106"/>
                <a:gd name="T13" fmla="*/ 2 h 105"/>
                <a:gd name="T14" fmla="*/ 2 w 106"/>
                <a:gd name="T15" fmla="*/ 121 h 105"/>
                <a:gd name="T16" fmla="*/ 0 w 106"/>
                <a:gd name="T17" fmla="*/ 122 h 105"/>
                <a:gd name="T18" fmla="*/ 0 w 106"/>
                <a:gd name="T19" fmla="*/ 130 h 105"/>
                <a:gd name="T20" fmla="*/ 2 w 106"/>
                <a:gd name="T21" fmla="*/ 130 h 105"/>
                <a:gd name="T22" fmla="*/ 4 w 106"/>
                <a:gd name="T23" fmla="*/ 131 h 105"/>
                <a:gd name="T24" fmla="*/ 9 w 106"/>
                <a:gd name="T25" fmla="*/ 131 h 105"/>
                <a:gd name="T26" fmla="*/ 9 w 106"/>
                <a:gd name="T27" fmla="*/ 130 h 105"/>
                <a:gd name="T28" fmla="*/ 130 w 106"/>
                <a:gd name="T29" fmla="*/ 8 h 1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6" h="105">
                  <a:moveTo>
                    <a:pt x="104" y="8"/>
                  </a:moveTo>
                  <a:lnTo>
                    <a:pt x="106" y="8"/>
                  </a:lnTo>
                  <a:lnTo>
                    <a:pt x="106" y="3"/>
                  </a:lnTo>
                  <a:lnTo>
                    <a:pt x="104" y="2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2" y="97"/>
                  </a:lnTo>
                  <a:lnTo>
                    <a:pt x="0" y="98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9" y="105"/>
                  </a:lnTo>
                  <a:lnTo>
                    <a:pt x="9" y="104"/>
                  </a:lnTo>
                  <a:lnTo>
                    <a:pt x="104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>
              <a:spLocks noChangeAspect="1" noChangeArrowheads="1"/>
            </p:cNvSpPr>
            <p:nvPr/>
          </p:nvSpPr>
          <p:spPr bwMode="auto">
            <a:xfrm>
              <a:off x="3666" y="2231"/>
              <a:ext cx="64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n</a:t>
              </a:r>
              <a:endParaRPr lang="en-US" altLang="zh-CN" sz="2800"/>
            </a:p>
          </p:txBody>
        </p:sp>
        <p:sp>
          <p:nvSpPr>
            <p:cNvPr id="26" name="Rectangle 26"/>
            <p:cNvSpPr>
              <a:spLocks noChangeAspect="1" noChangeArrowheads="1"/>
            </p:cNvSpPr>
            <p:nvPr/>
          </p:nvSpPr>
          <p:spPr bwMode="auto">
            <a:xfrm>
              <a:off x="4027" y="2287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2</a:t>
              </a:r>
              <a:endParaRPr lang="en-US" altLang="zh-CN" sz="2800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4947" y="2432"/>
              <a:ext cx="154" cy="52"/>
            </a:xfrm>
            <a:custGeom>
              <a:avLst/>
              <a:gdLst>
                <a:gd name="T0" fmla="*/ 178 w 148"/>
                <a:gd name="T1" fmla="*/ 27 h 50"/>
                <a:gd name="T2" fmla="*/ 182 w 148"/>
                <a:gd name="T3" fmla="*/ 25 h 50"/>
                <a:gd name="T4" fmla="*/ 185 w 148"/>
                <a:gd name="T5" fmla="*/ 21 h 50"/>
                <a:gd name="T6" fmla="*/ 187 w 148"/>
                <a:gd name="T7" fmla="*/ 20 h 50"/>
                <a:gd name="T8" fmla="*/ 187 w 148"/>
                <a:gd name="T9" fmla="*/ 8 h 50"/>
                <a:gd name="T10" fmla="*/ 185 w 148"/>
                <a:gd name="T11" fmla="*/ 5 h 50"/>
                <a:gd name="T12" fmla="*/ 182 w 148"/>
                <a:gd name="T13" fmla="*/ 2 h 50"/>
                <a:gd name="T14" fmla="*/ 179 w 148"/>
                <a:gd name="T15" fmla="*/ 0 h 50"/>
                <a:gd name="T16" fmla="*/ 173 w 148"/>
                <a:gd name="T17" fmla="*/ 0 h 50"/>
                <a:gd name="T18" fmla="*/ 8 w 148"/>
                <a:gd name="T19" fmla="*/ 35 h 50"/>
                <a:gd name="T20" fmla="*/ 5 w 148"/>
                <a:gd name="T21" fmla="*/ 37 h 50"/>
                <a:gd name="T22" fmla="*/ 1 w 148"/>
                <a:gd name="T23" fmla="*/ 42 h 50"/>
                <a:gd name="T24" fmla="*/ 0 w 148"/>
                <a:gd name="T25" fmla="*/ 46 h 50"/>
                <a:gd name="T26" fmla="*/ 0 w 148"/>
                <a:gd name="T27" fmla="*/ 53 h 50"/>
                <a:gd name="T28" fmla="*/ 1 w 148"/>
                <a:gd name="T29" fmla="*/ 57 h 50"/>
                <a:gd name="T30" fmla="*/ 5 w 148"/>
                <a:gd name="T31" fmla="*/ 60 h 50"/>
                <a:gd name="T32" fmla="*/ 6 w 148"/>
                <a:gd name="T33" fmla="*/ 62 h 50"/>
                <a:gd name="T34" fmla="*/ 12 w 148"/>
                <a:gd name="T35" fmla="*/ 62 h 50"/>
                <a:gd name="T36" fmla="*/ 178 w 148"/>
                <a:gd name="T37" fmla="*/ 27 h 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8" h="50">
                  <a:moveTo>
                    <a:pt x="140" y="21"/>
                  </a:moveTo>
                  <a:lnTo>
                    <a:pt x="143" y="19"/>
                  </a:lnTo>
                  <a:lnTo>
                    <a:pt x="146" y="15"/>
                  </a:lnTo>
                  <a:lnTo>
                    <a:pt x="148" y="14"/>
                  </a:lnTo>
                  <a:lnTo>
                    <a:pt x="148" y="8"/>
                  </a:lnTo>
                  <a:lnTo>
                    <a:pt x="146" y="5"/>
                  </a:lnTo>
                  <a:lnTo>
                    <a:pt x="143" y="2"/>
                  </a:lnTo>
                  <a:lnTo>
                    <a:pt x="141" y="0"/>
                  </a:lnTo>
                  <a:lnTo>
                    <a:pt x="136" y="0"/>
                  </a:lnTo>
                  <a:lnTo>
                    <a:pt x="8" y="29"/>
                  </a:lnTo>
                  <a:lnTo>
                    <a:pt x="5" y="31"/>
                  </a:lnTo>
                  <a:lnTo>
                    <a:pt x="1" y="34"/>
                  </a:lnTo>
                  <a:lnTo>
                    <a:pt x="0" y="36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12" y="50"/>
                  </a:lnTo>
                  <a:lnTo>
                    <a:pt x="14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4927" y="2470"/>
              <a:ext cx="185" cy="52"/>
            </a:xfrm>
            <a:custGeom>
              <a:avLst/>
              <a:gdLst>
                <a:gd name="T0" fmla="*/ 12 w 178"/>
                <a:gd name="T1" fmla="*/ 0 h 50"/>
                <a:gd name="T2" fmla="*/ 6 w 178"/>
                <a:gd name="T3" fmla="*/ 0 h 50"/>
                <a:gd name="T4" fmla="*/ 5 w 178"/>
                <a:gd name="T5" fmla="*/ 2 h 50"/>
                <a:gd name="T6" fmla="*/ 1 w 178"/>
                <a:gd name="T7" fmla="*/ 4 h 50"/>
                <a:gd name="T8" fmla="*/ 1 w 178"/>
                <a:gd name="T9" fmla="*/ 5 h 50"/>
                <a:gd name="T10" fmla="*/ 0 w 178"/>
                <a:gd name="T11" fmla="*/ 9 h 50"/>
                <a:gd name="T12" fmla="*/ 0 w 178"/>
                <a:gd name="T13" fmla="*/ 20 h 50"/>
                <a:gd name="T14" fmla="*/ 1 w 178"/>
                <a:gd name="T15" fmla="*/ 22 h 50"/>
                <a:gd name="T16" fmla="*/ 3 w 178"/>
                <a:gd name="T17" fmla="*/ 25 h 50"/>
                <a:gd name="T18" fmla="*/ 5 w 178"/>
                <a:gd name="T19" fmla="*/ 25 h 50"/>
                <a:gd name="T20" fmla="*/ 8 w 178"/>
                <a:gd name="T21" fmla="*/ 27 h 50"/>
                <a:gd name="T22" fmla="*/ 208 w 178"/>
                <a:gd name="T23" fmla="*/ 62 h 50"/>
                <a:gd name="T24" fmla="*/ 216 w 178"/>
                <a:gd name="T25" fmla="*/ 62 h 50"/>
                <a:gd name="T26" fmla="*/ 217 w 178"/>
                <a:gd name="T27" fmla="*/ 61 h 50"/>
                <a:gd name="T28" fmla="*/ 221 w 178"/>
                <a:gd name="T29" fmla="*/ 59 h 50"/>
                <a:gd name="T30" fmla="*/ 221 w 178"/>
                <a:gd name="T31" fmla="*/ 57 h 50"/>
                <a:gd name="T32" fmla="*/ 224 w 178"/>
                <a:gd name="T33" fmla="*/ 54 h 50"/>
                <a:gd name="T34" fmla="*/ 224 w 178"/>
                <a:gd name="T35" fmla="*/ 46 h 50"/>
                <a:gd name="T36" fmla="*/ 221 w 178"/>
                <a:gd name="T37" fmla="*/ 44 h 50"/>
                <a:gd name="T38" fmla="*/ 219 w 178"/>
                <a:gd name="T39" fmla="*/ 37 h 50"/>
                <a:gd name="T40" fmla="*/ 217 w 178"/>
                <a:gd name="T41" fmla="*/ 37 h 50"/>
                <a:gd name="T42" fmla="*/ 213 w 178"/>
                <a:gd name="T43" fmla="*/ 36 h 50"/>
                <a:gd name="T44" fmla="*/ 12 w 178"/>
                <a:gd name="T45" fmla="*/ 0 h 5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78" h="50">
                  <a:moveTo>
                    <a:pt x="12" y="0"/>
                  </a:moveTo>
                  <a:lnTo>
                    <a:pt x="6" y="0"/>
                  </a:lnTo>
                  <a:lnTo>
                    <a:pt x="5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3" y="19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165" y="50"/>
                  </a:lnTo>
                  <a:lnTo>
                    <a:pt x="171" y="50"/>
                  </a:lnTo>
                  <a:lnTo>
                    <a:pt x="172" y="49"/>
                  </a:lnTo>
                  <a:lnTo>
                    <a:pt x="176" y="47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78" y="36"/>
                  </a:lnTo>
                  <a:lnTo>
                    <a:pt x="176" y="35"/>
                  </a:lnTo>
                  <a:lnTo>
                    <a:pt x="174" y="31"/>
                  </a:lnTo>
                  <a:lnTo>
                    <a:pt x="172" y="31"/>
                  </a:lnTo>
                  <a:lnTo>
                    <a:pt x="169" y="3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>
              <a:spLocks noChangeAspect="1" noChangeArrowheads="1"/>
            </p:cNvSpPr>
            <p:nvPr/>
          </p:nvSpPr>
          <p:spPr bwMode="auto">
            <a:xfrm>
              <a:off x="4212" y="1489"/>
              <a:ext cx="1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S0</a:t>
              </a:r>
              <a:endParaRPr lang="en-US" altLang="zh-CN" sz="2800"/>
            </a:p>
          </p:txBody>
        </p:sp>
        <p:sp>
          <p:nvSpPr>
            <p:cNvPr id="30" name="Rectangle 30"/>
            <p:cNvSpPr>
              <a:spLocks noChangeAspect="1" noChangeArrowheads="1"/>
            </p:cNvSpPr>
            <p:nvPr/>
          </p:nvSpPr>
          <p:spPr bwMode="auto">
            <a:xfrm>
              <a:off x="4036" y="1489"/>
              <a:ext cx="1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S1</a:t>
              </a:r>
              <a:endParaRPr lang="en-US" altLang="zh-CN" sz="2800"/>
            </a:p>
          </p:txBody>
        </p:sp>
        <p:sp>
          <p:nvSpPr>
            <p:cNvPr id="31" name="Rectangle 31"/>
            <p:cNvSpPr>
              <a:spLocks noChangeAspect="1" noChangeArrowheads="1"/>
            </p:cNvSpPr>
            <p:nvPr/>
          </p:nvSpPr>
          <p:spPr bwMode="auto">
            <a:xfrm>
              <a:off x="5274" y="1676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L1</a:t>
              </a:r>
              <a:endParaRPr lang="en-US" altLang="zh-CN" sz="2800"/>
            </a:p>
          </p:txBody>
        </p:sp>
        <p:sp>
          <p:nvSpPr>
            <p:cNvPr id="32" name="Rectangle 32"/>
            <p:cNvSpPr>
              <a:spLocks noChangeAspect="1" noChangeArrowheads="1"/>
            </p:cNvSpPr>
            <p:nvPr/>
          </p:nvSpPr>
          <p:spPr bwMode="auto">
            <a:xfrm>
              <a:off x="5259" y="2793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L2</a:t>
              </a:r>
              <a:endParaRPr lang="en-US" altLang="zh-CN" sz="2800"/>
            </a:p>
          </p:txBody>
        </p:sp>
        <p:sp>
          <p:nvSpPr>
            <p:cNvPr id="33" name="Freeform 33"/>
            <p:cNvSpPr>
              <a:spLocks noChangeAspect="1"/>
            </p:cNvSpPr>
            <p:nvPr/>
          </p:nvSpPr>
          <p:spPr bwMode="auto">
            <a:xfrm>
              <a:off x="3549" y="1370"/>
              <a:ext cx="1624" cy="24"/>
            </a:xfrm>
            <a:custGeom>
              <a:avLst/>
              <a:gdLst>
                <a:gd name="T0" fmla="*/ 1961 w 1562"/>
                <a:gd name="T1" fmla="*/ 29 h 23"/>
                <a:gd name="T2" fmla="*/ 1964 w 1562"/>
                <a:gd name="T3" fmla="*/ 29 h 23"/>
                <a:gd name="T4" fmla="*/ 1969 w 1562"/>
                <a:gd name="T5" fmla="*/ 25 h 23"/>
                <a:gd name="T6" fmla="*/ 1972 w 1562"/>
                <a:gd name="T7" fmla="*/ 22 h 23"/>
                <a:gd name="T8" fmla="*/ 1972 w 1562"/>
                <a:gd name="T9" fmla="*/ 9 h 23"/>
                <a:gd name="T10" fmla="*/ 1969 w 1562"/>
                <a:gd name="T11" fmla="*/ 6 h 23"/>
                <a:gd name="T12" fmla="*/ 1964 w 1562"/>
                <a:gd name="T13" fmla="*/ 2 h 23"/>
                <a:gd name="T14" fmla="*/ 1961 w 1562"/>
                <a:gd name="T15" fmla="*/ 2 h 23"/>
                <a:gd name="T16" fmla="*/ 10 w 1562"/>
                <a:gd name="T17" fmla="*/ 0 h 23"/>
                <a:gd name="T18" fmla="*/ 7 w 1562"/>
                <a:gd name="T19" fmla="*/ 0 h 23"/>
                <a:gd name="T20" fmla="*/ 3 w 1562"/>
                <a:gd name="T21" fmla="*/ 4 h 23"/>
                <a:gd name="T22" fmla="*/ 0 w 1562"/>
                <a:gd name="T23" fmla="*/ 7 h 23"/>
                <a:gd name="T24" fmla="*/ 0 w 1562"/>
                <a:gd name="T25" fmla="*/ 20 h 23"/>
                <a:gd name="T26" fmla="*/ 3 w 1562"/>
                <a:gd name="T27" fmla="*/ 24 h 23"/>
                <a:gd name="T28" fmla="*/ 7 w 1562"/>
                <a:gd name="T29" fmla="*/ 27 h 23"/>
                <a:gd name="T30" fmla="*/ 10 w 1562"/>
                <a:gd name="T31" fmla="*/ 27 h 23"/>
                <a:gd name="T32" fmla="*/ 1961 w 1562"/>
                <a:gd name="T33" fmla="*/ 29 h 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562" h="23">
                  <a:moveTo>
                    <a:pt x="1552" y="23"/>
                  </a:moveTo>
                  <a:lnTo>
                    <a:pt x="1555" y="23"/>
                  </a:lnTo>
                  <a:lnTo>
                    <a:pt x="1559" y="19"/>
                  </a:lnTo>
                  <a:lnTo>
                    <a:pt x="1562" y="16"/>
                  </a:lnTo>
                  <a:lnTo>
                    <a:pt x="1562" y="9"/>
                  </a:lnTo>
                  <a:lnTo>
                    <a:pt x="1559" y="6"/>
                  </a:lnTo>
                  <a:lnTo>
                    <a:pt x="1555" y="2"/>
                  </a:lnTo>
                  <a:lnTo>
                    <a:pt x="1552" y="2"/>
                  </a:lnTo>
                  <a:lnTo>
                    <a:pt x="10" y="0"/>
                  </a:lnTo>
                  <a:lnTo>
                    <a:pt x="7" y="0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3" y="18"/>
                  </a:lnTo>
                  <a:lnTo>
                    <a:pt x="7" y="21"/>
                  </a:lnTo>
                  <a:lnTo>
                    <a:pt x="10" y="21"/>
                  </a:lnTo>
                  <a:lnTo>
                    <a:pt x="1552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 noChangeAspect="1"/>
            </p:cNvSpPr>
            <p:nvPr/>
          </p:nvSpPr>
          <p:spPr bwMode="auto">
            <a:xfrm>
              <a:off x="3549" y="3609"/>
              <a:ext cx="1611" cy="22"/>
            </a:xfrm>
            <a:custGeom>
              <a:avLst/>
              <a:gdLst>
                <a:gd name="T0" fmla="*/ 1942 w 1550"/>
                <a:gd name="T1" fmla="*/ 27 h 21"/>
                <a:gd name="T2" fmla="*/ 1946 w 1550"/>
                <a:gd name="T3" fmla="*/ 27 h 21"/>
                <a:gd name="T4" fmla="*/ 1950 w 1550"/>
                <a:gd name="T5" fmla="*/ 23 h 21"/>
                <a:gd name="T6" fmla="*/ 1953 w 1550"/>
                <a:gd name="T7" fmla="*/ 20 h 21"/>
                <a:gd name="T8" fmla="*/ 1953 w 1550"/>
                <a:gd name="T9" fmla="*/ 7 h 21"/>
                <a:gd name="T10" fmla="*/ 1950 w 1550"/>
                <a:gd name="T11" fmla="*/ 3 h 21"/>
                <a:gd name="T12" fmla="*/ 1946 w 1550"/>
                <a:gd name="T13" fmla="*/ 0 h 21"/>
                <a:gd name="T14" fmla="*/ 7 w 1550"/>
                <a:gd name="T15" fmla="*/ 0 h 21"/>
                <a:gd name="T16" fmla="*/ 3 w 1550"/>
                <a:gd name="T17" fmla="*/ 3 h 21"/>
                <a:gd name="T18" fmla="*/ 0 w 1550"/>
                <a:gd name="T19" fmla="*/ 7 h 21"/>
                <a:gd name="T20" fmla="*/ 0 w 1550"/>
                <a:gd name="T21" fmla="*/ 20 h 21"/>
                <a:gd name="T22" fmla="*/ 3 w 1550"/>
                <a:gd name="T23" fmla="*/ 23 h 21"/>
                <a:gd name="T24" fmla="*/ 7 w 1550"/>
                <a:gd name="T25" fmla="*/ 27 h 21"/>
                <a:gd name="T26" fmla="*/ 10 w 1550"/>
                <a:gd name="T27" fmla="*/ 27 h 21"/>
                <a:gd name="T28" fmla="*/ 1942 w 1550"/>
                <a:gd name="T29" fmla="*/ 27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50" h="21">
                  <a:moveTo>
                    <a:pt x="1540" y="21"/>
                  </a:moveTo>
                  <a:lnTo>
                    <a:pt x="1543" y="21"/>
                  </a:lnTo>
                  <a:lnTo>
                    <a:pt x="1547" y="17"/>
                  </a:lnTo>
                  <a:lnTo>
                    <a:pt x="1550" y="14"/>
                  </a:lnTo>
                  <a:lnTo>
                    <a:pt x="1550" y="7"/>
                  </a:lnTo>
                  <a:lnTo>
                    <a:pt x="1547" y="3"/>
                  </a:lnTo>
                  <a:lnTo>
                    <a:pt x="154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7" y="21"/>
                  </a:lnTo>
                  <a:lnTo>
                    <a:pt x="10" y="21"/>
                  </a:lnTo>
                  <a:lnTo>
                    <a:pt x="154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 noChangeAspect="1"/>
            </p:cNvSpPr>
            <p:nvPr/>
          </p:nvSpPr>
          <p:spPr bwMode="auto">
            <a:xfrm>
              <a:off x="4802" y="2470"/>
              <a:ext cx="371" cy="24"/>
            </a:xfrm>
            <a:custGeom>
              <a:avLst/>
              <a:gdLst>
                <a:gd name="T0" fmla="*/ 438 w 357"/>
                <a:gd name="T1" fmla="*/ 27 h 23"/>
                <a:gd name="T2" fmla="*/ 441 w 357"/>
                <a:gd name="T3" fmla="*/ 27 h 23"/>
                <a:gd name="T4" fmla="*/ 446 w 357"/>
                <a:gd name="T5" fmla="*/ 23 h 23"/>
                <a:gd name="T6" fmla="*/ 450 w 357"/>
                <a:gd name="T7" fmla="*/ 20 h 23"/>
                <a:gd name="T8" fmla="*/ 450 w 357"/>
                <a:gd name="T9" fmla="*/ 7 h 23"/>
                <a:gd name="T10" fmla="*/ 446 w 357"/>
                <a:gd name="T11" fmla="*/ 4 h 23"/>
                <a:gd name="T12" fmla="*/ 441 w 357"/>
                <a:gd name="T13" fmla="*/ 0 h 23"/>
                <a:gd name="T14" fmla="*/ 438 w 357"/>
                <a:gd name="T15" fmla="*/ 0 h 23"/>
                <a:gd name="T16" fmla="*/ 10 w 357"/>
                <a:gd name="T17" fmla="*/ 2 h 23"/>
                <a:gd name="T18" fmla="*/ 7 w 357"/>
                <a:gd name="T19" fmla="*/ 2 h 23"/>
                <a:gd name="T20" fmla="*/ 3 w 357"/>
                <a:gd name="T21" fmla="*/ 5 h 23"/>
                <a:gd name="T22" fmla="*/ 0 w 357"/>
                <a:gd name="T23" fmla="*/ 9 h 23"/>
                <a:gd name="T24" fmla="*/ 0 w 357"/>
                <a:gd name="T25" fmla="*/ 22 h 23"/>
                <a:gd name="T26" fmla="*/ 3 w 357"/>
                <a:gd name="T27" fmla="*/ 25 h 23"/>
                <a:gd name="T28" fmla="*/ 7 w 357"/>
                <a:gd name="T29" fmla="*/ 29 h 23"/>
                <a:gd name="T30" fmla="*/ 10 w 357"/>
                <a:gd name="T31" fmla="*/ 29 h 23"/>
                <a:gd name="T32" fmla="*/ 438 w 357"/>
                <a:gd name="T33" fmla="*/ 27 h 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7" h="23">
                  <a:moveTo>
                    <a:pt x="347" y="21"/>
                  </a:moveTo>
                  <a:lnTo>
                    <a:pt x="350" y="21"/>
                  </a:lnTo>
                  <a:lnTo>
                    <a:pt x="354" y="17"/>
                  </a:lnTo>
                  <a:lnTo>
                    <a:pt x="357" y="14"/>
                  </a:lnTo>
                  <a:lnTo>
                    <a:pt x="357" y="7"/>
                  </a:lnTo>
                  <a:lnTo>
                    <a:pt x="354" y="4"/>
                  </a:lnTo>
                  <a:lnTo>
                    <a:pt x="350" y="0"/>
                  </a:lnTo>
                  <a:lnTo>
                    <a:pt x="347" y="0"/>
                  </a:lnTo>
                  <a:lnTo>
                    <a:pt x="10" y="2"/>
                  </a:lnTo>
                  <a:lnTo>
                    <a:pt x="7" y="2"/>
                  </a:lnTo>
                  <a:lnTo>
                    <a:pt x="3" y="5"/>
                  </a:lnTo>
                  <a:lnTo>
                    <a:pt x="0" y="9"/>
                  </a:lnTo>
                  <a:lnTo>
                    <a:pt x="0" y="16"/>
                  </a:lnTo>
                  <a:lnTo>
                    <a:pt x="3" y="19"/>
                  </a:lnTo>
                  <a:lnTo>
                    <a:pt x="7" y="23"/>
                  </a:lnTo>
                  <a:lnTo>
                    <a:pt x="10" y="23"/>
                  </a:lnTo>
                  <a:lnTo>
                    <a:pt x="347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Oval 36"/>
            <p:cNvSpPr>
              <a:spLocks noChangeAspect="1" noChangeArrowheads="1"/>
            </p:cNvSpPr>
            <p:nvPr/>
          </p:nvSpPr>
          <p:spPr bwMode="auto">
            <a:xfrm>
              <a:off x="4709" y="2147"/>
              <a:ext cx="56" cy="5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Freeform 37"/>
            <p:cNvSpPr>
              <a:spLocks noChangeAspect="1"/>
            </p:cNvSpPr>
            <p:nvPr/>
          </p:nvSpPr>
          <p:spPr bwMode="auto">
            <a:xfrm>
              <a:off x="4699" y="2136"/>
              <a:ext cx="74" cy="74"/>
            </a:xfrm>
            <a:custGeom>
              <a:avLst/>
              <a:gdLst>
                <a:gd name="T0" fmla="*/ 5 w 71"/>
                <a:gd name="T1" fmla="*/ 66 h 71"/>
                <a:gd name="T2" fmla="*/ 7 w 71"/>
                <a:gd name="T3" fmla="*/ 73 h 71"/>
                <a:gd name="T4" fmla="*/ 22 w 71"/>
                <a:gd name="T5" fmla="*/ 83 h 71"/>
                <a:gd name="T6" fmla="*/ 22 w 71"/>
                <a:gd name="T7" fmla="*/ 82 h 71"/>
                <a:gd name="T8" fmla="*/ 25 w 71"/>
                <a:gd name="T9" fmla="*/ 85 h 71"/>
                <a:gd name="T10" fmla="*/ 59 w 71"/>
                <a:gd name="T11" fmla="*/ 80 h 71"/>
                <a:gd name="T12" fmla="*/ 66 w 71"/>
                <a:gd name="T13" fmla="*/ 83 h 71"/>
                <a:gd name="T14" fmla="*/ 73 w 71"/>
                <a:gd name="T15" fmla="*/ 82 h 71"/>
                <a:gd name="T16" fmla="*/ 84 w 71"/>
                <a:gd name="T17" fmla="*/ 70 h 71"/>
                <a:gd name="T18" fmla="*/ 82 w 71"/>
                <a:gd name="T19" fmla="*/ 70 h 71"/>
                <a:gd name="T20" fmla="*/ 85 w 71"/>
                <a:gd name="T21" fmla="*/ 66 h 71"/>
                <a:gd name="T22" fmla="*/ 88 w 71"/>
                <a:gd name="T23" fmla="*/ 35 h 71"/>
                <a:gd name="T24" fmla="*/ 84 w 71"/>
                <a:gd name="T25" fmla="*/ 25 h 71"/>
                <a:gd name="T26" fmla="*/ 82 w 71"/>
                <a:gd name="T27" fmla="*/ 19 h 71"/>
                <a:gd name="T28" fmla="*/ 70 w 71"/>
                <a:gd name="T29" fmla="*/ 5 h 71"/>
                <a:gd name="T30" fmla="*/ 70 w 71"/>
                <a:gd name="T31" fmla="*/ 7 h 71"/>
                <a:gd name="T32" fmla="*/ 66 w 71"/>
                <a:gd name="T33" fmla="*/ 3 h 71"/>
                <a:gd name="T34" fmla="*/ 25 w 71"/>
                <a:gd name="T35" fmla="*/ 5 h 71"/>
                <a:gd name="T36" fmla="*/ 20 w 71"/>
                <a:gd name="T37" fmla="*/ 7 h 71"/>
                <a:gd name="T38" fmla="*/ 5 w 71"/>
                <a:gd name="T39" fmla="*/ 21 h 71"/>
                <a:gd name="T40" fmla="*/ 7 w 71"/>
                <a:gd name="T41" fmla="*/ 21 h 71"/>
                <a:gd name="T42" fmla="*/ 4 w 71"/>
                <a:gd name="T43" fmla="*/ 25 h 71"/>
                <a:gd name="T44" fmla="*/ 23 w 71"/>
                <a:gd name="T45" fmla="*/ 42 h 71"/>
                <a:gd name="T46" fmla="*/ 27 w 71"/>
                <a:gd name="T47" fmla="*/ 35 h 71"/>
                <a:gd name="T48" fmla="*/ 32 w 71"/>
                <a:gd name="T49" fmla="*/ 28 h 71"/>
                <a:gd name="T50" fmla="*/ 34 w 71"/>
                <a:gd name="T51" fmla="*/ 26 h 71"/>
                <a:gd name="T52" fmla="*/ 42 w 71"/>
                <a:gd name="T53" fmla="*/ 25 h 71"/>
                <a:gd name="T54" fmla="*/ 50 w 71"/>
                <a:gd name="T55" fmla="*/ 23 h 71"/>
                <a:gd name="T56" fmla="*/ 54 w 71"/>
                <a:gd name="T57" fmla="*/ 26 h 71"/>
                <a:gd name="T58" fmla="*/ 60 w 71"/>
                <a:gd name="T59" fmla="*/ 32 h 71"/>
                <a:gd name="T60" fmla="*/ 63 w 71"/>
                <a:gd name="T61" fmla="*/ 33 h 71"/>
                <a:gd name="T62" fmla="*/ 66 w 71"/>
                <a:gd name="T63" fmla="*/ 42 h 71"/>
                <a:gd name="T64" fmla="*/ 70 w 71"/>
                <a:gd name="T65" fmla="*/ 55 h 71"/>
                <a:gd name="T66" fmla="*/ 69 w 71"/>
                <a:gd name="T67" fmla="*/ 50 h 71"/>
                <a:gd name="T68" fmla="*/ 63 w 71"/>
                <a:gd name="T69" fmla="*/ 53 h 71"/>
                <a:gd name="T70" fmla="*/ 57 w 71"/>
                <a:gd name="T71" fmla="*/ 60 h 71"/>
                <a:gd name="T72" fmla="*/ 55 w 71"/>
                <a:gd name="T73" fmla="*/ 63 h 71"/>
                <a:gd name="T74" fmla="*/ 50 w 71"/>
                <a:gd name="T75" fmla="*/ 66 h 71"/>
                <a:gd name="T76" fmla="*/ 32 w 71"/>
                <a:gd name="T77" fmla="*/ 80 h 71"/>
                <a:gd name="T78" fmla="*/ 42 w 71"/>
                <a:gd name="T79" fmla="*/ 67 h 71"/>
                <a:gd name="T80" fmla="*/ 35 w 71"/>
                <a:gd name="T81" fmla="*/ 63 h 71"/>
                <a:gd name="T82" fmla="*/ 29 w 71"/>
                <a:gd name="T83" fmla="*/ 57 h 71"/>
                <a:gd name="T84" fmla="*/ 27 w 71"/>
                <a:gd name="T85" fmla="*/ 55 h 71"/>
                <a:gd name="T86" fmla="*/ 25 w 71"/>
                <a:gd name="T87" fmla="*/ 50 h 71"/>
                <a:gd name="T88" fmla="*/ 0 w 71"/>
                <a:gd name="T89" fmla="*/ 48 h 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1" h="71">
                  <a:moveTo>
                    <a:pt x="0" y="36"/>
                  </a:moveTo>
                  <a:lnTo>
                    <a:pt x="4" y="52"/>
                  </a:lnTo>
                  <a:lnTo>
                    <a:pt x="5" y="52"/>
                  </a:lnTo>
                  <a:lnTo>
                    <a:pt x="5" y="55"/>
                  </a:lnTo>
                  <a:lnTo>
                    <a:pt x="7" y="55"/>
                  </a:lnTo>
                  <a:lnTo>
                    <a:pt x="7" y="57"/>
                  </a:lnTo>
                  <a:lnTo>
                    <a:pt x="9" y="57"/>
                  </a:lnTo>
                  <a:lnTo>
                    <a:pt x="5" y="55"/>
                  </a:lnTo>
                  <a:lnTo>
                    <a:pt x="16" y="65"/>
                  </a:lnTo>
                  <a:lnTo>
                    <a:pt x="14" y="62"/>
                  </a:lnTo>
                  <a:lnTo>
                    <a:pt x="14" y="64"/>
                  </a:lnTo>
                  <a:lnTo>
                    <a:pt x="16" y="64"/>
                  </a:lnTo>
                  <a:lnTo>
                    <a:pt x="16" y="65"/>
                  </a:lnTo>
                  <a:lnTo>
                    <a:pt x="19" y="65"/>
                  </a:lnTo>
                  <a:lnTo>
                    <a:pt x="19" y="67"/>
                  </a:lnTo>
                  <a:lnTo>
                    <a:pt x="31" y="71"/>
                  </a:lnTo>
                  <a:lnTo>
                    <a:pt x="29" y="69"/>
                  </a:lnTo>
                  <a:lnTo>
                    <a:pt x="47" y="62"/>
                  </a:lnTo>
                  <a:lnTo>
                    <a:pt x="43" y="67"/>
                  </a:lnTo>
                  <a:lnTo>
                    <a:pt x="52" y="67"/>
                  </a:lnTo>
                  <a:lnTo>
                    <a:pt x="52" y="65"/>
                  </a:lnTo>
                  <a:lnTo>
                    <a:pt x="55" y="65"/>
                  </a:lnTo>
                  <a:lnTo>
                    <a:pt x="55" y="64"/>
                  </a:lnTo>
                  <a:lnTo>
                    <a:pt x="57" y="64"/>
                  </a:lnTo>
                  <a:lnTo>
                    <a:pt x="57" y="62"/>
                  </a:lnTo>
                  <a:lnTo>
                    <a:pt x="55" y="65"/>
                  </a:lnTo>
                  <a:lnTo>
                    <a:pt x="66" y="55"/>
                  </a:lnTo>
                  <a:lnTo>
                    <a:pt x="62" y="57"/>
                  </a:lnTo>
                  <a:lnTo>
                    <a:pt x="64" y="57"/>
                  </a:lnTo>
                  <a:lnTo>
                    <a:pt x="64" y="55"/>
                  </a:lnTo>
                  <a:lnTo>
                    <a:pt x="66" y="55"/>
                  </a:lnTo>
                  <a:lnTo>
                    <a:pt x="66" y="52"/>
                  </a:lnTo>
                  <a:lnTo>
                    <a:pt x="67" y="52"/>
                  </a:lnTo>
                  <a:lnTo>
                    <a:pt x="67" y="43"/>
                  </a:lnTo>
                  <a:lnTo>
                    <a:pt x="62" y="46"/>
                  </a:lnTo>
                  <a:lnTo>
                    <a:pt x="69" y="29"/>
                  </a:lnTo>
                  <a:lnTo>
                    <a:pt x="71" y="31"/>
                  </a:lnTo>
                  <a:lnTo>
                    <a:pt x="67" y="19"/>
                  </a:lnTo>
                  <a:lnTo>
                    <a:pt x="66" y="19"/>
                  </a:lnTo>
                  <a:lnTo>
                    <a:pt x="66" y="15"/>
                  </a:lnTo>
                  <a:lnTo>
                    <a:pt x="64" y="15"/>
                  </a:lnTo>
                  <a:lnTo>
                    <a:pt x="64" y="13"/>
                  </a:lnTo>
                  <a:lnTo>
                    <a:pt x="62" y="13"/>
                  </a:lnTo>
                  <a:lnTo>
                    <a:pt x="66" y="15"/>
                  </a:lnTo>
                  <a:lnTo>
                    <a:pt x="55" y="5"/>
                  </a:lnTo>
                  <a:lnTo>
                    <a:pt x="57" y="8"/>
                  </a:lnTo>
                  <a:lnTo>
                    <a:pt x="57" y="7"/>
                  </a:lnTo>
                  <a:lnTo>
                    <a:pt x="55" y="7"/>
                  </a:lnTo>
                  <a:lnTo>
                    <a:pt x="55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36" y="0"/>
                  </a:lnTo>
                  <a:lnTo>
                    <a:pt x="19" y="3"/>
                  </a:lnTo>
                  <a:lnTo>
                    <a:pt x="19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14" y="7"/>
                  </a:lnTo>
                  <a:lnTo>
                    <a:pt x="14" y="8"/>
                  </a:lnTo>
                  <a:lnTo>
                    <a:pt x="16" y="5"/>
                  </a:lnTo>
                  <a:lnTo>
                    <a:pt x="5" y="15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5" y="19"/>
                  </a:lnTo>
                  <a:lnTo>
                    <a:pt x="4" y="19"/>
                  </a:lnTo>
                  <a:lnTo>
                    <a:pt x="0" y="36"/>
                  </a:lnTo>
                  <a:lnTo>
                    <a:pt x="21" y="36"/>
                  </a:lnTo>
                  <a:lnTo>
                    <a:pt x="17" y="33"/>
                  </a:lnTo>
                  <a:lnTo>
                    <a:pt x="19" y="33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3" y="27"/>
                  </a:lnTo>
                  <a:lnTo>
                    <a:pt x="26" y="22"/>
                  </a:lnTo>
                  <a:lnTo>
                    <a:pt x="23" y="26"/>
                  </a:lnTo>
                  <a:lnTo>
                    <a:pt x="28" y="22"/>
                  </a:lnTo>
                  <a:lnTo>
                    <a:pt x="28" y="20"/>
                  </a:lnTo>
                  <a:lnTo>
                    <a:pt x="29" y="20"/>
                  </a:lnTo>
                  <a:lnTo>
                    <a:pt x="29" y="19"/>
                  </a:lnTo>
                  <a:lnTo>
                    <a:pt x="33" y="19"/>
                  </a:lnTo>
                  <a:lnTo>
                    <a:pt x="33" y="17"/>
                  </a:lnTo>
                  <a:lnTo>
                    <a:pt x="36" y="20"/>
                  </a:lnTo>
                  <a:lnTo>
                    <a:pt x="38" y="17"/>
                  </a:lnTo>
                  <a:lnTo>
                    <a:pt x="38" y="19"/>
                  </a:lnTo>
                  <a:lnTo>
                    <a:pt x="42" y="19"/>
                  </a:lnTo>
                  <a:lnTo>
                    <a:pt x="42" y="20"/>
                  </a:lnTo>
                  <a:lnTo>
                    <a:pt x="43" y="20"/>
                  </a:lnTo>
                  <a:lnTo>
                    <a:pt x="43" y="22"/>
                  </a:lnTo>
                  <a:lnTo>
                    <a:pt x="48" y="26"/>
                  </a:lnTo>
                  <a:lnTo>
                    <a:pt x="45" y="22"/>
                  </a:lnTo>
                  <a:lnTo>
                    <a:pt x="48" y="27"/>
                  </a:lnTo>
                  <a:lnTo>
                    <a:pt x="50" y="27"/>
                  </a:lnTo>
                  <a:lnTo>
                    <a:pt x="50" y="29"/>
                  </a:lnTo>
                  <a:lnTo>
                    <a:pt x="52" y="29"/>
                  </a:lnTo>
                  <a:lnTo>
                    <a:pt x="52" y="33"/>
                  </a:lnTo>
                  <a:lnTo>
                    <a:pt x="54" y="33"/>
                  </a:lnTo>
                  <a:lnTo>
                    <a:pt x="50" y="38"/>
                  </a:lnTo>
                  <a:lnTo>
                    <a:pt x="55" y="43"/>
                  </a:lnTo>
                  <a:lnTo>
                    <a:pt x="62" y="26"/>
                  </a:lnTo>
                  <a:lnTo>
                    <a:pt x="54" y="29"/>
                  </a:lnTo>
                  <a:lnTo>
                    <a:pt x="54" y="38"/>
                  </a:lnTo>
                  <a:lnTo>
                    <a:pt x="52" y="38"/>
                  </a:lnTo>
                  <a:lnTo>
                    <a:pt x="52" y="41"/>
                  </a:lnTo>
                  <a:lnTo>
                    <a:pt x="50" y="41"/>
                  </a:lnTo>
                  <a:lnTo>
                    <a:pt x="50" y="43"/>
                  </a:lnTo>
                  <a:lnTo>
                    <a:pt x="48" y="43"/>
                  </a:lnTo>
                  <a:lnTo>
                    <a:pt x="45" y="48"/>
                  </a:lnTo>
                  <a:lnTo>
                    <a:pt x="48" y="45"/>
                  </a:lnTo>
                  <a:lnTo>
                    <a:pt x="43" y="48"/>
                  </a:lnTo>
                  <a:lnTo>
                    <a:pt x="43" y="50"/>
                  </a:lnTo>
                  <a:lnTo>
                    <a:pt x="42" y="50"/>
                  </a:lnTo>
                  <a:lnTo>
                    <a:pt x="42" y="52"/>
                  </a:lnTo>
                  <a:lnTo>
                    <a:pt x="38" y="52"/>
                  </a:lnTo>
                  <a:lnTo>
                    <a:pt x="38" y="53"/>
                  </a:lnTo>
                  <a:lnTo>
                    <a:pt x="29" y="53"/>
                  </a:lnTo>
                  <a:lnTo>
                    <a:pt x="26" y="62"/>
                  </a:lnTo>
                  <a:lnTo>
                    <a:pt x="43" y="55"/>
                  </a:lnTo>
                  <a:lnTo>
                    <a:pt x="38" y="50"/>
                  </a:lnTo>
                  <a:lnTo>
                    <a:pt x="33" y="53"/>
                  </a:lnTo>
                  <a:lnTo>
                    <a:pt x="33" y="52"/>
                  </a:lnTo>
                  <a:lnTo>
                    <a:pt x="29" y="52"/>
                  </a:lnTo>
                  <a:lnTo>
                    <a:pt x="29" y="50"/>
                  </a:lnTo>
                  <a:lnTo>
                    <a:pt x="28" y="50"/>
                  </a:lnTo>
                  <a:lnTo>
                    <a:pt x="28" y="48"/>
                  </a:lnTo>
                  <a:lnTo>
                    <a:pt x="23" y="45"/>
                  </a:lnTo>
                  <a:lnTo>
                    <a:pt x="26" y="48"/>
                  </a:lnTo>
                  <a:lnTo>
                    <a:pt x="23" y="43"/>
                  </a:lnTo>
                  <a:lnTo>
                    <a:pt x="21" y="43"/>
                  </a:lnTo>
                  <a:lnTo>
                    <a:pt x="21" y="41"/>
                  </a:lnTo>
                  <a:lnTo>
                    <a:pt x="19" y="41"/>
                  </a:lnTo>
                  <a:lnTo>
                    <a:pt x="19" y="38"/>
                  </a:lnTo>
                  <a:lnTo>
                    <a:pt x="17" y="38"/>
                  </a:lnTo>
                  <a:lnTo>
                    <a:pt x="21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 noChangeAspect="1"/>
            </p:cNvSpPr>
            <p:nvPr/>
          </p:nvSpPr>
          <p:spPr bwMode="auto">
            <a:xfrm>
              <a:off x="4728" y="1076"/>
              <a:ext cx="440" cy="22"/>
            </a:xfrm>
            <a:custGeom>
              <a:avLst/>
              <a:gdLst>
                <a:gd name="T0" fmla="*/ 10 w 423"/>
                <a:gd name="T1" fmla="*/ 0 h 21"/>
                <a:gd name="T2" fmla="*/ 7 w 423"/>
                <a:gd name="T3" fmla="*/ 0 h 21"/>
                <a:gd name="T4" fmla="*/ 3 w 423"/>
                <a:gd name="T5" fmla="*/ 3 h 21"/>
                <a:gd name="T6" fmla="*/ 0 w 423"/>
                <a:gd name="T7" fmla="*/ 7 h 21"/>
                <a:gd name="T8" fmla="*/ 0 w 423"/>
                <a:gd name="T9" fmla="*/ 20 h 21"/>
                <a:gd name="T10" fmla="*/ 3 w 423"/>
                <a:gd name="T11" fmla="*/ 23 h 21"/>
                <a:gd name="T12" fmla="*/ 7 w 423"/>
                <a:gd name="T13" fmla="*/ 27 h 21"/>
                <a:gd name="T14" fmla="*/ 527 w 423"/>
                <a:gd name="T15" fmla="*/ 27 h 21"/>
                <a:gd name="T16" fmla="*/ 533 w 423"/>
                <a:gd name="T17" fmla="*/ 23 h 21"/>
                <a:gd name="T18" fmla="*/ 536 w 423"/>
                <a:gd name="T19" fmla="*/ 20 h 21"/>
                <a:gd name="T20" fmla="*/ 536 w 423"/>
                <a:gd name="T21" fmla="*/ 7 h 21"/>
                <a:gd name="T22" fmla="*/ 533 w 423"/>
                <a:gd name="T23" fmla="*/ 3 h 21"/>
                <a:gd name="T24" fmla="*/ 527 w 423"/>
                <a:gd name="T25" fmla="*/ 0 h 21"/>
                <a:gd name="T26" fmla="*/ 523 w 423"/>
                <a:gd name="T27" fmla="*/ 0 h 21"/>
                <a:gd name="T28" fmla="*/ 10 w 423"/>
                <a:gd name="T29" fmla="*/ 0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3" h="21">
                  <a:moveTo>
                    <a:pt x="10" y="0"/>
                  </a:move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7" y="21"/>
                  </a:lnTo>
                  <a:lnTo>
                    <a:pt x="416" y="21"/>
                  </a:lnTo>
                  <a:lnTo>
                    <a:pt x="420" y="17"/>
                  </a:lnTo>
                  <a:lnTo>
                    <a:pt x="423" y="14"/>
                  </a:lnTo>
                  <a:lnTo>
                    <a:pt x="423" y="7"/>
                  </a:lnTo>
                  <a:lnTo>
                    <a:pt x="420" y="3"/>
                  </a:lnTo>
                  <a:lnTo>
                    <a:pt x="416" y="0"/>
                  </a:lnTo>
                  <a:lnTo>
                    <a:pt x="413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 noChangeAspect="1"/>
            </p:cNvSpPr>
            <p:nvPr/>
          </p:nvSpPr>
          <p:spPr bwMode="auto">
            <a:xfrm>
              <a:off x="5049" y="1076"/>
              <a:ext cx="119" cy="47"/>
            </a:xfrm>
            <a:custGeom>
              <a:avLst/>
              <a:gdLst>
                <a:gd name="T0" fmla="*/ 139 w 114"/>
                <a:gd name="T1" fmla="*/ 27 h 45"/>
                <a:gd name="T2" fmla="*/ 144 w 114"/>
                <a:gd name="T3" fmla="*/ 23 h 45"/>
                <a:gd name="T4" fmla="*/ 147 w 114"/>
                <a:gd name="T5" fmla="*/ 20 h 45"/>
                <a:gd name="T6" fmla="*/ 147 w 114"/>
                <a:gd name="T7" fmla="*/ 7 h 45"/>
                <a:gd name="T8" fmla="*/ 144 w 114"/>
                <a:gd name="T9" fmla="*/ 3 h 45"/>
                <a:gd name="T10" fmla="*/ 139 w 114"/>
                <a:gd name="T11" fmla="*/ 0 h 45"/>
                <a:gd name="T12" fmla="*/ 129 w 114"/>
                <a:gd name="T13" fmla="*/ 0 h 45"/>
                <a:gd name="T14" fmla="*/ 7 w 114"/>
                <a:gd name="T15" fmla="*/ 30 h 45"/>
                <a:gd name="T16" fmla="*/ 4 w 114"/>
                <a:gd name="T17" fmla="*/ 34 h 45"/>
                <a:gd name="T18" fmla="*/ 0 w 114"/>
                <a:gd name="T19" fmla="*/ 40 h 45"/>
                <a:gd name="T20" fmla="*/ 0 w 114"/>
                <a:gd name="T21" fmla="*/ 50 h 45"/>
                <a:gd name="T22" fmla="*/ 4 w 114"/>
                <a:gd name="T23" fmla="*/ 53 h 45"/>
                <a:gd name="T24" fmla="*/ 7 w 114"/>
                <a:gd name="T25" fmla="*/ 57 h 45"/>
                <a:gd name="T26" fmla="*/ 20 w 114"/>
                <a:gd name="T27" fmla="*/ 57 h 45"/>
                <a:gd name="T28" fmla="*/ 139 w 114"/>
                <a:gd name="T29" fmla="*/ 27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4" h="45">
                  <a:moveTo>
                    <a:pt x="107" y="21"/>
                  </a:moveTo>
                  <a:lnTo>
                    <a:pt x="111" y="17"/>
                  </a:lnTo>
                  <a:lnTo>
                    <a:pt x="114" y="14"/>
                  </a:lnTo>
                  <a:lnTo>
                    <a:pt x="114" y="7"/>
                  </a:lnTo>
                  <a:lnTo>
                    <a:pt x="111" y="3"/>
                  </a:lnTo>
                  <a:lnTo>
                    <a:pt x="107" y="0"/>
                  </a:lnTo>
                  <a:lnTo>
                    <a:pt x="100" y="0"/>
                  </a:lnTo>
                  <a:lnTo>
                    <a:pt x="7" y="24"/>
                  </a:lnTo>
                  <a:lnTo>
                    <a:pt x="4" y="28"/>
                  </a:lnTo>
                  <a:lnTo>
                    <a:pt x="0" y="31"/>
                  </a:lnTo>
                  <a:lnTo>
                    <a:pt x="0" y="38"/>
                  </a:lnTo>
                  <a:lnTo>
                    <a:pt x="4" y="41"/>
                  </a:lnTo>
                  <a:lnTo>
                    <a:pt x="7" y="45"/>
                  </a:lnTo>
                  <a:lnTo>
                    <a:pt x="14" y="45"/>
                  </a:lnTo>
                  <a:lnTo>
                    <a:pt x="107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 noChangeAspect="1"/>
            </p:cNvSpPr>
            <p:nvPr/>
          </p:nvSpPr>
          <p:spPr bwMode="auto">
            <a:xfrm>
              <a:off x="5049" y="1053"/>
              <a:ext cx="119" cy="45"/>
            </a:xfrm>
            <a:custGeom>
              <a:avLst/>
              <a:gdLst>
                <a:gd name="T0" fmla="*/ 132 w 114"/>
                <a:gd name="T1" fmla="*/ 55 h 43"/>
                <a:gd name="T2" fmla="*/ 139 w 114"/>
                <a:gd name="T3" fmla="*/ 55 h 43"/>
                <a:gd name="T4" fmla="*/ 144 w 114"/>
                <a:gd name="T5" fmla="*/ 51 h 43"/>
                <a:gd name="T6" fmla="*/ 145 w 114"/>
                <a:gd name="T7" fmla="*/ 50 h 43"/>
                <a:gd name="T8" fmla="*/ 147 w 114"/>
                <a:gd name="T9" fmla="*/ 46 h 43"/>
                <a:gd name="T10" fmla="*/ 147 w 114"/>
                <a:gd name="T11" fmla="*/ 37 h 43"/>
                <a:gd name="T12" fmla="*/ 144 w 114"/>
                <a:gd name="T13" fmla="*/ 31 h 43"/>
                <a:gd name="T14" fmla="*/ 141 w 114"/>
                <a:gd name="T15" fmla="*/ 30 h 43"/>
                <a:gd name="T16" fmla="*/ 138 w 114"/>
                <a:gd name="T17" fmla="*/ 28 h 43"/>
                <a:gd name="T18" fmla="*/ 18 w 114"/>
                <a:gd name="T19" fmla="*/ 0 h 43"/>
                <a:gd name="T20" fmla="*/ 7 w 114"/>
                <a:gd name="T21" fmla="*/ 0 h 43"/>
                <a:gd name="T22" fmla="*/ 4 w 114"/>
                <a:gd name="T23" fmla="*/ 3 h 43"/>
                <a:gd name="T24" fmla="*/ 2 w 114"/>
                <a:gd name="T25" fmla="*/ 5 h 43"/>
                <a:gd name="T26" fmla="*/ 0 w 114"/>
                <a:gd name="T27" fmla="*/ 8 h 43"/>
                <a:gd name="T28" fmla="*/ 0 w 114"/>
                <a:gd name="T29" fmla="*/ 19 h 43"/>
                <a:gd name="T30" fmla="*/ 4 w 114"/>
                <a:gd name="T31" fmla="*/ 23 h 43"/>
                <a:gd name="T32" fmla="*/ 5 w 114"/>
                <a:gd name="T33" fmla="*/ 25 h 43"/>
                <a:gd name="T34" fmla="*/ 9 w 114"/>
                <a:gd name="T35" fmla="*/ 26 h 43"/>
                <a:gd name="T36" fmla="*/ 132 w 114"/>
                <a:gd name="T37" fmla="*/ 55 h 4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43">
                  <a:moveTo>
                    <a:pt x="102" y="43"/>
                  </a:moveTo>
                  <a:lnTo>
                    <a:pt x="107" y="43"/>
                  </a:lnTo>
                  <a:lnTo>
                    <a:pt x="111" y="39"/>
                  </a:lnTo>
                  <a:lnTo>
                    <a:pt x="112" y="38"/>
                  </a:lnTo>
                  <a:lnTo>
                    <a:pt x="114" y="34"/>
                  </a:lnTo>
                  <a:lnTo>
                    <a:pt x="114" y="29"/>
                  </a:lnTo>
                  <a:lnTo>
                    <a:pt x="111" y="25"/>
                  </a:lnTo>
                  <a:lnTo>
                    <a:pt x="109" y="24"/>
                  </a:lnTo>
                  <a:lnTo>
                    <a:pt x="106" y="2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3"/>
                  </a:lnTo>
                  <a:lnTo>
                    <a:pt x="4" y="17"/>
                  </a:lnTo>
                  <a:lnTo>
                    <a:pt x="5" y="19"/>
                  </a:lnTo>
                  <a:lnTo>
                    <a:pt x="9" y="20"/>
                  </a:lnTo>
                  <a:lnTo>
                    <a:pt x="102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 noChangeAspect="1"/>
            </p:cNvSpPr>
            <p:nvPr/>
          </p:nvSpPr>
          <p:spPr bwMode="auto">
            <a:xfrm>
              <a:off x="4857" y="1033"/>
              <a:ext cx="110" cy="109"/>
            </a:xfrm>
            <a:custGeom>
              <a:avLst/>
              <a:gdLst>
                <a:gd name="T0" fmla="*/ 130 w 106"/>
                <a:gd name="T1" fmla="*/ 8 h 105"/>
                <a:gd name="T2" fmla="*/ 132 w 106"/>
                <a:gd name="T3" fmla="*/ 8 h 105"/>
                <a:gd name="T4" fmla="*/ 132 w 106"/>
                <a:gd name="T5" fmla="*/ 3 h 105"/>
                <a:gd name="T6" fmla="*/ 130 w 106"/>
                <a:gd name="T7" fmla="*/ 1 h 105"/>
                <a:gd name="T8" fmla="*/ 130 w 106"/>
                <a:gd name="T9" fmla="*/ 0 h 105"/>
                <a:gd name="T10" fmla="*/ 123 w 106"/>
                <a:gd name="T11" fmla="*/ 0 h 105"/>
                <a:gd name="T12" fmla="*/ 121 w 106"/>
                <a:gd name="T13" fmla="*/ 1 h 105"/>
                <a:gd name="T14" fmla="*/ 2 w 106"/>
                <a:gd name="T15" fmla="*/ 120 h 105"/>
                <a:gd name="T16" fmla="*/ 0 w 106"/>
                <a:gd name="T17" fmla="*/ 122 h 105"/>
                <a:gd name="T18" fmla="*/ 0 w 106"/>
                <a:gd name="T19" fmla="*/ 129 h 105"/>
                <a:gd name="T20" fmla="*/ 2 w 106"/>
                <a:gd name="T21" fmla="*/ 129 h 105"/>
                <a:gd name="T22" fmla="*/ 4 w 106"/>
                <a:gd name="T23" fmla="*/ 131 h 105"/>
                <a:gd name="T24" fmla="*/ 9 w 106"/>
                <a:gd name="T25" fmla="*/ 131 h 105"/>
                <a:gd name="T26" fmla="*/ 9 w 106"/>
                <a:gd name="T27" fmla="*/ 129 h 105"/>
                <a:gd name="T28" fmla="*/ 130 w 106"/>
                <a:gd name="T29" fmla="*/ 8 h 1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6" h="105">
                  <a:moveTo>
                    <a:pt x="104" y="8"/>
                  </a:moveTo>
                  <a:lnTo>
                    <a:pt x="106" y="8"/>
                  </a:lnTo>
                  <a:lnTo>
                    <a:pt x="106" y="3"/>
                  </a:lnTo>
                  <a:lnTo>
                    <a:pt x="104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7" y="1"/>
                  </a:lnTo>
                  <a:lnTo>
                    <a:pt x="2" y="96"/>
                  </a:lnTo>
                  <a:lnTo>
                    <a:pt x="0" y="98"/>
                  </a:lnTo>
                  <a:lnTo>
                    <a:pt x="0" y="103"/>
                  </a:lnTo>
                  <a:lnTo>
                    <a:pt x="2" y="103"/>
                  </a:lnTo>
                  <a:lnTo>
                    <a:pt x="4" y="105"/>
                  </a:lnTo>
                  <a:lnTo>
                    <a:pt x="9" y="105"/>
                  </a:lnTo>
                  <a:lnTo>
                    <a:pt x="9" y="103"/>
                  </a:lnTo>
                  <a:lnTo>
                    <a:pt x="104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2"/>
            <p:cNvSpPr>
              <a:spLocks noChangeAspect="1" noChangeArrowheads="1"/>
            </p:cNvSpPr>
            <p:nvPr/>
          </p:nvSpPr>
          <p:spPr bwMode="auto">
            <a:xfrm>
              <a:off x="4841" y="932"/>
              <a:ext cx="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n</a:t>
              </a:r>
              <a:endParaRPr lang="en-US" altLang="zh-CN" sz="2800"/>
            </a:p>
          </p:txBody>
        </p:sp>
        <p:sp>
          <p:nvSpPr>
            <p:cNvPr id="43" name="Freeform 43"/>
            <p:cNvSpPr>
              <a:spLocks noChangeAspect="1"/>
            </p:cNvSpPr>
            <p:nvPr/>
          </p:nvSpPr>
          <p:spPr bwMode="auto">
            <a:xfrm>
              <a:off x="4094" y="1606"/>
              <a:ext cx="21" cy="192"/>
            </a:xfrm>
            <a:custGeom>
              <a:avLst/>
              <a:gdLst>
                <a:gd name="T0" fmla="*/ 26 w 20"/>
                <a:gd name="T1" fmla="*/ 10 h 185"/>
                <a:gd name="T2" fmla="*/ 26 w 20"/>
                <a:gd name="T3" fmla="*/ 7 h 185"/>
                <a:gd name="T4" fmla="*/ 23 w 20"/>
                <a:gd name="T5" fmla="*/ 3 h 185"/>
                <a:gd name="T6" fmla="*/ 19 w 20"/>
                <a:gd name="T7" fmla="*/ 0 h 185"/>
                <a:gd name="T8" fmla="*/ 7 w 20"/>
                <a:gd name="T9" fmla="*/ 0 h 185"/>
                <a:gd name="T10" fmla="*/ 3 w 20"/>
                <a:gd name="T11" fmla="*/ 3 h 185"/>
                <a:gd name="T12" fmla="*/ 0 w 20"/>
                <a:gd name="T13" fmla="*/ 7 h 185"/>
                <a:gd name="T14" fmla="*/ 0 w 20"/>
                <a:gd name="T15" fmla="*/ 223 h 185"/>
                <a:gd name="T16" fmla="*/ 3 w 20"/>
                <a:gd name="T17" fmla="*/ 226 h 185"/>
                <a:gd name="T18" fmla="*/ 7 w 20"/>
                <a:gd name="T19" fmla="*/ 231 h 185"/>
                <a:gd name="T20" fmla="*/ 19 w 20"/>
                <a:gd name="T21" fmla="*/ 231 h 185"/>
                <a:gd name="T22" fmla="*/ 23 w 20"/>
                <a:gd name="T23" fmla="*/ 226 h 185"/>
                <a:gd name="T24" fmla="*/ 26 w 20"/>
                <a:gd name="T25" fmla="*/ 223 h 185"/>
                <a:gd name="T26" fmla="*/ 26 w 20"/>
                <a:gd name="T27" fmla="*/ 218 h 185"/>
                <a:gd name="T28" fmla="*/ 26 w 20"/>
                <a:gd name="T29" fmla="*/ 10 h 18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85">
                  <a:moveTo>
                    <a:pt x="20" y="10"/>
                  </a:moveTo>
                  <a:lnTo>
                    <a:pt x="20" y="7"/>
                  </a:lnTo>
                  <a:lnTo>
                    <a:pt x="17" y="3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78"/>
                  </a:lnTo>
                  <a:lnTo>
                    <a:pt x="3" y="181"/>
                  </a:lnTo>
                  <a:lnTo>
                    <a:pt x="7" y="185"/>
                  </a:lnTo>
                  <a:lnTo>
                    <a:pt x="13" y="185"/>
                  </a:lnTo>
                  <a:lnTo>
                    <a:pt x="17" y="181"/>
                  </a:lnTo>
                  <a:lnTo>
                    <a:pt x="20" y="178"/>
                  </a:lnTo>
                  <a:lnTo>
                    <a:pt x="20" y="174"/>
                  </a:lnTo>
                  <a:lnTo>
                    <a:pt x="2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4"/>
            <p:cNvSpPr>
              <a:spLocks noChangeAspect="1"/>
            </p:cNvSpPr>
            <p:nvPr/>
          </p:nvSpPr>
          <p:spPr bwMode="auto">
            <a:xfrm>
              <a:off x="4087" y="1710"/>
              <a:ext cx="47" cy="96"/>
            </a:xfrm>
            <a:custGeom>
              <a:avLst/>
              <a:gdLst>
                <a:gd name="T0" fmla="*/ 0 w 46"/>
                <a:gd name="T1" fmla="*/ 101 h 92"/>
                <a:gd name="T2" fmla="*/ 0 w 46"/>
                <a:gd name="T3" fmla="*/ 107 h 92"/>
                <a:gd name="T4" fmla="*/ 1 w 46"/>
                <a:gd name="T5" fmla="*/ 111 h 92"/>
                <a:gd name="T6" fmla="*/ 1 w 46"/>
                <a:gd name="T7" fmla="*/ 114 h 92"/>
                <a:gd name="T8" fmla="*/ 5 w 46"/>
                <a:gd name="T9" fmla="*/ 116 h 92"/>
                <a:gd name="T10" fmla="*/ 7 w 46"/>
                <a:gd name="T11" fmla="*/ 119 h 92"/>
                <a:gd name="T12" fmla="*/ 12 w 46"/>
                <a:gd name="T13" fmla="*/ 119 h 92"/>
                <a:gd name="T14" fmla="*/ 15 w 46"/>
                <a:gd name="T15" fmla="*/ 116 h 92"/>
                <a:gd name="T16" fmla="*/ 17 w 46"/>
                <a:gd name="T17" fmla="*/ 116 h 92"/>
                <a:gd name="T18" fmla="*/ 19 w 46"/>
                <a:gd name="T19" fmla="*/ 111 h 92"/>
                <a:gd name="T20" fmla="*/ 20 w 46"/>
                <a:gd name="T21" fmla="*/ 110 h 92"/>
                <a:gd name="T22" fmla="*/ 52 w 46"/>
                <a:gd name="T23" fmla="*/ 20 h 92"/>
                <a:gd name="T24" fmla="*/ 52 w 46"/>
                <a:gd name="T25" fmla="*/ 9 h 92"/>
                <a:gd name="T26" fmla="*/ 51 w 46"/>
                <a:gd name="T27" fmla="*/ 5 h 92"/>
                <a:gd name="T28" fmla="*/ 51 w 46"/>
                <a:gd name="T29" fmla="*/ 4 h 92"/>
                <a:gd name="T30" fmla="*/ 47 w 46"/>
                <a:gd name="T31" fmla="*/ 2 h 92"/>
                <a:gd name="T32" fmla="*/ 45 w 46"/>
                <a:gd name="T33" fmla="*/ 0 h 92"/>
                <a:gd name="T34" fmla="*/ 40 w 46"/>
                <a:gd name="T35" fmla="*/ 0 h 92"/>
                <a:gd name="T36" fmla="*/ 37 w 46"/>
                <a:gd name="T37" fmla="*/ 2 h 92"/>
                <a:gd name="T38" fmla="*/ 35 w 46"/>
                <a:gd name="T39" fmla="*/ 2 h 92"/>
                <a:gd name="T40" fmla="*/ 33 w 46"/>
                <a:gd name="T41" fmla="*/ 5 h 92"/>
                <a:gd name="T42" fmla="*/ 32 w 46"/>
                <a:gd name="T43" fmla="*/ 7 h 92"/>
                <a:gd name="T44" fmla="*/ 0 w 46"/>
                <a:gd name="T45" fmla="*/ 101 h 9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" h="92">
                  <a:moveTo>
                    <a:pt x="0" y="78"/>
                  </a:moveTo>
                  <a:lnTo>
                    <a:pt x="0" y="83"/>
                  </a:lnTo>
                  <a:lnTo>
                    <a:pt x="1" y="86"/>
                  </a:lnTo>
                  <a:lnTo>
                    <a:pt x="1" y="88"/>
                  </a:lnTo>
                  <a:lnTo>
                    <a:pt x="5" y="90"/>
                  </a:lnTo>
                  <a:lnTo>
                    <a:pt x="7" y="92"/>
                  </a:lnTo>
                  <a:lnTo>
                    <a:pt x="12" y="92"/>
                  </a:lnTo>
                  <a:lnTo>
                    <a:pt x="15" y="90"/>
                  </a:lnTo>
                  <a:lnTo>
                    <a:pt x="17" y="90"/>
                  </a:lnTo>
                  <a:lnTo>
                    <a:pt x="19" y="86"/>
                  </a:lnTo>
                  <a:lnTo>
                    <a:pt x="20" y="85"/>
                  </a:lnTo>
                  <a:lnTo>
                    <a:pt x="46" y="14"/>
                  </a:lnTo>
                  <a:lnTo>
                    <a:pt x="46" y="9"/>
                  </a:lnTo>
                  <a:lnTo>
                    <a:pt x="45" y="5"/>
                  </a:lnTo>
                  <a:lnTo>
                    <a:pt x="45" y="4"/>
                  </a:lnTo>
                  <a:lnTo>
                    <a:pt x="41" y="2"/>
                  </a:lnTo>
                  <a:lnTo>
                    <a:pt x="39" y="0"/>
                  </a:lnTo>
                  <a:lnTo>
                    <a:pt x="34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5"/>
                  </a:lnTo>
                  <a:lnTo>
                    <a:pt x="26" y="7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5"/>
            <p:cNvSpPr>
              <a:spLocks noChangeAspect="1"/>
            </p:cNvSpPr>
            <p:nvPr/>
          </p:nvSpPr>
          <p:spPr bwMode="auto">
            <a:xfrm>
              <a:off x="4065" y="1710"/>
              <a:ext cx="42" cy="88"/>
            </a:xfrm>
            <a:custGeom>
              <a:avLst/>
              <a:gdLst>
                <a:gd name="T0" fmla="*/ 27 w 41"/>
                <a:gd name="T1" fmla="*/ 96 h 85"/>
                <a:gd name="T2" fmla="*/ 30 w 41"/>
                <a:gd name="T3" fmla="*/ 99 h 85"/>
                <a:gd name="T4" fmla="*/ 32 w 41"/>
                <a:gd name="T5" fmla="*/ 101 h 85"/>
                <a:gd name="T6" fmla="*/ 35 w 41"/>
                <a:gd name="T7" fmla="*/ 104 h 85"/>
                <a:gd name="T8" fmla="*/ 41 w 41"/>
                <a:gd name="T9" fmla="*/ 104 h 85"/>
                <a:gd name="T10" fmla="*/ 44 w 41"/>
                <a:gd name="T11" fmla="*/ 99 h 85"/>
                <a:gd name="T12" fmla="*/ 46 w 41"/>
                <a:gd name="T13" fmla="*/ 98 h 85"/>
                <a:gd name="T14" fmla="*/ 47 w 41"/>
                <a:gd name="T15" fmla="*/ 94 h 85"/>
                <a:gd name="T16" fmla="*/ 47 w 41"/>
                <a:gd name="T17" fmla="*/ 89 h 85"/>
                <a:gd name="T18" fmla="*/ 27 w 41"/>
                <a:gd name="T19" fmla="*/ 7 h 85"/>
                <a:gd name="T20" fmla="*/ 17 w 41"/>
                <a:gd name="T21" fmla="*/ 4 h 85"/>
                <a:gd name="T22" fmla="*/ 16 w 41"/>
                <a:gd name="T23" fmla="*/ 2 h 85"/>
                <a:gd name="T24" fmla="*/ 12 w 41"/>
                <a:gd name="T25" fmla="*/ 0 h 85"/>
                <a:gd name="T26" fmla="*/ 7 w 41"/>
                <a:gd name="T27" fmla="*/ 0 h 85"/>
                <a:gd name="T28" fmla="*/ 3 w 41"/>
                <a:gd name="T29" fmla="*/ 4 h 85"/>
                <a:gd name="T30" fmla="*/ 2 w 41"/>
                <a:gd name="T31" fmla="*/ 5 h 85"/>
                <a:gd name="T32" fmla="*/ 0 w 41"/>
                <a:gd name="T33" fmla="*/ 9 h 85"/>
                <a:gd name="T34" fmla="*/ 0 w 41"/>
                <a:gd name="T35" fmla="*/ 14 h 85"/>
                <a:gd name="T36" fmla="*/ 27 w 41"/>
                <a:gd name="T37" fmla="*/ 96 h 8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85">
                  <a:moveTo>
                    <a:pt x="21" y="78"/>
                  </a:moveTo>
                  <a:lnTo>
                    <a:pt x="24" y="81"/>
                  </a:lnTo>
                  <a:lnTo>
                    <a:pt x="26" y="83"/>
                  </a:lnTo>
                  <a:lnTo>
                    <a:pt x="29" y="85"/>
                  </a:lnTo>
                  <a:lnTo>
                    <a:pt x="35" y="85"/>
                  </a:lnTo>
                  <a:lnTo>
                    <a:pt x="38" y="81"/>
                  </a:lnTo>
                  <a:lnTo>
                    <a:pt x="40" y="80"/>
                  </a:lnTo>
                  <a:lnTo>
                    <a:pt x="41" y="76"/>
                  </a:lnTo>
                  <a:lnTo>
                    <a:pt x="41" y="71"/>
                  </a:lnTo>
                  <a:lnTo>
                    <a:pt x="21" y="7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4"/>
                  </a:lnTo>
                  <a:lnTo>
                    <a:pt x="21" y="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6"/>
            <p:cNvSpPr>
              <a:spLocks noChangeAspect="1"/>
            </p:cNvSpPr>
            <p:nvPr/>
          </p:nvSpPr>
          <p:spPr bwMode="auto">
            <a:xfrm>
              <a:off x="5320" y="711"/>
              <a:ext cx="22" cy="180"/>
            </a:xfrm>
            <a:custGeom>
              <a:avLst/>
              <a:gdLst>
                <a:gd name="T0" fmla="*/ 27 w 21"/>
                <a:gd name="T1" fmla="*/ 11 h 173"/>
                <a:gd name="T2" fmla="*/ 27 w 21"/>
                <a:gd name="T3" fmla="*/ 7 h 173"/>
                <a:gd name="T4" fmla="*/ 23 w 21"/>
                <a:gd name="T5" fmla="*/ 4 h 173"/>
                <a:gd name="T6" fmla="*/ 20 w 21"/>
                <a:gd name="T7" fmla="*/ 0 h 173"/>
                <a:gd name="T8" fmla="*/ 7 w 21"/>
                <a:gd name="T9" fmla="*/ 0 h 173"/>
                <a:gd name="T10" fmla="*/ 4 w 21"/>
                <a:gd name="T11" fmla="*/ 4 h 173"/>
                <a:gd name="T12" fmla="*/ 0 w 21"/>
                <a:gd name="T13" fmla="*/ 7 h 173"/>
                <a:gd name="T14" fmla="*/ 0 w 21"/>
                <a:gd name="T15" fmla="*/ 211 h 173"/>
                <a:gd name="T16" fmla="*/ 4 w 21"/>
                <a:gd name="T17" fmla="*/ 215 h 173"/>
                <a:gd name="T18" fmla="*/ 7 w 21"/>
                <a:gd name="T19" fmla="*/ 220 h 173"/>
                <a:gd name="T20" fmla="*/ 20 w 21"/>
                <a:gd name="T21" fmla="*/ 220 h 173"/>
                <a:gd name="T22" fmla="*/ 23 w 21"/>
                <a:gd name="T23" fmla="*/ 215 h 173"/>
                <a:gd name="T24" fmla="*/ 27 w 21"/>
                <a:gd name="T25" fmla="*/ 211 h 173"/>
                <a:gd name="T26" fmla="*/ 27 w 21"/>
                <a:gd name="T27" fmla="*/ 207 h 173"/>
                <a:gd name="T28" fmla="*/ 27 w 21"/>
                <a:gd name="T29" fmla="*/ 11 h 17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" h="173">
                  <a:moveTo>
                    <a:pt x="21" y="11"/>
                  </a:moveTo>
                  <a:lnTo>
                    <a:pt x="21" y="7"/>
                  </a:lnTo>
                  <a:lnTo>
                    <a:pt x="17" y="4"/>
                  </a:lnTo>
                  <a:lnTo>
                    <a:pt x="14" y="0"/>
                  </a:lnTo>
                  <a:lnTo>
                    <a:pt x="7" y="0"/>
                  </a:lnTo>
                  <a:lnTo>
                    <a:pt x="4" y="4"/>
                  </a:lnTo>
                  <a:lnTo>
                    <a:pt x="0" y="7"/>
                  </a:lnTo>
                  <a:lnTo>
                    <a:pt x="0" y="166"/>
                  </a:lnTo>
                  <a:lnTo>
                    <a:pt x="4" y="170"/>
                  </a:lnTo>
                  <a:lnTo>
                    <a:pt x="7" y="173"/>
                  </a:lnTo>
                  <a:lnTo>
                    <a:pt x="14" y="173"/>
                  </a:lnTo>
                  <a:lnTo>
                    <a:pt x="17" y="170"/>
                  </a:lnTo>
                  <a:lnTo>
                    <a:pt x="21" y="166"/>
                  </a:lnTo>
                  <a:lnTo>
                    <a:pt x="21" y="163"/>
                  </a:lnTo>
                  <a:lnTo>
                    <a:pt x="21" y="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7"/>
            <p:cNvSpPr>
              <a:spLocks noChangeAspect="1"/>
            </p:cNvSpPr>
            <p:nvPr/>
          </p:nvSpPr>
          <p:spPr bwMode="auto">
            <a:xfrm>
              <a:off x="5311" y="808"/>
              <a:ext cx="51" cy="90"/>
            </a:xfrm>
            <a:custGeom>
              <a:avLst/>
              <a:gdLst>
                <a:gd name="T0" fmla="*/ 0 w 49"/>
                <a:gd name="T1" fmla="*/ 91 h 87"/>
                <a:gd name="T2" fmla="*/ 0 w 49"/>
                <a:gd name="T3" fmla="*/ 98 h 87"/>
                <a:gd name="T4" fmla="*/ 2 w 49"/>
                <a:gd name="T5" fmla="*/ 101 h 87"/>
                <a:gd name="T6" fmla="*/ 4 w 49"/>
                <a:gd name="T7" fmla="*/ 103 h 87"/>
                <a:gd name="T8" fmla="*/ 7 w 49"/>
                <a:gd name="T9" fmla="*/ 106 h 87"/>
                <a:gd name="T10" fmla="*/ 20 w 49"/>
                <a:gd name="T11" fmla="*/ 106 h 87"/>
                <a:gd name="T12" fmla="*/ 24 w 49"/>
                <a:gd name="T13" fmla="*/ 103 h 87"/>
                <a:gd name="T14" fmla="*/ 25 w 49"/>
                <a:gd name="T15" fmla="*/ 101 h 87"/>
                <a:gd name="T16" fmla="*/ 27 w 49"/>
                <a:gd name="T17" fmla="*/ 98 h 87"/>
                <a:gd name="T18" fmla="*/ 61 w 49"/>
                <a:gd name="T19" fmla="*/ 14 h 87"/>
                <a:gd name="T20" fmla="*/ 61 w 49"/>
                <a:gd name="T21" fmla="*/ 7 h 87"/>
                <a:gd name="T22" fmla="*/ 59 w 49"/>
                <a:gd name="T23" fmla="*/ 4 h 87"/>
                <a:gd name="T24" fmla="*/ 57 w 49"/>
                <a:gd name="T25" fmla="*/ 2 h 87"/>
                <a:gd name="T26" fmla="*/ 54 w 49"/>
                <a:gd name="T27" fmla="*/ 0 h 87"/>
                <a:gd name="T28" fmla="*/ 45 w 49"/>
                <a:gd name="T29" fmla="*/ 0 h 87"/>
                <a:gd name="T30" fmla="*/ 39 w 49"/>
                <a:gd name="T31" fmla="*/ 2 h 87"/>
                <a:gd name="T32" fmla="*/ 36 w 49"/>
                <a:gd name="T33" fmla="*/ 4 h 87"/>
                <a:gd name="T34" fmla="*/ 34 w 49"/>
                <a:gd name="T35" fmla="*/ 7 h 87"/>
                <a:gd name="T36" fmla="*/ 0 w 49"/>
                <a:gd name="T37" fmla="*/ 91 h 8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9" h="87">
                  <a:moveTo>
                    <a:pt x="0" y="73"/>
                  </a:moveTo>
                  <a:lnTo>
                    <a:pt x="0" y="80"/>
                  </a:lnTo>
                  <a:lnTo>
                    <a:pt x="2" y="83"/>
                  </a:lnTo>
                  <a:lnTo>
                    <a:pt x="4" y="85"/>
                  </a:lnTo>
                  <a:lnTo>
                    <a:pt x="7" y="87"/>
                  </a:lnTo>
                  <a:lnTo>
                    <a:pt x="14" y="87"/>
                  </a:lnTo>
                  <a:lnTo>
                    <a:pt x="18" y="85"/>
                  </a:lnTo>
                  <a:lnTo>
                    <a:pt x="19" y="83"/>
                  </a:lnTo>
                  <a:lnTo>
                    <a:pt x="21" y="80"/>
                  </a:lnTo>
                  <a:lnTo>
                    <a:pt x="49" y="14"/>
                  </a:lnTo>
                  <a:lnTo>
                    <a:pt x="49" y="7"/>
                  </a:lnTo>
                  <a:lnTo>
                    <a:pt x="47" y="4"/>
                  </a:lnTo>
                  <a:lnTo>
                    <a:pt x="45" y="2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2" y="2"/>
                  </a:lnTo>
                  <a:lnTo>
                    <a:pt x="30" y="4"/>
                  </a:lnTo>
                  <a:lnTo>
                    <a:pt x="28" y="7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8"/>
            <p:cNvSpPr>
              <a:spLocks noChangeAspect="1"/>
            </p:cNvSpPr>
            <p:nvPr/>
          </p:nvSpPr>
          <p:spPr bwMode="auto">
            <a:xfrm>
              <a:off x="5291" y="808"/>
              <a:ext cx="42" cy="83"/>
            </a:xfrm>
            <a:custGeom>
              <a:avLst/>
              <a:gdLst>
                <a:gd name="T0" fmla="*/ 25 w 40"/>
                <a:gd name="T1" fmla="*/ 91 h 80"/>
                <a:gd name="T2" fmla="*/ 29 w 40"/>
                <a:gd name="T3" fmla="*/ 95 h 80"/>
                <a:gd name="T4" fmla="*/ 32 w 40"/>
                <a:gd name="T5" fmla="*/ 96 h 80"/>
                <a:gd name="T6" fmla="*/ 38 w 40"/>
                <a:gd name="T7" fmla="*/ 99 h 80"/>
                <a:gd name="T8" fmla="*/ 45 w 40"/>
                <a:gd name="T9" fmla="*/ 99 h 80"/>
                <a:gd name="T10" fmla="*/ 49 w 40"/>
                <a:gd name="T11" fmla="*/ 95 h 80"/>
                <a:gd name="T12" fmla="*/ 50 w 40"/>
                <a:gd name="T13" fmla="*/ 93 h 80"/>
                <a:gd name="T14" fmla="*/ 53 w 40"/>
                <a:gd name="T15" fmla="*/ 89 h 80"/>
                <a:gd name="T16" fmla="*/ 53 w 40"/>
                <a:gd name="T17" fmla="*/ 83 h 80"/>
                <a:gd name="T18" fmla="*/ 27 w 40"/>
                <a:gd name="T19" fmla="*/ 7 h 80"/>
                <a:gd name="T20" fmla="*/ 24 w 40"/>
                <a:gd name="T21" fmla="*/ 4 h 80"/>
                <a:gd name="T22" fmla="*/ 22 w 40"/>
                <a:gd name="T23" fmla="*/ 2 h 80"/>
                <a:gd name="T24" fmla="*/ 19 w 40"/>
                <a:gd name="T25" fmla="*/ 0 h 80"/>
                <a:gd name="T26" fmla="*/ 7 w 40"/>
                <a:gd name="T27" fmla="*/ 0 h 80"/>
                <a:gd name="T28" fmla="*/ 4 w 40"/>
                <a:gd name="T29" fmla="*/ 4 h 80"/>
                <a:gd name="T30" fmla="*/ 2 w 40"/>
                <a:gd name="T31" fmla="*/ 6 h 80"/>
                <a:gd name="T32" fmla="*/ 0 w 40"/>
                <a:gd name="T33" fmla="*/ 9 h 80"/>
                <a:gd name="T34" fmla="*/ 0 w 40"/>
                <a:gd name="T35" fmla="*/ 20 h 80"/>
                <a:gd name="T36" fmla="*/ 25 w 40"/>
                <a:gd name="T37" fmla="*/ 91 h 8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0" h="80">
                  <a:moveTo>
                    <a:pt x="19" y="73"/>
                  </a:moveTo>
                  <a:lnTo>
                    <a:pt x="23" y="77"/>
                  </a:lnTo>
                  <a:lnTo>
                    <a:pt x="25" y="78"/>
                  </a:lnTo>
                  <a:lnTo>
                    <a:pt x="28" y="80"/>
                  </a:lnTo>
                  <a:lnTo>
                    <a:pt x="33" y="80"/>
                  </a:lnTo>
                  <a:lnTo>
                    <a:pt x="37" y="77"/>
                  </a:lnTo>
                  <a:lnTo>
                    <a:pt x="38" y="75"/>
                  </a:lnTo>
                  <a:lnTo>
                    <a:pt x="40" y="71"/>
                  </a:lnTo>
                  <a:lnTo>
                    <a:pt x="40" y="66"/>
                  </a:lnTo>
                  <a:lnTo>
                    <a:pt x="21" y="7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3" y="0"/>
                  </a:lnTo>
                  <a:lnTo>
                    <a:pt x="7" y="0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4"/>
                  </a:lnTo>
                  <a:lnTo>
                    <a:pt x="19" y="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9"/>
            <p:cNvSpPr>
              <a:spLocks noChangeAspect="1" noChangeArrowheads="1"/>
            </p:cNvSpPr>
            <p:nvPr/>
          </p:nvSpPr>
          <p:spPr bwMode="auto">
            <a:xfrm>
              <a:off x="5293" y="1158"/>
              <a:ext cx="1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R0</a:t>
              </a:r>
              <a:endParaRPr lang="en-US" altLang="zh-CN" sz="2800"/>
            </a:p>
          </p:txBody>
        </p:sp>
        <p:sp>
          <p:nvSpPr>
            <p:cNvPr id="50" name="Rectangle 50"/>
            <p:cNvSpPr>
              <a:spLocks noChangeAspect="1" noChangeArrowheads="1"/>
            </p:cNvSpPr>
            <p:nvPr/>
          </p:nvSpPr>
          <p:spPr bwMode="auto">
            <a:xfrm>
              <a:off x="5239" y="913"/>
              <a:ext cx="30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Load</a:t>
              </a:r>
              <a:endParaRPr lang="en-US" altLang="zh-CN" sz="2800"/>
            </a:p>
          </p:txBody>
        </p:sp>
        <p:sp>
          <p:nvSpPr>
            <p:cNvPr id="51" name="Freeform 51"/>
            <p:cNvSpPr>
              <a:spLocks noChangeAspect="1"/>
            </p:cNvSpPr>
            <p:nvPr/>
          </p:nvSpPr>
          <p:spPr bwMode="auto">
            <a:xfrm>
              <a:off x="5155" y="888"/>
              <a:ext cx="392" cy="612"/>
            </a:xfrm>
            <a:custGeom>
              <a:avLst/>
              <a:gdLst>
                <a:gd name="T0" fmla="*/ 10 w 377"/>
                <a:gd name="T1" fmla="*/ 0 h 589"/>
                <a:gd name="T2" fmla="*/ 7 w 377"/>
                <a:gd name="T3" fmla="*/ 0 h 589"/>
                <a:gd name="T4" fmla="*/ 4 w 377"/>
                <a:gd name="T5" fmla="*/ 3 h 589"/>
                <a:gd name="T6" fmla="*/ 0 w 377"/>
                <a:gd name="T7" fmla="*/ 6 h 589"/>
                <a:gd name="T8" fmla="*/ 0 w 377"/>
                <a:gd name="T9" fmla="*/ 735 h 589"/>
                <a:gd name="T10" fmla="*/ 4 w 377"/>
                <a:gd name="T11" fmla="*/ 738 h 589"/>
                <a:gd name="T12" fmla="*/ 7 w 377"/>
                <a:gd name="T13" fmla="*/ 742 h 589"/>
                <a:gd name="T14" fmla="*/ 468 w 377"/>
                <a:gd name="T15" fmla="*/ 742 h 589"/>
                <a:gd name="T16" fmla="*/ 471 w 377"/>
                <a:gd name="T17" fmla="*/ 738 h 589"/>
                <a:gd name="T18" fmla="*/ 477 w 377"/>
                <a:gd name="T19" fmla="*/ 735 h 589"/>
                <a:gd name="T20" fmla="*/ 477 w 377"/>
                <a:gd name="T21" fmla="*/ 6 h 589"/>
                <a:gd name="T22" fmla="*/ 471 w 377"/>
                <a:gd name="T23" fmla="*/ 3 h 589"/>
                <a:gd name="T24" fmla="*/ 468 w 377"/>
                <a:gd name="T25" fmla="*/ 0 h 589"/>
                <a:gd name="T26" fmla="*/ 463 w 377"/>
                <a:gd name="T27" fmla="*/ 0 h 589"/>
                <a:gd name="T28" fmla="*/ 10 w 377"/>
                <a:gd name="T29" fmla="*/ 0 h 589"/>
                <a:gd name="T30" fmla="*/ 10 w 377"/>
                <a:gd name="T31" fmla="*/ 26 h 589"/>
                <a:gd name="T32" fmla="*/ 463 w 377"/>
                <a:gd name="T33" fmla="*/ 26 h 589"/>
                <a:gd name="T34" fmla="*/ 450 w 377"/>
                <a:gd name="T35" fmla="*/ 10 h 589"/>
                <a:gd name="T36" fmla="*/ 450 w 377"/>
                <a:gd name="T37" fmla="*/ 726 h 589"/>
                <a:gd name="T38" fmla="*/ 463 w 377"/>
                <a:gd name="T39" fmla="*/ 715 h 589"/>
                <a:gd name="T40" fmla="*/ 10 w 377"/>
                <a:gd name="T41" fmla="*/ 715 h 589"/>
                <a:gd name="T42" fmla="*/ 27 w 377"/>
                <a:gd name="T43" fmla="*/ 726 h 589"/>
                <a:gd name="T44" fmla="*/ 27 w 377"/>
                <a:gd name="T45" fmla="*/ 10 h 589"/>
                <a:gd name="T46" fmla="*/ 10 w 377"/>
                <a:gd name="T47" fmla="*/ 26 h 589"/>
                <a:gd name="T48" fmla="*/ 10 w 377"/>
                <a:gd name="T49" fmla="*/ 0 h 58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7" h="589">
                  <a:moveTo>
                    <a:pt x="10" y="0"/>
                  </a:moveTo>
                  <a:lnTo>
                    <a:pt x="7" y="0"/>
                  </a:lnTo>
                  <a:lnTo>
                    <a:pt x="4" y="3"/>
                  </a:lnTo>
                  <a:lnTo>
                    <a:pt x="0" y="6"/>
                  </a:lnTo>
                  <a:lnTo>
                    <a:pt x="0" y="582"/>
                  </a:lnTo>
                  <a:lnTo>
                    <a:pt x="4" y="585"/>
                  </a:lnTo>
                  <a:lnTo>
                    <a:pt x="7" y="589"/>
                  </a:lnTo>
                  <a:lnTo>
                    <a:pt x="370" y="589"/>
                  </a:lnTo>
                  <a:lnTo>
                    <a:pt x="373" y="585"/>
                  </a:lnTo>
                  <a:lnTo>
                    <a:pt x="377" y="582"/>
                  </a:lnTo>
                  <a:lnTo>
                    <a:pt x="377" y="6"/>
                  </a:lnTo>
                  <a:lnTo>
                    <a:pt x="373" y="3"/>
                  </a:lnTo>
                  <a:lnTo>
                    <a:pt x="370" y="0"/>
                  </a:lnTo>
                  <a:lnTo>
                    <a:pt x="366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366" y="20"/>
                  </a:lnTo>
                  <a:lnTo>
                    <a:pt x="356" y="10"/>
                  </a:lnTo>
                  <a:lnTo>
                    <a:pt x="356" y="578"/>
                  </a:lnTo>
                  <a:lnTo>
                    <a:pt x="366" y="568"/>
                  </a:lnTo>
                  <a:lnTo>
                    <a:pt x="10" y="568"/>
                  </a:lnTo>
                  <a:lnTo>
                    <a:pt x="21" y="578"/>
                  </a:lnTo>
                  <a:lnTo>
                    <a:pt x="21" y="10"/>
                  </a:lnTo>
                  <a:lnTo>
                    <a:pt x="10" y="2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2"/>
            <p:cNvSpPr>
              <a:spLocks noChangeAspect="1"/>
            </p:cNvSpPr>
            <p:nvPr/>
          </p:nvSpPr>
          <p:spPr bwMode="auto">
            <a:xfrm>
              <a:off x="4729" y="2157"/>
              <a:ext cx="441" cy="22"/>
            </a:xfrm>
            <a:custGeom>
              <a:avLst/>
              <a:gdLst>
                <a:gd name="T0" fmla="*/ 11 w 424"/>
                <a:gd name="T1" fmla="*/ 0 h 21"/>
                <a:gd name="T2" fmla="*/ 7 w 424"/>
                <a:gd name="T3" fmla="*/ 0 h 21"/>
                <a:gd name="T4" fmla="*/ 4 w 424"/>
                <a:gd name="T5" fmla="*/ 4 h 21"/>
                <a:gd name="T6" fmla="*/ 0 w 424"/>
                <a:gd name="T7" fmla="*/ 7 h 21"/>
                <a:gd name="T8" fmla="*/ 0 w 424"/>
                <a:gd name="T9" fmla="*/ 20 h 21"/>
                <a:gd name="T10" fmla="*/ 4 w 424"/>
                <a:gd name="T11" fmla="*/ 24 h 21"/>
                <a:gd name="T12" fmla="*/ 7 w 424"/>
                <a:gd name="T13" fmla="*/ 27 h 21"/>
                <a:gd name="T14" fmla="*/ 528 w 424"/>
                <a:gd name="T15" fmla="*/ 27 h 21"/>
                <a:gd name="T16" fmla="*/ 533 w 424"/>
                <a:gd name="T17" fmla="*/ 24 h 21"/>
                <a:gd name="T18" fmla="*/ 537 w 424"/>
                <a:gd name="T19" fmla="*/ 20 h 21"/>
                <a:gd name="T20" fmla="*/ 537 w 424"/>
                <a:gd name="T21" fmla="*/ 7 h 21"/>
                <a:gd name="T22" fmla="*/ 533 w 424"/>
                <a:gd name="T23" fmla="*/ 4 h 21"/>
                <a:gd name="T24" fmla="*/ 528 w 424"/>
                <a:gd name="T25" fmla="*/ 0 h 21"/>
                <a:gd name="T26" fmla="*/ 524 w 424"/>
                <a:gd name="T27" fmla="*/ 0 h 21"/>
                <a:gd name="T28" fmla="*/ 11 w 424"/>
                <a:gd name="T29" fmla="*/ 0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4" h="21">
                  <a:moveTo>
                    <a:pt x="11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4" y="18"/>
                  </a:lnTo>
                  <a:lnTo>
                    <a:pt x="7" y="21"/>
                  </a:lnTo>
                  <a:lnTo>
                    <a:pt x="417" y="21"/>
                  </a:lnTo>
                  <a:lnTo>
                    <a:pt x="420" y="18"/>
                  </a:lnTo>
                  <a:lnTo>
                    <a:pt x="424" y="14"/>
                  </a:lnTo>
                  <a:lnTo>
                    <a:pt x="424" y="7"/>
                  </a:lnTo>
                  <a:lnTo>
                    <a:pt x="420" y="4"/>
                  </a:lnTo>
                  <a:lnTo>
                    <a:pt x="417" y="0"/>
                  </a:lnTo>
                  <a:lnTo>
                    <a:pt x="414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3"/>
            <p:cNvSpPr>
              <a:spLocks noChangeAspect="1"/>
            </p:cNvSpPr>
            <p:nvPr/>
          </p:nvSpPr>
          <p:spPr bwMode="auto">
            <a:xfrm>
              <a:off x="5051" y="2157"/>
              <a:ext cx="119" cy="47"/>
            </a:xfrm>
            <a:custGeom>
              <a:avLst/>
              <a:gdLst>
                <a:gd name="T0" fmla="*/ 139 w 114"/>
                <a:gd name="T1" fmla="*/ 27 h 45"/>
                <a:gd name="T2" fmla="*/ 142 w 114"/>
                <a:gd name="T3" fmla="*/ 24 h 45"/>
                <a:gd name="T4" fmla="*/ 147 w 114"/>
                <a:gd name="T5" fmla="*/ 20 h 45"/>
                <a:gd name="T6" fmla="*/ 147 w 114"/>
                <a:gd name="T7" fmla="*/ 7 h 45"/>
                <a:gd name="T8" fmla="*/ 142 w 114"/>
                <a:gd name="T9" fmla="*/ 4 h 45"/>
                <a:gd name="T10" fmla="*/ 139 w 114"/>
                <a:gd name="T11" fmla="*/ 0 h 45"/>
                <a:gd name="T12" fmla="*/ 129 w 114"/>
                <a:gd name="T13" fmla="*/ 0 h 45"/>
                <a:gd name="T14" fmla="*/ 7 w 114"/>
                <a:gd name="T15" fmla="*/ 31 h 45"/>
                <a:gd name="T16" fmla="*/ 3 w 114"/>
                <a:gd name="T17" fmla="*/ 34 h 45"/>
                <a:gd name="T18" fmla="*/ 0 w 114"/>
                <a:gd name="T19" fmla="*/ 42 h 45"/>
                <a:gd name="T20" fmla="*/ 0 w 114"/>
                <a:gd name="T21" fmla="*/ 50 h 45"/>
                <a:gd name="T22" fmla="*/ 3 w 114"/>
                <a:gd name="T23" fmla="*/ 54 h 45"/>
                <a:gd name="T24" fmla="*/ 7 w 114"/>
                <a:gd name="T25" fmla="*/ 57 h 45"/>
                <a:gd name="T26" fmla="*/ 20 w 114"/>
                <a:gd name="T27" fmla="*/ 57 h 45"/>
                <a:gd name="T28" fmla="*/ 139 w 114"/>
                <a:gd name="T29" fmla="*/ 27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4" h="45">
                  <a:moveTo>
                    <a:pt x="107" y="21"/>
                  </a:moveTo>
                  <a:lnTo>
                    <a:pt x="110" y="18"/>
                  </a:lnTo>
                  <a:lnTo>
                    <a:pt x="114" y="14"/>
                  </a:lnTo>
                  <a:lnTo>
                    <a:pt x="114" y="7"/>
                  </a:lnTo>
                  <a:lnTo>
                    <a:pt x="110" y="4"/>
                  </a:lnTo>
                  <a:lnTo>
                    <a:pt x="107" y="0"/>
                  </a:lnTo>
                  <a:lnTo>
                    <a:pt x="100" y="0"/>
                  </a:lnTo>
                  <a:lnTo>
                    <a:pt x="7" y="25"/>
                  </a:lnTo>
                  <a:lnTo>
                    <a:pt x="3" y="28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3" y="42"/>
                  </a:lnTo>
                  <a:lnTo>
                    <a:pt x="7" y="45"/>
                  </a:lnTo>
                  <a:lnTo>
                    <a:pt x="14" y="45"/>
                  </a:lnTo>
                  <a:lnTo>
                    <a:pt x="107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4"/>
            <p:cNvSpPr>
              <a:spLocks noChangeAspect="1"/>
            </p:cNvSpPr>
            <p:nvPr/>
          </p:nvSpPr>
          <p:spPr bwMode="auto">
            <a:xfrm>
              <a:off x="5051" y="2134"/>
              <a:ext cx="119" cy="45"/>
            </a:xfrm>
            <a:custGeom>
              <a:avLst/>
              <a:gdLst>
                <a:gd name="T0" fmla="*/ 132 w 114"/>
                <a:gd name="T1" fmla="*/ 55 h 43"/>
                <a:gd name="T2" fmla="*/ 139 w 114"/>
                <a:gd name="T3" fmla="*/ 55 h 43"/>
                <a:gd name="T4" fmla="*/ 142 w 114"/>
                <a:gd name="T5" fmla="*/ 52 h 43"/>
                <a:gd name="T6" fmla="*/ 145 w 114"/>
                <a:gd name="T7" fmla="*/ 50 h 43"/>
                <a:gd name="T8" fmla="*/ 147 w 114"/>
                <a:gd name="T9" fmla="*/ 47 h 43"/>
                <a:gd name="T10" fmla="*/ 147 w 114"/>
                <a:gd name="T11" fmla="*/ 37 h 43"/>
                <a:gd name="T12" fmla="*/ 142 w 114"/>
                <a:gd name="T13" fmla="*/ 32 h 43"/>
                <a:gd name="T14" fmla="*/ 141 w 114"/>
                <a:gd name="T15" fmla="*/ 30 h 43"/>
                <a:gd name="T16" fmla="*/ 136 w 114"/>
                <a:gd name="T17" fmla="*/ 28 h 43"/>
                <a:gd name="T18" fmla="*/ 18 w 114"/>
                <a:gd name="T19" fmla="*/ 0 h 43"/>
                <a:gd name="T20" fmla="*/ 7 w 114"/>
                <a:gd name="T21" fmla="*/ 0 h 43"/>
                <a:gd name="T22" fmla="*/ 3 w 114"/>
                <a:gd name="T23" fmla="*/ 3 h 43"/>
                <a:gd name="T24" fmla="*/ 2 w 114"/>
                <a:gd name="T25" fmla="*/ 5 h 43"/>
                <a:gd name="T26" fmla="*/ 0 w 114"/>
                <a:gd name="T27" fmla="*/ 9 h 43"/>
                <a:gd name="T28" fmla="*/ 0 w 114"/>
                <a:gd name="T29" fmla="*/ 20 h 43"/>
                <a:gd name="T30" fmla="*/ 3 w 114"/>
                <a:gd name="T31" fmla="*/ 23 h 43"/>
                <a:gd name="T32" fmla="*/ 5 w 114"/>
                <a:gd name="T33" fmla="*/ 25 h 43"/>
                <a:gd name="T34" fmla="*/ 8 w 114"/>
                <a:gd name="T35" fmla="*/ 27 h 43"/>
                <a:gd name="T36" fmla="*/ 132 w 114"/>
                <a:gd name="T37" fmla="*/ 55 h 4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43">
                  <a:moveTo>
                    <a:pt x="102" y="43"/>
                  </a:moveTo>
                  <a:lnTo>
                    <a:pt x="107" y="43"/>
                  </a:lnTo>
                  <a:lnTo>
                    <a:pt x="110" y="40"/>
                  </a:lnTo>
                  <a:lnTo>
                    <a:pt x="112" y="38"/>
                  </a:lnTo>
                  <a:lnTo>
                    <a:pt x="114" y="35"/>
                  </a:lnTo>
                  <a:lnTo>
                    <a:pt x="114" y="29"/>
                  </a:lnTo>
                  <a:lnTo>
                    <a:pt x="110" y="26"/>
                  </a:lnTo>
                  <a:lnTo>
                    <a:pt x="109" y="24"/>
                  </a:lnTo>
                  <a:lnTo>
                    <a:pt x="105" y="2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102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5"/>
            <p:cNvSpPr>
              <a:spLocks noChangeAspect="1"/>
            </p:cNvSpPr>
            <p:nvPr/>
          </p:nvSpPr>
          <p:spPr bwMode="auto">
            <a:xfrm>
              <a:off x="4859" y="2114"/>
              <a:ext cx="109" cy="109"/>
            </a:xfrm>
            <a:custGeom>
              <a:avLst/>
              <a:gdLst>
                <a:gd name="T0" fmla="*/ 130 w 105"/>
                <a:gd name="T1" fmla="*/ 9 h 105"/>
                <a:gd name="T2" fmla="*/ 131 w 105"/>
                <a:gd name="T3" fmla="*/ 9 h 105"/>
                <a:gd name="T4" fmla="*/ 131 w 105"/>
                <a:gd name="T5" fmla="*/ 3 h 105"/>
                <a:gd name="T6" fmla="*/ 130 w 105"/>
                <a:gd name="T7" fmla="*/ 2 h 105"/>
                <a:gd name="T8" fmla="*/ 130 w 105"/>
                <a:gd name="T9" fmla="*/ 0 h 105"/>
                <a:gd name="T10" fmla="*/ 122 w 105"/>
                <a:gd name="T11" fmla="*/ 0 h 105"/>
                <a:gd name="T12" fmla="*/ 121 w 105"/>
                <a:gd name="T13" fmla="*/ 2 h 105"/>
                <a:gd name="T14" fmla="*/ 2 w 105"/>
                <a:gd name="T15" fmla="*/ 121 h 105"/>
                <a:gd name="T16" fmla="*/ 0 w 105"/>
                <a:gd name="T17" fmla="*/ 122 h 105"/>
                <a:gd name="T18" fmla="*/ 0 w 105"/>
                <a:gd name="T19" fmla="*/ 130 h 105"/>
                <a:gd name="T20" fmla="*/ 2 w 105"/>
                <a:gd name="T21" fmla="*/ 130 h 105"/>
                <a:gd name="T22" fmla="*/ 3 w 105"/>
                <a:gd name="T23" fmla="*/ 131 h 105"/>
                <a:gd name="T24" fmla="*/ 9 w 105"/>
                <a:gd name="T25" fmla="*/ 131 h 105"/>
                <a:gd name="T26" fmla="*/ 9 w 105"/>
                <a:gd name="T27" fmla="*/ 130 h 105"/>
                <a:gd name="T28" fmla="*/ 130 w 105"/>
                <a:gd name="T29" fmla="*/ 9 h 1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5" h="105">
                  <a:moveTo>
                    <a:pt x="104" y="9"/>
                  </a:moveTo>
                  <a:lnTo>
                    <a:pt x="105" y="9"/>
                  </a:lnTo>
                  <a:lnTo>
                    <a:pt x="105" y="3"/>
                  </a:lnTo>
                  <a:lnTo>
                    <a:pt x="104" y="2"/>
                  </a:lnTo>
                  <a:lnTo>
                    <a:pt x="104" y="0"/>
                  </a:lnTo>
                  <a:lnTo>
                    <a:pt x="98" y="0"/>
                  </a:lnTo>
                  <a:lnTo>
                    <a:pt x="97" y="2"/>
                  </a:lnTo>
                  <a:lnTo>
                    <a:pt x="2" y="97"/>
                  </a:lnTo>
                  <a:lnTo>
                    <a:pt x="0" y="98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3" y="105"/>
                  </a:lnTo>
                  <a:lnTo>
                    <a:pt x="9" y="105"/>
                  </a:lnTo>
                  <a:lnTo>
                    <a:pt x="9" y="104"/>
                  </a:lnTo>
                  <a:lnTo>
                    <a:pt x="104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6"/>
            <p:cNvSpPr>
              <a:spLocks noChangeAspect="1" noChangeArrowheads="1"/>
            </p:cNvSpPr>
            <p:nvPr/>
          </p:nvSpPr>
          <p:spPr bwMode="auto">
            <a:xfrm>
              <a:off x="4842" y="2013"/>
              <a:ext cx="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n</a:t>
              </a:r>
              <a:endParaRPr lang="en-US" altLang="zh-CN" sz="2800"/>
            </a:p>
          </p:txBody>
        </p:sp>
        <p:sp>
          <p:nvSpPr>
            <p:cNvPr id="57" name="Freeform 57"/>
            <p:cNvSpPr>
              <a:spLocks noChangeAspect="1"/>
            </p:cNvSpPr>
            <p:nvPr/>
          </p:nvSpPr>
          <p:spPr bwMode="auto">
            <a:xfrm>
              <a:off x="5320" y="1793"/>
              <a:ext cx="22" cy="181"/>
            </a:xfrm>
            <a:custGeom>
              <a:avLst/>
              <a:gdLst>
                <a:gd name="T0" fmla="*/ 27 w 21"/>
                <a:gd name="T1" fmla="*/ 10 h 174"/>
                <a:gd name="T2" fmla="*/ 27 w 21"/>
                <a:gd name="T3" fmla="*/ 6 h 174"/>
                <a:gd name="T4" fmla="*/ 23 w 21"/>
                <a:gd name="T5" fmla="*/ 3 h 174"/>
                <a:gd name="T6" fmla="*/ 20 w 21"/>
                <a:gd name="T7" fmla="*/ 0 h 174"/>
                <a:gd name="T8" fmla="*/ 7 w 21"/>
                <a:gd name="T9" fmla="*/ 0 h 174"/>
                <a:gd name="T10" fmla="*/ 4 w 21"/>
                <a:gd name="T11" fmla="*/ 3 h 174"/>
                <a:gd name="T12" fmla="*/ 0 w 21"/>
                <a:gd name="T13" fmla="*/ 6 h 174"/>
                <a:gd name="T14" fmla="*/ 0 w 21"/>
                <a:gd name="T15" fmla="*/ 212 h 174"/>
                <a:gd name="T16" fmla="*/ 4 w 21"/>
                <a:gd name="T17" fmla="*/ 216 h 174"/>
                <a:gd name="T18" fmla="*/ 7 w 21"/>
                <a:gd name="T19" fmla="*/ 221 h 174"/>
                <a:gd name="T20" fmla="*/ 20 w 21"/>
                <a:gd name="T21" fmla="*/ 221 h 174"/>
                <a:gd name="T22" fmla="*/ 23 w 21"/>
                <a:gd name="T23" fmla="*/ 216 h 174"/>
                <a:gd name="T24" fmla="*/ 27 w 21"/>
                <a:gd name="T25" fmla="*/ 212 h 174"/>
                <a:gd name="T26" fmla="*/ 27 w 21"/>
                <a:gd name="T27" fmla="*/ 208 h 174"/>
                <a:gd name="T28" fmla="*/ 27 w 21"/>
                <a:gd name="T29" fmla="*/ 10 h 1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" h="174">
                  <a:moveTo>
                    <a:pt x="21" y="10"/>
                  </a:moveTo>
                  <a:lnTo>
                    <a:pt x="21" y="6"/>
                  </a:lnTo>
                  <a:lnTo>
                    <a:pt x="17" y="3"/>
                  </a:lnTo>
                  <a:lnTo>
                    <a:pt x="14" y="0"/>
                  </a:lnTo>
                  <a:lnTo>
                    <a:pt x="7" y="0"/>
                  </a:lnTo>
                  <a:lnTo>
                    <a:pt x="4" y="3"/>
                  </a:lnTo>
                  <a:lnTo>
                    <a:pt x="0" y="6"/>
                  </a:lnTo>
                  <a:lnTo>
                    <a:pt x="0" y="167"/>
                  </a:lnTo>
                  <a:lnTo>
                    <a:pt x="4" y="171"/>
                  </a:lnTo>
                  <a:lnTo>
                    <a:pt x="7" y="174"/>
                  </a:lnTo>
                  <a:lnTo>
                    <a:pt x="14" y="174"/>
                  </a:lnTo>
                  <a:lnTo>
                    <a:pt x="17" y="171"/>
                  </a:lnTo>
                  <a:lnTo>
                    <a:pt x="21" y="167"/>
                  </a:lnTo>
                  <a:lnTo>
                    <a:pt x="21" y="164"/>
                  </a:lnTo>
                  <a:lnTo>
                    <a:pt x="21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8"/>
            <p:cNvSpPr>
              <a:spLocks noChangeAspect="1"/>
            </p:cNvSpPr>
            <p:nvPr/>
          </p:nvSpPr>
          <p:spPr bwMode="auto">
            <a:xfrm>
              <a:off x="5313" y="1890"/>
              <a:ext cx="51" cy="89"/>
            </a:xfrm>
            <a:custGeom>
              <a:avLst/>
              <a:gdLst>
                <a:gd name="T0" fmla="*/ 0 w 49"/>
                <a:gd name="T1" fmla="*/ 90 h 86"/>
                <a:gd name="T2" fmla="*/ 0 w 49"/>
                <a:gd name="T3" fmla="*/ 97 h 86"/>
                <a:gd name="T4" fmla="*/ 2 w 49"/>
                <a:gd name="T5" fmla="*/ 101 h 86"/>
                <a:gd name="T6" fmla="*/ 4 w 49"/>
                <a:gd name="T7" fmla="*/ 103 h 86"/>
                <a:gd name="T8" fmla="*/ 7 w 49"/>
                <a:gd name="T9" fmla="*/ 105 h 86"/>
                <a:gd name="T10" fmla="*/ 20 w 49"/>
                <a:gd name="T11" fmla="*/ 105 h 86"/>
                <a:gd name="T12" fmla="*/ 23 w 49"/>
                <a:gd name="T13" fmla="*/ 103 h 86"/>
                <a:gd name="T14" fmla="*/ 25 w 49"/>
                <a:gd name="T15" fmla="*/ 101 h 86"/>
                <a:gd name="T16" fmla="*/ 27 w 49"/>
                <a:gd name="T17" fmla="*/ 97 h 86"/>
                <a:gd name="T18" fmla="*/ 61 w 49"/>
                <a:gd name="T19" fmla="*/ 14 h 86"/>
                <a:gd name="T20" fmla="*/ 61 w 49"/>
                <a:gd name="T21" fmla="*/ 7 h 86"/>
                <a:gd name="T22" fmla="*/ 59 w 49"/>
                <a:gd name="T23" fmla="*/ 3 h 86"/>
                <a:gd name="T24" fmla="*/ 57 w 49"/>
                <a:gd name="T25" fmla="*/ 2 h 86"/>
                <a:gd name="T26" fmla="*/ 54 w 49"/>
                <a:gd name="T27" fmla="*/ 0 h 86"/>
                <a:gd name="T28" fmla="*/ 45 w 49"/>
                <a:gd name="T29" fmla="*/ 0 h 86"/>
                <a:gd name="T30" fmla="*/ 37 w 49"/>
                <a:gd name="T31" fmla="*/ 2 h 86"/>
                <a:gd name="T32" fmla="*/ 36 w 49"/>
                <a:gd name="T33" fmla="*/ 3 h 86"/>
                <a:gd name="T34" fmla="*/ 34 w 49"/>
                <a:gd name="T35" fmla="*/ 7 h 86"/>
                <a:gd name="T36" fmla="*/ 0 w 49"/>
                <a:gd name="T37" fmla="*/ 90 h 8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9" h="86">
                  <a:moveTo>
                    <a:pt x="0" y="72"/>
                  </a:moveTo>
                  <a:lnTo>
                    <a:pt x="0" y="79"/>
                  </a:lnTo>
                  <a:lnTo>
                    <a:pt x="2" y="83"/>
                  </a:lnTo>
                  <a:lnTo>
                    <a:pt x="4" y="85"/>
                  </a:lnTo>
                  <a:lnTo>
                    <a:pt x="7" y="86"/>
                  </a:lnTo>
                  <a:lnTo>
                    <a:pt x="14" y="86"/>
                  </a:lnTo>
                  <a:lnTo>
                    <a:pt x="17" y="85"/>
                  </a:lnTo>
                  <a:lnTo>
                    <a:pt x="19" y="83"/>
                  </a:lnTo>
                  <a:lnTo>
                    <a:pt x="21" y="79"/>
                  </a:lnTo>
                  <a:lnTo>
                    <a:pt x="49" y="14"/>
                  </a:lnTo>
                  <a:lnTo>
                    <a:pt x="49" y="7"/>
                  </a:lnTo>
                  <a:lnTo>
                    <a:pt x="47" y="3"/>
                  </a:lnTo>
                  <a:lnTo>
                    <a:pt x="45" y="2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1" y="2"/>
                  </a:lnTo>
                  <a:lnTo>
                    <a:pt x="30" y="3"/>
                  </a:lnTo>
                  <a:lnTo>
                    <a:pt x="28" y="7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9"/>
            <p:cNvSpPr>
              <a:spLocks noChangeAspect="1"/>
            </p:cNvSpPr>
            <p:nvPr/>
          </p:nvSpPr>
          <p:spPr bwMode="auto">
            <a:xfrm>
              <a:off x="5293" y="1890"/>
              <a:ext cx="42" cy="84"/>
            </a:xfrm>
            <a:custGeom>
              <a:avLst/>
              <a:gdLst>
                <a:gd name="T0" fmla="*/ 25 w 40"/>
                <a:gd name="T1" fmla="*/ 92 h 81"/>
                <a:gd name="T2" fmla="*/ 29 w 40"/>
                <a:gd name="T3" fmla="*/ 96 h 81"/>
                <a:gd name="T4" fmla="*/ 30 w 40"/>
                <a:gd name="T5" fmla="*/ 97 h 81"/>
                <a:gd name="T6" fmla="*/ 38 w 40"/>
                <a:gd name="T7" fmla="*/ 100 h 81"/>
                <a:gd name="T8" fmla="*/ 45 w 40"/>
                <a:gd name="T9" fmla="*/ 100 h 81"/>
                <a:gd name="T10" fmla="*/ 48 w 40"/>
                <a:gd name="T11" fmla="*/ 96 h 81"/>
                <a:gd name="T12" fmla="*/ 50 w 40"/>
                <a:gd name="T13" fmla="*/ 94 h 81"/>
                <a:gd name="T14" fmla="*/ 53 w 40"/>
                <a:gd name="T15" fmla="*/ 90 h 81"/>
                <a:gd name="T16" fmla="*/ 53 w 40"/>
                <a:gd name="T17" fmla="*/ 84 h 81"/>
                <a:gd name="T18" fmla="*/ 27 w 40"/>
                <a:gd name="T19" fmla="*/ 7 h 81"/>
                <a:gd name="T20" fmla="*/ 23 w 40"/>
                <a:gd name="T21" fmla="*/ 3 h 81"/>
                <a:gd name="T22" fmla="*/ 22 w 40"/>
                <a:gd name="T23" fmla="*/ 2 h 81"/>
                <a:gd name="T24" fmla="*/ 18 w 40"/>
                <a:gd name="T25" fmla="*/ 0 h 81"/>
                <a:gd name="T26" fmla="*/ 7 w 40"/>
                <a:gd name="T27" fmla="*/ 0 h 81"/>
                <a:gd name="T28" fmla="*/ 4 w 40"/>
                <a:gd name="T29" fmla="*/ 3 h 81"/>
                <a:gd name="T30" fmla="*/ 2 w 40"/>
                <a:gd name="T31" fmla="*/ 5 h 81"/>
                <a:gd name="T32" fmla="*/ 0 w 40"/>
                <a:gd name="T33" fmla="*/ 9 h 81"/>
                <a:gd name="T34" fmla="*/ 0 w 40"/>
                <a:gd name="T35" fmla="*/ 20 h 81"/>
                <a:gd name="T36" fmla="*/ 25 w 40"/>
                <a:gd name="T37" fmla="*/ 92 h 8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0" h="81">
                  <a:moveTo>
                    <a:pt x="19" y="74"/>
                  </a:moveTo>
                  <a:lnTo>
                    <a:pt x="23" y="78"/>
                  </a:lnTo>
                  <a:lnTo>
                    <a:pt x="24" y="79"/>
                  </a:lnTo>
                  <a:lnTo>
                    <a:pt x="28" y="81"/>
                  </a:lnTo>
                  <a:lnTo>
                    <a:pt x="33" y="81"/>
                  </a:lnTo>
                  <a:lnTo>
                    <a:pt x="36" y="78"/>
                  </a:lnTo>
                  <a:lnTo>
                    <a:pt x="38" y="76"/>
                  </a:lnTo>
                  <a:lnTo>
                    <a:pt x="40" y="72"/>
                  </a:lnTo>
                  <a:lnTo>
                    <a:pt x="40" y="67"/>
                  </a:lnTo>
                  <a:lnTo>
                    <a:pt x="21" y="7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3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4"/>
                  </a:lnTo>
                  <a:lnTo>
                    <a:pt x="19" y="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60"/>
            <p:cNvSpPr>
              <a:spLocks noChangeAspect="1" noChangeArrowheads="1"/>
            </p:cNvSpPr>
            <p:nvPr/>
          </p:nvSpPr>
          <p:spPr bwMode="auto">
            <a:xfrm>
              <a:off x="5295" y="2240"/>
              <a:ext cx="1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R1</a:t>
              </a:r>
              <a:endParaRPr lang="en-US" altLang="zh-CN" sz="2800"/>
            </a:p>
          </p:txBody>
        </p:sp>
        <p:sp>
          <p:nvSpPr>
            <p:cNvPr id="61" name="Rectangle 61"/>
            <p:cNvSpPr>
              <a:spLocks noChangeAspect="1" noChangeArrowheads="1"/>
            </p:cNvSpPr>
            <p:nvPr/>
          </p:nvSpPr>
          <p:spPr bwMode="auto">
            <a:xfrm>
              <a:off x="5241" y="1994"/>
              <a:ext cx="30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Load</a:t>
              </a:r>
              <a:endParaRPr lang="en-US" altLang="zh-CN" sz="2800"/>
            </a:p>
          </p:txBody>
        </p:sp>
        <p:sp>
          <p:nvSpPr>
            <p:cNvPr id="62" name="Freeform 62"/>
            <p:cNvSpPr>
              <a:spLocks noChangeAspect="1"/>
            </p:cNvSpPr>
            <p:nvPr/>
          </p:nvSpPr>
          <p:spPr bwMode="auto">
            <a:xfrm>
              <a:off x="5157" y="1969"/>
              <a:ext cx="392" cy="614"/>
            </a:xfrm>
            <a:custGeom>
              <a:avLst/>
              <a:gdLst>
                <a:gd name="T0" fmla="*/ 10 w 377"/>
                <a:gd name="T1" fmla="*/ 0 h 591"/>
                <a:gd name="T2" fmla="*/ 7 w 377"/>
                <a:gd name="T3" fmla="*/ 0 h 591"/>
                <a:gd name="T4" fmla="*/ 3 w 377"/>
                <a:gd name="T5" fmla="*/ 3 h 591"/>
                <a:gd name="T6" fmla="*/ 0 w 377"/>
                <a:gd name="T7" fmla="*/ 7 h 591"/>
                <a:gd name="T8" fmla="*/ 0 w 377"/>
                <a:gd name="T9" fmla="*/ 737 h 591"/>
                <a:gd name="T10" fmla="*/ 3 w 377"/>
                <a:gd name="T11" fmla="*/ 741 h 591"/>
                <a:gd name="T12" fmla="*/ 7 w 377"/>
                <a:gd name="T13" fmla="*/ 744 h 591"/>
                <a:gd name="T14" fmla="*/ 468 w 377"/>
                <a:gd name="T15" fmla="*/ 744 h 591"/>
                <a:gd name="T16" fmla="*/ 471 w 377"/>
                <a:gd name="T17" fmla="*/ 741 h 591"/>
                <a:gd name="T18" fmla="*/ 477 w 377"/>
                <a:gd name="T19" fmla="*/ 737 h 591"/>
                <a:gd name="T20" fmla="*/ 477 w 377"/>
                <a:gd name="T21" fmla="*/ 7 h 591"/>
                <a:gd name="T22" fmla="*/ 471 w 377"/>
                <a:gd name="T23" fmla="*/ 3 h 591"/>
                <a:gd name="T24" fmla="*/ 468 w 377"/>
                <a:gd name="T25" fmla="*/ 0 h 591"/>
                <a:gd name="T26" fmla="*/ 463 w 377"/>
                <a:gd name="T27" fmla="*/ 0 h 591"/>
                <a:gd name="T28" fmla="*/ 10 w 377"/>
                <a:gd name="T29" fmla="*/ 0 h 591"/>
                <a:gd name="T30" fmla="*/ 10 w 377"/>
                <a:gd name="T31" fmla="*/ 27 h 591"/>
                <a:gd name="T32" fmla="*/ 463 w 377"/>
                <a:gd name="T33" fmla="*/ 27 h 591"/>
                <a:gd name="T34" fmla="*/ 450 w 377"/>
                <a:gd name="T35" fmla="*/ 10 h 591"/>
                <a:gd name="T36" fmla="*/ 450 w 377"/>
                <a:gd name="T37" fmla="*/ 730 h 591"/>
                <a:gd name="T38" fmla="*/ 463 w 377"/>
                <a:gd name="T39" fmla="*/ 717 h 591"/>
                <a:gd name="T40" fmla="*/ 10 w 377"/>
                <a:gd name="T41" fmla="*/ 717 h 591"/>
                <a:gd name="T42" fmla="*/ 27 w 377"/>
                <a:gd name="T43" fmla="*/ 730 h 591"/>
                <a:gd name="T44" fmla="*/ 27 w 377"/>
                <a:gd name="T45" fmla="*/ 10 h 591"/>
                <a:gd name="T46" fmla="*/ 10 w 377"/>
                <a:gd name="T47" fmla="*/ 27 h 591"/>
                <a:gd name="T48" fmla="*/ 10 w 377"/>
                <a:gd name="T49" fmla="*/ 0 h 5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7" h="591">
                  <a:moveTo>
                    <a:pt x="10" y="0"/>
                  </a:move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584"/>
                  </a:lnTo>
                  <a:lnTo>
                    <a:pt x="3" y="588"/>
                  </a:lnTo>
                  <a:lnTo>
                    <a:pt x="7" y="591"/>
                  </a:lnTo>
                  <a:lnTo>
                    <a:pt x="370" y="591"/>
                  </a:lnTo>
                  <a:lnTo>
                    <a:pt x="373" y="588"/>
                  </a:lnTo>
                  <a:lnTo>
                    <a:pt x="377" y="584"/>
                  </a:lnTo>
                  <a:lnTo>
                    <a:pt x="377" y="7"/>
                  </a:lnTo>
                  <a:lnTo>
                    <a:pt x="373" y="3"/>
                  </a:lnTo>
                  <a:lnTo>
                    <a:pt x="370" y="0"/>
                  </a:lnTo>
                  <a:lnTo>
                    <a:pt x="366" y="0"/>
                  </a:lnTo>
                  <a:lnTo>
                    <a:pt x="10" y="0"/>
                  </a:lnTo>
                  <a:lnTo>
                    <a:pt x="10" y="21"/>
                  </a:lnTo>
                  <a:lnTo>
                    <a:pt x="366" y="21"/>
                  </a:lnTo>
                  <a:lnTo>
                    <a:pt x="356" y="10"/>
                  </a:lnTo>
                  <a:lnTo>
                    <a:pt x="356" y="581"/>
                  </a:lnTo>
                  <a:lnTo>
                    <a:pt x="366" y="570"/>
                  </a:lnTo>
                  <a:lnTo>
                    <a:pt x="10" y="570"/>
                  </a:lnTo>
                  <a:lnTo>
                    <a:pt x="21" y="581"/>
                  </a:lnTo>
                  <a:lnTo>
                    <a:pt x="21" y="10"/>
                  </a:lnTo>
                  <a:lnTo>
                    <a:pt x="10" y="2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3"/>
            <p:cNvSpPr>
              <a:spLocks noChangeAspect="1"/>
            </p:cNvSpPr>
            <p:nvPr/>
          </p:nvSpPr>
          <p:spPr bwMode="auto">
            <a:xfrm>
              <a:off x="4724" y="3313"/>
              <a:ext cx="441" cy="21"/>
            </a:xfrm>
            <a:custGeom>
              <a:avLst/>
              <a:gdLst>
                <a:gd name="T0" fmla="*/ 11 w 425"/>
                <a:gd name="T1" fmla="*/ 0 h 20"/>
                <a:gd name="T2" fmla="*/ 7 w 425"/>
                <a:gd name="T3" fmla="*/ 0 h 20"/>
                <a:gd name="T4" fmla="*/ 4 w 425"/>
                <a:gd name="T5" fmla="*/ 3 h 20"/>
                <a:gd name="T6" fmla="*/ 0 w 425"/>
                <a:gd name="T7" fmla="*/ 7 h 20"/>
                <a:gd name="T8" fmla="*/ 0 w 425"/>
                <a:gd name="T9" fmla="*/ 20 h 20"/>
                <a:gd name="T10" fmla="*/ 4 w 425"/>
                <a:gd name="T11" fmla="*/ 23 h 20"/>
                <a:gd name="T12" fmla="*/ 7 w 425"/>
                <a:gd name="T13" fmla="*/ 26 h 20"/>
                <a:gd name="T14" fmla="*/ 523 w 425"/>
                <a:gd name="T15" fmla="*/ 26 h 20"/>
                <a:gd name="T16" fmla="*/ 526 w 425"/>
                <a:gd name="T17" fmla="*/ 23 h 20"/>
                <a:gd name="T18" fmla="*/ 531 w 425"/>
                <a:gd name="T19" fmla="*/ 20 h 20"/>
                <a:gd name="T20" fmla="*/ 531 w 425"/>
                <a:gd name="T21" fmla="*/ 7 h 20"/>
                <a:gd name="T22" fmla="*/ 526 w 425"/>
                <a:gd name="T23" fmla="*/ 3 h 20"/>
                <a:gd name="T24" fmla="*/ 523 w 425"/>
                <a:gd name="T25" fmla="*/ 0 h 20"/>
                <a:gd name="T26" fmla="*/ 518 w 425"/>
                <a:gd name="T27" fmla="*/ 0 h 20"/>
                <a:gd name="T28" fmla="*/ 11 w 425"/>
                <a:gd name="T29" fmla="*/ 0 h 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5" h="20">
                  <a:moveTo>
                    <a:pt x="11" y="0"/>
                  </a:moveTo>
                  <a:lnTo>
                    <a:pt x="7" y="0"/>
                  </a:lnTo>
                  <a:lnTo>
                    <a:pt x="4" y="3"/>
                  </a:lnTo>
                  <a:lnTo>
                    <a:pt x="0" y="7"/>
                  </a:lnTo>
                  <a:lnTo>
                    <a:pt x="0" y="14"/>
                  </a:lnTo>
                  <a:lnTo>
                    <a:pt x="4" y="17"/>
                  </a:lnTo>
                  <a:lnTo>
                    <a:pt x="7" y="20"/>
                  </a:lnTo>
                  <a:lnTo>
                    <a:pt x="419" y="20"/>
                  </a:lnTo>
                  <a:lnTo>
                    <a:pt x="422" y="17"/>
                  </a:lnTo>
                  <a:lnTo>
                    <a:pt x="425" y="14"/>
                  </a:lnTo>
                  <a:lnTo>
                    <a:pt x="425" y="7"/>
                  </a:lnTo>
                  <a:lnTo>
                    <a:pt x="422" y="3"/>
                  </a:lnTo>
                  <a:lnTo>
                    <a:pt x="419" y="0"/>
                  </a:lnTo>
                  <a:lnTo>
                    <a:pt x="415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4"/>
            <p:cNvSpPr>
              <a:spLocks noChangeAspect="1"/>
            </p:cNvSpPr>
            <p:nvPr/>
          </p:nvSpPr>
          <p:spPr bwMode="auto">
            <a:xfrm>
              <a:off x="5046" y="3313"/>
              <a:ext cx="119" cy="45"/>
            </a:xfrm>
            <a:custGeom>
              <a:avLst/>
              <a:gdLst>
                <a:gd name="T0" fmla="*/ 131 w 115"/>
                <a:gd name="T1" fmla="*/ 26 h 43"/>
                <a:gd name="T2" fmla="*/ 135 w 115"/>
                <a:gd name="T3" fmla="*/ 25 h 43"/>
                <a:gd name="T4" fmla="*/ 140 w 115"/>
                <a:gd name="T5" fmla="*/ 21 h 43"/>
                <a:gd name="T6" fmla="*/ 141 w 115"/>
                <a:gd name="T7" fmla="*/ 20 h 43"/>
                <a:gd name="T8" fmla="*/ 141 w 115"/>
                <a:gd name="T9" fmla="*/ 8 h 43"/>
                <a:gd name="T10" fmla="*/ 140 w 115"/>
                <a:gd name="T11" fmla="*/ 5 h 43"/>
                <a:gd name="T12" fmla="*/ 135 w 115"/>
                <a:gd name="T13" fmla="*/ 1 h 43"/>
                <a:gd name="T14" fmla="*/ 133 w 115"/>
                <a:gd name="T15" fmla="*/ 0 h 43"/>
                <a:gd name="T16" fmla="*/ 127 w 115"/>
                <a:gd name="T17" fmla="*/ 0 h 43"/>
                <a:gd name="T18" fmla="*/ 8 w 115"/>
                <a:gd name="T19" fmla="*/ 28 h 43"/>
                <a:gd name="T20" fmla="*/ 5 w 115"/>
                <a:gd name="T21" fmla="*/ 30 h 43"/>
                <a:gd name="T22" fmla="*/ 1 w 115"/>
                <a:gd name="T23" fmla="*/ 33 h 43"/>
                <a:gd name="T24" fmla="*/ 0 w 115"/>
                <a:gd name="T25" fmla="*/ 37 h 43"/>
                <a:gd name="T26" fmla="*/ 0 w 115"/>
                <a:gd name="T27" fmla="*/ 46 h 43"/>
                <a:gd name="T28" fmla="*/ 1 w 115"/>
                <a:gd name="T29" fmla="*/ 50 h 43"/>
                <a:gd name="T30" fmla="*/ 5 w 115"/>
                <a:gd name="T31" fmla="*/ 53 h 43"/>
                <a:gd name="T32" fmla="*/ 7 w 115"/>
                <a:gd name="T33" fmla="*/ 55 h 43"/>
                <a:gd name="T34" fmla="*/ 12 w 115"/>
                <a:gd name="T35" fmla="*/ 55 h 43"/>
                <a:gd name="T36" fmla="*/ 131 w 115"/>
                <a:gd name="T37" fmla="*/ 26 h 4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5" h="43">
                  <a:moveTo>
                    <a:pt x="107" y="20"/>
                  </a:moveTo>
                  <a:lnTo>
                    <a:pt x="110" y="19"/>
                  </a:lnTo>
                  <a:lnTo>
                    <a:pt x="114" y="15"/>
                  </a:lnTo>
                  <a:lnTo>
                    <a:pt x="115" y="14"/>
                  </a:lnTo>
                  <a:lnTo>
                    <a:pt x="115" y="8"/>
                  </a:lnTo>
                  <a:lnTo>
                    <a:pt x="114" y="5"/>
                  </a:lnTo>
                  <a:lnTo>
                    <a:pt x="110" y="1"/>
                  </a:lnTo>
                  <a:lnTo>
                    <a:pt x="109" y="0"/>
                  </a:lnTo>
                  <a:lnTo>
                    <a:pt x="103" y="0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1" y="27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1" y="38"/>
                  </a:lnTo>
                  <a:lnTo>
                    <a:pt x="5" y="41"/>
                  </a:lnTo>
                  <a:lnTo>
                    <a:pt x="7" y="43"/>
                  </a:lnTo>
                  <a:lnTo>
                    <a:pt x="12" y="43"/>
                  </a:lnTo>
                  <a:lnTo>
                    <a:pt x="107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5"/>
            <p:cNvSpPr>
              <a:spLocks noChangeAspect="1"/>
            </p:cNvSpPr>
            <p:nvPr/>
          </p:nvSpPr>
          <p:spPr bwMode="auto">
            <a:xfrm>
              <a:off x="5046" y="3287"/>
              <a:ext cx="119" cy="47"/>
            </a:xfrm>
            <a:custGeom>
              <a:avLst/>
              <a:gdLst>
                <a:gd name="T0" fmla="*/ 127 w 115"/>
                <a:gd name="T1" fmla="*/ 57 h 45"/>
                <a:gd name="T2" fmla="*/ 133 w 115"/>
                <a:gd name="T3" fmla="*/ 57 h 45"/>
                <a:gd name="T4" fmla="*/ 137 w 115"/>
                <a:gd name="T5" fmla="*/ 54 h 45"/>
                <a:gd name="T6" fmla="*/ 140 w 115"/>
                <a:gd name="T7" fmla="*/ 52 h 45"/>
                <a:gd name="T8" fmla="*/ 141 w 115"/>
                <a:gd name="T9" fmla="*/ 49 h 45"/>
                <a:gd name="T10" fmla="*/ 141 w 115"/>
                <a:gd name="T11" fmla="*/ 42 h 45"/>
                <a:gd name="T12" fmla="*/ 137 w 115"/>
                <a:gd name="T13" fmla="*/ 34 h 45"/>
                <a:gd name="T14" fmla="*/ 135 w 115"/>
                <a:gd name="T15" fmla="*/ 32 h 45"/>
                <a:gd name="T16" fmla="*/ 131 w 115"/>
                <a:gd name="T17" fmla="*/ 31 h 45"/>
                <a:gd name="T18" fmla="*/ 12 w 115"/>
                <a:gd name="T19" fmla="*/ 0 h 45"/>
                <a:gd name="T20" fmla="*/ 7 w 115"/>
                <a:gd name="T21" fmla="*/ 0 h 45"/>
                <a:gd name="T22" fmla="*/ 3 w 115"/>
                <a:gd name="T23" fmla="*/ 4 h 45"/>
                <a:gd name="T24" fmla="*/ 1 w 115"/>
                <a:gd name="T25" fmla="*/ 6 h 45"/>
                <a:gd name="T26" fmla="*/ 0 w 115"/>
                <a:gd name="T27" fmla="*/ 9 h 45"/>
                <a:gd name="T28" fmla="*/ 0 w 115"/>
                <a:gd name="T29" fmla="*/ 20 h 45"/>
                <a:gd name="T30" fmla="*/ 3 w 115"/>
                <a:gd name="T31" fmla="*/ 24 h 45"/>
                <a:gd name="T32" fmla="*/ 5 w 115"/>
                <a:gd name="T33" fmla="*/ 25 h 45"/>
                <a:gd name="T34" fmla="*/ 8 w 115"/>
                <a:gd name="T35" fmla="*/ 27 h 45"/>
                <a:gd name="T36" fmla="*/ 127 w 115"/>
                <a:gd name="T37" fmla="*/ 57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5" h="45">
                  <a:moveTo>
                    <a:pt x="103" y="45"/>
                  </a:moveTo>
                  <a:lnTo>
                    <a:pt x="109" y="45"/>
                  </a:lnTo>
                  <a:lnTo>
                    <a:pt x="112" y="42"/>
                  </a:lnTo>
                  <a:lnTo>
                    <a:pt x="114" y="40"/>
                  </a:lnTo>
                  <a:lnTo>
                    <a:pt x="115" y="37"/>
                  </a:lnTo>
                  <a:lnTo>
                    <a:pt x="115" y="32"/>
                  </a:lnTo>
                  <a:lnTo>
                    <a:pt x="112" y="28"/>
                  </a:lnTo>
                  <a:lnTo>
                    <a:pt x="110" y="26"/>
                  </a:lnTo>
                  <a:lnTo>
                    <a:pt x="107" y="25"/>
                  </a:lnTo>
                  <a:lnTo>
                    <a:pt x="12" y="0"/>
                  </a:lnTo>
                  <a:lnTo>
                    <a:pt x="7" y="0"/>
                  </a:lnTo>
                  <a:lnTo>
                    <a:pt x="3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0" y="14"/>
                  </a:lnTo>
                  <a:lnTo>
                    <a:pt x="3" y="18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103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6"/>
            <p:cNvSpPr>
              <a:spLocks noChangeAspect="1"/>
            </p:cNvSpPr>
            <p:nvPr/>
          </p:nvSpPr>
          <p:spPr bwMode="auto">
            <a:xfrm>
              <a:off x="4854" y="3267"/>
              <a:ext cx="109" cy="110"/>
            </a:xfrm>
            <a:custGeom>
              <a:avLst/>
              <a:gdLst>
                <a:gd name="T0" fmla="*/ 129 w 105"/>
                <a:gd name="T1" fmla="*/ 9 h 106"/>
                <a:gd name="T2" fmla="*/ 131 w 105"/>
                <a:gd name="T3" fmla="*/ 9 h 106"/>
                <a:gd name="T4" fmla="*/ 131 w 105"/>
                <a:gd name="T5" fmla="*/ 4 h 106"/>
                <a:gd name="T6" fmla="*/ 129 w 105"/>
                <a:gd name="T7" fmla="*/ 2 h 106"/>
                <a:gd name="T8" fmla="*/ 129 w 105"/>
                <a:gd name="T9" fmla="*/ 0 h 106"/>
                <a:gd name="T10" fmla="*/ 122 w 105"/>
                <a:gd name="T11" fmla="*/ 0 h 106"/>
                <a:gd name="T12" fmla="*/ 120 w 105"/>
                <a:gd name="T13" fmla="*/ 2 h 106"/>
                <a:gd name="T14" fmla="*/ 1 w 105"/>
                <a:gd name="T15" fmla="*/ 121 h 106"/>
                <a:gd name="T16" fmla="*/ 0 w 105"/>
                <a:gd name="T17" fmla="*/ 123 h 106"/>
                <a:gd name="T18" fmla="*/ 0 w 105"/>
                <a:gd name="T19" fmla="*/ 130 h 106"/>
                <a:gd name="T20" fmla="*/ 1 w 105"/>
                <a:gd name="T21" fmla="*/ 130 h 106"/>
                <a:gd name="T22" fmla="*/ 3 w 105"/>
                <a:gd name="T23" fmla="*/ 132 h 106"/>
                <a:gd name="T24" fmla="*/ 8 w 105"/>
                <a:gd name="T25" fmla="*/ 132 h 106"/>
                <a:gd name="T26" fmla="*/ 8 w 105"/>
                <a:gd name="T27" fmla="*/ 130 h 106"/>
                <a:gd name="T28" fmla="*/ 129 w 105"/>
                <a:gd name="T29" fmla="*/ 9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5" h="106">
                  <a:moveTo>
                    <a:pt x="103" y="9"/>
                  </a:moveTo>
                  <a:lnTo>
                    <a:pt x="105" y="9"/>
                  </a:lnTo>
                  <a:lnTo>
                    <a:pt x="105" y="4"/>
                  </a:lnTo>
                  <a:lnTo>
                    <a:pt x="103" y="2"/>
                  </a:lnTo>
                  <a:lnTo>
                    <a:pt x="103" y="0"/>
                  </a:lnTo>
                  <a:lnTo>
                    <a:pt x="98" y="0"/>
                  </a:lnTo>
                  <a:lnTo>
                    <a:pt x="96" y="2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4"/>
                  </a:lnTo>
                  <a:lnTo>
                    <a:pt x="1" y="104"/>
                  </a:lnTo>
                  <a:lnTo>
                    <a:pt x="3" y="106"/>
                  </a:lnTo>
                  <a:lnTo>
                    <a:pt x="8" y="106"/>
                  </a:lnTo>
                  <a:lnTo>
                    <a:pt x="8" y="104"/>
                  </a:lnTo>
                  <a:lnTo>
                    <a:pt x="103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67"/>
            <p:cNvSpPr>
              <a:spLocks noChangeAspect="1" noChangeArrowheads="1"/>
            </p:cNvSpPr>
            <p:nvPr/>
          </p:nvSpPr>
          <p:spPr bwMode="auto">
            <a:xfrm>
              <a:off x="4839" y="3167"/>
              <a:ext cx="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n</a:t>
              </a:r>
              <a:endParaRPr lang="en-US" altLang="zh-CN" sz="2800"/>
            </a:p>
          </p:txBody>
        </p:sp>
        <p:sp>
          <p:nvSpPr>
            <p:cNvPr id="68" name="Freeform 68"/>
            <p:cNvSpPr>
              <a:spLocks noChangeAspect="1"/>
            </p:cNvSpPr>
            <p:nvPr/>
          </p:nvSpPr>
          <p:spPr bwMode="auto">
            <a:xfrm>
              <a:off x="4264" y="1626"/>
              <a:ext cx="22" cy="181"/>
            </a:xfrm>
            <a:custGeom>
              <a:avLst/>
              <a:gdLst>
                <a:gd name="T0" fmla="*/ 27 w 21"/>
                <a:gd name="T1" fmla="*/ 10 h 174"/>
                <a:gd name="T2" fmla="*/ 27 w 21"/>
                <a:gd name="T3" fmla="*/ 7 h 174"/>
                <a:gd name="T4" fmla="*/ 23 w 21"/>
                <a:gd name="T5" fmla="*/ 3 h 174"/>
                <a:gd name="T6" fmla="*/ 20 w 21"/>
                <a:gd name="T7" fmla="*/ 0 h 174"/>
                <a:gd name="T8" fmla="*/ 7 w 21"/>
                <a:gd name="T9" fmla="*/ 0 h 174"/>
                <a:gd name="T10" fmla="*/ 3 w 21"/>
                <a:gd name="T11" fmla="*/ 3 h 174"/>
                <a:gd name="T12" fmla="*/ 0 w 21"/>
                <a:gd name="T13" fmla="*/ 7 h 174"/>
                <a:gd name="T14" fmla="*/ 0 w 21"/>
                <a:gd name="T15" fmla="*/ 212 h 174"/>
                <a:gd name="T16" fmla="*/ 3 w 21"/>
                <a:gd name="T17" fmla="*/ 216 h 174"/>
                <a:gd name="T18" fmla="*/ 7 w 21"/>
                <a:gd name="T19" fmla="*/ 221 h 174"/>
                <a:gd name="T20" fmla="*/ 20 w 21"/>
                <a:gd name="T21" fmla="*/ 221 h 174"/>
                <a:gd name="T22" fmla="*/ 23 w 21"/>
                <a:gd name="T23" fmla="*/ 216 h 174"/>
                <a:gd name="T24" fmla="*/ 27 w 21"/>
                <a:gd name="T25" fmla="*/ 212 h 174"/>
                <a:gd name="T26" fmla="*/ 27 w 21"/>
                <a:gd name="T27" fmla="*/ 208 h 174"/>
                <a:gd name="T28" fmla="*/ 27 w 21"/>
                <a:gd name="T29" fmla="*/ 10 h 1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" h="174">
                  <a:moveTo>
                    <a:pt x="21" y="10"/>
                  </a:moveTo>
                  <a:lnTo>
                    <a:pt x="21" y="7"/>
                  </a:lnTo>
                  <a:lnTo>
                    <a:pt x="17" y="3"/>
                  </a:lnTo>
                  <a:lnTo>
                    <a:pt x="14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67"/>
                  </a:lnTo>
                  <a:lnTo>
                    <a:pt x="3" y="171"/>
                  </a:lnTo>
                  <a:lnTo>
                    <a:pt x="7" y="174"/>
                  </a:lnTo>
                  <a:lnTo>
                    <a:pt x="14" y="174"/>
                  </a:lnTo>
                  <a:lnTo>
                    <a:pt x="17" y="171"/>
                  </a:lnTo>
                  <a:lnTo>
                    <a:pt x="21" y="167"/>
                  </a:lnTo>
                  <a:lnTo>
                    <a:pt x="21" y="164"/>
                  </a:lnTo>
                  <a:lnTo>
                    <a:pt x="21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9"/>
            <p:cNvSpPr>
              <a:spLocks noChangeAspect="1"/>
            </p:cNvSpPr>
            <p:nvPr/>
          </p:nvSpPr>
          <p:spPr bwMode="auto">
            <a:xfrm>
              <a:off x="4257" y="1722"/>
              <a:ext cx="50" cy="91"/>
            </a:xfrm>
            <a:custGeom>
              <a:avLst/>
              <a:gdLst>
                <a:gd name="T0" fmla="*/ 0 w 48"/>
                <a:gd name="T1" fmla="*/ 95 h 87"/>
                <a:gd name="T2" fmla="*/ 0 w 48"/>
                <a:gd name="T3" fmla="*/ 105 h 87"/>
                <a:gd name="T4" fmla="*/ 2 w 48"/>
                <a:gd name="T5" fmla="*/ 109 h 87"/>
                <a:gd name="T6" fmla="*/ 3 w 48"/>
                <a:gd name="T7" fmla="*/ 111 h 87"/>
                <a:gd name="T8" fmla="*/ 7 w 48"/>
                <a:gd name="T9" fmla="*/ 114 h 87"/>
                <a:gd name="T10" fmla="*/ 20 w 48"/>
                <a:gd name="T11" fmla="*/ 114 h 87"/>
                <a:gd name="T12" fmla="*/ 23 w 48"/>
                <a:gd name="T13" fmla="*/ 111 h 87"/>
                <a:gd name="T14" fmla="*/ 25 w 48"/>
                <a:gd name="T15" fmla="*/ 109 h 87"/>
                <a:gd name="T16" fmla="*/ 27 w 48"/>
                <a:gd name="T17" fmla="*/ 105 h 87"/>
                <a:gd name="T18" fmla="*/ 60 w 48"/>
                <a:gd name="T19" fmla="*/ 20 h 87"/>
                <a:gd name="T20" fmla="*/ 60 w 48"/>
                <a:gd name="T21" fmla="*/ 7 h 87"/>
                <a:gd name="T22" fmla="*/ 59 w 48"/>
                <a:gd name="T23" fmla="*/ 4 h 87"/>
                <a:gd name="T24" fmla="*/ 57 w 48"/>
                <a:gd name="T25" fmla="*/ 2 h 87"/>
                <a:gd name="T26" fmla="*/ 53 w 48"/>
                <a:gd name="T27" fmla="*/ 0 h 87"/>
                <a:gd name="T28" fmla="*/ 44 w 48"/>
                <a:gd name="T29" fmla="*/ 0 h 87"/>
                <a:gd name="T30" fmla="*/ 38 w 48"/>
                <a:gd name="T31" fmla="*/ 2 h 87"/>
                <a:gd name="T32" fmla="*/ 35 w 48"/>
                <a:gd name="T33" fmla="*/ 4 h 87"/>
                <a:gd name="T34" fmla="*/ 34 w 48"/>
                <a:gd name="T35" fmla="*/ 7 h 87"/>
                <a:gd name="T36" fmla="*/ 0 w 48"/>
                <a:gd name="T37" fmla="*/ 95 h 8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8" h="87">
                  <a:moveTo>
                    <a:pt x="0" y="73"/>
                  </a:moveTo>
                  <a:lnTo>
                    <a:pt x="0" y="80"/>
                  </a:lnTo>
                  <a:lnTo>
                    <a:pt x="2" y="83"/>
                  </a:lnTo>
                  <a:lnTo>
                    <a:pt x="3" y="85"/>
                  </a:lnTo>
                  <a:lnTo>
                    <a:pt x="7" y="87"/>
                  </a:lnTo>
                  <a:lnTo>
                    <a:pt x="14" y="87"/>
                  </a:lnTo>
                  <a:lnTo>
                    <a:pt x="17" y="85"/>
                  </a:lnTo>
                  <a:lnTo>
                    <a:pt x="19" y="83"/>
                  </a:lnTo>
                  <a:lnTo>
                    <a:pt x="21" y="80"/>
                  </a:lnTo>
                  <a:lnTo>
                    <a:pt x="48" y="14"/>
                  </a:lnTo>
                  <a:lnTo>
                    <a:pt x="48" y="7"/>
                  </a:lnTo>
                  <a:lnTo>
                    <a:pt x="47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4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8" y="7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70"/>
            <p:cNvSpPr>
              <a:spLocks noChangeAspect="1"/>
            </p:cNvSpPr>
            <p:nvPr/>
          </p:nvSpPr>
          <p:spPr bwMode="auto">
            <a:xfrm>
              <a:off x="4237" y="1722"/>
              <a:ext cx="42" cy="85"/>
            </a:xfrm>
            <a:custGeom>
              <a:avLst/>
              <a:gdLst>
                <a:gd name="T0" fmla="*/ 25 w 40"/>
                <a:gd name="T1" fmla="*/ 99 h 81"/>
                <a:gd name="T2" fmla="*/ 28 w 40"/>
                <a:gd name="T3" fmla="*/ 104 h 81"/>
                <a:gd name="T4" fmla="*/ 30 w 40"/>
                <a:gd name="T5" fmla="*/ 107 h 81"/>
                <a:gd name="T6" fmla="*/ 38 w 40"/>
                <a:gd name="T7" fmla="*/ 108 h 81"/>
                <a:gd name="T8" fmla="*/ 45 w 40"/>
                <a:gd name="T9" fmla="*/ 108 h 81"/>
                <a:gd name="T10" fmla="*/ 48 w 40"/>
                <a:gd name="T11" fmla="*/ 104 h 81"/>
                <a:gd name="T12" fmla="*/ 50 w 40"/>
                <a:gd name="T13" fmla="*/ 102 h 81"/>
                <a:gd name="T14" fmla="*/ 53 w 40"/>
                <a:gd name="T15" fmla="*/ 98 h 81"/>
                <a:gd name="T16" fmla="*/ 53 w 40"/>
                <a:gd name="T17" fmla="*/ 91 h 81"/>
                <a:gd name="T18" fmla="*/ 27 w 40"/>
                <a:gd name="T19" fmla="*/ 7 h 81"/>
                <a:gd name="T20" fmla="*/ 23 w 40"/>
                <a:gd name="T21" fmla="*/ 4 h 81"/>
                <a:gd name="T22" fmla="*/ 21 w 40"/>
                <a:gd name="T23" fmla="*/ 2 h 81"/>
                <a:gd name="T24" fmla="*/ 18 w 40"/>
                <a:gd name="T25" fmla="*/ 0 h 81"/>
                <a:gd name="T26" fmla="*/ 7 w 40"/>
                <a:gd name="T27" fmla="*/ 0 h 81"/>
                <a:gd name="T28" fmla="*/ 3 w 40"/>
                <a:gd name="T29" fmla="*/ 4 h 81"/>
                <a:gd name="T30" fmla="*/ 2 w 40"/>
                <a:gd name="T31" fmla="*/ 5 h 81"/>
                <a:gd name="T32" fmla="*/ 0 w 40"/>
                <a:gd name="T33" fmla="*/ 9 h 81"/>
                <a:gd name="T34" fmla="*/ 0 w 40"/>
                <a:gd name="T35" fmla="*/ 20 h 81"/>
                <a:gd name="T36" fmla="*/ 25 w 40"/>
                <a:gd name="T37" fmla="*/ 99 h 8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0" h="81">
                  <a:moveTo>
                    <a:pt x="19" y="74"/>
                  </a:moveTo>
                  <a:lnTo>
                    <a:pt x="22" y="78"/>
                  </a:lnTo>
                  <a:lnTo>
                    <a:pt x="24" y="80"/>
                  </a:lnTo>
                  <a:lnTo>
                    <a:pt x="28" y="81"/>
                  </a:lnTo>
                  <a:lnTo>
                    <a:pt x="33" y="81"/>
                  </a:lnTo>
                  <a:lnTo>
                    <a:pt x="36" y="78"/>
                  </a:lnTo>
                  <a:lnTo>
                    <a:pt x="38" y="76"/>
                  </a:lnTo>
                  <a:lnTo>
                    <a:pt x="40" y="73"/>
                  </a:lnTo>
                  <a:lnTo>
                    <a:pt x="40" y="68"/>
                  </a:lnTo>
                  <a:lnTo>
                    <a:pt x="21" y="7"/>
                  </a:lnTo>
                  <a:lnTo>
                    <a:pt x="17" y="4"/>
                  </a:lnTo>
                  <a:lnTo>
                    <a:pt x="15" y="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4"/>
                  </a:lnTo>
                  <a:lnTo>
                    <a:pt x="19" y="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71"/>
            <p:cNvSpPr>
              <a:spLocks noChangeAspect="1"/>
            </p:cNvSpPr>
            <p:nvPr/>
          </p:nvSpPr>
          <p:spPr bwMode="auto">
            <a:xfrm>
              <a:off x="5317" y="2948"/>
              <a:ext cx="21" cy="180"/>
            </a:xfrm>
            <a:custGeom>
              <a:avLst/>
              <a:gdLst>
                <a:gd name="T0" fmla="*/ 26 w 20"/>
                <a:gd name="T1" fmla="*/ 10 h 173"/>
                <a:gd name="T2" fmla="*/ 26 w 20"/>
                <a:gd name="T3" fmla="*/ 7 h 173"/>
                <a:gd name="T4" fmla="*/ 23 w 20"/>
                <a:gd name="T5" fmla="*/ 3 h 173"/>
                <a:gd name="T6" fmla="*/ 19 w 20"/>
                <a:gd name="T7" fmla="*/ 0 h 173"/>
                <a:gd name="T8" fmla="*/ 7 w 20"/>
                <a:gd name="T9" fmla="*/ 0 h 173"/>
                <a:gd name="T10" fmla="*/ 3 w 20"/>
                <a:gd name="T11" fmla="*/ 3 h 173"/>
                <a:gd name="T12" fmla="*/ 0 w 20"/>
                <a:gd name="T13" fmla="*/ 7 h 173"/>
                <a:gd name="T14" fmla="*/ 0 w 20"/>
                <a:gd name="T15" fmla="*/ 211 h 173"/>
                <a:gd name="T16" fmla="*/ 3 w 20"/>
                <a:gd name="T17" fmla="*/ 214 h 173"/>
                <a:gd name="T18" fmla="*/ 7 w 20"/>
                <a:gd name="T19" fmla="*/ 220 h 173"/>
                <a:gd name="T20" fmla="*/ 19 w 20"/>
                <a:gd name="T21" fmla="*/ 220 h 173"/>
                <a:gd name="T22" fmla="*/ 23 w 20"/>
                <a:gd name="T23" fmla="*/ 214 h 173"/>
                <a:gd name="T24" fmla="*/ 26 w 20"/>
                <a:gd name="T25" fmla="*/ 211 h 173"/>
                <a:gd name="T26" fmla="*/ 26 w 20"/>
                <a:gd name="T27" fmla="*/ 206 h 173"/>
                <a:gd name="T28" fmla="*/ 26 w 20"/>
                <a:gd name="T29" fmla="*/ 10 h 17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73">
                  <a:moveTo>
                    <a:pt x="20" y="10"/>
                  </a:moveTo>
                  <a:lnTo>
                    <a:pt x="20" y="7"/>
                  </a:lnTo>
                  <a:lnTo>
                    <a:pt x="17" y="3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66"/>
                  </a:lnTo>
                  <a:lnTo>
                    <a:pt x="3" y="169"/>
                  </a:lnTo>
                  <a:lnTo>
                    <a:pt x="7" y="173"/>
                  </a:lnTo>
                  <a:lnTo>
                    <a:pt x="13" y="173"/>
                  </a:lnTo>
                  <a:lnTo>
                    <a:pt x="17" y="169"/>
                  </a:lnTo>
                  <a:lnTo>
                    <a:pt x="20" y="166"/>
                  </a:lnTo>
                  <a:lnTo>
                    <a:pt x="20" y="162"/>
                  </a:lnTo>
                  <a:lnTo>
                    <a:pt x="2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2"/>
            <p:cNvSpPr>
              <a:spLocks noChangeAspect="1"/>
            </p:cNvSpPr>
            <p:nvPr/>
          </p:nvSpPr>
          <p:spPr bwMode="auto">
            <a:xfrm>
              <a:off x="5310" y="3043"/>
              <a:ext cx="48" cy="92"/>
            </a:xfrm>
            <a:custGeom>
              <a:avLst/>
              <a:gdLst>
                <a:gd name="T0" fmla="*/ 0 w 46"/>
                <a:gd name="T1" fmla="*/ 93 h 89"/>
                <a:gd name="T2" fmla="*/ 0 w 46"/>
                <a:gd name="T3" fmla="*/ 98 h 89"/>
                <a:gd name="T4" fmla="*/ 1 w 46"/>
                <a:gd name="T5" fmla="*/ 100 h 89"/>
                <a:gd name="T6" fmla="*/ 1 w 46"/>
                <a:gd name="T7" fmla="*/ 103 h 89"/>
                <a:gd name="T8" fmla="*/ 3 w 46"/>
                <a:gd name="T9" fmla="*/ 105 h 89"/>
                <a:gd name="T10" fmla="*/ 7 w 46"/>
                <a:gd name="T11" fmla="*/ 108 h 89"/>
                <a:gd name="T12" fmla="*/ 18 w 46"/>
                <a:gd name="T13" fmla="*/ 108 h 89"/>
                <a:gd name="T14" fmla="*/ 20 w 46"/>
                <a:gd name="T15" fmla="*/ 105 h 89"/>
                <a:gd name="T16" fmla="*/ 23 w 46"/>
                <a:gd name="T17" fmla="*/ 105 h 89"/>
                <a:gd name="T18" fmla="*/ 25 w 46"/>
                <a:gd name="T19" fmla="*/ 103 h 89"/>
                <a:gd name="T20" fmla="*/ 26 w 46"/>
                <a:gd name="T21" fmla="*/ 100 h 89"/>
                <a:gd name="T22" fmla="*/ 58 w 46"/>
                <a:gd name="T23" fmla="*/ 14 h 89"/>
                <a:gd name="T24" fmla="*/ 58 w 46"/>
                <a:gd name="T25" fmla="*/ 9 h 89"/>
                <a:gd name="T26" fmla="*/ 57 w 46"/>
                <a:gd name="T27" fmla="*/ 7 h 89"/>
                <a:gd name="T28" fmla="*/ 57 w 46"/>
                <a:gd name="T29" fmla="*/ 4 h 89"/>
                <a:gd name="T30" fmla="*/ 55 w 46"/>
                <a:gd name="T31" fmla="*/ 2 h 89"/>
                <a:gd name="T32" fmla="*/ 51 w 46"/>
                <a:gd name="T33" fmla="*/ 0 h 89"/>
                <a:gd name="T34" fmla="*/ 45 w 46"/>
                <a:gd name="T35" fmla="*/ 0 h 89"/>
                <a:gd name="T36" fmla="*/ 43 w 46"/>
                <a:gd name="T37" fmla="*/ 2 h 89"/>
                <a:gd name="T38" fmla="*/ 35 w 46"/>
                <a:gd name="T39" fmla="*/ 2 h 89"/>
                <a:gd name="T40" fmla="*/ 33 w 46"/>
                <a:gd name="T41" fmla="*/ 4 h 89"/>
                <a:gd name="T42" fmla="*/ 32 w 46"/>
                <a:gd name="T43" fmla="*/ 7 h 89"/>
                <a:gd name="T44" fmla="*/ 0 w 46"/>
                <a:gd name="T45" fmla="*/ 93 h 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" h="89">
                  <a:moveTo>
                    <a:pt x="0" y="75"/>
                  </a:moveTo>
                  <a:lnTo>
                    <a:pt x="0" y="80"/>
                  </a:lnTo>
                  <a:lnTo>
                    <a:pt x="1" y="82"/>
                  </a:lnTo>
                  <a:lnTo>
                    <a:pt x="1" y="85"/>
                  </a:lnTo>
                  <a:lnTo>
                    <a:pt x="3" y="87"/>
                  </a:lnTo>
                  <a:lnTo>
                    <a:pt x="7" y="89"/>
                  </a:lnTo>
                  <a:lnTo>
                    <a:pt x="12" y="89"/>
                  </a:lnTo>
                  <a:lnTo>
                    <a:pt x="14" y="87"/>
                  </a:lnTo>
                  <a:lnTo>
                    <a:pt x="17" y="87"/>
                  </a:lnTo>
                  <a:lnTo>
                    <a:pt x="19" y="85"/>
                  </a:lnTo>
                  <a:lnTo>
                    <a:pt x="20" y="82"/>
                  </a:lnTo>
                  <a:lnTo>
                    <a:pt x="46" y="14"/>
                  </a:lnTo>
                  <a:lnTo>
                    <a:pt x="46" y="9"/>
                  </a:lnTo>
                  <a:lnTo>
                    <a:pt x="45" y="7"/>
                  </a:lnTo>
                  <a:lnTo>
                    <a:pt x="45" y="4"/>
                  </a:lnTo>
                  <a:lnTo>
                    <a:pt x="43" y="2"/>
                  </a:lnTo>
                  <a:lnTo>
                    <a:pt x="39" y="0"/>
                  </a:lnTo>
                  <a:lnTo>
                    <a:pt x="34" y="0"/>
                  </a:lnTo>
                  <a:lnTo>
                    <a:pt x="33" y="2"/>
                  </a:lnTo>
                  <a:lnTo>
                    <a:pt x="29" y="2"/>
                  </a:lnTo>
                  <a:lnTo>
                    <a:pt x="27" y="4"/>
                  </a:lnTo>
                  <a:lnTo>
                    <a:pt x="26" y="7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3"/>
            <p:cNvSpPr>
              <a:spLocks noChangeAspect="1"/>
            </p:cNvSpPr>
            <p:nvPr/>
          </p:nvSpPr>
          <p:spPr bwMode="auto">
            <a:xfrm>
              <a:off x="5288" y="3043"/>
              <a:ext cx="43" cy="85"/>
            </a:xfrm>
            <a:custGeom>
              <a:avLst/>
              <a:gdLst>
                <a:gd name="T0" fmla="*/ 27 w 41"/>
                <a:gd name="T1" fmla="*/ 93 h 82"/>
                <a:gd name="T2" fmla="*/ 28 w 41"/>
                <a:gd name="T3" fmla="*/ 94 h 82"/>
                <a:gd name="T4" fmla="*/ 30 w 41"/>
                <a:gd name="T5" fmla="*/ 98 h 82"/>
                <a:gd name="T6" fmla="*/ 33 w 41"/>
                <a:gd name="T7" fmla="*/ 98 h 82"/>
                <a:gd name="T8" fmla="*/ 39 w 41"/>
                <a:gd name="T9" fmla="*/ 101 h 82"/>
                <a:gd name="T10" fmla="*/ 47 w 41"/>
                <a:gd name="T11" fmla="*/ 101 h 82"/>
                <a:gd name="T12" fmla="*/ 48 w 41"/>
                <a:gd name="T13" fmla="*/ 98 h 82"/>
                <a:gd name="T14" fmla="*/ 52 w 41"/>
                <a:gd name="T15" fmla="*/ 96 h 82"/>
                <a:gd name="T16" fmla="*/ 52 w 41"/>
                <a:gd name="T17" fmla="*/ 94 h 82"/>
                <a:gd name="T18" fmla="*/ 53 w 41"/>
                <a:gd name="T19" fmla="*/ 91 h 82"/>
                <a:gd name="T20" fmla="*/ 53 w 41"/>
                <a:gd name="T21" fmla="*/ 85 h 82"/>
                <a:gd name="T22" fmla="*/ 27 w 41"/>
                <a:gd name="T23" fmla="*/ 7 h 82"/>
                <a:gd name="T24" fmla="*/ 25 w 41"/>
                <a:gd name="T25" fmla="*/ 6 h 82"/>
                <a:gd name="T26" fmla="*/ 23 w 41"/>
                <a:gd name="T27" fmla="*/ 2 h 82"/>
                <a:gd name="T28" fmla="*/ 22 w 41"/>
                <a:gd name="T29" fmla="*/ 2 h 82"/>
                <a:gd name="T30" fmla="*/ 18 w 41"/>
                <a:gd name="T31" fmla="*/ 0 h 82"/>
                <a:gd name="T32" fmla="*/ 7 w 41"/>
                <a:gd name="T33" fmla="*/ 0 h 82"/>
                <a:gd name="T34" fmla="*/ 5 w 41"/>
                <a:gd name="T35" fmla="*/ 2 h 82"/>
                <a:gd name="T36" fmla="*/ 2 w 41"/>
                <a:gd name="T37" fmla="*/ 4 h 82"/>
                <a:gd name="T38" fmla="*/ 2 w 41"/>
                <a:gd name="T39" fmla="*/ 6 h 82"/>
                <a:gd name="T40" fmla="*/ 0 w 41"/>
                <a:gd name="T41" fmla="*/ 9 h 82"/>
                <a:gd name="T42" fmla="*/ 0 w 41"/>
                <a:gd name="T43" fmla="*/ 20 h 82"/>
                <a:gd name="T44" fmla="*/ 27 w 41"/>
                <a:gd name="T45" fmla="*/ 93 h 8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1" h="82">
                  <a:moveTo>
                    <a:pt x="21" y="75"/>
                  </a:moveTo>
                  <a:lnTo>
                    <a:pt x="22" y="76"/>
                  </a:lnTo>
                  <a:lnTo>
                    <a:pt x="24" y="80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5" y="82"/>
                  </a:lnTo>
                  <a:lnTo>
                    <a:pt x="36" y="80"/>
                  </a:lnTo>
                  <a:lnTo>
                    <a:pt x="40" y="78"/>
                  </a:lnTo>
                  <a:lnTo>
                    <a:pt x="40" y="76"/>
                  </a:lnTo>
                  <a:lnTo>
                    <a:pt x="41" y="73"/>
                  </a:lnTo>
                  <a:lnTo>
                    <a:pt x="41" y="68"/>
                  </a:lnTo>
                  <a:lnTo>
                    <a:pt x="21" y="7"/>
                  </a:lnTo>
                  <a:lnTo>
                    <a:pt x="19" y="6"/>
                  </a:lnTo>
                  <a:lnTo>
                    <a:pt x="17" y="2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4"/>
                  </a:lnTo>
                  <a:lnTo>
                    <a:pt x="21" y="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74"/>
            <p:cNvSpPr>
              <a:spLocks noChangeAspect="1" noChangeArrowheads="1"/>
            </p:cNvSpPr>
            <p:nvPr/>
          </p:nvSpPr>
          <p:spPr bwMode="auto">
            <a:xfrm>
              <a:off x="5290" y="3393"/>
              <a:ext cx="1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R2</a:t>
              </a:r>
              <a:endParaRPr lang="en-US" altLang="zh-CN" sz="2800"/>
            </a:p>
          </p:txBody>
        </p:sp>
        <p:sp>
          <p:nvSpPr>
            <p:cNvPr id="75" name="Rectangle 75"/>
            <p:cNvSpPr>
              <a:spLocks noChangeAspect="1" noChangeArrowheads="1"/>
            </p:cNvSpPr>
            <p:nvPr/>
          </p:nvSpPr>
          <p:spPr bwMode="auto">
            <a:xfrm>
              <a:off x="5236" y="3148"/>
              <a:ext cx="30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Swiss 721 SWA" charset="0"/>
                </a:rPr>
                <a:t>Load</a:t>
              </a:r>
              <a:endParaRPr lang="en-US" altLang="zh-CN" sz="2800"/>
            </a:p>
          </p:txBody>
        </p:sp>
        <p:sp>
          <p:nvSpPr>
            <p:cNvPr id="76" name="Freeform 76"/>
            <p:cNvSpPr>
              <a:spLocks noChangeAspect="1"/>
            </p:cNvSpPr>
            <p:nvPr/>
          </p:nvSpPr>
          <p:spPr bwMode="auto">
            <a:xfrm>
              <a:off x="5152" y="3124"/>
              <a:ext cx="391" cy="613"/>
            </a:xfrm>
            <a:custGeom>
              <a:avLst/>
              <a:gdLst>
                <a:gd name="T0" fmla="*/ 10 w 376"/>
                <a:gd name="T1" fmla="*/ 0 h 590"/>
                <a:gd name="T2" fmla="*/ 7 w 376"/>
                <a:gd name="T3" fmla="*/ 0 h 590"/>
                <a:gd name="T4" fmla="*/ 3 w 376"/>
                <a:gd name="T5" fmla="*/ 4 h 590"/>
                <a:gd name="T6" fmla="*/ 0 w 376"/>
                <a:gd name="T7" fmla="*/ 7 h 590"/>
                <a:gd name="T8" fmla="*/ 0 w 376"/>
                <a:gd name="T9" fmla="*/ 736 h 590"/>
                <a:gd name="T10" fmla="*/ 3 w 376"/>
                <a:gd name="T11" fmla="*/ 739 h 590"/>
                <a:gd name="T12" fmla="*/ 7 w 376"/>
                <a:gd name="T13" fmla="*/ 743 h 590"/>
                <a:gd name="T14" fmla="*/ 467 w 376"/>
                <a:gd name="T15" fmla="*/ 743 h 590"/>
                <a:gd name="T16" fmla="*/ 471 w 376"/>
                <a:gd name="T17" fmla="*/ 739 h 590"/>
                <a:gd name="T18" fmla="*/ 476 w 376"/>
                <a:gd name="T19" fmla="*/ 736 h 590"/>
                <a:gd name="T20" fmla="*/ 476 w 376"/>
                <a:gd name="T21" fmla="*/ 7 h 590"/>
                <a:gd name="T22" fmla="*/ 471 w 376"/>
                <a:gd name="T23" fmla="*/ 4 h 590"/>
                <a:gd name="T24" fmla="*/ 467 w 376"/>
                <a:gd name="T25" fmla="*/ 0 h 590"/>
                <a:gd name="T26" fmla="*/ 463 w 376"/>
                <a:gd name="T27" fmla="*/ 0 h 590"/>
                <a:gd name="T28" fmla="*/ 10 w 376"/>
                <a:gd name="T29" fmla="*/ 0 h 590"/>
                <a:gd name="T30" fmla="*/ 10 w 376"/>
                <a:gd name="T31" fmla="*/ 27 h 590"/>
                <a:gd name="T32" fmla="*/ 463 w 376"/>
                <a:gd name="T33" fmla="*/ 27 h 590"/>
                <a:gd name="T34" fmla="*/ 450 w 376"/>
                <a:gd name="T35" fmla="*/ 11 h 590"/>
                <a:gd name="T36" fmla="*/ 450 w 376"/>
                <a:gd name="T37" fmla="*/ 727 h 590"/>
                <a:gd name="T38" fmla="*/ 463 w 376"/>
                <a:gd name="T39" fmla="*/ 716 h 590"/>
                <a:gd name="T40" fmla="*/ 10 w 376"/>
                <a:gd name="T41" fmla="*/ 716 h 590"/>
                <a:gd name="T42" fmla="*/ 26 w 376"/>
                <a:gd name="T43" fmla="*/ 727 h 590"/>
                <a:gd name="T44" fmla="*/ 26 w 376"/>
                <a:gd name="T45" fmla="*/ 11 h 590"/>
                <a:gd name="T46" fmla="*/ 10 w 376"/>
                <a:gd name="T47" fmla="*/ 27 h 590"/>
                <a:gd name="T48" fmla="*/ 10 w 376"/>
                <a:gd name="T49" fmla="*/ 0 h 59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6" h="590">
                  <a:moveTo>
                    <a:pt x="10" y="0"/>
                  </a:moveTo>
                  <a:lnTo>
                    <a:pt x="7" y="0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583"/>
                  </a:lnTo>
                  <a:lnTo>
                    <a:pt x="3" y="586"/>
                  </a:lnTo>
                  <a:lnTo>
                    <a:pt x="7" y="590"/>
                  </a:lnTo>
                  <a:lnTo>
                    <a:pt x="369" y="590"/>
                  </a:lnTo>
                  <a:lnTo>
                    <a:pt x="373" y="586"/>
                  </a:lnTo>
                  <a:lnTo>
                    <a:pt x="376" y="583"/>
                  </a:lnTo>
                  <a:lnTo>
                    <a:pt x="376" y="7"/>
                  </a:lnTo>
                  <a:lnTo>
                    <a:pt x="373" y="4"/>
                  </a:lnTo>
                  <a:lnTo>
                    <a:pt x="369" y="0"/>
                  </a:lnTo>
                  <a:lnTo>
                    <a:pt x="366" y="0"/>
                  </a:lnTo>
                  <a:lnTo>
                    <a:pt x="10" y="0"/>
                  </a:lnTo>
                  <a:lnTo>
                    <a:pt x="10" y="21"/>
                  </a:lnTo>
                  <a:lnTo>
                    <a:pt x="366" y="21"/>
                  </a:lnTo>
                  <a:lnTo>
                    <a:pt x="356" y="11"/>
                  </a:lnTo>
                  <a:lnTo>
                    <a:pt x="356" y="579"/>
                  </a:lnTo>
                  <a:lnTo>
                    <a:pt x="366" y="569"/>
                  </a:lnTo>
                  <a:lnTo>
                    <a:pt x="10" y="569"/>
                  </a:lnTo>
                  <a:lnTo>
                    <a:pt x="20" y="579"/>
                  </a:lnTo>
                  <a:lnTo>
                    <a:pt x="20" y="11"/>
                  </a:lnTo>
                  <a:lnTo>
                    <a:pt x="10" y="2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7"/>
            <p:cNvSpPr>
              <a:spLocks noChangeAspect="1"/>
            </p:cNvSpPr>
            <p:nvPr/>
          </p:nvSpPr>
          <p:spPr bwMode="auto">
            <a:xfrm>
              <a:off x="4916" y="1338"/>
              <a:ext cx="157" cy="52"/>
            </a:xfrm>
            <a:custGeom>
              <a:avLst/>
              <a:gdLst>
                <a:gd name="T0" fmla="*/ 180 w 151"/>
                <a:gd name="T1" fmla="*/ 27 h 50"/>
                <a:gd name="T2" fmla="*/ 183 w 151"/>
                <a:gd name="T3" fmla="*/ 25 h 50"/>
                <a:gd name="T4" fmla="*/ 188 w 151"/>
                <a:gd name="T5" fmla="*/ 22 h 50"/>
                <a:gd name="T6" fmla="*/ 190 w 151"/>
                <a:gd name="T7" fmla="*/ 20 h 50"/>
                <a:gd name="T8" fmla="*/ 190 w 151"/>
                <a:gd name="T9" fmla="*/ 9 h 50"/>
                <a:gd name="T10" fmla="*/ 188 w 151"/>
                <a:gd name="T11" fmla="*/ 6 h 50"/>
                <a:gd name="T12" fmla="*/ 183 w 151"/>
                <a:gd name="T13" fmla="*/ 2 h 50"/>
                <a:gd name="T14" fmla="*/ 182 w 151"/>
                <a:gd name="T15" fmla="*/ 0 h 50"/>
                <a:gd name="T16" fmla="*/ 174 w 151"/>
                <a:gd name="T17" fmla="*/ 0 h 50"/>
                <a:gd name="T18" fmla="*/ 9 w 151"/>
                <a:gd name="T19" fmla="*/ 36 h 50"/>
                <a:gd name="T20" fmla="*/ 5 w 151"/>
                <a:gd name="T21" fmla="*/ 37 h 50"/>
                <a:gd name="T22" fmla="*/ 2 w 151"/>
                <a:gd name="T23" fmla="*/ 44 h 50"/>
                <a:gd name="T24" fmla="*/ 0 w 151"/>
                <a:gd name="T25" fmla="*/ 48 h 50"/>
                <a:gd name="T26" fmla="*/ 0 w 151"/>
                <a:gd name="T27" fmla="*/ 54 h 50"/>
                <a:gd name="T28" fmla="*/ 2 w 151"/>
                <a:gd name="T29" fmla="*/ 57 h 50"/>
                <a:gd name="T30" fmla="*/ 5 w 151"/>
                <a:gd name="T31" fmla="*/ 61 h 50"/>
                <a:gd name="T32" fmla="*/ 7 w 151"/>
                <a:gd name="T33" fmla="*/ 62 h 50"/>
                <a:gd name="T34" fmla="*/ 12 w 151"/>
                <a:gd name="T35" fmla="*/ 62 h 50"/>
                <a:gd name="T36" fmla="*/ 180 w 151"/>
                <a:gd name="T37" fmla="*/ 27 h 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51" h="50">
                  <a:moveTo>
                    <a:pt x="142" y="21"/>
                  </a:moveTo>
                  <a:lnTo>
                    <a:pt x="145" y="19"/>
                  </a:lnTo>
                  <a:lnTo>
                    <a:pt x="149" y="16"/>
                  </a:lnTo>
                  <a:lnTo>
                    <a:pt x="151" y="14"/>
                  </a:lnTo>
                  <a:lnTo>
                    <a:pt x="151" y="9"/>
                  </a:lnTo>
                  <a:lnTo>
                    <a:pt x="149" y="6"/>
                  </a:lnTo>
                  <a:lnTo>
                    <a:pt x="145" y="2"/>
                  </a:lnTo>
                  <a:lnTo>
                    <a:pt x="144" y="0"/>
                  </a:lnTo>
                  <a:lnTo>
                    <a:pt x="138" y="0"/>
                  </a:lnTo>
                  <a:lnTo>
                    <a:pt x="9" y="30"/>
                  </a:lnTo>
                  <a:lnTo>
                    <a:pt x="5" y="31"/>
                  </a:lnTo>
                  <a:lnTo>
                    <a:pt x="2" y="35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2" y="45"/>
                  </a:lnTo>
                  <a:lnTo>
                    <a:pt x="5" y="49"/>
                  </a:lnTo>
                  <a:lnTo>
                    <a:pt x="7" y="50"/>
                  </a:lnTo>
                  <a:lnTo>
                    <a:pt x="12" y="50"/>
                  </a:lnTo>
                  <a:lnTo>
                    <a:pt x="142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8"/>
            <p:cNvSpPr>
              <a:spLocks noChangeAspect="1"/>
            </p:cNvSpPr>
            <p:nvPr/>
          </p:nvSpPr>
          <p:spPr bwMode="auto">
            <a:xfrm>
              <a:off x="4896" y="1376"/>
              <a:ext cx="185" cy="52"/>
            </a:xfrm>
            <a:custGeom>
              <a:avLst/>
              <a:gdLst>
                <a:gd name="T0" fmla="*/ 12 w 178"/>
                <a:gd name="T1" fmla="*/ 0 h 50"/>
                <a:gd name="T2" fmla="*/ 7 w 178"/>
                <a:gd name="T3" fmla="*/ 0 h 50"/>
                <a:gd name="T4" fmla="*/ 5 w 178"/>
                <a:gd name="T5" fmla="*/ 1 h 50"/>
                <a:gd name="T6" fmla="*/ 2 w 178"/>
                <a:gd name="T7" fmla="*/ 3 h 50"/>
                <a:gd name="T8" fmla="*/ 2 w 178"/>
                <a:gd name="T9" fmla="*/ 5 h 50"/>
                <a:gd name="T10" fmla="*/ 0 w 178"/>
                <a:gd name="T11" fmla="*/ 8 h 50"/>
                <a:gd name="T12" fmla="*/ 0 w 178"/>
                <a:gd name="T13" fmla="*/ 19 h 50"/>
                <a:gd name="T14" fmla="*/ 2 w 178"/>
                <a:gd name="T15" fmla="*/ 21 h 50"/>
                <a:gd name="T16" fmla="*/ 4 w 178"/>
                <a:gd name="T17" fmla="*/ 25 h 50"/>
                <a:gd name="T18" fmla="*/ 5 w 178"/>
                <a:gd name="T19" fmla="*/ 25 h 50"/>
                <a:gd name="T20" fmla="*/ 9 w 178"/>
                <a:gd name="T21" fmla="*/ 26 h 50"/>
                <a:gd name="T22" fmla="*/ 210 w 178"/>
                <a:gd name="T23" fmla="*/ 62 h 50"/>
                <a:gd name="T24" fmla="*/ 216 w 178"/>
                <a:gd name="T25" fmla="*/ 62 h 50"/>
                <a:gd name="T26" fmla="*/ 218 w 178"/>
                <a:gd name="T27" fmla="*/ 60 h 50"/>
                <a:gd name="T28" fmla="*/ 221 w 178"/>
                <a:gd name="T29" fmla="*/ 58 h 50"/>
                <a:gd name="T30" fmla="*/ 221 w 178"/>
                <a:gd name="T31" fmla="*/ 57 h 50"/>
                <a:gd name="T32" fmla="*/ 224 w 178"/>
                <a:gd name="T33" fmla="*/ 53 h 50"/>
                <a:gd name="T34" fmla="*/ 224 w 178"/>
                <a:gd name="T35" fmla="*/ 46 h 50"/>
                <a:gd name="T36" fmla="*/ 221 w 178"/>
                <a:gd name="T37" fmla="*/ 42 h 50"/>
                <a:gd name="T38" fmla="*/ 220 w 178"/>
                <a:gd name="T39" fmla="*/ 37 h 50"/>
                <a:gd name="T40" fmla="*/ 218 w 178"/>
                <a:gd name="T41" fmla="*/ 37 h 50"/>
                <a:gd name="T42" fmla="*/ 215 w 178"/>
                <a:gd name="T43" fmla="*/ 35 h 50"/>
                <a:gd name="T44" fmla="*/ 12 w 178"/>
                <a:gd name="T45" fmla="*/ 0 h 5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78" h="50">
                  <a:moveTo>
                    <a:pt x="12" y="0"/>
                  </a:moveTo>
                  <a:lnTo>
                    <a:pt x="7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4" y="19"/>
                  </a:lnTo>
                  <a:lnTo>
                    <a:pt x="5" y="19"/>
                  </a:lnTo>
                  <a:lnTo>
                    <a:pt x="9" y="20"/>
                  </a:lnTo>
                  <a:lnTo>
                    <a:pt x="166" y="50"/>
                  </a:lnTo>
                  <a:lnTo>
                    <a:pt x="171" y="50"/>
                  </a:lnTo>
                  <a:lnTo>
                    <a:pt x="173" y="48"/>
                  </a:lnTo>
                  <a:lnTo>
                    <a:pt x="176" y="46"/>
                  </a:lnTo>
                  <a:lnTo>
                    <a:pt x="176" y="45"/>
                  </a:lnTo>
                  <a:lnTo>
                    <a:pt x="178" y="41"/>
                  </a:lnTo>
                  <a:lnTo>
                    <a:pt x="178" y="36"/>
                  </a:lnTo>
                  <a:lnTo>
                    <a:pt x="176" y="34"/>
                  </a:lnTo>
                  <a:lnTo>
                    <a:pt x="175" y="31"/>
                  </a:lnTo>
                  <a:lnTo>
                    <a:pt x="173" y="31"/>
                  </a:lnTo>
                  <a:lnTo>
                    <a:pt x="170" y="2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9"/>
            <p:cNvSpPr>
              <a:spLocks noChangeAspect="1"/>
            </p:cNvSpPr>
            <p:nvPr/>
          </p:nvSpPr>
          <p:spPr bwMode="auto">
            <a:xfrm>
              <a:off x="4931" y="3573"/>
              <a:ext cx="154" cy="52"/>
            </a:xfrm>
            <a:custGeom>
              <a:avLst/>
              <a:gdLst>
                <a:gd name="T0" fmla="*/ 171 w 149"/>
                <a:gd name="T1" fmla="*/ 27 h 50"/>
                <a:gd name="T2" fmla="*/ 174 w 149"/>
                <a:gd name="T3" fmla="*/ 25 h 50"/>
                <a:gd name="T4" fmla="*/ 179 w 149"/>
                <a:gd name="T5" fmla="*/ 22 h 50"/>
                <a:gd name="T6" fmla="*/ 182 w 149"/>
                <a:gd name="T7" fmla="*/ 20 h 50"/>
                <a:gd name="T8" fmla="*/ 182 w 149"/>
                <a:gd name="T9" fmla="*/ 9 h 50"/>
                <a:gd name="T10" fmla="*/ 179 w 149"/>
                <a:gd name="T11" fmla="*/ 5 h 50"/>
                <a:gd name="T12" fmla="*/ 174 w 149"/>
                <a:gd name="T13" fmla="*/ 2 h 50"/>
                <a:gd name="T14" fmla="*/ 173 w 149"/>
                <a:gd name="T15" fmla="*/ 0 h 50"/>
                <a:gd name="T16" fmla="*/ 167 w 149"/>
                <a:gd name="T17" fmla="*/ 0 h 50"/>
                <a:gd name="T18" fmla="*/ 9 w 149"/>
                <a:gd name="T19" fmla="*/ 36 h 50"/>
                <a:gd name="T20" fmla="*/ 5 w 149"/>
                <a:gd name="T21" fmla="*/ 37 h 50"/>
                <a:gd name="T22" fmla="*/ 2 w 149"/>
                <a:gd name="T23" fmla="*/ 44 h 50"/>
                <a:gd name="T24" fmla="*/ 0 w 149"/>
                <a:gd name="T25" fmla="*/ 48 h 50"/>
                <a:gd name="T26" fmla="*/ 0 w 149"/>
                <a:gd name="T27" fmla="*/ 54 h 50"/>
                <a:gd name="T28" fmla="*/ 2 w 149"/>
                <a:gd name="T29" fmla="*/ 57 h 50"/>
                <a:gd name="T30" fmla="*/ 5 w 149"/>
                <a:gd name="T31" fmla="*/ 61 h 50"/>
                <a:gd name="T32" fmla="*/ 7 w 149"/>
                <a:gd name="T33" fmla="*/ 62 h 50"/>
                <a:gd name="T34" fmla="*/ 12 w 149"/>
                <a:gd name="T35" fmla="*/ 62 h 50"/>
                <a:gd name="T36" fmla="*/ 171 w 149"/>
                <a:gd name="T37" fmla="*/ 27 h 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9" h="50">
                  <a:moveTo>
                    <a:pt x="140" y="21"/>
                  </a:moveTo>
                  <a:lnTo>
                    <a:pt x="143" y="19"/>
                  </a:lnTo>
                  <a:lnTo>
                    <a:pt x="147" y="16"/>
                  </a:lnTo>
                  <a:lnTo>
                    <a:pt x="149" y="14"/>
                  </a:lnTo>
                  <a:lnTo>
                    <a:pt x="149" y="9"/>
                  </a:lnTo>
                  <a:lnTo>
                    <a:pt x="147" y="5"/>
                  </a:lnTo>
                  <a:lnTo>
                    <a:pt x="143" y="2"/>
                  </a:lnTo>
                  <a:lnTo>
                    <a:pt x="142" y="0"/>
                  </a:lnTo>
                  <a:lnTo>
                    <a:pt x="137" y="0"/>
                  </a:lnTo>
                  <a:lnTo>
                    <a:pt x="9" y="30"/>
                  </a:lnTo>
                  <a:lnTo>
                    <a:pt x="5" y="31"/>
                  </a:lnTo>
                  <a:lnTo>
                    <a:pt x="2" y="35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2" y="45"/>
                  </a:lnTo>
                  <a:lnTo>
                    <a:pt x="5" y="49"/>
                  </a:lnTo>
                  <a:lnTo>
                    <a:pt x="7" y="50"/>
                  </a:lnTo>
                  <a:lnTo>
                    <a:pt x="12" y="50"/>
                  </a:lnTo>
                  <a:lnTo>
                    <a:pt x="14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80"/>
            <p:cNvSpPr>
              <a:spLocks noChangeAspect="1"/>
            </p:cNvSpPr>
            <p:nvPr/>
          </p:nvSpPr>
          <p:spPr bwMode="auto">
            <a:xfrm>
              <a:off x="4909" y="3611"/>
              <a:ext cx="185" cy="52"/>
            </a:xfrm>
            <a:custGeom>
              <a:avLst/>
              <a:gdLst>
                <a:gd name="T0" fmla="*/ 12 w 178"/>
                <a:gd name="T1" fmla="*/ 0 h 50"/>
                <a:gd name="T2" fmla="*/ 7 w 178"/>
                <a:gd name="T3" fmla="*/ 0 h 50"/>
                <a:gd name="T4" fmla="*/ 5 w 178"/>
                <a:gd name="T5" fmla="*/ 1 h 50"/>
                <a:gd name="T6" fmla="*/ 2 w 178"/>
                <a:gd name="T7" fmla="*/ 3 h 50"/>
                <a:gd name="T8" fmla="*/ 2 w 178"/>
                <a:gd name="T9" fmla="*/ 5 h 50"/>
                <a:gd name="T10" fmla="*/ 0 w 178"/>
                <a:gd name="T11" fmla="*/ 8 h 50"/>
                <a:gd name="T12" fmla="*/ 0 w 178"/>
                <a:gd name="T13" fmla="*/ 19 h 50"/>
                <a:gd name="T14" fmla="*/ 2 w 178"/>
                <a:gd name="T15" fmla="*/ 21 h 50"/>
                <a:gd name="T16" fmla="*/ 4 w 178"/>
                <a:gd name="T17" fmla="*/ 25 h 50"/>
                <a:gd name="T18" fmla="*/ 5 w 178"/>
                <a:gd name="T19" fmla="*/ 25 h 50"/>
                <a:gd name="T20" fmla="*/ 9 w 178"/>
                <a:gd name="T21" fmla="*/ 26 h 50"/>
                <a:gd name="T22" fmla="*/ 210 w 178"/>
                <a:gd name="T23" fmla="*/ 62 h 50"/>
                <a:gd name="T24" fmla="*/ 216 w 178"/>
                <a:gd name="T25" fmla="*/ 62 h 50"/>
                <a:gd name="T26" fmla="*/ 218 w 178"/>
                <a:gd name="T27" fmla="*/ 60 h 50"/>
                <a:gd name="T28" fmla="*/ 223 w 178"/>
                <a:gd name="T29" fmla="*/ 58 h 50"/>
                <a:gd name="T30" fmla="*/ 223 w 178"/>
                <a:gd name="T31" fmla="*/ 57 h 50"/>
                <a:gd name="T32" fmla="*/ 224 w 178"/>
                <a:gd name="T33" fmla="*/ 53 h 50"/>
                <a:gd name="T34" fmla="*/ 224 w 178"/>
                <a:gd name="T35" fmla="*/ 46 h 50"/>
                <a:gd name="T36" fmla="*/ 223 w 178"/>
                <a:gd name="T37" fmla="*/ 42 h 50"/>
                <a:gd name="T38" fmla="*/ 220 w 178"/>
                <a:gd name="T39" fmla="*/ 37 h 50"/>
                <a:gd name="T40" fmla="*/ 218 w 178"/>
                <a:gd name="T41" fmla="*/ 37 h 50"/>
                <a:gd name="T42" fmla="*/ 215 w 178"/>
                <a:gd name="T43" fmla="*/ 35 h 50"/>
                <a:gd name="T44" fmla="*/ 12 w 178"/>
                <a:gd name="T45" fmla="*/ 0 h 5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78" h="50">
                  <a:moveTo>
                    <a:pt x="12" y="0"/>
                  </a:moveTo>
                  <a:lnTo>
                    <a:pt x="7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4" y="19"/>
                  </a:lnTo>
                  <a:lnTo>
                    <a:pt x="5" y="19"/>
                  </a:lnTo>
                  <a:lnTo>
                    <a:pt x="9" y="20"/>
                  </a:lnTo>
                  <a:lnTo>
                    <a:pt x="166" y="50"/>
                  </a:lnTo>
                  <a:lnTo>
                    <a:pt x="171" y="50"/>
                  </a:lnTo>
                  <a:lnTo>
                    <a:pt x="173" y="48"/>
                  </a:lnTo>
                  <a:lnTo>
                    <a:pt x="177" y="46"/>
                  </a:lnTo>
                  <a:lnTo>
                    <a:pt x="177" y="45"/>
                  </a:lnTo>
                  <a:lnTo>
                    <a:pt x="178" y="41"/>
                  </a:lnTo>
                  <a:lnTo>
                    <a:pt x="178" y="36"/>
                  </a:lnTo>
                  <a:lnTo>
                    <a:pt x="177" y="34"/>
                  </a:lnTo>
                  <a:lnTo>
                    <a:pt x="175" y="31"/>
                  </a:lnTo>
                  <a:lnTo>
                    <a:pt x="173" y="31"/>
                  </a:lnTo>
                  <a:lnTo>
                    <a:pt x="170" y="2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81"/>
            <p:cNvSpPr>
              <a:spLocks noChangeAspect="1"/>
            </p:cNvSpPr>
            <p:nvPr/>
          </p:nvSpPr>
          <p:spPr bwMode="auto">
            <a:xfrm>
              <a:off x="3542" y="1377"/>
              <a:ext cx="22" cy="615"/>
            </a:xfrm>
            <a:custGeom>
              <a:avLst/>
              <a:gdLst>
                <a:gd name="T0" fmla="*/ 0 w 21"/>
                <a:gd name="T1" fmla="*/ 740 h 591"/>
                <a:gd name="T2" fmla="*/ 0 w 21"/>
                <a:gd name="T3" fmla="*/ 743 h 591"/>
                <a:gd name="T4" fmla="*/ 4 w 21"/>
                <a:gd name="T5" fmla="*/ 747 h 591"/>
                <a:gd name="T6" fmla="*/ 7 w 21"/>
                <a:gd name="T7" fmla="*/ 750 h 591"/>
                <a:gd name="T8" fmla="*/ 20 w 21"/>
                <a:gd name="T9" fmla="*/ 750 h 591"/>
                <a:gd name="T10" fmla="*/ 23 w 21"/>
                <a:gd name="T11" fmla="*/ 747 h 591"/>
                <a:gd name="T12" fmla="*/ 27 w 21"/>
                <a:gd name="T13" fmla="*/ 743 h 591"/>
                <a:gd name="T14" fmla="*/ 27 w 21"/>
                <a:gd name="T15" fmla="*/ 7 h 591"/>
                <a:gd name="T16" fmla="*/ 23 w 21"/>
                <a:gd name="T17" fmla="*/ 4 h 591"/>
                <a:gd name="T18" fmla="*/ 20 w 21"/>
                <a:gd name="T19" fmla="*/ 0 h 591"/>
                <a:gd name="T20" fmla="*/ 7 w 21"/>
                <a:gd name="T21" fmla="*/ 0 h 591"/>
                <a:gd name="T22" fmla="*/ 4 w 21"/>
                <a:gd name="T23" fmla="*/ 4 h 591"/>
                <a:gd name="T24" fmla="*/ 0 w 21"/>
                <a:gd name="T25" fmla="*/ 7 h 591"/>
                <a:gd name="T26" fmla="*/ 0 w 21"/>
                <a:gd name="T27" fmla="*/ 11 h 591"/>
                <a:gd name="T28" fmla="*/ 0 w 21"/>
                <a:gd name="T29" fmla="*/ 740 h 5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" h="591">
                  <a:moveTo>
                    <a:pt x="0" y="581"/>
                  </a:moveTo>
                  <a:lnTo>
                    <a:pt x="0" y="584"/>
                  </a:lnTo>
                  <a:lnTo>
                    <a:pt x="4" y="588"/>
                  </a:lnTo>
                  <a:lnTo>
                    <a:pt x="7" y="591"/>
                  </a:lnTo>
                  <a:lnTo>
                    <a:pt x="14" y="591"/>
                  </a:lnTo>
                  <a:lnTo>
                    <a:pt x="17" y="588"/>
                  </a:lnTo>
                  <a:lnTo>
                    <a:pt x="21" y="584"/>
                  </a:lnTo>
                  <a:lnTo>
                    <a:pt x="21" y="7"/>
                  </a:lnTo>
                  <a:lnTo>
                    <a:pt x="17" y="4"/>
                  </a:lnTo>
                  <a:lnTo>
                    <a:pt x="14" y="0"/>
                  </a:lnTo>
                  <a:lnTo>
                    <a:pt x="7" y="0"/>
                  </a:lnTo>
                  <a:lnTo>
                    <a:pt x="4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5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2"/>
            <p:cNvSpPr>
              <a:spLocks noChangeAspect="1"/>
            </p:cNvSpPr>
            <p:nvPr/>
          </p:nvSpPr>
          <p:spPr bwMode="auto">
            <a:xfrm>
              <a:off x="3542" y="2324"/>
              <a:ext cx="22" cy="1300"/>
            </a:xfrm>
            <a:custGeom>
              <a:avLst/>
              <a:gdLst>
                <a:gd name="T0" fmla="*/ 27 w 21"/>
                <a:gd name="T1" fmla="*/ 11 h 1250"/>
                <a:gd name="T2" fmla="*/ 27 w 21"/>
                <a:gd name="T3" fmla="*/ 7 h 1250"/>
                <a:gd name="T4" fmla="*/ 23 w 21"/>
                <a:gd name="T5" fmla="*/ 4 h 1250"/>
                <a:gd name="T6" fmla="*/ 20 w 21"/>
                <a:gd name="T7" fmla="*/ 0 h 1250"/>
                <a:gd name="T8" fmla="*/ 7 w 21"/>
                <a:gd name="T9" fmla="*/ 0 h 1250"/>
                <a:gd name="T10" fmla="*/ 4 w 21"/>
                <a:gd name="T11" fmla="*/ 4 h 1250"/>
                <a:gd name="T12" fmla="*/ 0 w 21"/>
                <a:gd name="T13" fmla="*/ 7 h 1250"/>
                <a:gd name="T14" fmla="*/ 0 w 21"/>
                <a:gd name="T15" fmla="*/ 1574 h 1250"/>
                <a:gd name="T16" fmla="*/ 4 w 21"/>
                <a:gd name="T17" fmla="*/ 1577 h 1250"/>
                <a:gd name="T18" fmla="*/ 7 w 21"/>
                <a:gd name="T19" fmla="*/ 1581 h 1250"/>
                <a:gd name="T20" fmla="*/ 20 w 21"/>
                <a:gd name="T21" fmla="*/ 1581 h 1250"/>
                <a:gd name="T22" fmla="*/ 23 w 21"/>
                <a:gd name="T23" fmla="*/ 1577 h 1250"/>
                <a:gd name="T24" fmla="*/ 27 w 21"/>
                <a:gd name="T25" fmla="*/ 1574 h 1250"/>
                <a:gd name="T26" fmla="*/ 27 w 21"/>
                <a:gd name="T27" fmla="*/ 1569 h 1250"/>
                <a:gd name="T28" fmla="*/ 27 w 21"/>
                <a:gd name="T29" fmla="*/ 11 h 125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" h="1250">
                  <a:moveTo>
                    <a:pt x="21" y="11"/>
                  </a:moveTo>
                  <a:lnTo>
                    <a:pt x="21" y="7"/>
                  </a:lnTo>
                  <a:lnTo>
                    <a:pt x="17" y="4"/>
                  </a:lnTo>
                  <a:lnTo>
                    <a:pt x="14" y="0"/>
                  </a:lnTo>
                  <a:lnTo>
                    <a:pt x="7" y="0"/>
                  </a:lnTo>
                  <a:lnTo>
                    <a:pt x="4" y="4"/>
                  </a:lnTo>
                  <a:lnTo>
                    <a:pt x="0" y="7"/>
                  </a:lnTo>
                  <a:lnTo>
                    <a:pt x="0" y="1243"/>
                  </a:lnTo>
                  <a:lnTo>
                    <a:pt x="4" y="1246"/>
                  </a:lnTo>
                  <a:lnTo>
                    <a:pt x="7" y="1250"/>
                  </a:lnTo>
                  <a:lnTo>
                    <a:pt x="14" y="1250"/>
                  </a:lnTo>
                  <a:lnTo>
                    <a:pt x="17" y="1246"/>
                  </a:lnTo>
                  <a:lnTo>
                    <a:pt x="21" y="1243"/>
                  </a:lnTo>
                  <a:lnTo>
                    <a:pt x="21" y="1239"/>
                  </a:lnTo>
                  <a:lnTo>
                    <a:pt x="21" y="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3"/>
            <p:cNvSpPr>
              <a:spLocks noChangeAspect="1"/>
            </p:cNvSpPr>
            <p:nvPr/>
          </p:nvSpPr>
          <p:spPr bwMode="auto">
            <a:xfrm>
              <a:off x="4798" y="2475"/>
              <a:ext cx="21" cy="263"/>
            </a:xfrm>
            <a:custGeom>
              <a:avLst/>
              <a:gdLst>
                <a:gd name="T0" fmla="*/ 21 w 21"/>
                <a:gd name="T1" fmla="*/ 11 h 253"/>
                <a:gd name="T2" fmla="*/ 21 w 21"/>
                <a:gd name="T3" fmla="*/ 7 h 253"/>
                <a:gd name="T4" fmla="*/ 17 w 21"/>
                <a:gd name="T5" fmla="*/ 4 h 253"/>
                <a:gd name="T6" fmla="*/ 14 w 21"/>
                <a:gd name="T7" fmla="*/ 0 h 253"/>
                <a:gd name="T8" fmla="*/ 7 w 21"/>
                <a:gd name="T9" fmla="*/ 0 h 253"/>
                <a:gd name="T10" fmla="*/ 4 w 21"/>
                <a:gd name="T11" fmla="*/ 4 h 253"/>
                <a:gd name="T12" fmla="*/ 0 w 21"/>
                <a:gd name="T13" fmla="*/ 7 h 253"/>
                <a:gd name="T14" fmla="*/ 0 w 21"/>
                <a:gd name="T15" fmla="*/ 311 h 253"/>
                <a:gd name="T16" fmla="*/ 4 w 21"/>
                <a:gd name="T17" fmla="*/ 315 h 253"/>
                <a:gd name="T18" fmla="*/ 7 w 21"/>
                <a:gd name="T19" fmla="*/ 319 h 253"/>
                <a:gd name="T20" fmla="*/ 14 w 21"/>
                <a:gd name="T21" fmla="*/ 319 h 253"/>
                <a:gd name="T22" fmla="*/ 17 w 21"/>
                <a:gd name="T23" fmla="*/ 315 h 253"/>
                <a:gd name="T24" fmla="*/ 21 w 21"/>
                <a:gd name="T25" fmla="*/ 311 h 253"/>
                <a:gd name="T26" fmla="*/ 21 w 21"/>
                <a:gd name="T27" fmla="*/ 306 h 253"/>
                <a:gd name="T28" fmla="*/ 21 w 21"/>
                <a:gd name="T29" fmla="*/ 11 h 2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" h="253">
                  <a:moveTo>
                    <a:pt x="21" y="11"/>
                  </a:moveTo>
                  <a:lnTo>
                    <a:pt x="21" y="7"/>
                  </a:lnTo>
                  <a:lnTo>
                    <a:pt x="17" y="4"/>
                  </a:lnTo>
                  <a:lnTo>
                    <a:pt x="14" y="0"/>
                  </a:lnTo>
                  <a:lnTo>
                    <a:pt x="7" y="0"/>
                  </a:lnTo>
                  <a:lnTo>
                    <a:pt x="4" y="4"/>
                  </a:lnTo>
                  <a:lnTo>
                    <a:pt x="0" y="7"/>
                  </a:lnTo>
                  <a:lnTo>
                    <a:pt x="0" y="246"/>
                  </a:lnTo>
                  <a:lnTo>
                    <a:pt x="4" y="249"/>
                  </a:lnTo>
                  <a:lnTo>
                    <a:pt x="7" y="253"/>
                  </a:lnTo>
                  <a:lnTo>
                    <a:pt x="14" y="253"/>
                  </a:lnTo>
                  <a:lnTo>
                    <a:pt x="17" y="249"/>
                  </a:lnTo>
                  <a:lnTo>
                    <a:pt x="21" y="246"/>
                  </a:lnTo>
                  <a:lnTo>
                    <a:pt x="21" y="242"/>
                  </a:lnTo>
                  <a:lnTo>
                    <a:pt x="21" y="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4"/>
            <p:cNvSpPr>
              <a:spLocks noChangeAspect="1"/>
            </p:cNvSpPr>
            <p:nvPr/>
          </p:nvSpPr>
          <p:spPr bwMode="auto">
            <a:xfrm>
              <a:off x="3399" y="2707"/>
              <a:ext cx="1420" cy="22"/>
            </a:xfrm>
            <a:custGeom>
              <a:avLst/>
              <a:gdLst>
                <a:gd name="T0" fmla="*/ 1706 w 1367"/>
                <a:gd name="T1" fmla="*/ 27 h 21"/>
                <a:gd name="T2" fmla="*/ 1709 w 1367"/>
                <a:gd name="T3" fmla="*/ 27 h 21"/>
                <a:gd name="T4" fmla="*/ 1713 w 1367"/>
                <a:gd name="T5" fmla="*/ 24 h 21"/>
                <a:gd name="T6" fmla="*/ 1717 w 1367"/>
                <a:gd name="T7" fmla="*/ 20 h 21"/>
                <a:gd name="T8" fmla="*/ 1717 w 1367"/>
                <a:gd name="T9" fmla="*/ 7 h 21"/>
                <a:gd name="T10" fmla="*/ 1713 w 1367"/>
                <a:gd name="T11" fmla="*/ 4 h 21"/>
                <a:gd name="T12" fmla="*/ 1709 w 1367"/>
                <a:gd name="T13" fmla="*/ 0 h 21"/>
                <a:gd name="T14" fmla="*/ 7 w 1367"/>
                <a:gd name="T15" fmla="*/ 0 h 21"/>
                <a:gd name="T16" fmla="*/ 3 w 1367"/>
                <a:gd name="T17" fmla="*/ 4 h 21"/>
                <a:gd name="T18" fmla="*/ 0 w 1367"/>
                <a:gd name="T19" fmla="*/ 7 h 21"/>
                <a:gd name="T20" fmla="*/ 0 w 1367"/>
                <a:gd name="T21" fmla="*/ 20 h 21"/>
                <a:gd name="T22" fmla="*/ 3 w 1367"/>
                <a:gd name="T23" fmla="*/ 24 h 21"/>
                <a:gd name="T24" fmla="*/ 7 w 1367"/>
                <a:gd name="T25" fmla="*/ 27 h 21"/>
                <a:gd name="T26" fmla="*/ 10 w 1367"/>
                <a:gd name="T27" fmla="*/ 27 h 21"/>
                <a:gd name="T28" fmla="*/ 1706 w 1367"/>
                <a:gd name="T29" fmla="*/ 27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67" h="21">
                  <a:moveTo>
                    <a:pt x="1357" y="21"/>
                  </a:moveTo>
                  <a:lnTo>
                    <a:pt x="1360" y="21"/>
                  </a:lnTo>
                  <a:lnTo>
                    <a:pt x="1363" y="18"/>
                  </a:lnTo>
                  <a:lnTo>
                    <a:pt x="1367" y="14"/>
                  </a:lnTo>
                  <a:lnTo>
                    <a:pt x="1367" y="7"/>
                  </a:lnTo>
                  <a:lnTo>
                    <a:pt x="1363" y="4"/>
                  </a:lnTo>
                  <a:lnTo>
                    <a:pt x="1360" y="0"/>
                  </a:lnTo>
                  <a:lnTo>
                    <a:pt x="7" y="0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3" y="18"/>
                  </a:lnTo>
                  <a:lnTo>
                    <a:pt x="7" y="21"/>
                  </a:lnTo>
                  <a:lnTo>
                    <a:pt x="10" y="21"/>
                  </a:lnTo>
                  <a:lnTo>
                    <a:pt x="1357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5"/>
            <p:cNvSpPr>
              <a:spLocks noChangeAspect="1"/>
            </p:cNvSpPr>
            <p:nvPr/>
          </p:nvSpPr>
          <p:spPr bwMode="auto">
            <a:xfrm>
              <a:off x="3384" y="2159"/>
              <a:ext cx="22" cy="562"/>
            </a:xfrm>
            <a:custGeom>
              <a:avLst/>
              <a:gdLst>
                <a:gd name="T0" fmla="*/ 0 w 21"/>
                <a:gd name="T1" fmla="*/ 667 h 541"/>
                <a:gd name="T2" fmla="*/ 0 w 21"/>
                <a:gd name="T3" fmla="*/ 671 h 541"/>
                <a:gd name="T4" fmla="*/ 3 w 21"/>
                <a:gd name="T5" fmla="*/ 676 h 541"/>
                <a:gd name="T6" fmla="*/ 7 w 21"/>
                <a:gd name="T7" fmla="*/ 680 h 541"/>
                <a:gd name="T8" fmla="*/ 20 w 21"/>
                <a:gd name="T9" fmla="*/ 680 h 541"/>
                <a:gd name="T10" fmla="*/ 23 w 21"/>
                <a:gd name="T11" fmla="*/ 676 h 541"/>
                <a:gd name="T12" fmla="*/ 27 w 21"/>
                <a:gd name="T13" fmla="*/ 671 h 541"/>
                <a:gd name="T14" fmla="*/ 27 w 21"/>
                <a:gd name="T15" fmla="*/ 7 h 541"/>
                <a:gd name="T16" fmla="*/ 23 w 21"/>
                <a:gd name="T17" fmla="*/ 4 h 541"/>
                <a:gd name="T18" fmla="*/ 20 w 21"/>
                <a:gd name="T19" fmla="*/ 0 h 541"/>
                <a:gd name="T20" fmla="*/ 7 w 21"/>
                <a:gd name="T21" fmla="*/ 0 h 541"/>
                <a:gd name="T22" fmla="*/ 3 w 21"/>
                <a:gd name="T23" fmla="*/ 4 h 541"/>
                <a:gd name="T24" fmla="*/ 0 w 21"/>
                <a:gd name="T25" fmla="*/ 7 h 541"/>
                <a:gd name="T26" fmla="*/ 0 w 21"/>
                <a:gd name="T27" fmla="*/ 11 h 541"/>
                <a:gd name="T28" fmla="*/ 0 w 21"/>
                <a:gd name="T29" fmla="*/ 667 h 54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" h="541">
                  <a:moveTo>
                    <a:pt x="0" y="531"/>
                  </a:moveTo>
                  <a:lnTo>
                    <a:pt x="0" y="534"/>
                  </a:lnTo>
                  <a:lnTo>
                    <a:pt x="3" y="538"/>
                  </a:lnTo>
                  <a:lnTo>
                    <a:pt x="7" y="541"/>
                  </a:lnTo>
                  <a:lnTo>
                    <a:pt x="14" y="541"/>
                  </a:lnTo>
                  <a:lnTo>
                    <a:pt x="17" y="538"/>
                  </a:lnTo>
                  <a:lnTo>
                    <a:pt x="21" y="534"/>
                  </a:lnTo>
                  <a:lnTo>
                    <a:pt x="21" y="7"/>
                  </a:lnTo>
                  <a:lnTo>
                    <a:pt x="17" y="4"/>
                  </a:lnTo>
                  <a:lnTo>
                    <a:pt x="14" y="0"/>
                  </a:lnTo>
                  <a:lnTo>
                    <a:pt x="7" y="0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5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6"/>
            <p:cNvSpPr>
              <a:spLocks noChangeAspect="1"/>
            </p:cNvSpPr>
            <p:nvPr/>
          </p:nvSpPr>
          <p:spPr bwMode="auto">
            <a:xfrm>
              <a:off x="3401" y="2152"/>
              <a:ext cx="170" cy="22"/>
            </a:xfrm>
            <a:custGeom>
              <a:avLst/>
              <a:gdLst>
                <a:gd name="T0" fmla="*/ 190 w 164"/>
                <a:gd name="T1" fmla="*/ 27 h 21"/>
                <a:gd name="T2" fmla="*/ 195 w 164"/>
                <a:gd name="T3" fmla="*/ 27 h 21"/>
                <a:gd name="T4" fmla="*/ 199 w 164"/>
                <a:gd name="T5" fmla="*/ 24 h 21"/>
                <a:gd name="T6" fmla="*/ 203 w 164"/>
                <a:gd name="T7" fmla="*/ 20 h 21"/>
                <a:gd name="T8" fmla="*/ 203 w 164"/>
                <a:gd name="T9" fmla="*/ 7 h 21"/>
                <a:gd name="T10" fmla="*/ 199 w 164"/>
                <a:gd name="T11" fmla="*/ 4 h 21"/>
                <a:gd name="T12" fmla="*/ 195 w 164"/>
                <a:gd name="T13" fmla="*/ 0 h 21"/>
                <a:gd name="T14" fmla="*/ 6 w 164"/>
                <a:gd name="T15" fmla="*/ 0 h 21"/>
                <a:gd name="T16" fmla="*/ 3 w 164"/>
                <a:gd name="T17" fmla="*/ 4 h 21"/>
                <a:gd name="T18" fmla="*/ 0 w 164"/>
                <a:gd name="T19" fmla="*/ 7 h 21"/>
                <a:gd name="T20" fmla="*/ 0 w 164"/>
                <a:gd name="T21" fmla="*/ 20 h 21"/>
                <a:gd name="T22" fmla="*/ 3 w 164"/>
                <a:gd name="T23" fmla="*/ 24 h 21"/>
                <a:gd name="T24" fmla="*/ 6 w 164"/>
                <a:gd name="T25" fmla="*/ 27 h 21"/>
                <a:gd name="T26" fmla="*/ 10 w 164"/>
                <a:gd name="T27" fmla="*/ 27 h 21"/>
                <a:gd name="T28" fmla="*/ 190 w 164"/>
                <a:gd name="T29" fmla="*/ 27 h 2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4" h="21">
                  <a:moveTo>
                    <a:pt x="153" y="21"/>
                  </a:moveTo>
                  <a:lnTo>
                    <a:pt x="157" y="21"/>
                  </a:lnTo>
                  <a:lnTo>
                    <a:pt x="160" y="18"/>
                  </a:lnTo>
                  <a:lnTo>
                    <a:pt x="164" y="14"/>
                  </a:lnTo>
                  <a:lnTo>
                    <a:pt x="164" y="7"/>
                  </a:lnTo>
                  <a:lnTo>
                    <a:pt x="160" y="4"/>
                  </a:lnTo>
                  <a:lnTo>
                    <a:pt x="157" y="0"/>
                  </a:lnTo>
                  <a:lnTo>
                    <a:pt x="6" y="0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3" y="18"/>
                  </a:lnTo>
                  <a:lnTo>
                    <a:pt x="6" y="21"/>
                  </a:lnTo>
                  <a:lnTo>
                    <a:pt x="10" y="21"/>
                  </a:lnTo>
                  <a:lnTo>
                    <a:pt x="153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7"/>
            <p:cNvSpPr>
              <a:spLocks noChangeAspect="1"/>
            </p:cNvSpPr>
            <p:nvPr/>
          </p:nvSpPr>
          <p:spPr bwMode="auto">
            <a:xfrm>
              <a:off x="4723" y="1076"/>
              <a:ext cx="20" cy="2247"/>
            </a:xfrm>
            <a:custGeom>
              <a:avLst/>
              <a:gdLst>
                <a:gd name="T0" fmla="*/ 20 w 20"/>
                <a:gd name="T1" fmla="*/ 10 h 2162"/>
                <a:gd name="T2" fmla="*/ 20 w 20"/>
                <a:gd name="T3" fmla="*/ 7 h 2162"/>
                <a:gd name="T4" fmla="*/ 17 w 20"/>
                <a:gd name="T5" fmla="*/ 3 h 2162"/>
                <a:gd name="T6" fmla="*/ 13 w 20"/>
                <a:gd name="T7" fmla="*/ 0 h 2162"/>
                <a:gd name="T8" fmla="*/ 6 w 20"/>
                <a:gd name="T9" fmla="*/ 0 h 2162"/>
                <a:gd name="T10" fmla="*/ 3 w 20"/>
                <a:gd name="T11" fmla="*/ 3 h 2162"/>
                <a:gd name="T12" fmla="*/ 0 w 20"/>
                <a:gd name="T13" fmla="*/ 7 h 2162"/>
                <a:gd name="T14" fmla="*/ 0 w 20"/>
                <a:gd name="T15" fmla="*/ 2717 h 2162"/>
                <a:gd name="T16" fmla="*/ 3 w 20"/>
                <a:gd name="T17" fmla="*/ 2721 h 2162"/>
                <a:gd name="T18" fmla="*/ 6 w 20"/>
                <a:gd name="T19" fmla="*/ 2724 h 2162"/>
                <a:gd name="T20" fmla="*/ 13 w 20"/>
                <a:gd name="T21" fmla="*/ 2724 h 2162"/>
                <a:gd name="T22" fmla="*/ 17 w 20"/>
                <a:gd name="T23" fmla="*/ 2721 h 2162"/>
                <a:gd name="T24" fmla="*/ 20 w 20"/>
                <a:gd name="T25" fmla="*/ 2717 h 2162"/>
                <a:gd name="T26" fmla="*/ 20 w 20"/>
                <a:gd name="T27" fmla="*/ 2713 h 2162"/>
                <a:gd name="T28" fmla="*/ 20 w 20"/>
                <a:gd name="T29" fmla="*/ 10 h 216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2162">
                  <a:moveTo>
                    <a:pt x="20" y="10"/>
                  </a:moveTo>
                  <a:lnTo>
                    <a:pt x="20" y="7"/>
                  </a:lnTo>
                  <a:lnTo>
                    <a:pt x="17" y="3"/>
                  </a:lnTo>
                  <a:lnTo>
                    <a:pt x="13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2155"/>
                  </a:lnTo>
                  <a:lnTo>
                    <a:pt x="3" y="2159"/>
                  </a:lnTo>
                  <a:lnTo>
                    <a:pt x="6" y="2162"/>
                  </a:lnTo>
                  <a:lnTo>
                    <a:pt x="13" y="2162"/>
                  </a:lnTo>
                  <a:lnTo>
                    <a:pt x="17" y="2159"/>
                  </a:lnTo>
                  <a:lnTo>
                    <a:pt x="20" y="2155"/>
                  </a:lnTo>
                  <a:lnTo>
                    <a:pt x="20" y="2152"/>
                  </a:lnTo>
                  <a:lnTo>
                    <a:pt x="2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8"/>
            <p:cNvSpPr>
              <a:spLocks noChangeAspect="1"/>
            </p:cNvSpPr>
            <p:nvPr/>
          </p:nvSpPr>
          <p:spPr bwMode="auto">
            <a:xfrm>
              <a:off x="4392" y="2157"/>
              <a:ext cx="344" cy="31"/>
            </a:xfrm>
            <a:custGeom>
              <a:avLst/>
              <a:gdLst>
                <a:gd name="T0" fmla="*/ 10 w 331"/>
                <a:gd name="T1" fmla="*/ 9 h 30"/>
                <a:gd name="T2" fmla="*/ 6 w 331"/>
                <a:gd name="T3" fmla="*/ 9 h 30"/>
                <a:gd name="T4" fmla="*/ 3 w 331"/>
                <a:gd name="T5" fmla="*/ 13 h 30"/>
                <a:gd name="T6" fmla="*/ 1 w 331"/>
                <a:gd name="T7" fmla="*/ 14 h 30"/>
                <a:gd name="T8" fmla="*/ 0 w 331"/>
                <a:gd name="T9" fmla="*/ 24 h 30"/>
                <a:gd name="T10" fmla="*/ 0 w 331"/>
                <a:gd name="T11" fmla="*/ 29 h 30"/>
                <a:gd name="T12" fmla="*/ 3 w 331"/>
                <a:gd name="T13" fmla="*/ 32 h 30"/>
                <a:gd name="T14" fmla="*/ 5 w 331"/>
                <a:gd name="T15" fmla="*/ 34 h 30"/>
                <a:gd name="T16" fmla="*/ 8 w 331"/>
                <a:gd name="T17" fmla="*/ 36 h 30"/>
                <a:gd name="T18" fmla="*/ 10 w 331"/>
                <a:gd name="T19" fmla="*/ 36 h 30"/>
                <a:gd name="T20" fmla="*/ 405 w 331"/>
                <a:gd name="T21" fmla="*/ 27 h 30"/>
                <a:gd name="T22" fmla="*/ 408 w 331"/>
                <a:gd name="T23" fmla="*/ 27 h 30"/>
                <a:gd name="T24" fmla="*/ 413 w 331"/>
                <a:gd name="T25" fmla="*/ 24 h 30"/>
                <a:gd name="T26" fmla="*/ 416 w 331"/>
                <a:gd name="T27" fmla="*/ 22 h 30"/>
                <a:gd name="T28" fmla="*/ 418 w 331"/>
                <a:gd name="T29" fmla="*/ 13 h 30"/>
                <a:gd name="T30" fmla="*/ 418 w 331"/>
                <a:gd name="T31" fmla="*/ 7 h 30"/>
                <a:gd name="T32" fmla="*/ 413 w 331"/>
                <a:gd name="T33" fmla="*/ 4 h 30"/>
                <a:gd name="T34" fmla="*/ 411 w 331"/>
                <a:gd name="T35" fmla="*/ 2 h 30"/>
                <a:gd name="T36" fmla="*/ 407 w 331"/>
                <a:gd name="T37" fmla="*/ 0 h 30"/>
                <a:gd name="T38" fmla="*/ 405 w 331"/>
                <a:gd name="T39" fmla="*/ 0 h 30"/>
                <a:gd name="T40" fmla="*/ 10 w 331"/>
                <a:gd name="T41" fmla="*/ 9 h 3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31" h="30">
                  <a:moveTo>
                    <a:pt x="10" y="9"/>
                  </a:moveTo>
                  <a:lnTo>
                    <a:pt x="6" y="9"/>
                  </a:lnTo>
                  <a:lnTo>
                    <a:pt x="3" y="13"/>
                  </a:lnTo>
                  <a:lnTo>
                    <a:pt x="1" y="14"/>
                  </a:lnTo>
                  <a:lnTo>
                    <a:pt x="0" y="18"/>
                  </a:lnTo>
                  <a:lnTo>
                    <a:pt x="0" y="23"/>
                  </a:lnTo>
                  <a:lnTo>
                    <a:pt x="3" y="26"/>
                  </a:lnTo>
                  <a:lnTo>
                    <a:pt x="5" y="28"/>
                  </a:lnTo>
                  <a:lnTo>
                    <a:pt x="8" y="30"/>
                  </a:lnTo>
                  <a:lnTo>
                    <a:pt x="10" y="30"/>
                  </a:lnTo>
                  <a:lnTo>
                    <a:pt x="321" y="21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0" y="16"/>
                  </a:lnTo>
                  <a:lnTo>
                    <a:pt x="331" y="13"/>
                  </a:lnTo>
                  <a:lnTo>
                    <a:pt x="331" y="7"/>
                  </a:lnTo>
                  <a:lnTo>
                    <a:pt x="328" y="4"/>
                  </a:lnTo>
                  <a:lnTo>
                    <a:pt x="326" y="2"/>
                  </a:lnTo>
                  <a:lnTo>
                    <a:pt x="323" y="0"/>
                  </a:lnTo>
                  <a:lnTo>
                    <a:pt x="321" y="0"/>
                  </a:lnTo>
                  <a:lnTo>
                    <a:pt x="1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9"/>
            <p:cNvSpPr>
              <a:spLocks noChangeAspect="1"/>
            </p:cNvSpPr>
            <p:nvPr/>
          </p:nvSpPr>
          <p:spPr bwMode="auto">
            <a:xfrm>
              <a:off x="4617" y="2157"/>
              <a:ext cx="119" cy="47"/>
            </a:xfrm>
            <a:custGeom>
              <a:avLst/>
              <a:gdLst>
                <a:gd name="T0" fmla="*/ 131 w 115"/>
                <a:gd name="T1" fmla="*/ 27 h 45"/>
                <a:gd name="T2" fmla="*/ 135 w 115"/>
                <a:gd name="T3" fmla="*/ 25 h 45"/>
                <a:gd name="T4" fmla="*/ 140 w 115"/>
                <a:gd name="T5" fmla="*/ 22 h 45"/>
                <a:gd name="T6" fmla="*/ 141 w 115"/>
                <a:gd name="T7" fmla="*/ 20 h 45"/>
                <a:gd name="T8" fmla="*/ 141 w 115"/>
                <a:gd name="T9" fmla="*/ 9 h 45"/>
                <a:gd name="T10" fmla="*/ 140 w 115"/>
                <a:gd name="T11" fmla="*/ 6 h 45"/>
                <a:gd name="T12" fmla="*/ 135 w 115"/>
                <a:gd name="T13" fmla="*/ 2 h 45"/>
                <a:gd name="T14" fmla="*/ 132 w 115"/>
                <a:gd name="T15" fmla="*/ 0 h 45"/>
                <a:gd name="T16" fmla="*/ 127 w 115"/>
                <a:gd name="T17" fmla="*/ 0 h 45"/>
                <a:gd name="T18" fmla="*/ 8 w 115"/>
                <a:gd name="T19" fmla="*/ 31 h 45"/>
                <a:gd name="T20" fmla="*/ 5 w 115"/>
                <a:gd name="T21" fmla="*/ 32 h 45"/>
                <a:gd name="T22" fmla="*/ 1 w 115"/>
                <a:gd name="T23" fmla="*/ 38 h 45"/>
                <a:gd name="T24" fmla="*/ 0 w 115"/>
                <a:gd name="T25" fmla="*/ 42 h 45"/>
                <a:gd name="T26" fmla="*/ 0 w 115"/>
                <a:gd name="T27" fmla="*/ 49 h 45"/>
                <a:gd name="T28" fmla="*/ 1 w 115"/>
                <a:gd name="T29" fmla="*/ 52 h 45"/>
                <a:gd name="T30" fmla="*/ 5 w 115"/>
                <a:gd name="T31" fmla="*/ 56 h 45"/>
                <a:gd name="T32" fmla="*/ 6 w 115"/>
                <a:gd name="T33" fmla="*/ 57 h 45"/>
                <a:gd name="T34" fmla="*/ 12 w 115"/>
                <a:gd name="T35" fmla="*/ 57 h 45"/>
                <a:gd name="T36" fmla="*/ 131 w 115"/>
                <a:gd name="T37" fmla="*/ 27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5" h="45">
                  <a:moveTo>
                    <a:pt x="107" y="21"/>
                  </a:moveTo>
                  <a:lnTo>
                    <a:pt x="110" y="19"/>
                  </a:lnTo>
                  <a:lnTo>
                    <a:pt x="114" y="16"/>
                  </a:lnTo>
                  <a:lnTo>
                    <a:pt x="115" y="14"/>
                  </a:lnTo>
                  <a:lnTo>
                    <a:pt x="115" y="9"/>
                  </a:lnTo>
                  <a:lnTo>
                    <a:pt x="114" y="6"/>
                  </a:lnTo>
                  <a:lnTo>
                    <a:pt x="110" y="2"/>
                  </a:lnTo>
                  <a:lnTo>
                    <a:pt x="108" y="0"/>
                  </a:lnTo>
                  <a:lnTo>
                    <a:pt x="103" y="0"/>
                  </a:lnTo>
                  <a:lnTo>
                    <a:pt x="8" y="25"/>
                  </a:lnTo>
                  <a:lnTo>
                    <a:pt x="5" y="26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7"/>
                  </a:lnTo>
                  <a:lnTo>
                    <a:pt x="1" y="40"/>
                  </a:lnTo>
                  <a:lnTo>
                    <a:pt x="5" y="44"/>
                  </a:lnTo>
                  <a:lnTo>
                    <a:pt x="6" y="45"/>
                  </a:lnTo>
                  <a:lnTo>
                    <a:pt x="12" y="45"/>
                  </a:lnTo>
                  <a:lnTo>
                    <a:pt x="107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90"/>
            <p:cNvSpPr>
              <a:spLocks noChangeAspect="1"/>
            </p:cNvSpPr>
            <p:nvPr/>
          </p:nvSpPr>
          <p:spPr bwMode="auto">
            <a:xfrm>
              <a:off x="4617" y="2134"/>
              <a:ext cx="119" cy="45"/>
            </a:xfrm>
            <a:custGeom>
              <a:avLst/>
              <a:gdLst>
                <a:gd name="T0" fmla="*/ 127 w 115"/>
                <a:gd name="T1" fmla="*/ 55 h 43"/>
                <a:gd name="T2" fmla="*/ 132 w 115"/>
                <a:gd name="T3" fmla="*/ 55 h 43"/>
                <a:gd name="T4" fmla="*/ 137 w 115"/>
                <a:gd name="T5" fmla="*/ 52 h 43"/>
                <a:gd name="T6" fmla="*/ 140 w 115"/>
                <a:gd name="T7" fmla="*/ 50 h 43"/>
                <a:gd name="T8" fmla="*/ 141 w 115"/>
                <a:gd name="T9" fmla="*/ 47 h 43"/>
                <a:gd name="T10" fmla="*/ 141 w 115"/>
                <a:gd name="T11" fmla="*/ 37 h 43"/>
                <a:gd name="T12" fmla="*/ 137 w 115"/>
                <a:gd name="T13" fmla="*/ 32 h 43"/>
                <a:gd name="T14" fmla="*/ 135 w 115"/>
                <a:gd name="T15" fmla="*/ 30 h 43"/>
                <a:gd name="T16" fmla="*/ 131 w 115"/>
                <a:gd name="T17" fmla="*/ 28 h 43"/>
                <a:gd name="T18" fmla="*/ 12 w 115"/>
                <a:gd name="T19" fmla="*/ 0 h 43"/>
                <a:gd name="T20" fmla="*/ 6 w 115"/>
                <a:gd name="T21" fmla="*/ 0 h 43"/>
                <a:gd name="T22" fmla="*/ 3 w 115"/>
                <a:gd name="T23" fmla="*/ 3 h 43"/>
                <a:gd name="T24" fmla="*/ 1 w 115"/>
                <a:gd name="T25" fmla="*/ 5 h 43"/>
                <a:gd name="T26" fmla="*/ 0 w 115"/>
                <a:gd name="T27" fmla="*/ 9 h 43"/>
                <a:gd name="T28" fmla="*/ 0 w 115"/>
                <a:gd name="T29" fmla="*/ 20 h 43"/>
                <a:gd name="T30" fmla="*/ 3 w 115"/>
                <a:gd name="T31" fmla="*/ 23 h 43"/>
                <a:gd name="T32" fmla="*/ 5 w 115"/>
                <a:gd name="T33" fmla="*/ 25 h 43"/>
                <a:gd name="T34" fmla="*/ 8 w 115"/>
                <a:gd name="T35" fmla="*/ 27 h 43"/>
                <a:gd name="T36" fmla="*/ 127 w 115"/>
                <a:gd name="T37" fmla="*/ 55 h 4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5" h="43">
                  <a:moveTo>
                    <a:pt x="103" y="43"/>
                  </a:moveTo>
                  <a:lnTo>
                    <a:pt x="108" y="43"/>
                  </a:lnTo>
                  <a:lnTo>
                    <a:pt x="112" y="40"/>
                  </a:lnTo>
                  <a:lnTo>
                    <a:pt x="114" y="38"/>
                  </a:lnTo>
                  <a:lnTo>
                    <a:pt x="115" y="35"/>
                  </a:lnTo>
                  <a:lnTo>
                    <a:pt x="115" y="29"/>
                  </a:lnTo>
                  <a:lnTo>
                    <a:pt x="112" y="26"/>
                  </a:lnTo>
                  <a:lnTo>
                    <a:pt x="110" y="24"/>
                  </a:lnTo>
                  <a:lnTo>
                    <a:pt x="107" y="22"/>
                  </a:lnTo>
                  <a:lnTo>
                    <a:pt x="12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103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91"/>
            <p:cNvSpPr>
              <a:spLocks noChangeAspect="1"/>
            </p:cNvSpPr>
            <p:nvPr/>
          </p:nvSpPr>
          <p:spPr bwMode="auto">
            <a:xfrm>
              <a:off x="4485" y="2100"/>
              <a:ext cx="110" cy="110"/>
            </a:xfrm>
            <a:custGeom>
              <a:avLst/>
              <a:gdLst>
                <a:gd name="T0" fmla="*/ 130 w 106"/>
                <a:gd name="T1" fmla="*/ 9 h 106"/>
                <a:gd name="T2" fmla="*/ 132 w 106"/>
                <a:gd name="T3" fmla="*/ 9 h 106"/>
                <a:gd name="T4" fmla="*/ 132 w 106"/>
                <a:gd name="T5" fmla="*/ 4 h 106"/>
                <a:gd name="T6" fmla="*/ 130 w 106"/>
                <a:gd name="T7" fmla="*/ 2 h 106"/>
                <a:gd name="T8" fmla="*/ 130 w 106"/>
                <a:gd name="T9" fmla="*/ 0 h 106"/>
                <a:gd name="T10" fmla="*/ 123 w 106"/>
                <a:gd name="T11" fmla="*/ 0 h 106"/>
                <a:gd name="T12" fmla="*/ 121 w 106"/>
                <a:gd name="T13" fmla="*/ 2 h 106"/>
                <a:gd name="T14" fmla="*/ 2 w 106"/>
                <a:gd name="T15" fmla="*/ 121 h 106"/>
                <a:gd name="T16" fmla="*/ 0 w 106"/>
                <a:gd name="T17" fmla="*/ 123 h 106"/>
                <a:gd name="T18" fmla="*/ 0 w 106"/>
                <a:gd name="T19" fmla="*/ 130 h 106"/>
                <a:gd name="T20" fmla="*/ 2 w 106"/>
                <a:gd name="T21" fmla="*/ 130 h 106"/>
                <a:gd name="T22" fmla="*/ 4 w 106"/>
                <a:gd name="T23" fmla="*/ 132 h 106"/>
                <a:gd name="T24" fmla="*/ 9 w 106"/>
                <a:gd name="T25" fmla="*/ 132 h 106"/>
                <a:gd name="T26" fmla="*/ 9 w 106"/>
                <a:gd name="T27" fmla="*/ 130 h 106"/>
                <a:gd name="T28" fmla="*/ 130 w 106"/>
                <a:gd name="T29" fmla="*/ 9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6" h="106">
                  <a:moveTo>
                    <a:pt x="104" y="9"/>
                  </a:moveTo>
                  <a:lnTo>
                    <a:pt x="106" y="9"/>
                  </a:lnTo>
                  <a:lnTo>
                    <a:pt x="106" y="4"/>
                  </a:lnTo>
                  <a:lnTo>
                    <a:pt x="104" y="2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2" y="97"/>
                  </a:lnTo>
                  <a:lnTo>
                    <a:pt x="0" y="99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4" y="106"/>
                  </a:lnTo>
                  <a:lnTo>
                    <a:pt x="9" y="106"/>
                  </a:lnTo>
                  <a:lnTo>
                    <a:pt x="9" y="104"/>
                  </a:lnTo>
                  <a:lnTo>
                    <a:pt x="104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Rectangle 92"/>
            <p:cNvSpPr>
              <a:spLocks noChangeAspect="1" noChangeArrowheads="1"/>
            </p:cNvSpPr>
            <p:nvPr/>
          </p:nvSpPr>
          <p:spPr bwMode="auto">
            <a:xfrm>
              <a:off x="4478" y="2043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Swiss 721 SWA" charset="0"/>
                </a:rPr>
                <a:t>n</a:t>
              </a:r>
              <a:endParaRPr lang="en-US" altLang="zh-CN" sz="2800"/>
            </a:p>
          </p:txBody>
        </p:sp>
      </p:grpSp>
    </p:spTree>
    <p:extLst>
      <p:ext uri="{BB962C8B-B14F-4D97-AF65-F5344CB8AC3E}">
        <p14:creationId xmlns:p14="http://schemas.microsoft.com/office/powerpoint/2010/main" val="230960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95666"/>
            <a:ext cx="7307966" cy="35175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基于</a:t>
            </a:r>
            <a:r>
              <a:rPr lang="zh-CN" altLang="en-US" dirty="0" smtClean="0"/>
              <a:t>多</a:t>
            </a:r>
            <a:r>
              <a:rPr lang="zh-CN" altLang="en-US" dirty="0"/>
              <a:t>路选择器</a:t>
            </a:r>
            <a:r>
              <a:rPr lang="zh-CN" altLang="en-US" dirty="0" smtClean="0"/>
              <a:t>总线的寄存器传输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5229200"/>
            <a:ext cx="8640960" cy="968971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sz="2400" dirty="0" smtClean="0"/>
              <a:t>BTN[3],[2],[1]</a:t>
            </a:r>
            <a:r>
              <a:rPr lang="zh-CN" altLang="en-US" sz="2400" dirty="0" smtClean="0"/>
              <a:t>：更新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寄存器，更新的值由</a:t>
            </a:r>
            <a:r>
              <a:rPr lang="en-US" altLang="zh-CN" sz="2400" dirty="0" smtClean="0"/>
              <a:t>SW[15]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SW[0]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SW[1]</a:t>
            </a:r>
            <a:r>
              <a:rPr lang="zh-CN" altLang="en-US" sz="2400" dirty="0" smtClean="0"/>
              <a:t>决定</a:t>
            </a:r>
            <a:endParaRPr lang="en-US" altLang="zh-CN" sz="2400" dirty="0" smtClean="0"/>
          </a:p>
          <a:p>
            <a:r>
              <a:rPr lang="en-US" altLang="zh-CN" sz="2400" dirty="0" smtClean="0"/>
              <a:t>SW[15</a:t>
            </a:r>
            <a:r>
              <a:rPr lang="en-US" altLang="zh-CN" sz="2400" dirty="0"/>
              <a:t>]=0</a:t>
            </a:r>
            <a:r>
              <a:rPr lang="zh-CN" altLang="en-US" sz="2400" dirty="0" smtClean="0"/>
              <a:t>：通过向上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向下计数修改寄存器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，对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清零</a:t>
            </a:r>
            <a:endParaRPr lang="en-US" altLang="zh-CN" sz="2400" dirty="0"/>
          </a:p>
          <a:p>
            <a:r>
              <a:rPr lang="en-US" altLang="zh-CN" sz="2400" dirty="0"/>
              <a:t>SW[15]=1</a:t>
            </a:r>
            <a:r>
              <a:rPr lang="zh-CN" altLang="en-US" sz="2400" dirty="0"/>
              <a:t>：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C</a:t>
            </a:r>
            <a:r>
              <a:rPr lang="zh-CN" altLang="en-US" sz="2400" dirty="0"/>
              <a:t>寄存器之间相互</a:t>
            </a:r>
            <a:r>
              <a:rPr lang="zh-CN" altLang="en-US" sz="2400" dirty="0" smtClean="0"/>
              <a:t>传输，源寄存器由</a:t>
            </a:r>
            <a:r>
              <a:rPr lang="en-US" altLang="zh-CN" sz="2400" dirty="0" smtClean="0"/>
              <a:t>SW[8:7]</a:t>
            </a:r>
            <a:r>
              <a:rPr lang="zh-CN" altLang="en-US" sz="2400" dirty="0" smtClean="0"/>
              <a:t>确定</a:t>
            </a:r>
            <a:endParaRPr lang="en-US" altLang="zh-CN" sz="2400" dirty="0"/>
          </a:p>
        </p:txBody>
      </p:sp>
      <p:sp>
        <p:nvSpPr>
          <p:cNvPr id="94" name="椭圆 93"/>
          <p:cNvSpPr/>
          <p:nvPr/>
        </p:nvSpPr>
        <p:spPr>
          <a:xfrm>
            <a:off x="3635896" y="4293096"/>
            <a:ext cx="1728192" cy="6480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云形标注 97"/>
          <p:cNvSpPr/>
          <p:nvPr/>
        </p:nvSpPr>
        <p:spPr>
          <a:xfrm>
            <a:off x="5940152" y="3933056"/>
            <a:ext cx="2304256" cy="1008112"/>
          </a:xfrm>
          <a:prstGeom prst="cloudCallout">
            <a:avLst>
              <a:gd name="adj1" fmla="val -86667"/>
              <a:gd name="adj2" fmla="val 211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可以用模块</a:t>
            </a:r>
            <a:r>
              <a:rPr lang="en-US" altLang="zh-CN" b="1" dirty="0" smtClean="0"/>
              <a:t>Mux4to1b4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6122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寄存器传输应用设计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013176"/>
            <a:ext cx="8579296" cy="1112987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 smtClean="0"/>
              <a:t>功能：在上一个任务基础上，可以用</a:t>
            </a:r>
            <a:r>
              <a:rPr lang="en-US" altLang="zh-CN" dirty="0" smtClean="0"/>
              <a:t>A</a:t>
            </a:r>
            <a:r>
              <a:rPr lang="zh-CN" altLang="en-US" dirty="0" smtClean="0"/>
              <a:t>与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ALU</a:t>
            </a:r>
            <a:r>
              <a:rPr lang="zh-CN" altLang="en-US" dirty="0" smtClean="0"/>
              <a:t>计算结果初始化</a:t>
            </a:r>
            <a:r>
              <a:rPr lang="en-US" altLang="zh-CN" dirty="0" smtClean="0"/>
              <a:t>C</a:t>
            </a:r>
          </a:p>
          <a:p>
            <a:r>
              <a:rPr lang="en-US" altLang="zh-CN" dirty="0" smtClean="0"/>
              <a:t>SW[15</a:t>
            </a:r>
            <a:r>
              <a:rPr lang="en-US" altLang="zh-CN" dirty="0"/>
              <a:t>]=0</a:t>
            </a:r>
            <a:r>
              <a:rPr lang="zh-CN" altLang="en-US" dirty="0" smtClean="0"/>
              <a:t>：初始化寄存器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</a:t>
            </a:r>
            <a:r>
              <a:rPr lang="en-US" altLang="zh-CN" dirty="0"/>
              <a:t>ALU</a:t>
            </a:r>
            <a:r>
              <a:rPr lang="zh-CN" altLang="en-US" dirty="0"/>
              <a:t>运算</a:t>
            </a:r>
            <a:r>
              <a:rPr lang="zh-CN" altLang="en-US" dirty="0" smtClean="0"/>
              <a:t>输出修改继寄存器</a:t>
            </a:r>
            <a:r>
              <a:rPr lang="en-US" altLang="zh-CN" dirty="0" smtClean="0"/>
              <a:t>C</a:t>
            </a:r>
            <a:endParaRPr lang="en-US" altLang="zh-CN" dirty="0"/>
          </a:p>
          <a:p>
            <a:r>
              <a:rPr lang="en-US" altLang="zh-CN" dirty="0" smtClean="0"/>
              <a:t>SW[15</a:t>
            </a:r>
            <a:r>
              <a:rPr lang="en-US" altLang="zh-CN" dirty="0"/>
              <a:t>]=1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寄存器之间相互</a:t>
            </a:r>
            <a:r>
              <a:rPr lang="zh-CN" altLang="en-US" dirty="0" smtClean="0"/>
              <a:t>传输</a:t>
            </a: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314150"/>
              </p:ext>
            </p:extLst>
          </p:nvPr>
        </p:nvGraphicFramePr>
        <p:xfrm>
          <a:off x="899592" y="1340768"/>
          <a:ext cx="7331075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Visio" r:id="rId3" imgW="7557926" imgH="3709886" progId="Visio.Drawing.11">
                  <p:embed/>
                </p:oleObj>
              </mc:Choice>
              <mc:Fallback>
                <p:oleObj name="Visio" r:id="rId3" imgW="7557926" imgH="3709886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1340768"/>
                        <a:ext cx="7331075" cy="362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云形标注 6"/>
          <p:cNvSpPr/>
          <p:nvPr/>
        </p:nvSpPr>
        <p:spPr>
          <a:xfrm>
            <a:off x="5076056" y="332656"/>
            <a:ext cx="2304256" cy="1008112"/>
          </a:xfrm>
          <a:prstGeom prst="cloudCallout">
            <a:avLst>
              <a:gd name="adj1" fmla="val -61483"/>
              <a:gd name="adj2" fmla="val 891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用实验</a:t>
            </a:r>
            <a:r>
              <a:rPr lang="en-US" altLang="zh-CN" b="1" dirty="0" smtClean="0"/>
              <a:t>9</a:t>
            </a:r>
            <a:r>
              <a:rPr lang="zh-CN" altLang="en-US" b="1" dirty="0" smtClean="0"/>
              <a:t>的</a:t>
            </a:r>
            <a:r>
              <a:rPr lang="en-US" altLang="zh-CN" b="1" dirty="0" err="1" smtClean="0"/>
              <a:t>MyALU</a:t>
            </a:r>
            <a:r>
              <a:rPr lang="zh-CN" altLang="en-US" b="1" dirty="0" smtClean="0"/>
              <a:t>模块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8381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</a:t>
            </a:r>
            <a:r>
              <a:rPr lang="zh-CN" altLang="en-US" dirty="0" smtClean="0"/>
              <a:t>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 smtClean="0"/>
              <a:t>1</a:t>
            </a:r>
            <a:r>
              <a:rPr lang="zh-CN" altLang="en-US" sz="2800" dirty="0"/>
              <a:t>：采用寄存器传输</a:t>
            </a:r>
            <a:r>
              <a:rPr lang="zh-CN" altLang="en-US" sz="2800" dirty="0" smtClean="0"/>
              <a:t>原理设计计数器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 smtClean="0"/>
              <a:t>2</a:t>
            </a:r>
            <a:r>
              <a:rPr lang="zh-CN" altLang="en-US" sz="2800" dirty="0"/>
              <a:t>：基于多路选择器总线的寄存器</a:t>
            </a:r>
            <a:r>
              <a:rPr lang="zh-CN" altLang="en-US" sz="2800" dirty="0" smtClean="0"/>
              <a:t>传输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 smtClean="0"/>
              <a:t>3</a:t>
            </a:r>
            <a:r>
              <a:rPr lang="zh-CN" altLang="en-US" sz="2800" dirty="0"/>
              <a:t>：基于</a:t>
            </a:r>
            <a:r>
              <a:rPr lang="en-US" altLang="zh-CN" sz="2800" dirty="0"/>
              <a:t>ALU</a:t>
            </a:r>
            <a:r>
              <a:rPr lang="zh-CN" altLang="en-US" sz="2800" dirty="0"/>
              <a:t>的数据传输应用设计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6751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任务</a:t>
            </a:r>
            <a:r>
              <a:rPr lang="en-US" altLang="zh-CN" sz="3200" dirty="0"/>
              <a:t>1</a:t>
            </a:r>
            <a:r>
              <a:rPr lang="zh-CN" altLang="en-US" sz="3200" dirty="0"/>
              <a:t>：采用寄存器传输原理设计计数器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51125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计数器主要功能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BTN[3]</a:t>
            </a:r>
            <a:r>
              <a:rPr lang="zh-CN" altLang="en-US" sz="2400" dirty="0"/>
              <a:t>：按一次，计一次数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SW[0]</a:t>
            </a:r>
            <a:r>
              <a:rPr lang="zh-CN" altLang="en-US" sz="2400" dirty="0"/>
              <a:t>：为</a:t>
            </a:r>
            <a:r>
              <a:rPr lang="en-US" altLang="zh-CN" sz="2400" dirty="0"/>
              <a:t>1</a:t>
            </a:r>
            <a:r>
              <a:rPr lang="zh-CN" altLang="en-US" sz="2400" dirty="0"/>
              <a:t>时向上计数，为0时向下计数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SW[15]</a:t>
            </a:r>
            <a:r>
              <a:rPr lang="zh-CN" altLang="en-US" sz="2400" dirty="0"/>
              <a:t>：为</a:t>
            </a:r>
            <a:r>
              <a:rPr lang="en-US" altLang="zh-CN" sz="2400" dirty="0"/>
              <a:t>1</a:t>
            </a:r>
            <a:r>
              <a:rPr lang="zh-CN" altLang="en-US" sz="2400" dirty="0"/>
              <a:t>时寄存器清</a:t>
            </a:r>
            <a:r>
              <a:rPr lang="zh-CN" altLang="en-US" sz="2400" dirty="0" smtClean="0"/>
              <a:t>零</a:t>
            </a:r>
            <a:endParaRPr lang="en-US" altLang="zh-CN" sz="2400" dirty="0" smtClean="0"/>
          </a:p>
          <a:p>
            <a:pPr lvl="1">
              <a:lnSpc>
                <a:spcPct val="150000"/>
              </a:lnSpc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位数码管从左到右分别显示寄存器值</a:t>
            </a:r>
            <a:r>
              <a:rPr lang="en-US" altLang="zh-CN" sz="2400" dirty="0"/>
              <a:t>A</a:t>
            </a:r>
            <a:r>
              <a:rPr lang="zh-CN" altLang="en-US" sz="2400" dirty="0" smtClean="0"/>
              <a:t>，自增后的</a:t>
            </a:r>
            <a:r>
              <a:rPr lang="en-US" altLang="zh-CN" sz="2400" dirty="0" smtClean="0"/>
              <a:t>A1</a:t>
            </a:r>
            <a:r>
              <a:rPr lang="zh-CN" altLang="en-US" sz="2400" dirty="0" smtClean="0"/>
              <a:t>，寄存器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的数据输入端</a:t>
            </a:r>
            <a:r>
              <a:rPr lang="en-US" altLang="zh-CN" sz="2400" dirty="0" smtClean="0"/>
              <a:t>A_IN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0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	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92982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任务</a:t>
            </a:r>
            <a:r>
              <a:rPr lang="en-US" altLang="zh-CN" sz="3200" dirty="0"/>
              <a:t>1</a:t>
            </a:r>
            <a:r>
              <a:rPr lang="zh-CN" altLang="en-US" sz="3200" dirty="0"/>
              <a:t>：采用寄存器传输原理设计计数器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511256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2400" dirty="0" smtClean="0"/>
              <a:t>根据</a:t>
            </a:r>
            <a:r>
              <a:rPr lang="en-US" altLang="zh-CN" sz="2400" dirty="0" smtClean="0"/>
              <a:t>P11</a:t>
            </a:r>
            <a:r>
              <a:rPr lang="zh-CN" altLang="en-US" sz="2400" dirty="0" smtClean="0"/>
              <a:t>的原理框图，任务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Top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Module</a:t>
            </a:r>
            <a:r>
              <a:rPr lang="zh-CN" altLang="en-US" sz="2400" dirty="0" smtClean="0"/>
              <a:t>参考代码如下：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wire </a:t>
            </a:r>
            <a:r>
              <a:rPr lang="en-US" altLang="zh-CN" sz="1400" dirty="0"/>
              <a:t>[3:0] </a:t>
            </a:r>
            <a:r>
              <a:rPr lang="en-US" altLang="zh-CN" sz="1400" dirty="0" err="1"/>
              <a:t>Load_A</a:t>
            </a:r>
            <a:r>
              <a:rPr lang="en-US" altLang="zh-CN" sz="1400" dirty="0"/>
              <a:t>, Co;</a:t>
            </a:r>
          </a:p>
          <a:p>
            <a:pPr marL="0" indent="0">
              <a:buNone/>
            </a:pPr>
            <a:r>
              <a:rPr lang="en-US" altLang="zh-CN" sz="1400" dirty="0"/>
              <a:t>	wire [3:0] A,  A_IN, A1;</a:t>
            </a:r>
          </a:p>
          <a:p>
            <a:pPr marL="0" indent="0">
              <a:buNone/>
            </a:pPr>
            <a:r>
              <a:rPr lang="en-US" altLang="zh-CN" sz="1400" dirty="0"/>
              <a:t>	wire [31:0] </a:t>
            </a:r>
            <a:r>
              <a:rPr lang="en-US" altLang="zh-CN" sz="1400" dirty="0" err="1"/>
              <a:t>clk_div</a:t>
            </a:r>
            <a:r>
              <a:rPr lang="en-US" altLang="zh-CN" sz="1400" dirty="0" smtClean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wire [15:0] </a:t>
            </a:r>
            <a:r>
              <a:rPr lang="en-US" altLang="zh-CN" sz="1400" dirty="0" err="1" smtClean="0"/>
              <a:t>num</a:t>
            </a:r>
            <a:r>
              <a:rPr lang="en-US" altLang="zh-CN" sz="1400" dirty="0" smtClean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assign </a:t>
            </a:r>
            <a:r>
              <a:rPr lang="en-US" altLang="zh-CN" sz="1400" dirty="0" err="1" smtClean="0"/>
              <a:t>num</a:t>
            </a:r>
            <a:r>
              <a:rPr lang="en-US" altLang="zh-CN" sz="1400" dirty="0" smtClean="0"/>
              <a:t> = </a:t>
            </a:r>
            <a:r>
              <a:rPr lang="en-US" altLang="zh-CN" sz="1400" dirty="0"/>
              <a:t>{A, A1, A_IN, 4'b0000</a:t>
            </a:r>
            <a:r>
              <a:rPr lang="en-US" altLang="zh-CN" sz="1400" dirty="0" smtClean="0"/>
              <a:t>};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	MyRegister4b </a:t>
            </a:r>
            <a:r>
              <a:rPr lang="en-US" altLang="zh-CN" sz="1400" dirty="0" err="1"/>
              <a:t>RegA</a:t>
            </a:r>
            <a:r>
              <a:rPr lang="en-US" altLang="zh-CN" sz="1400" dirty="0"/>
              <a:t>(.</a:t>
            </a:r>
            <a:r>
              <a:rPr lang="en-US" altLang="zh-CN" sz="1400" dirty="0" err="1"/>
              <a:t>clk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clk</a:t>
            </a:r>
            <a:r>
              <a:rPr lang="en-US" altLang="zh-CN" sz="1400" dirty="0"/>
              <a:t>), .IN(A_IN), .Load(</a:t>
            </a:r>
            <a:r>
              <a:rPr lang="en-US" altLang="zh-CN" sz="1400" dirty="0" err="1"/>
              <a:t>Load_A</a:t>
            </a:r>
            <a:r>
              <a:rPr lang="en-US" altLang="zh-CN" sz="1400" dirty="0"/>
              <a:t>), .OUT(A));</a:t>
            </a:r>
          </a:p>
          <a:p>
            <a:pPr marL="0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err="1"/>
              <a:t>Load_Gen</a:t>
            </a:r>
            <a:r>
              <a:rPr lang="en-US" altLang="zh-CN" sz="1400" dirty="0"/>
              <a:t> m0(.</a:t>
            </a:r>
            <a:r>
              <a:rPr lang="en-US" altLang="zh-CN" sz="1400" dirty="0" err="1"/>
              <a:t>clk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clk</a:t>
            </a:r>
            <a:r>
              <a:rPr lang="en-US" altLang="zh-CN" sz="1400" dirty="0" smtClean="0"/>
              <a:t>), .clk_1ms(</a:t>
            </a:r>
            <a:r>
              <a:rPr lang="en-US" altLang="zh-CN" sz="1400" dirty="0" err="1" smtClean="0"/>
              <a:t>clk_div</a:t>
            </a:r>
            <a:r>
              <a:rPr lang="en-US" altLang="zh-CN" sz="1400" dirty="0" smtClean="0"/>
              <a:t>[17]), .</a:t>
            </a:r>
            <a:r>
              <a:rPr lang="en-US" altLang="zh-CN" sz="1400" dirty="0" err="1" smtClean="0"/>
              <a:t>btn_in</a:t>
            </a:r>
            <a:r>
              <a:rPr lang="en-US" altLang="zh-CN" sz="1400" dirty="0" smtClean="0"/>
              <a:t>(BTN[3]),</a:t>
            </a:r>
          </a:p>
          <a:p>
            <a:pPr marL="0" indent="0">
              <a:buNone/>
            </a:pPr>
            <a:r>
              <a:rPr lang="en-US" altLang="zh-CN" sz="1400" dirty="0" smtClean="0"/>
              <a:t>		 .</a:t>
            </a:r>
            <a:r>
              <a:rPr lang="en-US" altLang="zh-CN" sz="1400" dirty="0" err="1" smtClean="0"/>
              <a:t>Load_out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Load_A</a:t>
            </a:r>
            <a:r>
              <a:rPr lang="en-US" altLang="zh-CN" sz="1400" dirty="0" smtClean="0"/>
              <a:t>));	//</a:t>
            </a:r>
            <a:r>
              <a:rPr lang="zh-CN" altLang="en-US" sz="1400" dirty="0" smtClean="0"/>
              <a:t>寄存器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的</a:t>
            </a:r>
            <a:r>
              <a:rPr lang="en-US" altLang="zh-CN" sz="1400" dirty="0" smtClean="0"/>
              <a:t>Load</a:t>
            </a:r>
            <a:r>
              <a:rPr lang="zh-CN" altLang="en-US" sz="1400" dirty="0" smtClean="0"/>
              <a:t>信号</a:t>
            </a:r>
          </a:p>
          <a:p>
            <a:pPr marL="0" indent="0">
              <a:buNone/>
            </a:pPr>
            <a:r>
              <a:rPr lang="zh-CN" altLang="en-US" sz="1400" dirty="0"/>
              <a:t>	</a:t>
            </a:r>
            <a:r>
              <a:rPr lang="en-US" altLang="zh-CN" sz="1400" dirty="0" err="1"/>
              <a:t>clkdiv</a:t>
            </a:r>
            <a:r>
              <a:rPr lang="en-US" altLang="zh-CN" sz="1400" dirty="0"/>
              <a:t> m3(.</a:t>
            </a:r>
            <a:r>
              <a:rPr lang="en-US" altLang="zh-CN" sz="1400" dirty="0" err="1"/>
              <a:t>clk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clk</a:t>
            </a:r>
            <a:r>
              <a:rPr lang="en-US" altLang="zh-CN" sz="1400" dirty="0"/>
              <a:t>), .</a:t>
            </a:r>
            <a:r>
              <a:rPr lang="en-US" altLang="zh-CN" sz="1400" dirty="0" err="1"/>
              <a:t>rst</a:t>
            </a:r>
            <a:r>
              <a:rPr lang="en-US" altLang="zh-CN" sz="1400" dirty="0"/>
              <a:t>(1'b0), .</a:t>
            </a:r>
            <a:r>
              <a:rPr lang="en-US" altLang="zh-CN" sz="1400" dirty="0" err="1"/>
              <a:t>clk_div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clk_div</a:t>
            </a:r>
            <a:r>
              <a:rPr lang="en-US" altLang="zh-CN" sz="1400" dirty="0"/>
              <a:t>));</a:t>
            </a:r>
          </a:p>
          <a:p>
            <a:pPr marL="0" indent="0">
              <a:buNone/>
            </a:pPr>
            <a:r>
              <a:rPr lang="en-US" altLang="zh-CN" sz="1400" dirty="0"/>
              <a:t>	AddSub4b m4(.A(A), .B(4'b0001), .Ctrl(SW[0]), .S(A1</a:t>
            </a:r>
            <a:r>
              <a:rPr lang="en-US" altLang="zh-CN" sz="1400" dirty="0" smtClean="0"/>
              <a:t>));//</a:t>
            </a:r>
            <a:r>
              <a:rPr lang="zh-CN" altLang="en-US" sz="1400" dirty="0"/>
              <a:t>自增</a:t>
            </a:r>
            <a:r>
              <a:rPr lang="en-US" altLang="zh-CN" sz="1400" dirty="0"/>
              <a:t>/</a:t>
            </a:r>
            <a:r>
              <a:rPr lang="zh-CN" altLang="en-US" sz="1400" dirty="0"/>
              <a:t>自减逻辑</a:t>
            </a:r>
          </a:p>
          <a:p>
            <a:pPr marL="0" indent="0">
              <a:buNone/>
            </a:pPr>
            <a:r>
              <a:rPr lang="zh-CN" altLang="en-US" sz="1400" dirty="0"/>
              <a:t>	</a:t>
            </a:r>
            <a:r>
              <a:rPr lang="en-US" altLang="zh-CN" sz="1400" dirty="0"/>
              <a:t>assign A_IN = (SW[15] == 1'b0)? A1: 4'b0000</a:t>
            </a:r>
            <a:r>
              <a:rPr lang="en-US" altLang="zh-CN" sz="1400" dirty="0" smtClean="0"/>
              <a:t>;   //</a:t>
            </a:r>
            <a:r>
              <a:rPr lang="en-US" altLang="zh-CN" sz="1400" dirty="0"/>
              <a:t>2</a:t>
            </a:r>
            <a:r>
              <a:rPr lang="zh-CN" altLang="en-US" sz="1400" dirty="0"/>
              <a:t>选</a:t>
            </a:r>
            <a:r>
              <a:rPr lang="en-US" altLang="zh-CN" sz="1400" dirty="0"/>
              <a:t>1</a:t>
            </a:r>
            <a:r>
              <a:rPr lang="zh-CN" altLang="en-US" sz="1400" dirty="0"/>
              <a:t>多路复用器，复位寄存器初值</a:t>
            </a:r>
          </a:p>
          <a:p>
            <a:pPr marL="0" indent="0">
              <a:buNone/>
            </a:pPr>
            <a:r>
              <a:rPr lang="zh-CN" altLang="en-US" sz="1400" dirty="0"/>
              <a:t>	</a:t>
            </a:r>
            <a:r>
              <a:rPr lang="en-US" altLang="zh-CN" sz="1400" dirty="0" err="1"/>
              <a:t>DispNum</a:t>
            </a:r>
            <a:r>
              <a:rPr lang="en-US" altLang="zh-CN" sz="1400" dirty="0"/>
              <a:t> m8</a:t>
            </a:r>
            <a:r>
              <a:rPr lang="en-US" altLang="zh-CN" sz="1400" dirty="0" smtClean="0"/>
              <a:t>(.scan(</a:t>
            </a:r>
            <a:r>
              <a:rPr lang="en-US" altLang="zh-CN" sz="1400" dirty="0" err="1" smtClean="0"/>
              <a:t>clk_div</a:t>
            </a:r>
            <a:r>
              <a:rPr lang="en-US" altLang="zh-CN" sz="1400" dirty="0" smtClean="0"/>
              <a:t>[18:17]), </a:t>
            </a:r>
            <a:r>
              <a:rPr lang="en-US" altLang="zh-CN" sz="1400" dirty="0"/>
              <a:t>.</a:t>
            </a:r>
            <a:r>
              <a:rPr lang="en-US" altLang="zh-CN" sz="1400" dirty="0" smtClean="0"/>
              <a:t>HEXS(</a:t>
            </a:r>
            <a:r>
              <a:rPr lang="en-US" altLang="zh-CN" sz="1400" dirty="0" err="1" smtClean="0"/>
              <a:t>num</a:t>
            </a:r>
            <a:r>
              <a:rPr lang="en-US" altLang="zh-CN" sz="1400" dirty="0" smtClean="0"/>
              <a:t>), .</a:t>
            </a:r>
            <a:r>
              <a:rPr lang="en-US" altLang="zh-CN" sz="1400" dirty="0"/>
              <a:t>LES(4'b0</a:t>
            </a:r>
            <a:r>
              <a:rPr lang="en-US" altLang="zh-CN" sz="1400" dirty="0" smtClean="0"/>
              <a:t>), .point(4'b0), .</a:t>
            </a:r>
            <a:r>
              <a:rPr lang="en-US" altLang="zh-CN" sz="1400" dirty="0"/>
              <a:t>AN(AN), .</a:t>
            </a:r>
            <a:r>
              <a:rPr lang="en-US" altLang="zh-CN" sz="1400" dirty="0" smtClean="0"/>
              <a:t>SEGMENT(SEGMENT</a:t>
            </a:r>
            <a:r>
              <a:rPr lang="en-US" altLang="zh-CN" sz="1400" dirty="0"/>
              <a:t>));</a:t>
            </a:r>
          </a:p>
          <a:p>
            <a:pPr marL="0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……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2400" dirty="0" smtClean="0"/>
              <a:t>完成任务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工程设计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2671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任务</a:t>
            </a:r>
            <a:r>
              <a:rPr lang="en-US" altLang="zh-CN" sz="3200" dirty="0"/>
              <a:t>1</a:t>
            </a:r>
            <a:r>
              <a:rPr lang="zh-CN" altLang="en-US" sz="3200" dirty="0"/>
              <a:t>：采用寄存器传输原理设计计数器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714556"/>
              </p:ext>
            </p:extLst>
          </p:nvPr>
        </p:nvGraphicFramePr>
        <p:xfrm>
          <a:off x="1691680" y="1916832"/>
          <a:ext cx="4941939" cy="374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Visio" r:id="rId3" imgW="3100454" imgH="2176412" progId="Visio.Drawing.11">
                  <p:embed/>
                </p:oleObj>
              </mc:Choice>
              <mc:Fallback>
                <p:oleObj name="Visio" r:id="rId3" imgW="3100454" imgH="2176412" progId="Visio.Drawing.11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1916832"/>
                        <a:ext cx="4941939" cy="3744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线形标注 1 6"/>
          <p:cNvSpPr/>
          <p:nvPr/>
        </p:nvSpPr>
        <p:spPr>
          <a:xfrm>
            <a:off x="6876256" y="2852936"/>
            <a:ext cx="576064" cy="396624"/>
          </a:xfrm>
          <a:prstGeom prst="borderCallout1">
            <a:avLst>
              <a:gd name="adj1" fmla="val 18750"/>
              <a:gd name="adj2" fmla="val -8333"/>
              <a:gd name="adj3" fmla="val 101186"/>
              <a:gd name="adj4" fmla="val -10965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5436096" y="4149080"/>
            <a:ext cx="648072" cy="396624"/>
          </a:xfrm>
          <a:prstGeom prst="borderCallout1">
            <a:avLst>
              <a:gd name="adj1" fmla="val 18750"/>
              <a:gd name="adj2" fmla="val -8333"/>
              <a:gd name="adj3" fmla="val 88456"/>
              <a:gd name="adj4" fmla="val -9598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线形标注 1 8"/>
          <p:cNvSpPr/>
          <p:nvPr/>
        </p:nvSpPr>
        <p:spPr>
          <a:xfrm flipH="1">
            <a:off x="2555776" y="3051248"/>
            <a:ext cx="914400" cy="396624"/>
          </a:xfrm>
          <a:prstGeom prst="borderCallout1">
            <a:avLst>
              <a:gd name="adj1" fmla="val 18750"/>
              <a:gd name="adj2" fmla="val -8333"/>
              <a:gd name="adj3" fmla="val 34067"/>
              <a:gd name="adj4" fmla="val -9812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A_IN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95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81528" cy="954360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任务</a:t>
            </a:r>
            <a:r>
              <a:rPr lang="en-US" altLang="zh-CN" sz="3200" dirty="0"/>
              <a:t>1</a:t>
            </a:r>
            <a:r>
              <a:rPr lang="zh-CN" altLang="en-US" sz="3200" dirty="0"/>
              <a:t>：采用寄存器传输原理设计计数器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完成任务一</a:t>
            </a:r>
            <a:r>
              <a:rPr lang="en-US" altLang="zh-CN" dirty="0" smtClean="0"/>
              <a:t>Top</a:t>
            </a:r>
            <a:r>
              <a:rPr lang="zh-CN" altLang="en-US" dirty="0" smtClean="0"/>
              <a:t>文件的仿真</a:t>
            </a:r>
            <a:endParaRPr lang="en-US" altLang="zh-CN" dirty="0" smtClean="0"/>
          </a:p>
          <a:p>
            <a:pPr lvl="1"/>
            <a:r>
              <a:rPr lang="zh-CN" altLang="en-US" dirty="0"/>
              <a:t>修改</a:t>
            </a:r>
            <a:r>
              <a:rPr lang="en-US" altLang="zh-CN" dirty="0" smtClean="0"/>
              <a:t>P12</a:t>
            </a:r>
            <a:r>
              <a:rPr lang="zh-CN" altLang="en-US" dirty="0" smtClean="0"/>
              <a:t>页</a:t>
            </a:r>
            <a:r>
              <a:rPr lang="en-US" altLang="zh-CN" dirty="0" err="1" smtClean="0"/>
              <a:t>Load_Gen</a:t>
            </a:r>
            <a:r>
              <a:rPr lang="zh-CN" altLang="en-US" dirty="0" smtClean="0"/>
              <a:t>模块代码</a:t>
            </a:r>
            <a:endParaRPr lang="en-US" altLang="zh-CN" dirty="0"/>
          </a:p>
          <a:p>
            <a:pPr lvl="2"/>
            <a:r>
              <a:rPr lang="zh-CN" altLang="en-US" dirty="0" smtClean="0"/>
              <a:t>注释按键</a:t>
            </a:r>
            <a:r>
              <a:rPr lang="zh-CN" altLang="en-US" dirty="0"/>
              <a:t>去抖模块：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dirty="0" err="1">
                <a:ea typeface="宋体" pitchFamily="2" charset="-122"/>
                <a:cs typeface="Times New Roman" pitchFamily="18" charset="0"/>
              </a:rPr>
              <a:t>pbdebounce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 p0(...)</a:t>
            </a:r>
          </a:p>
          <a:p>
            <a:pPr lvl="2"/>
            <a:r>
              <a:rPr lang="zh-CN" altLang="en-US" dirty="0"/>
              <a:t>增加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assign </a:t>
            </a:r>
            <a:r>
              <a:rPr lang="en-US" altLang="zh-CN" dirty="0" err="1">
                <a:ea typeface="宋体" pitchFamily="2" charset="-122"/>
                <a:cs typeface="Times New Roman" pitchFamily="18" charset="0"/>
              </a:rPr>
              <a:t>btn_out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 = </a:t>
            </a:r>
            <a:r>
              <a:rPr lang="en-US" altLang="zh-CN" dirty="0" err="1">
                <a:ea typeface="宋体" pitchFamily="2" charset="-122"/>
                <a:cs typeface="Times New Roman" pitchFamily="18" charset="0"/>
              </a:rPr>
              <a:t>btn_in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;</a:t>
            </a:r>
          </a:p>
          <a:p>
            <a:pPr lvl="1"/>
            <a:r>
              <a:rPr lang="zh-CN" altLang="en-US" dirty="0" smtClean="0"/>
              <a:t>参考实验</a:t>
            </a:r>
            <a:r>
              <a:rPr lang="en-US" altLang="zh-CN" dirty="0" smtClean="0"/>
              <a:t>8&amp;9,</a:t>
            </a:r>
            <a:r>
              <a:rPr lang="zh-CN" altLang="en-US" dirty="0" smtClean="0"/>
              <a:t>修改</a:t>
            </a:r>
            <a:r>
              <a:rPr lang="en-US" altLang="zh-CN" dirty="0" smtClean="0"/>
              <a:t>Top</a:t>
            </a:r>
            <a:r>
              <a:rPr lang="zh-CN" altLang="en-US" dirty="0" smtClean="0"/>
              <a:t>模块中存在大延迟的信号</a:t>
            </a:r>
          </a:p>
        </p:txBody>
      </p:sp>
    </p:spTree>
    <p:extLst>
      <p:ext uri="{BB962C8B-B14F-4D97-AF65-F5344CB8AC3E}">
        <p14:creationId xmlns:p14="http://schemas.microsoft.com/office/powerpoint/2010/main" val="1652305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725544" cy="95436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任务</a:t>
            </a:r>
            <a:r>
              <a:rPr lang="en-US" altLang="zh-CN" sz="3200" dirty="0"/>
              <a:t>1</a:t>
            </a:r>
            <a:r>
              <a:rPr lang="zh-CN" altLang="en-US" sz="3200" dirty="0"/>
              <a:t>：采用寄存器传输原理设计计数器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任务一仿真波形要求</a:t>
            </a:r>
            <a:r>
              <a:rPr lang="zh-CN" altLang="en-US" sz="2800" dirty="0"/>
              <a:t>：</a:t>
            </a:r>
            <a:r>
              <a:rPr lang="zh-CN" altLang="en-US" sz="2800" dirty="0" smtClean="0"/>
              <a:t>完成以下操作过程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SW[15]</a:t>
            </a:r>
            <a:r>
              <a:rPr lang="zh-CN" altLang="en-US" sz="2400" dirty="0" smtClean="0"/>
              <a:t>拨到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，</a:t>
            </a:r>
            <a:r>
              <a:rPr lang="en-US" altLang="zh-CN" sz="2400" dirty="0"/>
              <a:t> BTN[3]</a:t>
            </a:r>
            <a:r>
              <a:rPr lang="zh-CN" altLang="en-US" sz="2400" dirty="0"/>
              <a:t>按</a:t>
            </a:r>
            <a:r>
              <a:rPr lang="en-US" altLang="zh-CN" sz="2400" dirty="0"/>
              <a:t>1</a:t>
            </a:r>
            <a:r>
              <a:rPr lang="zh-CN" altLang="en-US" sz="2400" dirty="0"/>
              <a:t>次，</a:t>
            </a:r>
            <a:r>
              <a:rPr lang="zh-CN" altLang="en-US" sz="2400" dirty="0" smtClean="0"/>
              <a:t>寄存器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清零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SW[15]</a:t>
            </a:r>
            <a:r>
              <a:rPr lang="zh-CN" altLang="en-US" sz="2400" dirty="0" smtClean="0"/>
              <a:t>拨到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SW[0]</a:t>
            </a:r>
            <a:r>
              <a:rPr lang="zh-CN" altLang="en-US" sz="2400" dirty="0"/>
              <a:t>拨到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BTN[3]</a:t>
            </a:r>
            <a:r>
              <a:rPr lang="zh-CN" altLang="en-US" sz="2400" dirty="0" smtClean="0"/>
              <a:t>按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次，寄存器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加</a:t>
            </a:r>
            <a:r>
              <a:rPr lang="en-US" altLang="zh-CN" sz="2400" dirty="0" smtClean="0"/>
              <a:t>1</a:t>
            </a:r>
          </a:p>
          <a:p>
            <a:pPr lvl="1"/>
            <a:r>
              <a:rPr lang="en-US" altLang="zh-CN" sz="2400" dirty="0"/>
              <a:t>BTN[3</a:t>
            </a:r>
            <a:r>
              <a:rPr lang="en-US" altLang="zh-CN" sz="2400" dirty="0" smtClean="0"/>
              <a:t>]</a:t>
            </a:r>
            <a:r>
              <a:rPr lang="zh-CN" altLang="en-US" sz="2400" dirty="0" smtClean="0"/>
              <a:t>再按</a:t>
            </a:r>
            <a:r>
              <a:rPr lang="en-US" altLang="zh-CN" sz="2400" dirty="0"/>
              <a:t>1</a:t>
            </a:r>
            <a:r>
              <a:rPr lang="zh-CN" altLang="en-US" sz="2400" dirty="0"/>
              <a:t>次，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寄存器再加</a:t>
            </a:r>
            <a:r>
              <a:rPr lang="en-US" altLang="zh-CN" sz="2400" dirty="0" smtClean="0"/>
              <a:t>1</a:t>
            </a:r>
            <a:endParaRPr lang="en-US" altLang="zh-CN" sz="2400" dirty="0"/>
          </a:p>
          <a:p>
            <a:pPr lvl="1"/>
            <a:r>
              <a:rPr lang="en-US" altLang="zh-CN" sz="2400" dirty="0" smtClean="0"/>
              <a:t>SW[0]</a:t>
            </a:r>
            <a:r>
              <a:rPr lang="zh-CN" altLang="en-US" sz="2400" dirty="0" smtClean="0"/>
              <a:t>拨到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BTN[3</a:t>
            </a:r>
            <a:r>
              <a:rPr lang="en-US" altLang="zh-CN" sz="2400" dirty="0"/>
              <a:t>]</a:t>
            </a:r>
            <a:r>
              <a:rPr lang="zh-CN" altLang="en-US" sz="2400" dirty="0" smtClean="0"/>
              <a:t>按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次</a:t>
            </a:r>
            <a:r>
              <a:rPr lang="zh-CN" altLang="en-US" sz="2400" dirty="0"/>
              <a:t>，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寄存器累积减</a:t>
            </a:r>
            <a:r>
              <a:rPr lang="en-US" altLang="zh-CN" sz="2400" dirty="0" smtClean="0"/>
              <a:t>3</a:t>
            </a:r>
          </a:p>
          <a:p>
            <a:pPr lvl="1"/>
            <a:r>
              <a:rPr lang="zh-CN" altLang="en-US" sz="2400" dirty="0" smtClean="0"/>
              <a:t>从被仿真的</a:t>
            </a:r>
            <a:r>
              <a:rPr lang="en-US" altLang="zh-CN" sz="2400" dirty="0" smtClean="0"/>
              <a:t>top</a:t>
            </a:r>
            <a:r>
              <a:rPr lang="zh-CN" altLang="en-US" sz="2400" dirty="0" smtClean="0"/>
              <a:t>模块里拖出</a:t>
            </a:r>
            <a:r>
              <a:rPr lang="en-US" altLang="zh-CN" sz="2400" dirty="0" err="1" smtClean="0"/>
              <a:t>num</a:t>
            </a:r>
            <a:r>
              <a:rPr lang="zh-CN" altLang="en-US" sz="2400" dirty="0" smtClean="0"/>
              <a:t>信号到仿真波形中，重新仿真后观察</a:t>
            </a:r>
            <a:r>
              <a:rPr lang="en-US" altLang="zh-CN" sz="2400" dirty="0" err="1" smtClean="0"/>
              <a:t>num</a:t>
            </a:r>
            <a:r>
              <a:rPr lang="zh-CN" altLang="en-US" sz="2400" dirty="0" smtClean="0"/>
              <a:t>总线输出结果，结合</a:t>
            </a:r>
            <a:r>
              <a:rPr lang="en-US" altLang="zh-CN" sz="2400" dirty="0" smtClean="0"/>
              <a:t>AN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SEGMENT</a:t>
            </a:r>
            <a:r>
              <a:rPr lang="zh-CN" altLang="en-US" sz="2400" dirty="0" smtClean="0"/>
              <a:t>信号，验证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A_IN</a:t>
            </a:r>
            <a:r>
              <a:rPr lang="zh-CN" altLang="en-US" sz="2400" dirty="0" smtClean="0"/>
              <a:t>的变化过程是否符合预期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84164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941568" cy="95436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/>
              <a:t>任务</a:t>
            </a:r>
            <a:r>
              <a:rPr lang="en-US" altLang="zh-CN" sz="3600" dirty="0"/>
              <a:t>1</a:t>
            </a:r>
            <a:r>
              <a:rPr lang="zh-CN" altLang="en-US" sz="3600" dirty="0"/>
              <a:t>：采用寄存器传输原理设计计数器</a:t>
            </a:r>
            <a:endParaRPr lang="en-US" altLang="zh-CN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下载运行进行检查验收</a:t>
            </a:r>
            <a:endParaRPr lang="en-US" altLang="zh-CN" dirty="0"/>
          </a:p>
          <a:p>
            <a:pPr lvl="1"/>
            <a:r>
              <a:rPr lang="zh-CN" altLang="en-US" dirty="0" smtClean="0"/>
              <a:t>验证寄存器的设置</a:t>
            </a:r>
            <a:r>
              <a:rPr lang="en-US" altLang="zh-CN" dirty="0" smtClean="0"/>
              <a:t>0</a:t>
            </a:r>
            <a:r>
              <a:rPr lang="zh-CN" altLang="en-US" dirty="0" smtClean="0"/>
              <a:t>初值功能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验证寄存器自增、自减功能</a:t>
            </a:r>
            <a:endParaRPr lang="en-US" altLang="zh-CN" dirty="0" smtClean="0"/>
          </a:p>
          <a:p>
            <a:r>
              <a:rPr lang="zh-CN" altLang="en-US" dirty="0"/>
              <a:t>由于采用寄存器传输方式进行计数，而不是把</a:t>
            </a:r>
            <a:r>
              <a:rPr lang="en-US" altLang="zh-CN" dirty="0"/>
              <a:t>BTN</a:t>
            </a:r>
            <a:r>
              <a:rPr lang="zh-CN" altLang="en-US" dirty="0"/>
              <a:t>按键输入直接作为时钟，因此</a:t>
            </a:r>
            <a:r>
              <a:rPr lang="en-US" altLang="zh-CN" dirty="0" err="1"/>
              <a:t>xdf</a:t>
            </a:r>
            <a:r>
              <a:rPr lang="zh-CN" altLang="en-US" dirty="0"/>
              <a:t>文件里不再</a:t>
            </a:r>
            <a:r>
              <a:rPr lang="zh-CN" altLang="en-US" dirty="0" smtClean="0"/>
              <a:t>需要对</a:t>
            </a:r>
            <a:r>
              <a:rPr lang="en-US" altLang="zh-CN" dirty="0" smtClean="0"/>
              <a:t>BTN</a:t>
            </a:r>
            <a:r>
              <a:rPr lang="zh-CN" altLang="en-US" dirty="0" smtClean="0"/>
              <a:t>引脚设置</a:t>
            </a:r>
            <a:r>
              <a:rPr lang="en-US" altLang="zh-CN" dirty="0" smtClean="0"/>
              <a:t>“</a:t>
            </a:r>
            <a:r>
              <a:rPr lang="en-US" altLang="zh-CN" dirty="0" err="1" smtClean="0"/>
              <a:t>set_property</a:t>
            </a:r>
            <a:r>
              <a:rPr lang="en-US" altLang="zh-CN" dirty="0" smtClean="0"/>
              <a:t> </a:t>
            </a:r>
            <a:r>
              <a:rPr lang="en-US" altLang="zh-CN" dirty="0"/>
              <a:t>CLOCK_DEDICATED_ROUTE FALSE…”</a:t>
            </a:r>
            <a:endParaRPr lang="zh-CN" altLang="en-US" dirty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873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941568" cy="95436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/>
              <a:t>任务</a:t>
            </a:r>
            <a:r>
              <a:rPr lang="en-US" altLang="zh-CN" sz="3600" dirty="0"/>
              <a:t>2</a:t>
            </a:r>
            <a:r>
              <a:rPr lang="zh-CN" altLang="en-US" sz="3600" dirty="0"/>
              <a:t>：基于多路选择器总线的寄存器传输</a:t>
            </a:r>
            <a:endParaRPr lang="en-US" altLang="zh-CN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参照</a:t>
            </a:r>
            <a:r>
              <a:rPr lang="en-US" altLang="zh-CN" dirty="0" smtClean="0"/>
              <a:t>P14</a:t>
            </a:r>
            <a:r>
              <a:rPr lang="zh-CN" altLang="en-US" dirty="0" smtClean="0"/>
              <a:t>页原理框图，实现任务</a:t>
            </a:r>
            <a:r>
              <a:rPr lang="en-US" altLang="zh-CN" dirty="0" smtClean="0"/>
              <a:t>2</a:t>
            </a:r>
            <a:r>
              <a:rPr lang="zh-CN" altLang="en-US" dirty="0" smtClean="0"/>
              <a:t>代码</a:t>
            </a:r>
            <a:endParaRPr lang="en-US" altLang="zh-CN" dirty="0" smtClean="0"/>
          </a:p>
          <a:p>
            <a:r>
              <a:rPr lang="zh-CN" altLang="en-US" dirty="0" smtClean="0"/>
              <a:t>要求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位数码管从左到右分别显示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和多路选择器总线值</a:t>
            </a:r>
            <a:r>
              <a:rPr lang="en-US" altLang="zh-CN" dirty="0" smtClean="0"/>
              <a:t>Bus</a:t>
            </a:r>
          </a:p>
          <a:p>
            <a:r>
              <a:rPr lang="zh-CN" altLang="en-US" dirty="0" smtClean="0"/>
              <a:t>参照任务</a:t>
            </a:r>
            <a:r>
              <a:rPr lang="en-US" altLang="zh-CN" dirty="0" smtClean="0"/>
              <a:t>1</a:t>
            </a:r>
            <a:r>
              <a:rPr lang="zh-CN" altLang="en-US" dirty="0" smtClean="0"/>
              <a:t>仿真方法，对任务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</a:t>
            </a:r>
            <a:r>
              <a:rPr lang="en-US" altLang="zh-CN" dirty="0" smtClean="0"/>
              <a:t>Top Module</a:t>
            </a:r>
            <a:r>
              <a:rPr lang="zh-CN" altLang="en-US" dirty="0" smtClean="0"/>
              <a:t>进行仿真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9070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仿真验证要求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2</a:t>
            </a:r>
            <a:r>
              <a:rPr lang="zh-CN" altLang="en-US" dirty="0" smtClean="0"/>
              <a:t>仿真验证操作过程：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控制</a:t>
            </a:r>
            <a:r>
              <a:rPr lang="en-US" altLang="zh-CN" dirty="0" smtClean="0"/>
              <a:t>SW[15]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SW[0]</a:t>
            </a:r>
            <a:r>
              <a:rPr lang="zh-CN" altLang="en-US" dirty="0" smtClean="0"/>
              <a:t>，按</a:t>
            </a:r>
            <a:r>
              <a:rPr lang="en-US" altLang="zh-CN" dirty="0" smtClean="0"/>
              <a:t>BTN[3],</a:t>
            </a:r>
            <a:r>
              <a:rPr lang="zh-CN" altLang="en-US" dirty="0" smtClean="0"/>
              <a:t>把</a:t>
            </a:r>
            <a:r>
              <a:rPr lang="en-US" altLang="zh-CN" dirty="0" smtClean="0"/>
              <a:t>A</a:t>
            </a:r>
            <a:r>
              <a:rPr lang="zh-CN" altLang="en-US" dirty="0" smtClean="0"/>
              <a:t>寄存器初始化到</a:t>
            </a:r>
            <a:r>
              <a:rPr lang="en-US" altLang="zh-CN" dirty="0" smtClean="0"/>
              <a:t>0</a:t>
            </a:r>
          </a:p>
          <a:p>
            <a:pPr lvl="1"/>
            <a:r>
              <a:rPr lang="zh-CN" altLang="en-US" dirty="0"/>
              <a:t>控制</a:t>
            </a:r>
            <a:r>
              <a:rPr lang="en-US" altLang="zh-CN" dirty="0"/>
              <a:t>SW[15]</a:t>
            </a:r>
            <a:r>
              <a:rPr lang="zh-CN" altLang="en-US" dirty="0"/>
              <a:t>、</a:t>
            </a:r>
            <a:r>
              <a:rPr lang="en-US" altLang="zh-CN" dirty="0"/>
              <a:t>SW[0</a:t>
            </a:r>
            <a:r>
              <a:rPr lang="en-US" altLang="zh-CN" dirty="0" smtClean="0"/>
              <a:t>]</a:t>
            </a:r>
            <a:r>
              <a:rPr lang="zh-CN" altLang="en-US" dirty="0" smtClean="0"/>
              <a:t>，按</a:t>
            </a:r>
            <a:r>
              <a:rPr lang="en-US" altLang="zh-CN" dirty="0"/>
              <a:t>BTN[3],</a:t>
            </a:r>
            <a:r>
              <a:rPr lang="zh-CN" altLang="en-US" dirty="0"/>
              <a:t>把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 smtClean="0">
                <a:solidFill>
                  <a:srgbClr val="FF0000"/>
                </a:solidFill>
              </a:rPr>
              <a:t>寄存器加到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</a:p>
          <a:p>
            <a:pPr lvl="1"/>
            <a:r>
              <a:rPr lang="zh-CN" altLang="en-US" dirty="0" smtClean="0"/>
              <a:t>类似控制方法，把</a:t>
            </a:r>
            <a:r>
              <a:rPr lang="en-US" altLang="zh-CN" dirty="0" smtClean="0">
                <a:solidFill>
                  <a:srgbClr val="FF0000"/>
                </a:solidFill>
              </a:rPr>
              <a:t>B</a:t>
            </a:r>
            <a:r>
              <a:rPr lang="zh-CN" altLang="en-US" dirty="0" smtClean="0">
                <a:solidFill>
                  <a:srgbClr val="FF0000"/>
                </a:solidFill>
              </a:rPr>
              <a:t>寄存器减到</a:t>
            </a:r>
            <a:r>
              <a:rPr lang="en-US" altLang="zh-CN" dirty="0" smtClean="0">
                <a:solidFill>
                  <a:srgbClr val="FF0000"/>
                </a:solidFill>
              </a:rPr>
              <a:t>E</a:t>
            </a:r>
          </a:p>
          <a:p>
            <a:pPr lvl="1"/>
            <a:r>
              <a:rPr lang="zh-CN" altLang="en-US" dirty="0" smtClean="0"/>
              <a:t>控制</a:t>
            </a:r>
            <a:r>
              <a:rPr lang="en-US" altLang="zh-CN" dirty="0"/>
              <a:t>SW[15]</a:t>
            </a:r>
            <a:r>
              <a:rPr lang="zh-CN" altLang="en-US" dirty="0"/>
              <a:t>、</a:t>
            </a:r>
            <a:r>
              <a:rPr lang="en-US" altLang="zh-CN" dirty="0"/>
              <a:t>SW[8:7]</a:t>
            </a:r>
            <a:r>
              <a:rPr lang="zh-CN" altLang="en-US" dirty="0" smtClean="0"/>
              <a:t>，按</a:t>
            </a:r>
            <a:r>
              <a:rPr lang="en-US" altLang="zh-CN" dirty="0" smtClean="0"/>
              <a:t>BTN[1]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FF0000"/>
                </a:solidFill>
              </a:rPr>
              <a:t>把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zh-CN" altLang="en-US" dirty="0" smtClean="0">
                <a:solidFill>
                  <a:srgbClr val="FF0000"/>
                </a:solidFill>
              </a:rPr>
              <a:t>寄存器</a:t>
            </a:r>
            <a:r>
              <a:rPr lang="zh-CN" altLang="en-US" dirty="0">
                <a:solidFill>
                  <a:srgbClr val="FF0000"/>
                </a:solidFill>
              </a:rPr>
              <a:t>值传递</a:t>
            </a:r>
            <a:r>
              <a:rPr lang="zh-CN" altLang="en-US" dirty="0" smtClean="0">
                <a:solidFill>
                  <a:srgbClr val="FF0000"/>
                </a:solidFill>
              </a:rPr>
              <a:t>给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</a:rPr>
              <a:t>寄存器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类似操作，把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寄存器传递</a:t>
            </a:r>
            <a:r>
              <a:rPr lang="zh-CN" altLang="en-US" dirty="0" smtClean="0">
                <a:solidFill>
                  <a:srgbClr val="FF0000"/>
                </a:solidFill>
              </a:rPr>
              <a:t>给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zh-CN" altLang="en-US" dirty="0" smtClean="0">
                <a:solidFill>
                  <a:srgbClr val="FF0000"/>
                </a:solidFill>
              </a:rPr>
              <a:t>寄存器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在上述过程中观察仿真波形里</a:t>
            </a:r>
            <a:r>
              <a:rPr lang="en-US" altLang="zh-CN" dirty="0" err="1"/>
              <a:t>num</a:t>
            </a:r>
            <a:r>
              <a:rPr lang="zh-CN" altLang="en-US" dirty="0"/>
              <a:t>总线输出结果</a:t>
            </a:r>
            <a:r>
              <a:rPr lang="zh-CN" altLang="en-US" dirty="0" smtClean="0"/>
              <a:t>，</a:t>
            </a:r>
            <a:r>
              <a:rPr lang="zh-CN" altLang="en-US" dirty="0"/>
              <a:t>结合</a:t>
            </a:r>
            <a:r>
              <a:rPr lang="en-US" altLang="zh-CN" dirty="0"/>
              <a:t>AN</a:t>
            </a:r>
            <a:r>
              <a:rPr lang="zh-CN" altLang="en-US" dirty="0"/>
              <a:t>和</a:t>
            </a:r>
            <a:r>
              <a:rPr lang="en-US" altLang="zh-CN" dirty="0"/>
              <a:t>SEGMENT</a:t>
            </a:r>
            <a:r>
              <a:rPr lang="zh-CN" altLang="en-US" dirty="0"/>
              <a:t>信号，</a:t>
            </a:r>
            <a:r>
              <a:rPr lang="zh-CN" altLang="en-US" dirty="0" smtClean="0"/>
              <a:t>验证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Bus</a:t>
            </a:r>
            <a:r>
              <a:rPr lang="zh-CN" altLang="en-US" dirty="0"/>
              <a:t>的变化过程是否符合预期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0334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941568" cy="954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 smtClean="0"/>
              <a:t>任务</a:t>
            </a:r>
            <a:r>
              <a:rPr lang="en-US" altLang="zh-CN" sz="3600" dirty="0" smtClean="0"/>
              <a:t>3</a:t>
            </a:r>
            <a:r>
              <a:rPr lang="zh-CN" altLang="en-US" sz="3600" dirty="0"/>
              <a:t>：基于</a:t>
            </a:r>
            <a:r>
              <a:rPr lang="en-US" altLang="zh-CN" sz="3600" dirty="0"/>
              <a:t>ALU</a:t>
            </a:r>
            <a:r>
              <a:rPr lang="zh-CN" altLang="en-US" sz="3600" dirty="0"/>
              <a:t>的数据传输应用设计</a:t>
            </a:r>
            <a:endParaRPr lang="en-US" altLang="zh-CN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在任务</a:t>
            </a:r>
            <a:r>
              <a:rPr lang="en-US" altLang="zh-CN" dirty="0" smtClean="0"/>
              <a:t>2</a:t>
            </a:r>
            <a:r>
              <a:rPr lang="zh-CN" altLang="en-US" dirty="0" smtClean="0"/>
              <a:t>基础上根据</a:t>
            </a:r>
            <a:r>
              <a:rPr lang="en-US" altLang="zh-CN" dirty="0" smtClean="0"/>
              <a:t>P15</a:t>
            </a:r>
            <a:r>
              <a:rPr lang="zh-CN" altLang="en-US" dirty="0" smtClean="0"/>
              <a:t>页原理框图实现</a:t>
            </a:r>
            <a:endParaRPr lang="en-US" altLang="zh-CN" dirty="0" smtClean="0"/>
          </a:p>
          <a:p>
            <a:r>
              <a:rPr lang="zh-CN" altLang="en-US" dirty="0" smtClean="0"/>
              <a:t>下载运行进行检查验收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</a:t>
            </a:r>
            <a:r>
              <a:rPr lang="zh-CN" altLang="en-US" dirty="0" smtClean="0"/>
              <a:t>寄存器</a:t>
            </a:r>
            <a:r>
              <a:rPr lang="zh-CN" altLang="en-US" dirty="0"/>
              <a:t>的设置</a:t>
            </a:r>
            <a:r>
              <a:rPr lang="zh-CN" altLang="en-US" dirty="0" smtClean="0"/>
              <a:t>初值功能</a:t>
            </a:r>
            <a:endParaRPr lang="en-US" altLang="zh-CN" dirty="0"/>
          </a:p>
          <a:p>
            <a:pPr lvl="1"/>
            <a:r>
              <a:rPr lang="zh-CN" altLang="en-US" dirty="0" smtClean="0"/>
              <a:t>验证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寄存器的自</a:t>
            </a:r>
            <a:r>
              <a:rPr lang="zh-CN" altLang="en-US" dirty="0"/>
              <a:t>增、自</a:t>
            </a:r>
            <a:r>
              <a:rPr lang="zh-CN" altLang="en-US" dirty="0" smtClean="0"/>
              <a:t>减功能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</a:t>
            </a:r>
            <a:r>
              <a:rPr lang="en-US" altLang="zh-CN" dirty="0" smtClean="0"/>
              <a:t>ALU</a:t>
            </a:r>
            <a:r>
              <a:rPr lang="zh-CN" altLang="en-US" dirty="0" smtClean="0"/>
              <a:t>运算功能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验证寄存器传输功能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</a:t>
            </a:r>
            <a:r>
              <a:rPr lang="zh-CN" altLang="en-US" dirty="0"/>
              <a:t>位数码</a:t>
            </a:r>
            <a:r>
              <a:rPr lang="zh-CN" altLang="en-US" dirty="0" smtClean="0"/>
              <a:t>管从左到右显示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308344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下载验证要求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3</a:t>
            </a:r>
            <a:r>
              <a:rPr lang="zh-CN" altLang="en-US" dirty="0" smtClean="0"/>
              <a:t>下载验证操作过程：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控制</a:t>
            </a:r>
            <a:r>
              <a:rPr lang="en-US" altLang="zh-CN" dirty="0" smtClean="0"/>
              <a:t>SW[15]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SW[0]</a:t>
            </a:r>
            <a:r>
              <a:rPr lang="zh-CN" altLang="en-US" dirty="0" smtClean="0"/>
              <a:t>，按</a:t>
            </a:r>
            <a:r>
              <a:rPr lang="en-US" altLang="zh-CN" dirty="0" smtClean="0"/>
              <a:t>BTN[3],</a:t>
            </a:r>
            <a:r>
              <a:rPr lang="zh-CN" altLang="en-US" dirty="0" smtClean="0"/>
              <a:t>把</a:t>
            </a:r>
            <a:r>
              <a:rPr lang="en-US" altLang="zh-CN" dirty="0" smtClean="0"/>
              <a:t>A</a:t>
            </a:r>
            <a:r>
              <a:rPr lang="zh-CN" altLang="en-US" dirty="0" smtClean="0"/>
              <a:t>寄存器初始化到</a:t>
            </a:r>
            <a:r>
              <a:rPr lang="en-US" altLang="zh-CN" dirty="0" smtClean="0"/>
              <a:t>0</a:t>
            </a:r>
          </a:p>
          <a:p>
            <a:pPr lvl="1"/>
            <a:r>
              <a:rPr lang="zh-CN" altLang="en-US" dirty="0"/>
              <a:t>控制</a:t>
            </a:r>
            <a:r>
              <a:rPr lang="en-US" altLang="zh-CN" dirty="0"/>
              <a:t>SW[15]</a:t>
            </a:r>
            <a:r>
              <a:rPr lang="zh-CN" altLang="en-US" dirty="0"/>
              <a:t>、</a:t>
            </a:r>
            <a:r>
              <a:rPr lang="en-US" altLang="zh-CN" dirty="0"/>
              <a:t>SW[0</a:t>
            </a:r>
            <a:r>
              <a:rPr lang="en-US" altLang="zh-CN" dirty="0" smtClean="0"/>
              <a:t>]</a:t>
            </a:r>
            <a:r>
              <a:rPr lang="zh-CN" altLang="en-US" dirty="0" smtClean="0"/>
              <a:t>，按</a:t>
            </a:r>
            <a:r>
              <a:rPr lang="en-US" altLang="zh-CN" dirty="0"/>
              <a:t>BTN[3],</a:t>
            </a:r>
            <a:r>
              <a:rPr lang="zh-CN" altLang="en-US" dirty="0"/>
              <a:t>把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 smtClean="0">
                <a:solidFill>
                  <a:srgbClr val="FF0000"/>
                </a:solidFill>
              </a:rPr>
              <a:t>寄存器加到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</a:p>
          <a:p>
            <a:pPr lvl="1"/>
            <a:r>
              <a:rPr lang="zh-CN" altLang="en-US" dirty="0" smtClean="0"/>
              <a:t>类似控制方法，把</a:t>
            </a:r>
            <a:r>
              <a:rPr lang="en-US" altLang="zh-CN" dirty="0" smtClean="0">
                <a:solidFill>
                  <a:srgbClr val="FF0000"/>
                </a:solidFill>
              </a:rPr>
              <a:t>B</a:t>
            </a:r>
            <a:r>
              <a:rPr lang="zh-CN" altLang="en-US" dirty="0" smtClean="0">
                <a:solidFill>
                  <a:srgbClr val="FF0000"/>
                </a:solidFill>
              </a:rPr>
              <a:t>寄存器减到</a:t>
            </a:r>
            <a:r>
              <a:rPr lang="en-US" altLang="zh-CN" dirty="0" smtClean="0">
                <a:solidFill>
                  <a:srgbClr val="FF0000"/>
                </a:solidFill>
              </a:rPr>
              <a:t>E</a:t>
            </a:r>
          </a:p>
          <a:p>
            <a:pPr lvl="1"/>
            <a:r>
              <a:rPr lang="en-US" altLang="zh-CN" dirty="0" smtClean="0"/>
              <a:t>SW[6:5]</a:t>
            </a:r>
            <a:r>
              <a:rPr lang="zh-CN" altLang="en-US" dirty="0" smtClean="0"/>
              <a:t>置为</a:t>
            </a:r>
            <a:r>
              <a:rPr lang="en-US" altLang="zh-CN" dirty="0" smtClean="0"/>
              <a:t>01</a:t>
            </a:r>
            <a:r>
              <a:rPr lang="zh-CN" altLang="en-US" dirty="0" smtClean="0"/>
              <a:t>，控制</a:t>
            </a:r>
            <a:r>
              <a:rPr lang="en-US" altLang="zh-CN" dirty="0" smtClean="0"/>
              <a:t>SW[15]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BTN[1]</a:t>
            </a:r>
            <a:r>
              <a:rPr lang="zh-CN" altLang="en-US" dirty="0" smtClean="0"/>
              <a:t>，把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</a:rPr>
              <a:t>寄存器初始化成</a:t>
            </a:r>
            <a:r>
              <a:rPr lang="en-US" altLang="zh-CN" dirty="0" smtClean="0">
                <a:solidFill>
                  <a:srgbClr val="FF0000"/>
                </a:solidFill>
              </a:rPr>
              <a:t>A-B</a:t>
            </a:r>
          </a:p>
          <a:p>
            <a:pPr lvl="1"/>
            <a:r>
              <a:rPr lang="zh-CN" altLang="en-US" dirty="0"/>
              <a:t>控制</a:t>
            </a:r>
            <a:r>
              <a:rPr lang="en-US" altLang="zh-CN" dirty="0"/>
              <a:t>SW[15]</a:t>
            </a:r>
            <a:r>
              <a:rPr lang="zh-CN" altLang="en-US" dirty="0"/>
              <a:t>、</a:t>
            </a:r>
            <a:r>
              <a:rPr lang="en-US" altLang="zh-CN" dirty="0"/>
              <a:t>SW[8:7]</a:t>
            </a:r>
            <a:r>
              <a:rPr lang="zh-CN" altLang="en-US" dirty="0" smtClean="0"/>
              <a:t>，按</a:t>
            </a:r>
            <a:r>
              <a:rPr lang="en-US" altLang="zh-CN" dirty="0" smtClean="0"/>
              <a:t>BTN[3]</a:t>
            </a:r>
            <a:r>
              <a:rPr lang="zh-CN" altLang="en-US" dirty="0" smtClean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把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>
                <a:solidFill>
                  <a:srgbClr val="FF0000"/>
                </a:solidFill>
              </a:rPr>
              <a:t>寄存器值传递给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寄存器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类似操作，把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 smtClean="0">
                <a:solidFill>
                  <a:srgbClr val="FF0000"/>
                </a:solidFill>
              </a:rPr>
              <a:t>寄存器值传递</a:t>
            </a:r>
            <a:r>
              <a:rPr lang="zh-CN" altLang="en-US" dirty="0">
                <a:solidFill>
                  <a:srgbClr val="FF0000"/>
                </a:solidFill>
              </a:rPr>
              <a:t>给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>
                <a:solidFill>
                  <a:srgbClr val="FF0000"/>
                </a:solidFill>
              </a:rPr>
              <a:t>寄存器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在上述过程中</a:t>
            </a:r>
            <a:r>
              <a:rPr lang="zh-CN" altLang="en-US" dirty="0" smtClean="0"/>
              <a:t>观察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位数码管的显示结果是否符合要求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7575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9005</TotalTime>
  <Words>1392</Words>
  <Application>Microsoft Office PowerPoint</Application>
  <PresentationFormat>全屏显示(4:3)</PresentationFormat>
  <Paragraphs>242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Gill Sans MT</vt:lpstr>
      <vt:lpstr>Swiss 721 SWA</vt:lpstr>
      <vt:lpstr>黑体</vt:lpstr>
      <vt:lpstr>华文细黑</vt:lpstr>
      <vt:lpstr>楷体_GB2312</vt:lpstr>
      <vt:lpstr>宋体</vt:lpstr>
      <vt:lpstr>微软雅黑</vt:lpstr>
      <vt:lpstr>Arial</vt:lpstr>
      <vt:lpstr>Calibri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数字逻辑设计实验</vt:lpstr>
      <vt:lpstr>提  纲</vt:lpstr>
      <vt:lpstr>实验目的</vt:lpstr>
      <vt:lpstr>实验设备与材料</vt:lpstr>
      <vt:lpstr>实验原理</vt:lpstr>
      <vt:lpstr>寄存器</vt:lpstr>
      <vt:lpstr>采用门控时钟的寄存器</vt:lpstr>
      <vt:lpstr>采用Load控制反馈的寄存器</vt:lpstr>
      <vt:lpstr>采用Load控制反馈的寄存器</vt:lpstr>
      <vt:lpstr>寄存器传输</vt:lpstr>
      <vt:lpstr>采用寄存器传输原理的计数器</vt:lpstr>
      <vt:lpstr>采用寄存器传输原理的计数器</vt:lpstr>
      <vt:lpstr>基于多路选择器总线的寄存器传输</vt:lpstr>
      <vt:lpstr>基于多路选择器总线的寄存器传输</vt:lpstr>
      <vt:lpstr>寄存器传输应用设计</vt:lpstr>
      <vt:lpstr>实验内容与步骤</vt:lpstr>
      <vt:lpstr>任务1：采用寄存器传输原理设计计数器</vt:lpstr>
      <vt:lpstr>任务1：采用寄存器传输原理设计计数器</vt:lpstr>
      <vt:lpstr>任务1：采用寄存器传输原理设计计数器</vt:lpstr>
      <vt:lpstr>任务1：采用寄存器传输原理设计计数器</vt:lpstr>
      <vt:lpstr>任务1：采用寄存器传输原理设计计数器</vt:lpstr>
      <vt:lpstr>任务1：采用寄存器传输原理设计计数器</vt:lpstr>
      <vt:lpstr>任务2：基于多路选择器总线的寄存器传输</vt:lpstr>
      <vt:lpstr>仿真验证要求</vt:lpstr>
      <vt:lpstr>任务3：基于ALU的数据传输应用设计</vt:lpstr>
      <vt:lpstr>下载验证要求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Think</cp:lastModifiedBy>
  <cp:revision>394</cp:revision>
  <dcterms:created xsi:type="dcterms:W3CDTF">2011-08-03T07:44:17Z</dcterms:created>
  <dcterms:modified xsi:type="dcterms:W3CDTF">2025-02-18T12:52:33Z</dcterms:modified>
</cp:coreProperties>
</file>