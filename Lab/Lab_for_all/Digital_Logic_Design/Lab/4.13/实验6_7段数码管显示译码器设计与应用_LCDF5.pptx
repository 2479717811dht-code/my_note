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35"/>
  </p:notesMasterIdLst>
  <p:sldIdLst>
    <p:sldId id="256" r:id="rId4"/>
    <p:sldId id="270" r:id="rId5"/>
    <p:sldId id="271" r:id="rId6"/>
    <p:sldId id="272" r:id="rId7"/>
    <p:sldId id="273" r:id="rId8"/>
    <p:sldId id="274" r:id="rId9"/>
    <p:sldId id="296" r:id="rId10"/>
    <p:sldId id="297" r:id="rId11"/>
    <p:sldId id="298" r:id="rId12"/>
    <p:sldId id="314" r:id="rId13"/>
    <p:sldId id="300" r:id="rId14"/>
    <p:sldId id="301" r:id="rId15"/>
    <p:sldId id="284" r:id="rId16"/>
    <p:sldId id="285" r:id="rId17"/>
    <p:sldId id="310" r:id="rId18"/>
    <p:sldId id="311" r:id="rId19"/>
    <p:sldId id="312" r:id="rId20"/>
    <p:sldId id="299" r:id="rId21"/>
    <p:sldId id="315" r:id="rId22"/>
    <p:sldId id="316" r:id="rId23"/>
    <p:sldId id="317" r:id="rId24"/>
    <p:sldId id="318" r:id="rId25"/>
    <p:sldId id="319" r:id="rId26"/>
    <p:sldId id="320" r:id="rId27"/>
    <p:sldId id="289" r:id="rId28"/>
    <p:sldId id="290" r:id="rId29"/>
    <p:sldId id="302" r:id="rId30"/>
    <p:sldId id="295" r:id="rId31"/>
    <p:sldId id="303" r:id="rId32"/>
    <p:sldId id="321" r:id="rId33"/>
    <p:sldId id="269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296"/>
            <p14:sldId id="297"/>
            <p14:sldId id="298"/>
            <p14:sldId id="314"/>
            <p14:sldId id="300"/>
            <p14:sldId id="301"/>
            <p14:sldId id="284"/>
            <p14:sldId id="285"/>
            <p14:sldId id="310"/>
            <p14:sldId id="311"/>
            <p14:sldId id="312"/>
            <p14:sldId id="299"/>
            <p14:sldId id="315"/>
            <p14:sldId id="316"/>
            <p14:sldId id="317"/>
            <p14:sldId id="318"/>
            <p14:sldId id="319"/>
            <p14:sldId id="320"/>
            <p14:sldId id="289"/>
            <p14:sldId id="290"/>
            <p14:sldId id="302"/>
            <p14:sldId id="295"/>
            <p14:sldId id="303"/>
            <p14:sldId id="321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2" autoAdjust="0"/>
    <p:restoredTop sz="95227" autoAdjust="0"/>
  </p:normalViewPr>
  <p:slideViewPr>
    <p:cSldViewPr showGuides="1">
      <p:cViewPr varScale="1">
        <p:scale>
          <a:sx n="68" d="100"/>
          <a:sy n="68" d="100"/>
        </p:scale>
        <p:origin x="213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3050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 sz="1800" b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 sz="16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将图片拖动到占位符</a:t>
            </a:r>
            <a:r>
              <a:rPr lang="en-US" altLang="zh-CN" dirty="0"/>
              <a:t>, </a:t>
            </a:r>
            <a:r>
              <a:rPr lang="zh-CN" altLang="en-US" dirty="0"/>
              <a:t>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将图片拖动到占位符</a:t>
            </a:r>
            <a:r>
              <a:rPr lang="en-US" altLang="zh-CN" dirty="0"/>
              <a:t>, </a:t>
            </a:r>
            <a:r>
              <a:rPr lang="zh-CN" altLang="en-US" dirty="0"/>
              <a:t>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p"/>
        <a:defRPr sz="22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6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、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7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段数码管显示译码器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anose="02010600030101010101" pitchFamily="2" charset="-122"/>
            </a:endParaRPr>
          </a:p>
          <a:p>
            <a:pPr algn="ctr"/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anose="02010600030101010101" pitchFamily="2" charset="-122"/>
              </a:rPr>
              <a:t>设计与应用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掌握七数码管显示原理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掌握七段码显示译码设计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进一步熟悉</a:t>
            </a:r>
            <a:r>
              <a:rPr lang="en-US" altLang="zh-CN" sz="2800" dirty="0"/>
              <a:t>Xilinx </a:t>
            </a:r>
            <a:r>
              <a:rPr lang="en-US" altLang="zh-CN" sz="2800" dirty="0" err="1"/>
              <a:t>Vivado</a:t>
            </a:r>
            <a:r>
              <a:rPr lang="zh-CN" altLang="en-US" sz="2800" dirty="0"/>
              <a:t>、</a:t>
            </a:r>
            <a:r>
              <a:rPr lang="en-US" altLang="zh-CN" sz="2800" dirty="0"/>
              <a:t>Digital</a:t>
            </a:r>
            <a:r>
              <a:rPr lang="zh-CN" altLang="en-US" sz="2800" dirty="0"/>
              <a:t>环境及</a:t>
            </a:r>
            <a:r>
              <a:rPr lang="en-US" altLang="zh-CN" sz="2800" dirty="0"/>
              <a:t>SWORD</a:t>
            </a:r>
            <a:r>
              <a:rPr lang="zh-CN" altLang="en-US" sz="2800" dirty="0"/>
              <a:t>实验平台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      	1</a:t>
            </a:r>
            <a:r>
              <a:rPr lang="zh-CN" altLang="en-US" dirty="0"/>
              <a:t>套</a:t>
            </a:r>
          </a:p>
          <a:p>
            <a:r>
              <a:rPr lang="zh-CN" altLang="en-US" dirty="0"/>
              <a:t>实验材料</a:t>
            </a:r>
          </a:p>
          <a:p>
            <a:pPr lvl="1"/>
            <a:r>
              <a:rPr lang="zh-CN" altLang="en-US" dirty="0"/>
              <a:t>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：原理图设计实现显示译码</a:t>
            </a:r>
            <a:r>
              <a:rPr lang="en-US" altLang="zh-CN" sz="2800" dirty="0"/>
              <a:t>MyMC14495</a:t>
            </a:r>
            <a:r>
              <a:rPr lang="zh-CN" altLang="en-US" sz="2800" dirty="0"/>
              <a:t>模块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：用</a:t>
            </a:r>
            <a:r>
              <a:rPr lang="en-US" altLang="zh-CN" sz="2800" dirty="0"/>
              <a:t>MyMC14495</a:t>
            </a:r>
            <a:r>
              <a:rPr lang="zh-CN" altLang="en-US" sz="2800" dirty="0"/>
              <a:t>模块实现数码管显示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由</a:t>
            </a:r>
            <a:r>
              <a:rPr lang="en-US" altLang="zh-CN" sz="2800" dirty="0"/>
              <a:t>7+1</a:t>
            </a:r>
            <a:r>
              <a:rPr lang="zh-CN" altLang="en-US" sz="2800" dirty="0"/>
              <a:t>个</a:t>
            </a:r>
            <a:r>
              <a:rPr lang="en-US" altLang="zh-CN" sz="2800" dirty="0"/>
              <a:t>LED</a:t>
            </a:r>
            <a:r>
              <a:rPr lang="zh-CN" altLang="en-US" sz="2800" dirty="0"/>
              <a:t>构成的数字显示器件</a:t>
            </a:r>
          </a:p>
          <a:p>
            <a:r>
              <a:rPr lang="en-US" altLang="zh-CN" sz="2800" dirty="0"/>
              <a:t>A-G</a:t>
            </a:r>
            <a:r>
              <a:rPr lang="zh-CN" altLang="en-US" sz="2800" dirty="0"/>
              <a:t>每个</a:t>
            </a:r>
            <a:r>
              <a:rPr lang="en-US" altLang="zh-CN" sz="2800" dirty="0"/>
              <a:t>LED</a:t>
            </a:r>
            <a:r>
              <a:rPr lang="zh-CN" altLang="en-US" sz="2800" dirty="0"/>
              <a:t>显示数字的一段</a:t>
            </a:r>
            <a:r>
              <a:rPr lang="en-US" altLang="zh-CN" sz="2800" dirty="0"/>
              <a:t>, DP</a:t>
            </a:r>
            <a:r>
              <a:rPr lang="zh-CN" altLang="en-US" sz="2800" dirty="0"/>
              <a:t>为小数点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52" y="2708920"/>
            <a:ext cx="2148784" cy="2808312"/>
          </a:xfrm>
          <a:prstGeom prst="rect">
            <a:avLst/>
          </a:prstGeom>
        </p:spPr>
      </p:pic>
      <p:pic>
        <p:nvPicPr>
          <p:cNvPr id="6" name="图片 4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2708920"/>
            <a:ext cx="4104456" cy="29035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共阴（阳）控制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3317"/>
            <a:ext cx="8229600" cy="4525963"/>
          </a:xfrm>
        </p:spPr>
        <p:txBody>
          <a:bodyPr/>
          <a:lstStyle/>
          <a:p>
            <a:r>
              <a:rPr lang="en-US" altLang="zh-CN" sz="2400" dirty="0"/>
              <a:t>LED</a:t>
            </a:r>
            <a:r>
              <a:rPr lang="zh-CN" altLang="en-US" sz="2400" dirty="0"/>
              <a:t>的正极</a:t>
            </a:r>
            <a:r>
              <a:rPr lang="en-US" altLang="zh-CN" sz="2400" dirty="0"/>
              <a:t>(</a:t>
            </a:r>
            <a:r>
              <a:rPr lang="zh-CN" altLang="en-US" sz="2400" dirty="0"/>
              <a:t>负极</a:t>
            </a:r>
            <a:r>
              <a:rPr lang="en-US" altLang="zh-CN" sz="2400" dirty="0"/>
              <a:t>)</a:t>
            </a:r>
            <a:r>
              <a:rPr lang="zh-CN" altLang="en-US" sz="2400" dirty="0"/>
              <a:t>连在一起</a:t>
            </a:r>
            <a:r>
              <a:rPr lang="en-US" altLang="zh-CN" sz="2400" dirty="0"/>
              <a:t>, </a:t>
            </a:r>
            <a:r>
              <a:rPr lang="zh-CN" altLang="en-US" sz="2400" dirty="0"/>
              <a:t>另一端作为点亮的控制</a:t>
            </a:r>
          </a:p>
          <a:p>
            <a:pPr lvl="1"/>
            <a:r>
              <a:rPr lang="zh-CN" altLang="en-US" sz="2000" dirty="0"/>
              <a:t>共阳：正极连在一起</a:t>
            </a:r>
            <a:r>
              <a:rPr lang="en-US" altLang="zh-CN" sz="2000" dirty="0"/>
              <a:t>, </a:t>
            </a:r>
            <a:r>
              <a:rPr lang="zh-CN" altLang="en-US" sz="2000" dirty="0"/>
              <a:t>负极＝</a:t>
            </a:r>
            <a:r>
              <a:rPr lang="en-US" altLang="zh-CN" sz="2000" dirty="0"/>
              <a:t>0, </a:t>
            </a:r>
            <a:r>
              <a:rPr lang="zh-CN" altLang="en-US" sz="2000" dirty="0"/>
              <a:t>点亮</a:t>
            </a:r>
          </a:p>
          <a:p>
            <a:pPr lvl="1"/>
            <a:r>
              <a:rPr lang="zh-CN" altLang="en-US" sz="2000" dirty="0"/>
              <a:t>共阴：负极连在一起</a:t>
            </a:r>
            <a:r>
              <a:rPr lang="en-US" altLang="zh-CN" sz="2000" dirty="0"/>
              <a:t>, </a:t>
            </a:r>
            <a:r>
              <a:rPr lang="zh-CN" altLang="en-US" sz="2000" dirty="0"/>
              <a:t>正极＝</a:t>
            </a:r>
            <a:r>
              <a:rPr lang="en-US" altLang="zh-CN" sz="2000" dirty="0"/>
              <a:t>1, </a:t>
            </a:r>
            <a:r>
              <a:rPr lang="zh-CN" altLang="en-US" sz="2000" dirty="0"/>
              <a:t>点亮 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237" y="2636912"/>
            <a:ext cx="6072188" cy="394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+mj-lt"/>
              </a:rPr>
              <a:t>Hex 7- segment decoder</a:t>
            </a:r>
            <a:endParaRPr lang="zh-CN" altLang="en-US" dirty="0">
              <a:latin typeface="+mj-lt"/>
            </a:endParaRPr>
          </a:p>
        </p:txBody>
      </p:sp>
      <p:graphicFrame>
        <p:nvGraphicFramePr>
          <p:cNvPr id="4" name="内容占位符 310"/>
          <p:cNvGraphicFramePr>
            <a:graphicFrameLocks noGrp="1"/>
          </p:cNvGraphicFramePr>
          <p:nvPr>
            <p:ph idx="1"/>
          </p:nvPr>
        </p:nvGraphicFramePr>
        <p:xfrm>
          <a:off x="1979712" y="1424132"/>
          <a:ext cx="7025640" cy="5029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5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8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7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35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46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Hex</a:t>
                      </a:r>
                      <a:endParaRPr lang="zh-CN" altLang="en-US" sz="18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800" b="1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BI/LE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36001" marB="36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0  0  0  0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0  0  0  1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0  0  1  0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0  0  1  1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0  1  0  0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0  1 0  1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0  1 1  0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0  1  1  1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1  0  0  0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1  0  0  1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1  0  1  0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1  0  1  1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1  1  0  0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1  1  0  1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1  1  1  0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1  1  1  1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4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 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 rot="5400000">
            <a:off x="-111358" y="2998099"/>
            <a:ext cx="2244138" cy="1426509"/>
            <a:chOff x="4365364" y="1106819"/>
            <a:chExt cx="2244138" cy="142650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774178" y="698005"/>
              <a:ext cx="1426509" cy="2244138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4951068" y="1650798"/>
              <a:ext cx="1072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MC14495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文本框 1"/>
          <p:cNvSpPr txBox="1"/>
          <p:nvPr/>
        </p:nvSpPr>
        <p:spPr>
          <a:xfrm>
            <a:off x="107504" y="1311222"/>
            <a:ext cx="18064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兼容</a:t>
            </a:r>
            <a:r>
              <a:rPr lang="en-US" altLang="zh-CN" sz="2000" dirty="0"/>
              <a:t>MC14495</a:t>
            </a:r>
          </a:p>
          <a:p>
            <a:r>
              <a:rPr lang="zh-CN" altLang="en-US" dirty="0"/>
              <a:t>略掉：</a:t>
            </a:r>
            <a:endParaRPr lang="en-US" altLang="zh-CN" dirty="0"/>
          </a:p>
          <a:p>
            <a:r>
              <a:rPr lang="en-US" altLang="zh-CN" dirty="0"/>
              <a:t>     Pin11=VCR</a:t>
            </a:r>
          </a:p>
          <a:p>
            <a:r>
              <a:rPr lang="en-US" altLang="zh-CN" dirty="0"/>
              <a:t>     Pin4=</a:t>
            </a:r>
            <a:r>
              <a:rPr lang="en-US" altLang="zh-CN" dirty="0" err="1"/>
              <a:t>h+i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7501" y="4972711"/>
            <a:ext cx="19442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其它</a:t>
            </a:r>
            <a:endParaRPr lang="en-US" altLang="zh-CN" sz="2000" dirty="0"/>
          </a:p>
          <a:p>
            <a:r>
              <a:rPr lang="zh-CN" altLang="en-US" dirty="0"/>
              <a:t>共阳：</a:t>
            </a:r>
            <a:r>
              <a:rPr lang="en-US" altLang="zh-CN" dirty="0"/>
              <a:t>74LS46/47</a:t>
            </a:r>
            <a:endParaRPr lang="zh-CN" altLang="en-US" dirty="0"/>
          </a:p>
          <a:p>
            <a:r>
              <a:rPr lang="zh-CN" altLang="en-US" dirty="0"/>
              <a:t>共阴：</a:t>
            </a:r>
            <a:r>
              <a:rPr lang="en-US" altLang="zh-CN" dirty="0"/>
              <a:t>74LS48/49</a:t>
            </a:r>
            <a:endParaRPr lang="zh-CN" altLang="en-US" dirty="0"/>
          </a:p>
          <a:p>
            <a:r>
              <a:rPr lang="en-US" altLang="zh-CN" dirty="0"/>
              <a:t>          CMOS4511 </a:t>
            </a:r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5590554" y="674464"/>
            <a:ext cx="2509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common anode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805664" cy="95436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j-lt"/>
              </a:rPr>
              <a:t>Hex to 7-segment decoder: Simplifying</a:t>
            </a:r>
            <a:endParaRPr lang="zh-CN" altLang="en-US" dirty="0">
              <a:latin typeface="+mj-lt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457200" y="1559912"/>
            <a:ext cx="8229600" cy="4968552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内容占位符 3"/>
          <p:cNvGraphicFramePr/>
          <p:nvPr/>
        </p:nvGraphicFramePr>
        <p:xfrm>
          <a:off x="512956" y="1770358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内容占位符 3"/>
          <p:cNvGraphicFramePr/>
          <p:nvPr/>
        </p:nvGraphicFramePr>
        <p:xfrm>
          <a:off x="2189356" y="1770358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内容占位符 3"/>
          <p:cNvGraphicFramePr/>
          <p:nvPr/>
        </p:nvGraphicFramePr>
        <p:xfrm>
          <a:off x="3837878" y="1770358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内容占位符 3"/>
          <p:cNvGraphicFramePr/>
          <p:nvPr/>
        </p:nvGraphicFramePr>
        <p:xfrm>
          <a:off x="5486400" y="1788943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内容占位符 3"/>
          <p:cNvGraphicFramePr/>
          <p:nvPr/>
        </p:nvGraphicFramePr>
        <p:xfrm>
          <a:off x="7196254" y="1770358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内容占位符 3"/>
          <p:cNvGraphicFramePr/>
          <p:nvPr/>
        </p:nvGraphicFramePr>
        <p:xfrm>
          <a:off x="551950" y="4853790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内容占位符 3"/>
          <p:cNvGraphicFramePr/>
          <p:nvPr/>
        </p:nvGraphicFramePr>
        <p:xfrm>
          <a:off x="2315952" y="4851828"/>
          <a:ext cx="14046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97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02969" y="1394926"/>
            <a:ext cx="369101" cy="369855"/>
            <a:chOff x="75091" y="1453368"/>
            <a:chExt cx="369101" cy="369855"/>
          </a:xfrm>
        </p:grpSpPr>
        <p:sp>
          <p:nvSpPr>
            <p:cNvPr id="13" name="矩形 12"/>
            <p:cNvSpPr/>
            <p:nvPr/>
          </p:nvSpPr>
          <p:spPr>
            <a:xfrm>
              <a:off x="75091" y="1453368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a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1736621" y="1372624"/>
            <a:ext cx="417423" cy="397734"/>
            <a:chOff x="26769" y="1425489"/>
            <a:chExt cx="417423" cy="397734"/>
          </a:xfrm>
        </p:grpSpPr>
        <p:sp>
          <p:nvSpPr>
            <p:cNvPr id="16" name="矩形 15"/>
            <p:cNvSpPr/>
            <p:nvPr/>
          </p:nvSpPr>
          <p:spPr>
            <a:xfrm>
              <a:off x="26769" y="1425489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b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3468777" y="1363070"/>
            <a:ext cx="369101" cy="369855"/>
            <a:chOff x="75091" y="1453368"/>
            <a:chExt cx="369101" cy="369855"/>
          </a:xfrm>
        </p:grpSpPr>
        <p:sp>
          <p:nvSpPr>
            <p:cNvPr id="19" name="矩形 18"/>
            <p:cNvSpPr/>
            <p:nvPr/>
          </p:nvSpPr>
          <p:spPr>
            <a:xfrm>
              <a:off x="75091" y="1453368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c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5102429" y="1340768"/>
            <a:ext cx="417423" cy="397734"/>
            <a:chOff x="26769" y="1425489"/>
            <a:chExt cx="417423" cy="397734"/>
          </a:xfrm>
        </p:grpSpPr>
        <p:sp>
          <p:nvSpPr>
            <p:cNvPr id="22" name="矩形 21"/>
            <p:cNvSpPr/>
            <p:nvPr/>
          </p:nvSpPr>
          <p:spPr>
            <a:xfrm>
              <a:off x="26769" y="1425489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d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6780934" y="1340768"/>
            <a:ext cx="404167" cy="392155"/>
            <a:chOff x="40025" y="1431068"/>
            <a:chExt cx="404167" cy="392155"/>
          </a:xfrm>
        </p:grpSpPr>
        <p:sp>
          <p:nvSpPr>
            <p:cNvPr id="25" name="矩形 24"/>
            <p:cNvSpPr/>
            <p:nvPr/>
          </p:nvSpPr>
          <p:spPr>
            <a:xfrm>
              <a:off x="40025" y="1431068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e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224577" y="4481973"/>
            <a:ext cx="369101" cy="369855"/>
            <a:chOff x="75091" y="1453368"/>
            <a:chExt cx="369101" cy="369855"/>
          </a:xfrm>
        </p:grpSpPr>
        <p:sp>
          <p:nvSpPr>
            <p:cNvPr id="28" name="矩形 27"/>
            <p:cNvSpPr/>
            <p:nvPr/>
          </p:nvSpPr>
          <p:spPr>
            <a:xfrm>
              <a:off x="75091" y="1453368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f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1858229" y="4459671"/>
            <a:ext cx="417423" cy="397734"/>
            <a:chOff x="26769" y="1425489"/>
            <a:chExt cx="417423" cy="397734"/>
          </a:xfrm>
        </p:grpSpPr>
        <p:sp>
          <p:nvSpPr>
            <p:cNvPr id="31" name="矩形 30"/>
            <p:cNvSpPr/>
            <p:nvPr/>
          </p:nvSpPr>
          <p:spPr>
            <a:xfrm>
              <a:off x="26769" y="1425489"/>
              <a:ext cx="332678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en-US" altLang="zh-CN" sz="2400" dirty="0">
                  <a:solidFill>
                    <a:prstClr val="black"/>
                  </a:solidFill>
                </a:rPr>
                <a:t>g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229531" y="1728438"/>
              <a:ext cx="214661" cy="94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101"/>
              <p:cNvSpPr txBox="1"/>
              <p:nvPr/>
            </p:nvSpPr>
            <p:spPr>
              <a:xfrm>
                <a:off x="472070" y="3351355"/>
                <a:ext cx="4724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70" y="3351355"/>
                <a:ext cx="4724400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6" t="-166" r="6" b="-16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102"/>
              <p:cNvSpPr txBox="1"/>
              <p:nvPr/>
            </p:nvSpPr>
            <p:spPr>
              <a:xfrm>
                <a:off x="539552" y="3709820"/>
                <a:ext cx="39783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709820"/>
                <a:ext cx="3978322" cy="246221"/>
              </a:xfrm>
              <a:prstGeom prst="rect">
                <a:avLst/>
              </a:prstGeom>
              <a:blipFill rotWithShape="1">
                <a:blip r:embed="rId3"/>
                <a:stretch>
                  <a:fillRect l="-11" t="-61" r="12" b="-30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圆角矩形 34"/>
          <p:cNvSpPr/>
          <p:nvPr/>
        </p:nvSpPr>
        <p:spPr>
          <a:xfrm>
            <a:off x="3276600" y="2151813"/>
            <a:ext cx="256044" cy="6787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2944356" y="2538402"/>
            <a:ext cx="256044" cy="6787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2096429" y="2543698"/>
            <a:ext cx="373617" cy="295989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8" name="任意多边形 37"/>
          <p:cNvSpPr/>
          <p:nvPr/>
        </p:nvSpPr>
        <p:spPr>
          <a:xfrm flipH="1">
            <a:off x="3323878" y="2538402"/>
            <a:ext cx="281810" cy="278050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619888" y="2538402"/>
            <a:ext cx="576582" cy="278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24106" y="2173225"/>
            <a:ext cx="289930" cy="27293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867936" y="1813070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870014" y="2557622"/>
            <a:ext cx="289930" cy="272939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1215266" y="2933990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4908179" y="1816451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3746592" y="2533627"/>
            <a:ext cx="373617" cy="295989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6" name="任意多边形 45"/>
          <p:cNvSpPr/>
          <p:nvPr/>
        </p:nvSpPr>
        <p:spPr>
          <a:xfrm flipH="1">
            <a:off x="4953000" y="2557621"/>
            <a:ext cx="359743" cy="248759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6248400" y="2194253"/>
            <a:ext cx="256044" cy="6787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852534" y="1837231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5486400" y="2208639"/>
            <a:ext cx="289930" cy="27293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6526745" y="2944211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7543800" y="1813070"/>
            <a:ext cx="620966" cy="6330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7238566" y="2151813"/>
            <a:ext cx="576582" cy="278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3" name="任意多边形 52"/>
          <p:cNvSpPr/>
          <p:nvPr/>
        </p:nvSpPr>
        <p:spPr>
          <a:xfrm rot="5400000">
            <a:off x="7465296" y="1665055"/>
            <a:ext cx="470226" cy="313220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4" name="任意多边形 53"/>
          <p:cNvSpPr/>
          <p:nvPr/>
        </p:nvSpPr>
        <p:spPr>
          <a:xfrm rot="5400000" flipH="1">
            <a:off x="7527282" y="2968522"/>
            <a:ext cx="379394" cy="263241"/>
          </a:xfrm>
          <a:custGeom>
            <a:avLst/>
            <a:gdLst>
              <a:gd name="connsiteX0" fmla="*/ 37171 w 373617"/>
              <a:gd name="connsiteY0" fmla="*/ 0 h 295989"/>
              <a:gd name="connsiteX1" fmla="*/ 319669 w 373617"/>
              <a:gd name="connsiteY1" fmla="*/ 7434 h 295989"/>
              <a:gd name="connsiteX2" fmla="*/ 371708 w 373617"/>
              <a:gd name="connsiteY2" fmla="*/ 89210 h 295989"/>
              <a:gd name="connsiteX3" fmla="*/ 356839 w 373617"/>
              <a:gd name="connsiteY3" fmla="*/ 208156 h 295989"/>
              <a:gd name="connsiteX4" fmla="*/ 304800 w 373617"/>
              <a:gd name="connsiteY4" fmla="*/ 289932 h 295989"/>
              <a:gd name="connsiteX5" fmla="*/ 0 w 373617"/>
              <a:gd name="connsiteY5" fmla="*/ 289932 h 295989"/>
              <a:gd name="connsiteX6" fmla="*/ 0 w 373617"/>
              <a:gd name="connsiteY6" fmla="*/ 289932 h 29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617" h="295989">
                <a:moveTo>
                  <a:pt x="37171" y="0"/>
                </a:moveTo>
                <a:lnTo>
                  <a:pt x="319669" y="7434"/>
                </a:lnTo>
                <a:cubicBezTo>
                  <a:pt x="375425" y="22302"/>
                  <a:pt x="365513" y="55756"/>
                  <a:pt x="371708" y="89210"/>
                </a:cubicBezTo>
                <a:cubicBezTo>
                  <a:pt x="377903" y="122664"/>
                  <a:pt x="367990" y="174702"/>
                  <a:pt x="356839" y="208156"/>
                </a:cubicBezTo>
                <a:cubicBezTo>
                  <a:pt x="345688" y="241610"/>
                  <a:pt x="364273" y="276303"/>
                  <a:pt x="304800" y="289932"/>
                </a:cubicBezTo>
                <a:cubicBezTo>
                  <a:pt x="245327" y="303561"/>
                  <a:pt x="0" y="289932"/>
                  <a:pt x="0" y="289932"/>
                </a:cubicBezTo>
                <a:lnTo>
                  <a:pt x="0" y="289932"/>
                </a:lnTo>
              </a:path>
            </a:pathLst>
          </a:cu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281647" y="4906021"/>
            <a:ext cx="576582" cy="278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965969" y="4916985"/>
            <a:ext cx="576582" cy="278050"/>
          </a:xfrm>
          <a:prstGeom prst="round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281429" y="4851828"/>
            <a:ext cx="256044" cy="67874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914865" y="5616460"/>
            <a:ext cx="289930" cy="272939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370589" y="4892848"/>
            <a:ext cx="576582" cy="278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3031269" y="5285163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2315952" y="5616459"/>
            <a:ext cx="289930" cy="27293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544340" y="2199020"/>
            <a:ext cx="289930" cy="2729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lang="zh-CN" altLang="en-US" sz="24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131"/>
              <p:cNvSpPr txBox="1"/>
              <p:nvPr/>
            </p:nvSpPr>
            <p:spPr>
              <a:xfrm>
                <a:off x="467544" y="4095063"/>
                <a:ext cx="3235963" cy="285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c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95063"/>
                <a:ext cx="3235963" cy="285720"/>
              </a:xfrm>
              <a:prstGeom prst="rect">
                <a:avLst/>
              </a:prstGeom>
              <a:blipFill rotWithShape="1">
                <a:blip r:embed="rId4"/>
                <a:stretch>
                  <a:fillRect l="-6" t="-204" r="6" b="-12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132"/>
              <p:cNvSpPr txBox="1"/>
              <p:nvPr/>
            </p:nvSpPr>
            <p:spPr>
              <a:xfrm>
                <a:off x="4163556" y="4526551"/>
                <a:ext cx="4724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556" y="4526551"/>
                <a:ext cx="4724400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10" t="-98" r="10" b="-25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133"/>
              <p:cNvSpPr txBox="1"/>
              <p:nvPr/>
            </p:nvSpPr>
            <p:spPr>
              <a:xfrm>
                <a:off x="4185858" y="4889488"/>
                <a:ext cx="28586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文本框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858" y="4889488"/>
                <a:ext cx="2858687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20" t="-225" r="17" b="-160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134"/>
              <p:cNvSpPr txBox="1"/>
              <p:nvPr/>
            </p:nvSpPr>
            <p:spPr>
              <a:xfrm>
                <a:off x="4250255" y="5269627"/>
                <a:ext cx="3996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f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255" y="5269627"/>
                <a:ext cx="3996290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5" t="-143" r="11" b="-16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135"/>
              <p:cNvSpPr txBox="1"/>
              <p:nvPr/>
            </p:nvSpPr>
            <p:spPr>
              <a:xfrm>
                <a:off x="4291800" y="5649766"/>
                <a:ext cx="335072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g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文本框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800" y="5649766"/>
                <a:ext cx="3350720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14" t="-62" r="9" b="-16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445624" cy="95436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Hex to 7-segment decoder Schematic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兼容</a:t>
            </a:r>
            <a:r>
              <a:rPr lang="en-US" altLang="zh-CN" sz="2400" dirty="0"/>
              <a:t>MC14495</a:t>
            </a:r>
          </a:p>
          <a:p>
            <a:pPr lvl="1"/>
            <a:r>
              <a:rPr lang="zh-CN" altLang="en-US" sz="2000" dirty="0"/>
              <a:t>省略</a:t>
            </a:r>
            <a:r>
              <a:rPr lang="en-US" altLang="zh-CN" sz="2000" dirty="0"/>
              <a:t>VCR(Pin11)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h+i</a:t>
            </a:r>
            <a:r>
              <a:rPr lang="en-US" altLang="zh-CN" sz="2000" dirty="0"/>
              <a:t>(Pin4)</a:t>
            </a:r>
            <a:r>
              <a:rPr lang="zh-CN" altLang="en-US" sz="2000" dirty="0"/>
              <a:t>功能</a:t>
            </a:r>
          </a:p>
          <a:p>
            <a:endParaRPr lang="zh-CN" altLang="en-US" sz="24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8" y="3192105"/>
            <a:ext cx="8882323" cy="286296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524327" y="4005062"/>
            <a:ext cx="1320623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228184" y="4005062"/>
            <a:ext cx="1212771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201793" y="4023847"/>
            <a:ext cx="943019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897852" y="4023847"/>
            <a:ext cx="1250211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915816" y="4005061"/>
            <a:ext cx="936104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673402" y="4005063"/>
            <a:ext cx="1193426" cy="1224137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02502" y="4005064"/>
            <a:ext cx="917170" cy="1224136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01509" y="5398039"/>
            <a:ext cx="7874947" cy="368285"/>
          </a:xfrm>
          <a:prstGeom prst="roundRect">
            <a:avLst>
              <a:gd name="adj" fmla="val 8736"/>
            </a:avLst>
          </a:prstGeom>
          <a:noFill/>
          <a:ln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6"/>
          <p:cNvSpPr txBox="1"/>
          <p:nvPr/>
        </p:nvSpPr>
        <p:spPr>
          <a:xfrm>
            <a:off x="7989439" y="460773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6672085" y="46327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本框 18"/>
          <p:cNvSpPr txBox="1"/>
          <p:nvPr/>
        </p:nvSpPr>
        <p:spPr>
          <a:xfrm>
            <a:off x="5364088" y="456501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本框 19"/>
          <p:cNvSpPr txBox="1"/>
          <p:nvPr/>
        </p:nvSpPr>
        <p:spPr>
          <a:xfrm>
            <a:off x="4371074" y="460534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本框 20"/>
          <p:cNvSpPr txBox="1"/>
          <p:nvPr/>
        </p:nvSpPr>
        <p:spPr>
          <a:xfrm>
            <a:off x="3065074" y="465304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本框 21"/>
          <p:cNvSpPr txBox="1"/>
          <p:nvPr/>
        </p:nvSpPr>
        <p:spPr>
          <a:xfrm>
            <a:off x="2131762" y="4623585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本框 22"/>
          <p:cNvSpPr txBox="1"/>
          <p:nvPr/>
        </p:nvSpPr>
        <p:spPr>
          <a:xfrm>
            <a:off x="860652" y="458592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本框 23"/>
          <p:cNvSpPr txBox="1"/>
          <p:nvPr/>
        </p:nvSpPr>
        <p:spPr>
          <a:xfrm>
            <a:off x="1173711" y="5326850"/>
            <a:ext cx="1111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00CC"/>
                </a:solidFill>
              </a:rPr>
              <a:t>enable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1257924"/>
            <a:ext cx="1512168" cy="2240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多位七段数码管显示原理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4857403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静态显示</a:t>
            </a:r>
          </a:p>
          <a:p>
            <a:pPr lvl="1"/>
            <a:r>
              <a:rPr lang="zh-CN" altLang="en-US" sz="2000" dirty="0"/>
              <a:t>每个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段码对应一个显示译码电路</a:t>
            </a:r>
          </a:p>
          <a:p>
            <a:r>
              <a:rPr lang="zh-CN" altLang="en-US" sz="2400" dirty="0"/>
              <a:t>动态扫描显示：时分复用显示</a:t>
            </a:r>
          </a:p>
          <a:p>
            <a:pPr lvl="1"/>
            <a:r>
              <a:rPr lang="zh-CN" altLang="en-US" sz="2000" dirty="0"/>
              <a:t>利用人眼视觉残留</a:t>
            </a:r>
          </a:p>
          <a:p>
            <a:pPr lvl="1"/>
            <a:r>
              <a:rPr lang="zh-CN" altLang="en-US" sz="2000" dirty="0"/>
              <a:t>一个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段码译码电路分时为每个</a:t>
            </a:r>
            <a:r>
              <a:rPr lang="en-US" altLang="zh-CN" sz="2000" dirty="0"/>
              <a:t>7</a:t>
            </a:r>
            <a:r>
              <a:rPr lang="zh-CN" altLang="en-US" sz="2000" dirty="0"/>
              <a:t>段码提供译码</a:t>
            </a:r>
          </a:p>
          <a:p>
            <a:r>
              <a:rPr lang="zh-CN" altLang="en-US" sz="2400" dirty="0"/>
              <a:t>控制时序</a:t>
            </a:r>
          </a:p>
          <a:p>
            <a:pPr lvl="1"/>
            <a:r>
              <a:rPr lang="zh-CN" altLang="en-US" sz="2000" dirty="0"/>
              <a:t>用定时计数信号控制公共极</a:t>
            </a:r>
            <a:r>
              <a:rPr lang="en-US" altLang="zh-CN" sz="2000" dirty="0"/>
              <a:t>, </a:t>
            </a:r>
            <a:r>
              <a:rPr lang="zh-CN" altLang="en-US" sz="2000" dirty="0"/>
              <a:t>分时输出对应七段码的显示信号：	 </a:t>
            </a:r>
            <a:r>
              <a:rPr lang="zh-CN" altLang="en-US" sz="2000" dirty="0">
                <a:solidFill>
                  <a:srgbClr val="FF0000"/>
                </a:solidFill>
              </a:rPr>
              <a:t>动态扫描</a:t>
            </a:r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位七段码结构</a:t>
            </a:r>
          </a:p>
          <a:p>
            <a:pPr lvl="1"/>
            <a:r>
              <a:rPr lang="zh-CN" altLang="en-US" sz="2000" dirty="0"/>
              <a:t>正极：公共端</a:t>
            </a:r>
          </a:p>
          <a:p>
            <a:pPr lvl="1"/>
            <a:r>
              <a:rPr lang="zh-CN" altLang="en-US" sz="2000" dirty="0"/>
              <a:t>七段信号并联</a:t>
            </a:r>
          </a:p>
          <a:p>
            <a:endParaRPr lang="zh-CN" altLang="en-US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463481"/>
            <a:ext cx="6256037" cy="2205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3807767" y="4463481"/>
            <a:ext cx="4834880" cy="234078"/>
          </a:xfrm>
          <a:prstGeom prst="roundRect">
            <a:avLst/>
          </a:prstGeom>
          <a:noFill/>
          <a:ln>
            <a:solidFill>
              <a:srgbClr val="F303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843809" y="5111553"/>
            <a:ext cx="387894" cy="1267669"/>
          </a:xfrm>
          <a:prstGeom prst="roundRect">
            <a:avLst/>
          </a:prstGeom>
          <a:noFill/>
          <a:ln>
            <a:solidFill>
              <a:srgbClr val="F303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51983" y="4390082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90550" indent="-533400" eaLnBrk="1" hangingPunct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共阳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分时控制示意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15" y="1412776"/>
            <a:ext cx="5189597" cy="2879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43608" y="4336304"/>
          <a:ext cx="7408912" cy="2333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77795" imgH="1016000" progId="Visio.Drawing.11">
                  <p:embed/>
                </p:oleObj>
              </mc:Choice>
              <mc:Fallback>
                <p:oleObj name="Visio" r:id="rId3" imgW="2677795" imgH="1016000" progId="Visio.Drawing.11">
                  <p:embed/>
                  <p:pic>
                    <p:nvPicPr>
                      <p:cNvPr id="0" name="图片 7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336304"/>
                        <a:ext cx="7408912" cy="2333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5503083" y="1564945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AN3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4931529" y="197203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AN2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4278947" y="2608721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AN1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3530403" y="3149121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8229600" cy="4525963"/>
          </a:xfrm>
        </p:spPr>
        <p:txBody>
          <a:bodyPr>
            <a:normAutofit/>
          </a:bodyPr>
          <a:lstStyle/>
          <a:p>
            <a:pPr marL="590550" indent="-533400" algn="just">
              <a:spcBef>
                <a:spcPts val="0"/>
              </a:spcBef>
              <a:defRPr/>
            </a:pP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动态扫描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低电平与输入显示对应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1390650" lvl="2" indent="-533400" algn="just">
              <a:spcBef>
                <a:spcPts val="0"/>
              </a:spcBef>
              <a:defRPr/>
            </a:pPr>
            <a:r>
              <a:rPr lang="zh-CN" altLang="en-US" dirty="0">
                <a:cs typeface="Times New Roman" panose="02020603050405020304" pitchFamily="18" charset="0"/>
              </a:rPr>
              <a:t>共阳：低电平控制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分时送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a~g</a:t>
            </a:r>
            <a:r>
              <a:rPr lang="en-US" altLang="zh-CN" sz="2400" i="1" dirty="0">
                <a:cs typeface="Times New Roman" panose="02020603050405020304" pitchFamily="18" charset="0"/>
              </a:rPr>
              <a:t>, p</a:t>
            </a:r>
          </a:p>
          <a:p>
            <a:pPr marL="990600" lvl="1" indent="-533400" algn="just"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可用序列信号控制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：原理图设计实现显示译码</a:t>
            </a:r>
            <a:r>
              <a:rPr lang="en-US" altLang="zh-CN" sz="2800" dirty="0"/>
              <a:t>MyMC14495</a:t>
            </a:r>
            <a:r>
              <a:rPr lang="zh-CN" altLang="en-US" sz="2800" dirty="0"/>
              <a:t>模块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：用</a:t>
            </a:r>
            <a:r>
              <a:rPr lang="en-US" altLang="zh-CN" sz="2800" dirty="0"/>
              <a:t>MyMC14495</a:t>
            </a:r>
            <a:r>
              <a:rPr lang="zh-CN" altLang="en-US" sz="2800" dirty="0"/>
              <a:t>模块实现数码管显示</a:t>
            </a:r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原理图设计实现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Digital</a:t>
            </a:r>
            <a:r>
              <a:rPr lang="zh-CN" altLang="en-US" dirty="0"/>
              <a:t>中新建电路</a:t>
            </a:r>
            <a:r>
              <a:rPr lang="en-US" altLang="zh-CN" dirty="0"/>
              <a:t>, </a:t>
            </a:r>
            <a:r>
              <a:rPr lang="zh-CN" altLang="en-US" dirty="0"/>
              <a:t>名称用</a:t>
            </a:r>
            <a:r>
              <a:rPr lang="en-US" altLang="zh-CN" dirty="0"/>
              <a:t>MyMC14495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原理图方式进行设计。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测试验证完成后导出</a:t>
            </a:r>
            <a:r>
              <a:rPr lang="en-US" altLang="zh-CN" dirty="0"/>
              <a:t>MyMC14495.v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445624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原理图设计实现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兼容</a:t>
            </a:r>
            <a:r>
              <a:rPr lang="en-US" altLang="zh-CN" sz="2400" dirty="0"/>
              <a:t>MC14495</a:t>
            </a:r>
          </a:p>
          <a:p>
            <a:pPr lvl="1"/>
            <a:r>
              <a:rPr lang="zh-CN" altLang="en-US" sz="2000" dirty="0"/>
              <a:t>省略</a:t>
            </a:r>
            <a:r>
              <a:rPr lang="en-US" altLang="zh-CN" sz="2000" dirty="0"/>
              <a:t>VCR(Pin11)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h+i</a:t>
            </a:r>
            <a:r>
              <a:rPr lang="en-US" altLang="zh-CN" sz="2000" dirty="0"/>
              <a:t>(Pin4)</a:t>
            </a:r>
            <a:r>
              <a:rPr lang="zh-CN" altLang="en-US" sz="2000" dirty="0"/>
              <a:t>功能</a:t>
            </a:r>
          </a:p>
          <a:p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475657" y="5722715"/>
            <a:ext cx="7040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先画输入输出信号</a:t>
            </a:r>
            <a:r>
              <a:rPr lang="en-US" altLang="zh-CN" b="1" dirty="0"/>
              <a:t>, 1</a:t>
            </a:r>
            <a:r>
              <a:rPr lang="zh-CN" altLang="en-US" b="1" dirty="0"/>
              <a:t>个段的输出结构</a:t>
            </a:r>
            <a:r>
              <a:rPr lang="en-US" altLang="zh-CN" b="1" dirty="0"/>
              <a:t>, </a:t>
            </a:r>
            <a:r>
              <a:rPr lang="zh-CN" altLang="en-US" b="1" dirty="0"/>
              <a:t>再复制出</a:t>
            </a:r>
            <a:r>
              <a:rPr lang="en-US" altLang="zh-CN" b="1" dirty="0"/>
              <a:t>7</a:t>
            </a:r>
            <a:r>
              <a:rPr lang="zh-CN" altLang="en-US" b="1" dirty="0"/>
              <a:t>个段</a:t>
            </a:r>
            <a:r>
              <a:rPr lang="en-US" altLang="zh-CN" b="1" dirty="0"/>
              <a:t>, </a:t>
            </a:r>
            <a:r>
              <a:rPr lang="zh-CN" altLang="en-US" b="1" dirty="0"/>
              <a:t>调整门数量</a:t>
            </a:r>
            <a:r>
              <a:rPr lang="en-US" altLang="zh-CN" b="1" dirty="0"/>
              <a:t>, </a:t>
            </a:r>
            <a:r>
              <a:rPr lang="zh-CN" altLang="en-US" b="1" dirty="0"/>
              <a:t>最后再连线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03" y="2997328"/>
            <a:ext cx="7870105" cy="25501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257924"/>
            <a:ext cx="1512168" cy="2240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445624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原理图设计实现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兼容</a:t>
            </a:r>
            <a:r>
              <a:rPr lang="en-US" altLang="zh-CN" sz="2400" dirty="0"/>
              <a:t>MC14495</a:t>
            </a:r>
          </a:p>
          <a:p>
            <a:pPr lvl="1"/>
            <a:r>
              <a:rPr lang="zh-CN" altLang="en-US" sz="2000" dirty="0"/>
              <a:t>省略</a:t>
            </a:r>
            <a:r>
              <a:rPr lang="en-US" altLang="zh-CN" sz="2000" dirty="0"/>
              <a:t>VCR(Pin11)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h+i</a:t>
            </a:r>
            <a:r>
              <a:rPr lang="en-US" altLang="zh-CN" sz="2000" dirty="0"/>
              <a:t>(Pin4)</a:t>
            </a:r>
            <a:r>
              <a:rPr lang="zh-CN" altLang="en-US" sz="2000" dirty="0"/>
              <a:t>功能</a:t>
            </a:r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01"/>
              <p:cNvSpPr txBox="1"/>
              <p:nvPr/>
            </p:nvSpPr>
            <p:spPr>
              <a:xfrm>
                <a:off x="3779912" y="5656223"/>
                <a:ext cx="47244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eaLnBrk="0" hangingPunct="0"/>
                <a:r>
                  <a:rPr lang="en-US" altLang="zh-CN" b="1" i="1" dirty="0">
                    <a:solidFill>
                      <a:prstClr val="black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acc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CN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zh-CN" altLang="en-US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5656223"/>
                <a:ext cx="4724400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8" t="-100" r="8" b="-16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16" y="2911587"/>
            <a:ext cx="8446967" cy="267374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1257924"/>
            <a:ext cx="1512168" cy="22400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445624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原理图设计实现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兼容</a:t>
            </a:r>
            <a:r>
              <a:rPr lang="en-US" altLang="zh-CN" sz="2400" dirty="0"/>
              <a:t>MC14495</a:t>
            </a:r>
          </a:p>
          <a:p>
            <a:pPr lvl="1"/>
            <a:r>
              <a:rPr lang="zh-CN" altLang="en-US" sz="2000" dirty="0"/>
              <a:t>省略</a:t>
            </a:r>
            <a:r>
              <a:rPr lang="en-US" altLang="zh-CN" sz="2000" dirty="0"/>
              <a:t>VCR(Pin11)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h+i</a:t>
            </a:r>
            <a:r>
              <a:rPr lang="en-US" altLang="zh-CN" sz="2000" dirty="0"/>
              <a:t>(Pin4)</a:t>
            </a:r>
            <a:r>
              <a:rPr lang="zh-CN" altLang="en-US" sz="2000" dirty="0"/>
              <a:t>功能</a:t>
            </a:r>
          </a:p>
          <a:p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475657" y="5722715"/>
            <a:ext cx="704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a-p</a:t>
            </a:r>
            <a:r>
              <a:rPr lang="zh-CN" altLang="en-US" b="1" dirty="0"/>
              <a:t>各段大功告成！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76390" y="1063278"/>
            <a:ext cx="14511577" cy="46358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12168" y="-243408"/>
            <a:ext cx="1512168" cy="22400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445624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原理图设计实现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兼容</a:t>
            </a:r>
            <a:r>
              <a:rPr lang="en-US" altLang="zh-CN" sz="2400" dirty="0"/>
              <a:t>MC14495</a:t>
            </a:r>
          </a:p>
          <a:p>
            <a:pPr lvl="1"/>
            <a:r>
              <a:rPr lang="zh-CN" altLang="en-US" sz="2000" dirty="0"/>
              <a:t>省略</a:t>
            </a:r>
            <a:r>
              <a:rPr lang="en-US" altLang="zh-CN" sz="2000" dirty="0"/>
              <a:t>VCR(Pin11)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h+i</a:t>
            </a:r>
            <a:r>
              <a:rPr lang="en-US" altLang="zh-CN" sz="2000" dirty="0"/>
              <a:t>(Pin4)</a:t>
            </a:r>
            <a:r>
              <a:rPr lang="zh-CN" altLang="en-US" sz="2000" dirty="0"/>
              <a:t>功能</a:t>
            </a:r>
          </a:p>
          <a:p>
            <a:endParaRPr lang="zh-CN" altLang="en-US" sz="24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8" y="3192105"/>
            <a:ext cx="8882323" cy="286296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524327" y="4005062"/>
            <a:ext cx="1320623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228184" y="4005062"/>
            <a:ext cx="1212771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201793" y="4023847"/>
            <a:ext cx="943019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897852" y="4023847"/>
            <a:ext cx="1250211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915816" y="4005061"/>
            <a:ext cx="936104" cy="1205353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673402" y="4005063"/>
            <a:ext cx="1193426" cy="1224137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02502" y="4005064"/>
            <a:ext cx="917170" cy="1224136"/>
          </a:xfrm>
          <a:prstGeom prst="roundRect">
            <a:avLst>
              <a:gd name="adj" fmla="val 8736"/>
            </a:avLst>
          </a:prstGeom>
          <a:noFill/>
          <a:ln>
            <a:solidFill>
              <a:srgbClr val="F3030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01509" y="5398039"/>
            <a:ext cx="7874947" cy="368285"/>
          </a:xfrm>
          <a:prstGeom prst="roundRect">
            <a:avLst>
              <a:gd name="adj" fmla="val 8736"/>
            </a:avLst>
          </a:prstGeom>
          <a:noFill/>
          <a:ln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6"/>
          <p:cNvSpPr txBox="1"/>
          <p:nvPr/>
        </p:nvSpPr>
        <p:spPr>
          <a:xfrm>
            <a:off x="7989439" y="460773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6672085" y="463271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本框 18"/>
          <p:cNvSpPr txBox="1"/>
          <p:nvPr/>
        </p:nvSpPr>
        <p:spPr>
          <a:xfrm>
            <a:off x="5364088" y="456501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本框 19"/>
          <p:cNvSpPr txBox="1"/>
          <p:nvPr/>
        </p:nvSpPr>
        <p:spPr>
          <a:xfrm>
            <a:off x="4371074" y="460534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本框 20"/>
          <p:cNvSpPr txBox="1"/>
          <p:nvPr/>
        </p:nvSpPr>
        <p:spPr>
          <a:xfrm>
            <a:off x="3065074" y="465304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本框 21"/>
          <p:cNvSpPr txBox="1"/>
          <p:nvPr/>
        </p:nvSpPr>
        <p:spPr>
          <a:xfrm>
            <a:off x="2131762" y="4623585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本框 22"/>
          <p:cNvSpPr txBox="1"/>
          <p:nvPr/>
        </p:nvSpPr>
        <p:spPr>
          <a:xfrm>
            <a:off x="860652" y="458592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本框 23"/>
          <p:cNvSpPr txBox="1"/>
          <p:nvPr/>
        </p:nvSpPr>
        <p:spPr>
          <a:xfrm>
            <a:off x="1173711" y="5326850"/>
            <a:ext cx="1111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00CC"/>
                </a:solidFill>
              </a:rPr>
              <a:t>enable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1257924"/>
            <a:ext cx="1512168" cy="2240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Digital</a:t>
            </a:r>
            <a:r>
              <a:rPr lang="zh-CN" altLang="en-US" dirty="0"/>
              <a:t>上仿真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上设计测试用例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验证输入输出波形</a:t>
            </a:r>
          </a:p>
          <a:p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348880"/>
            <a:ext cx="2393337" cy="3960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2348880"/>
            <a:ext cx="3744416" cy="37562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Digital</a:t>
            </a:r>
            <a:r>
              <a:rPr lang="zh-CN" altLang="en-US" dirty="0"/>
              <a:t>上仿真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上新建电路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MyMC14495_Test,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通过实时仿真验证显示结果正确性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18212"/>
            <a:ext cx="5100173" cy="31683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3378748"/>
            <a:ext cx="2039800" cy="18472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5232" y="5934399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组件</a:t>
            </a:r>
            <a:r>
              <a:rPr lang="en-US" altLang="zh-CN" dirty="0"/>
              <a:t>-&gt;</a:t>
            </a:r>
            <a:r>
              <a:rPr lang="zh-CN" altLang="en-US" dirty="0"/>
              <a:t>输入输出</a:t>
            </a:r>
            <a:r>
              <a:rPr lang="en-US" altLang="zh-CN" dirty="0"/>
              <a:t>-&gt;</a:t>
            </a:r>
            <a:r>
              <a:rPr lang="zh-CN" altLang="en-US" dirty="0"/>
              <a:t>显示</a:t>
            </a:r>
            <a:r>
              <a:rPr lang="en-US" altLang="zh-CN" dirty="0"/>
              <a:t>-&gt;7</a:t>
            </a:r>
            <a:r>
              <a:rPr lang="zh-CN" altLang="en-US" dirty="0"/>
              <a:t>段数码管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813407" y="5363343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7</a:t>
            </a:r>
            <a:r>
              <a:rPr lang="zh-CN" altLang="en-US" b="1" dirty="0"/>
              <a:t>段数码管组件设置窗口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：实现数码管显示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MyMC14495</a:t>
            </a:r>
            <a:r>
              <a:rPr lang="zh-CN" altLang="en-US" dirty="0"/>
              <a:t>和开关</a:t>
            </a:r>
            <a:r>
              <a:rPr lang="en-US" altLang="zh-CN" dirty="0"/>
              <a:t>, </a:t>
            </a:r>
            <a:r>
              <a:rPr lang="zh-CN" altLang="en-US" dirty="0"/>
              <a:t>控制左上角</a:t>
            </a:r>
            <a:r>
              <a:rPr lang="en-US" altLang="zh-CN" dirty="0"/>
              <a:t>4</a:t>
            </a:r>
            <a:r>
              <a:rPr lang="zh-CN" altLang="en-US" dirty="0"/>
              <a:t>位数码管显示开关输入的数字</a:t>
            </a:r>
            <a:r>
              <a:rPr lang="en-US" altLang="zh-CN" dirty="0"/>
              <a:t>, </a:t>
            </a:r>
            <a:r>
              <a:rPr lang="zh-CN" altLang="en-US" dirty="0"/>
              <a:t>即把</a:t>
            </a:r>
            <a:r>
              <a:rPr lang="en-US" altLang="zh-CN" dirty="0"/>
              <a:t>Digital</a:t>
            </a:r>
            <a:r>
              <a:rPr lang="zh-CN" altLang="en-US" dirty="0"/>
              <a:t>上实现的测试功能在</a:t>
            </a:r>
            <a:r>
              <a:rPr lang="en-US" altLang="zh-CN" dirty="0" err="1"/>
              <a:t>Vivado</a:t>
            </a:r>
            <a:r>
              <a:rPr lang="zh-CN" altLang="en-US" dirty="0"/>
              <a:t>和实验板上实现</a:t>
            </a:r>
            <a:endParaRPr lang="en-US" altLang="zh-CN" dirty="0"/>
          </a:p>
          <a:p>
            <a:r>
              <a:rPr lang="zh-CN" altLang="en-US" dirty="0"/>
              <a:t>功能要求：</a:t>
            </a:r>
            <a:endParaRPr lang="en-US" altLang="zh-CN" dirty="0"/>
          </a:p>
          <a:p>
            <a:pPr lvl="1"/>
            <a:r>
              <a:rPr lang="en-US" altLang="zh-CN" dirty="0"/>
              <a:t>SW[3:0]</a:t>
            </a:r>
            <a:r>
              <a:rPr lang="zh-CN" altLang="en-US" dirty="0"/>
              <a:t>：输入</a:t>
            </a:r>
            <a:r>
              <a:rPr lang="en-US" altLang="zh-CN" dirty="0"/>
              <a:t>4</a:t>
            </a:r>
            <a:r>
              <a:rPr lang="zh-CN" altLang="en-US" dirty="0"/>
              <a:t>位二进制数</a:t>
            </a:r>
            <a:r>
              <a:rPr lang="en-US" altLang="zh-CN" dirty="0"/>
              <a:t>, </a:t>
            </a:r>
            <a:r>
              <a:rPr lang="zh-CN" altLang="en-US" dirty="0"/>
              <a:t>作为数码管需要显示的内容</a:t>
            </a:r>
            <a:endParaRPr lang="en-US" altLang="zh-CN" dirty="0"/>
          </a:p>
          <a:p>
            <a:pPr lvl="1"/>
            <a:r>
              <a:rPr lang="en-US" altLang="zh-CN" dirty="0"/>
              <a:t>SW[7:4]</a:t>
            </a:r>
            <a:r>
              <a:rPr lang="zh-CN" altLang="en-US" dirty="0"/>
              <a:t>：从左至右分别控制</a:t>
            </a:r>
            <a:r>
              <a:rPr lang="en-US" altLang="zh-CN" dirty="0"/>
              <a:t>4</a:t>
            </a:r>
            <a:r>
              <a:rPr lang="zh-CN" altLang="en-US" dirty="0"/>
              <a:t>位数码管的亮暗</a:t>
            </a:r>
            <a:endParaRPr lang="en-US" altLang="zh-CN" dirty="0"/>
          </a:p>
          <a:p>
            <a:pPr lvl="1"/>
            <a:r>
              <a:rPr lang="en-US" altLang="zh-CN" dirty="0"/>
              <a:t>SW[14]</a:t>
            </a:r>
            <a:r>
              <a:rPr lang="zh-CN" altLang="en-US" dirty="0"/>
              <a:t>：控制</a:t>
            </a:r>
            <a:r>
              <a:rPr lang="en-US" altLang="zh-CN" dirty="0"/>
              <a:t>MyMC14495</a:t>
            </a:r>
            <a:r>
              <a:rPr lang="zh-CN" altLang="en-US" dirty="0"/>
              <a:t>模块的</a:t>
            </a:r>
            <a:r>
              <a:rPr lang="en-US" altLang="zh-CN" dirty="0"/>
              <a:t>LE</a:t>
            </a:r>
            <a:r>
              <a:rPr lang="zh-CN" altLang="en-US" dirty="0"/>
              <a:t>端</a:t>
            </a:r>
            <a:r>
              <a:rPr lang="en-US" altLang="zh-CN" dirty="0"/>
              <a:t>, </a:t>
            </a:r>
            <a:r>
              <a:rPr lang="zh-CN" altLang="en-US" dirty="0"/>
              <a:t>控制所有数码管的亮暗</a:t>
            </a:r>
            <a:endParaRPr lang="en-US" altLang="zh-CN" dirty="0"/>
          </a:p>
          <a:p>
            <a:pPr lvl="1"/>
            <a:r>
              <a:rPr lang="en-US" altLang="zh-CN" dirty="0"/>
              <a:t>SW[15]</a:t>
            </a:r>
            <a:r>
              <a:rPr lang="zh-CN" altLang="en-US" dirty="0"/>
              <a:t>：控制所有数码管的小数点亮暗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：实现数码管显示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Vivado</a:t>
            </a:r>
            <a:r>
              <a:rPr lang="zh-CN" altLang="en-US" dirty="0"/>
              <a:t>中新建工程</a:t>
            </a:r>
            <a:r>
              <a:rPr lang="en-US" altLang="zh-CN" dirty="0" err="1"/>
              <a:t>DispNumber_sch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新建文件</a:t>
            </a:r>
            <a:r>
              <a:rPr lang="en-US" altLang="zh-CN" dirty="0" err="1"/>
              <a:t>DispNumber_sch.v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</a:t>
            </a:r>
            <a:r>
              <a:rPr lang="en-US" altLang="zh-CN" dirty="0"/>
              <a:t>MyMC14495.v</a:t>
            </a:r>
            <a:r>
              <a:rPr lang="zh-CN" altLang="en-US" dirty="0"/>
              <a:t>到工程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Autofit/>
          </a:bodyPr>
          <a:lstStyle/>
          <a:p>
            <a:r>
              <a:rPr lang="zh-CN" altLang="en-US" dirty="0"/>
              <a:t>添加和新建模块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200"/>
            <a:ext cx="6722860" cy="42770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791" y="3587918"/>
            <a:ext cx="3570536" cy="2692802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4572000" y="4653136"/>
            <a:ext cx="822792" cy="288032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Autofit/>
          </a:bodyPr>
          <a:lstStyle/>
          <a:p>
            <a:r>
              <a:rPr lang="zh-CN" altLang="en-US" dirty="0"/>
              <a:t>添加约束文件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047931" cy="448388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7105" y="3284984"/>
            <a:ext cx="63472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可以从以前的实验工程中选择约束文件加入新的工程</a:t>
            </a:r>
            <a:r>
              <a:rPr lang="en-US" altLang="zh-CN" sz="2000" b="1" dirty="0">
                <a:solidFill>
                  <a:srgbClr val="FF0000"/>
                </a:solidFill>
              </a:rPr>
              <a:t>, </a:t>
            </a:r>
            <a:r>
              <a:rPr lang="zh-CN" altLang="en-US" sz="2000" b="1" dirty="0">
                <a:solidFill>
                  <a:srgbClr val="FF0000"/>
                </a:solidFill>
              </a:rPr>
              <a:t>如截图中从实验</a:t>
            </a:r>
            <a:r>
              <a:rPr lang="en-US" altLang="zh-CN" sz="2000" b="1" dirty="0">
                <a:solidFill>
                  <a:srgbClr val="FF0000"/>
                </a:solidFill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</a:rPr>
              <a:t>的工程里选择约束文件并复制到工程中。注意文件路径。</a:t>
            </a:r>
          </a:p>
        </p:txBody>
      </p:sp>
      <p:sp>
        <p:nvSpPr>
          <p:cNvPr id="9" name="椭圆 8"/>
          <p:cNvSpPr/>
          <p:nvPr/>
        </p:nvSpPr>
        <p:spPr>
          <a:xfrm>
            <a:off x="971600" y="5157192"/>
            <a:ext cx="180020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707904" y="4941168"/>
            <a:ext cx="87833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添加仿真文件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对</a:t>
            </a:r>
            <a:r>
              <a:rPr lang="en-US" altLang="zh-CN" sz="2400" dirty="0"/>
              <a:t>MyMC14495</a:t>
            </a:r>
            <a:r>
              <a:rPr lang="zh-CN" altLang="en-US" sz="2400" dirty="0"/>
              <a:t>模块进行仿真</a:t>
            </a:r>
            <a:r>
              <a:rPr lang="en-US" altLang="zh-CN" sz="2400" dirty="0"/>
              <a:t>, </a:t>
            </a:r>
            <a:r>
              <a:rPr lang="zh-CN" altLang="en-US" sz="2400" dirty="0"/>
              <a:t>参考激励代码如下：</a:t>
            </a:r>
            <a:br>
              <a:rPr lang="en-US" altLang="zh-CN" sz="2400" dirty="0"/>
            </a:br>
            <a:r>
              <a:rPr lang="zh-CN" altLang="en-US" sz="2400" dirty="0"/>
              <a:t>（仿真文件框架结构参见实验</a:t>
            </a:r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255001" y="2276872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336699"/>
                </a:solidFill>
              </a:rPr>
              <a:t>integer </a:t>
            </a:r>
            <a:r>
              <a:rPr lang="en-US" altLang="zh-CN" sz="2800" dirty="0" err="1">
                <a:solidFill>
                  <a:srgbClr val="336699"/>
                </a:solidFill>
              </a:rPr>
              <a:t>i</a:t>
            </a:r>
            <a:r>
              <a:rPr lang="en-US" altLang="zh-CN" sz="2800" dirty="0">
                <a:solidFill>
                  <a:srgbClr val="336699"/>
                </a:solidFill>
              </a:rPr>
              <a:t>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initial begin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D3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D2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D1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D0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LE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point = 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</a:t>
            </a:r>
            <a:endParaRPr lang="zh-CN" altLang="en-US" sz="2800" dirty="0">
              <a:solidFill>
                <a:srgbClr val="336699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7937" y="2276872"/>
            <a:ext cx="50040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336699"/>
                </a:solidFill>
              </a:rPr>
              <a:t>	for (</a:t>
            </a:r>
            <a:r>
              <a:rPr lang="en-US" altLang="zh-CN" sz="2800" dirty="0" err="1">
                <a:solidFill>
                  <a:srgbClr val="336699"/>
                </a:solidFill>
              </a:rPr>
              <a:t>i</a:t>
            </a:r>
            <a:r>
              <a:rPr lang="en-US" altLang="zh-CN" sz="2800" dirty="0">
                <a:solidFill>
                  <a:srgbClr val="336699"/>
                </a:solidFill>
              </a:rPr>
              <a:t>=0; </a:t>
            </a:r>
            <a:r>
              <a:rPr lang="en-US" altLang="zh-CN" sz="2800" dirty="0" err="1">
                <a:solidFill>
                  <a:srgbClr val="336699"/>
                </a:solidFill>
              </a:rPr>
              <a:t>i</a:t>
            </a:r>
            <a:r>
              <a:rPr lang="en-US" altLang="zh-CN" sz="2800" dirty="0">
                <a:solidFill>
                  <a:srgbClr val="336699"/>
                </a:solidFill>
              </a:rPr>
              <a:t>&lt;=15;i=i+1) begin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	#50;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	{D3, D2, D1, D0}=</a:t>
            </a:r>
            <a:r>
              <a:rPr lang="en-US" altLang="zh-CN" sz="2800" dirty="0" err="1">
                <a:solidFill>
                  <a:srgbClr val="336699"/>
                </a:solidFill>
              </a:rPr>
              <a:t>i</a:t>
            </a:r>
            <a:r>
              <a:rPr lang="en-US" altLang="zh-CN" sz="2800" dirty="0">
                <a:solidFill>
                  <a:srgbClr val="336699"/>
                </a:solidFill>
              </a:rPr>
              <a:t>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	point = </a:t>
            </a:r>
            <a:r>
              <a:rPr lang="en-US" altLang="zh-CN" sz="2800" dirty="0" err="1">
                <a:solidFill>
                  <a:srgbClr val="336699"/>
                </a:solidFill>
              </a:rPr>
              <a:t>i</a:t>
            </a:r>
            <a:r>
              <a:rPr lang="en-US" altLang="zh-CN" sz="2800" dirty="0">
                <a:solidFill>
                  <a:srgbClr val="336699"/>
                </a:solidFill>
              </a:rPr>
              <a:t>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end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	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#50;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	LE = 1;</a:t>
            </a:r>
          </a:p>
          <a:p>
            <a:r>
              <a:rPr lang="en-US" altLang="zh-CN" sz="2800" dirty="0">
                <a:solidFill>
                  <a:srgbClr val="336699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仿真波形示例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7560840" cy="350516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544" y="5013176"/>
            <a:ext cx="8243542" cy="1152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sz="3200" b="1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zh-CN" altLang="en-US" dirty="0"/>
              <a:t>与</a:t>
            </a:r>
            <a:r>
              <a:rPr lang="en-US" altLang="zh-CN" dirty="0"/>
              <a:t>Digital</a:t>
            </a:r>
            <a:r>
              <a:rPr lang="zh-CN" altLang="en-US" dirty="0"/>
              <a:t>的测试用例仿真结果比较</a:t>
            </a:r>
            <a:r>
              <a:rPr lang="en-US" altLang="zh-CN" dirty="0"/>
              <a:t>, </a:t>
            </a:r>
            <a:r>
              <a:rPr lang="zh-CN" altLang="en-US" dirty="0"/>
              <a:t>观察两者的区别联系</a:t>
            </a:r>
            <a:endParaRPr lang="en-US" altLang="zh-CN" dirty="0"/>
          </a:p>
          <a:p>
            <a:r>
              <a:rPr lang="zh-CN" altLang="en-US" dirty="0"/>
              <a:t>在实验报告里截图，对波形进行解释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实现数码管显示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3317"/>
            <a:ext cx="8229600" cy="709539"/>
          </a:xfrm>
        </p:spPr>
        <p:txBody>
          <a:bodyPr/>
          <a:lstStyle/>
          <a:p>
            <a:r>
              <a:rPr lang="zh-CN" altLang="en-US" dirty="0"/>
              <a:t>实现</a:t>
            </a:r>
            <a:r>
              <a:rPr lang="en-US" altLang="zh-CN" dirty="0" err="1"/>
              <a:t>DispNumber_sch.v</a:t>
            </a:r>
            <a:r>
              <a:rPr lang="en-US" altLang="zh-CN" dirty="0"/>
              <a:t>, </a:t>
            </a:r>
            <a:r>
              <a:rPr lang="zh-CN" altLang="en-US" dirty="0"/>
              <a:t>调用</a:t>
            </a:r>
            <a:r>
              <a:rPr lang="en-US" altLang="zh-CN" dirty="0"/>
              <a:t>MyMC14495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3608" y="2119690"/>
            <a:ext cx="784887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module </a:t>
            </a:r>
            <a:r>
              <a:rPr lang="en-US" altLang="zh-CN" sz="1400" dirty="0" err="1"/>
              <a:t>DispNumber_sch</a:t>
            </a:r>
            <a:r>
              <a:rPr lang="en-US" altLang="zh-CN" sz="1400" dirty="0"/>
              <a:t>(</a:t>
            </a:r>
          </a:p>
          <a:p>
            <a:r>
              <a:rPr lang="en-US" altLang="zh-CN" sz="1400" dirty="0"/>
              <a:t>    input [15:0]SW,</a:t>
            </a:r>
          </a:p>
          <a:p>
            <a:r>
              <a:rPr lang="en-US" altLang="zh-CN" sz="1400" dirty="0"/>
              <a:t>    output [7:0]SEGMENT,</a:t>
            </a:r>
          </a:p>
          <a:p>
            <a:r>
              <a:rPr lang="en-US" altLang="zh-CN" sz="1400" dirty="0"/>
              <a:t>    output [3:0]AN    </a:t>
            </a:r>
          </a:p>
          <a:p>
            <a:r>
              <a:rPr lang="en-US" altLang="zh-CN" sz="1400" dirty="0"/>
              <a:t>    );</a:t>
            </a:r>
          </a:p>
          <a:p>
            <a:r>
              <a:rPr lang="en-US" altLang="zh-CN" sz="1400" dirty="0"/>
              <a:t>    </a:t>
            </a:r>
          </a:p>
          <a:p>
            <a:r>
              <a:rPr lang="en-US" altLang="zh-CN" sz="1400" dirty="0"/>
              <a:t>    assign AN[3:0] = SW[7:4];</a:t>
            </a:r>
          </a:p>
          <a:p>
            <a:r>
              <a:rPr lang="en-US" altLang="zh-CN" sz="1400" dirty="0"/>
              <a:t>    MyMC14495 s0(.D3(SW[3]), .D2(SW[2]),  .D1(SW[1]), .D0(SW[0]),</a:t>
            </a:r>
          </a:p>
          <a:p>
            <a:r>
              <a:rPr lang="en-US" altLang="zh-CN" sz="1400" dirty="0"/>
              <a:t>                 .point(SW[15]), .LE(SW[14]),</a:t>
            </a:r>
          </a:p>
          <a:p>
            <a:r>
              <a:rPr lang="en-US" altLang="zh-CN" sz="1400" dirty="0"/>
              <a:t>                 .a(SEGMENT[0]),</a:t>
            </a:r>
          </a:p>
          <a:p>
            <a:r>
              <a:rPr lang="en-US" altLang="zh-CN" sz="1400" dirty="0"/>
              <a:t>                 .b(SEGMENT[1]),</a:t>
            </a:r>
          </a:p>
          <a:p>
            <a:r>
              <a:rPr lang="en-US" altLang="zh-CN" sz="1400" dirty="0"/>
              <a:t>                 .c(SEGMENT[2]),</a:t>
            </a:r>
          </a:p>
          <a:p>
            <a:r>
              <a:rPr lang="en-US" altLang="zh-CN" sz="1400" dirty="0"/>
              <a:t>                 .d(SEGMENT[3]),</a:t>
            </a:r>
          </a:p>
          <a:p>
            <a:r>
              <a:rPr lang="en-US" altLang="zh-CN" sz="1400" dirty="0"/>
              <a:t>                 .e(SEGMENT[4]),</a:t>
            </a:r>
          </a:p>
          <a:p>
            <a:r>
              <a:rPr lang="en-US" altLang="zh-CN" sz="1400" dirty="0"/>
              <a:t>                 .f(SEGMENT[5]),</a:t>
            </a:r>
          </a:p>
          <a:p>
            <a:r>
              <a:rPr lang="en-US" altLang="zh-CN" sz="1400" dirty="0"/>
              <a:t>                 .g(SEGMENT[6]),</a:t>
            </a:r>
          </a:p>
          <a:p>
            <a:r>
              <a:rPr lang="en-US" altLang="zh-CN" sz="1400" dirty="0"/>
              <a:t>                 .p(SEGMENT[7]));</a:t>
            </a:r>
          </a:p>
          <a:p>
            <a:r>
              <a:rPr lang="en-US" altLang="zh-CN" sz="1400" dirty="0"/>
              <a:t>    </a:t>
            </a:r>
          </a:p>
          <a:p>
            <a:r>
              <a:rPr lang="en-US" altLang="zh-CN" sz="1400" dirty="0" err="1"/>
              <a:t>endmodule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680519"/>
          </a:xfrm>
        </p:spPr>
        <p:txBody>
          <a:bodyPr>
            <a:normAutofit/>
          </a:bodyPr>
          <a:lstStyle/>
          <a:p>
            <a:r>
              <a:rPr lang="en-US" altLang="zh-CN" dirty="0"/>
              <a:t>XDC</a:t>
            </a:r>
            <a:r>
              <a:rPr lang="zh-CN" altLang="en-US" dirty="0"/>
              <a:t>引脚定义</a:t>
            </a:r>
          </a:p>
          <a:p>
            <a:pPr lvl="1"/>
            <a:r>
              <a:rPr lang="zh-CN" altLang="en-US" dirty="0"/>
              <a:t>输入</a:t>
            </a:r>
          </a:p>
          <a:p>
            <a:pPr lvl="2"/>
            <a:r>
              <a:rPr lang="en-US" altLang="zh-CN" dirty="0"/>
              <a:t>SW[7:4]</a:t>
            </a:r>
            <a:r>
              <a:rPr lang="zh-CN" altLang="en-US" dirty="0"/>
              <a:t>，分别控制</a:t>
            </a:r>
            <a:r>
              <a:rPr lang="en-US" altLang="zh-CN" dirty="0"/>
              <a:t>AN[3:0]</a:t>
            </a:r>
          </a:p>
          <a:p>
            <a:pPr lvl="2"/>
            <a:r>
              <a:rPr lang="en-US" altLang="zh-CN" dirty="0"/>
              <a:t>SW[3:0]=D3D2D1D0</a:t>
            </a:r>
          </a:p>
          <a:p>
            <a:pPr lvl="2"/>
            <a:r>
              <a:rPr lang="en-US" altLang="zh-CN" dirty="0"/>
              <a:t>SW[14]=LE</a:t>
            </a:r>
          </a:p>
          <a:p>
            <a:pPr lvl="2"/>
            <a:r>
              <a:rPr lang="en-US" altLang="zh-CN" dirty="0"/>
              <a:t>SW[15]=point</a:t>
            </a:r>
          </a:p>
          <a:p>
            <a:pPr lvl="1"/>
            <a:r>
              <a:rPr lang="zh-CN" altLang="en-US" dirty="0"/>
              <a:t>输出</a:t>
            </a:r>
          </a:p>
          <a:p>
            <a:pPr lvl="2"/>
            <a:r>
              <a:rPr lang="en-US" altLang="zh-CN" dirty="0" err="1"/>
              <a:t>a~g</a:t>
            </a:r>
            <a:r>
              <a:rPr lang="en-US" altLang="zh-CN" dirty="0"/>
              <a:t>, p</a:t>
            </a:r>
          </a:p>
          <a:p>
            <a:pPr lvl="2"/>
            <a:r>
              <a:rPr lang="en-US" altLang="zh-CN" dirty="0"/>
              <a:t>AN[3:0]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XDC</a:t>
            </a:r>
            <a:r>
              <a:rPr lang="zh-CN" altLang="en-US" dirty="0"/>
              <a:t>文件引脚约束关系（部分）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1"/>
            <a:ext cx="3250704" cy="4680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/>
              <a:t>SW[6], AD11, LVCMOS15</a:t>
            </a:r>
          </a:p>
          <a:p>
            <a:pPr marL="0" indent="0">
              <a:buNone/>
            </a:pPr>
            <a:r>
              <a:rPr lang="en-US" altLang="zh-CN" sz="1600" dirty="0"/>
              <a:t>SW[7], AD10, LVCMOS15</a:t>
            </a:r>
          </a:p>
          <a:p>
            <a:pPr marL="0" indent="0">
              <a:buNone/>
            </a:pPr>
            <a:r>
              <a:rPr lang="en-US" altLang="zh-CN" sz="1600" dirty="0"/>
              <a:t>SW[8], AE10, LVCMOS15</a:t>
            </a:r>
          </a:p>
          <a:p>
            <a:pPr marL="0" indent="0">
              <a:buNone/>
            </a:pPr>
            <a:r>
              <a:rPr lang="en-US" altLang="zh-CN" sz="1600" dirty="0"/>
              <a:t>SW[9], AE12, LVCMOS15</a:t>
            </a:r>
          </a:p>
          <a:p>
            <a:pPr marL="0" indent="0">
              <a:buNone/>
            </a:pPr>
            <a:r>
              <a:rPr lang="en-US" altLang="zh-CN" sz="1600" dirty="0"/>
              <a:t>SW[10], AF12, LVCMOS15</a:t>
            </a:r>
          </a:p>
          <a:p>
            <a:pPr marL="0" indent="0">
              <a:buNone/>
            </a:pPr>
            <a:r>
              <a:rPr lang="en-US" altLang="zh-CN" sz="1600" dirty="0"/>
              <a:t>SW[11], AE8, LVCMOS15</a:t>
            </a:r>
          </a:p>
          <a:p>
            <a:pPr marL="0" indent="0">
              <a:buNone/>
            </a:pPr>
            <a:r>
              <a:rPr lang="en-US" altLang="zh-CN" sz="1600" dirty="0"/>
              <a:t>SW[12], AF8, LVCMOS15</a:t>
            </a:r>
          </a:p>
          <a:p>
            <a:pPr marL="0" indent="0">
              <a:buNone/>
            </a:pPr>
            <a:r>
              <a:rPr lang="en-US" altLang="zh-CN" sz="1600" dirty="0"/>
              <a:t>SW[13], AE13, LVCMOS15</a:t>
            </a:r>
          </a:p>
          <a:p>
            <a:pPr marL="0" indent="0">
              <a:buNone/>
            </a:pPr>
            <a:r>
              <a:rPr lang="en-US" altLang="zh-CN" sz="1600" dirty="0"/>
              <a:t>SW[14], AF13, LVCMOS15</a:t>
            </a:r>
          </a:p>
          <a:p>
            <a:pPr marL="0" indent="0">
              <a:buNone/>
            </a:pPr>
            <a:r>
              <a:rPr lang="en-US" altLang="zh-CN" sz="1600" dirty="0"/>
              <a:t>SW[15], AF10, LVCMOS15</a:t>
            </a:r>
          </a:p>
          <a:p>
            <a:pPr marL="0" indent="0">
              <a:buNone/>
            </a:pPr>
            <a:endParaRPr lang="en-US" altLang="zh-C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88783" y="5559624"/>
            <a:ext cx="8020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完整引脚约束，以及</a:t>
            </a:r>
            <a:r>
              <a:rPr lang="en-US" altLang="zh-CN" sz="2400" b="1" dirty="0">
                <a:solidFill>
                  <a:srgbClr val="FF0000"/>
                </a:solidFill>
              </a:rPr>
              <a:t>SW[0]-SW[5]</a:t>
            </a:r>
            <a:r>
              <a:rPr lang="zh-CN" altLang="en-US" sz="2400" b="1" dirty="0">
                <a:solidFill>
                  <a:srgbClr val="FF0000"/>
                </a:solidFill>
              </a:rPr>
              <a:t>参考前两个实验自行添加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4572000" y="1268761"/>
            <a:ext cx="3610744" cy="46805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anose="05000000000000000000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p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/>
              <a:t>SEGMENT[0], AB22, LVCMOS33 </a:t>
            </a:r>
          </a:p>
          <a:p>
            <a:pPr marL="0" indent="0">
              <a:buNone/>
            </a:pPr>
            <a:r>
              <a:rPr lang="en-US" altLang="zh-CN" sz="1600" dirty="0"/>
              <a:t>SEGMENT[1], AD24, LVCMOS33</a:t>
            </a:r>
          </a:p>
          <a:p>
            <a:pPr marL="0" indent="0">
              <a:buNone/>
            </a:pPr>
            <a:r>
              <a:rPr lang="en-US" altLang="zh-CN" sz="1600" dirty="0"/>
              <a:t>SEGMENT[2], AD23, LVCMOS33</a:t>
            </a:r>
          </a:p>
          <a:p>
            <a:pPr marL="0" indent="0">
              <a:buNone/>
            </a:pPr>
            <a:r>
              <a:rPr lang="en-US" altLang="zh-CN" sz="1600" dirty="0"/>
              <a:t>SEGMENT[3], Y21, LVCMOS33</a:t>
            </a:r>
          </a:p>
          <a:p>
            <a:pPr marL="0" indent="0">
              <a:buNone/>
            </a:pPr>
            <a:r>
              <a:rPr lang="en-US" altLang="zh-CN" sz="1600" dirty="0"/>
              <a:t>SEGMENT[4], W20, LVCMOS33</a:t>
            </a:r>
          </a:p>
          <a:p>
            <a:pPr marL="0" indent="0">
              <a:buNone/>
            </a:pPr>
            <a:r>
              <a:rPr lang="en-US" altLang="zh-CN" sz="1600" dirty="0"/>
              <a:t>SEGMENT[5], AC24, LVCMOS33</a:t>
            </a:r>
          </a:p>
          <a:p>
            <a:pPr marL="0" indent="0">
              <a:buNone/>
            </a:pPr>
            <a:r>
              <a:rPr lang="en-US" altLang="zh-CN" sz="1600" dirty="0"/>
              <a:t>SEGMENT[6], AC23, LVCMOS33</a:t>
            </a:r>
          </a:p>
          <a:p>
            <a:pPr marL="0" indent="0">
              <a:buNone/>
            </a:pPr>
            <a:r>
              <a:rPr lang="en-US" altLang="zh-CN" sz="1600" dirty="0"/>
              <a:t>SEGMENT[7], AA22, LVCMOS33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/>
              <a:t>AN[0], AD21, LVCMOS33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/>
              <a:t>AN[1], AC21, LVCMOS33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/>
              <a:t>AN[2], AB21, LVCMOS33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/>
              <a:t>AN[3], AC22, LVCMOS33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综合下载运行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95536" y="1230082"/>
            <a:ext cx="8507288" cy="5151246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要求：从左到右的开关控制数码管的顺序要一致</a:t>
            </a:r>
            <a:endParaRPr lang="en-US" altLang="zh-CN" dirty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运行验证：对照代码和</a:t>
            </a:r>
            <a:r>
              <a:rPr lang="en-US" altLang="zh-CN" dirty="0" err="1"/>
              <a:t>xdc</a:t>
            </a:r>
            <a:r>
              <a:rPr lang="zh-CN" altLang="en-US" dirty="0"/>
              <a:t>文件，了解各个拨动开关的功能。</a:t>
            </a:r>
            <a:endParaRPr lang="en-US" altLang="zh-CN" dirty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拍照记录典型的拨动开关操作后的数码管显示结果，写在实验报告里</a:t>
            </a:r>
            <a:endParaRPr lang="en-US" altLang="zh-CN" dirty="0"/>
          </a:p>
          <a:p>
            <a:pPr>
              <a:buSzPct val="100000"/>
              <a:buFont typeface="Wingdings" panose="05000000000000000000" pitchFamily="2" charset="2"/>
              <a:buChar char="n"/>
            </a:pPr>
            <a:r>
              <a:rPr lang="zh-CN" altLang="en-US" dirty="0"/>
              <a:t>思考如何让</a:t>
            </a:r>
            <a:r>
              <a:rPr lang="en-US" altLang="zh-CN" dirty="0"/>
              <a:t>4</a:t>
            </a:r>
            <a:r>
              <a:rPr lang="zh-CN" altLang="en-US" dirty="0"/>
              <a:t>个数码管能同时显示不同的内容</a:t>
            </a:r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1919</Words>
  <Application>Microsoft Office PowerPoint</Application>
  <PresentationFormat>全屏显示(4:3)</PresentationFormat>
  <Paragraphs>545</Paragraphs>
  <Slides>31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黑体</vt:lpstr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共阴（阳）控制</vt:lpstr>
      <vt:lpstr>Hex 7- segment decoder</vt:lpstr>
      <vt:lpstr>Hex to 7-segment decoder: Simplifying</vt:lpstr>
      <vt:lpstr>Hex to 7-segment decoder Schematic</vt:lpstr>
      <vt:lpstr>多位七段数码管显示原理</vt:lpstr>
      <vt:lpstr>分时控制示意</vt:lpstr>
      <vt:lpstr>实验内容与步骤</vt:lpstr>
      <vt:lpstr>原理图设计实现MyMC14495</vt:lpstr>
      <vt:lpstr>原理图设计实现MyMC14495</vt:lpstr>
      <vt:lpstr>原理图设计实现MyMC14495</vt:lpstr>
      <vt:lpstr>原理图设计实现MyMC14495</vt:lpstr>
      <vt:lpstr>原理图设计实现MyMC14495</vt:lpstr>
      <vt:lpstr>在Digital上仿真</vt:lpstr>
      <vt:lpstr>在Digital上仿真</vt:lpstr>
      <vt:lpstr>任务2：实现数码管显示</vt:lpstr>
      <vt:lpstr>任务2：实现数码管显示</vt:lpstr>
      <vt:lpstr>添加和新建模块</vt:lpstr>
      <vt:lpstr>添加约束文件</vt:lpstr>
      <vt:lpstr>添加仿真文件</vt:lpstr>
      <vt:lpstr>仿真波形示例</vt:lpstr>
      <vt:lpstr>实现数码管显示</vt:lpstr>
      <vt:lpstr>下载验证</vt:lpstr>
      <vt:lpstr>XDC文件引脚约束关系（部分）</vt:lpstr>
      <vt:lpstr>综合下载运行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2479617811@qq.com</cp:lastModifiedBy>
  <cp:revision>294</cp:revision>
  <dcterms:created xsi:type="dcterms:W3CDTF">2011-08-03T07:44:00Z</dcterms:created>
  <dcterms:modified xsi:type="dcterms:W3CDTF">2026-04-12T04:39:21Z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1DDEF2D5B4684D19B6E9E76CC42C5C13_12</vt:lpwstr>
  </property>
  <property fmtid="{D5CDD505-2E9C-101B-9397-08002B2CF9AE}" pid="3" name="KSOProductBuildVer">
    <vt:lpwstr>2052-12.1.0.19770</vt:lpwstr>
  </property>
</Properties>
</file>