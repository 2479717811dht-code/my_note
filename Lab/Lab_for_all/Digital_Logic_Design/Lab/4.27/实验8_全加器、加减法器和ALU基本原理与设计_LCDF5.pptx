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3"/>
  </p:notesMasterIdLst>
  <p:sldIdLst>
    <p:sldId id="256" r:id="rId4"/>
    <p:sldId id="270" r:id="rId5"/>
    <p:sldId id="271" r:id="rId6"/>
    <p:sldId id="272" r:id="rId7"/>
    <p:sldId id="273" r:id="rId8"/>
    <p:sldId id="344" r:id="rId9"/>
    <p:sldId id="336" r:id="rId10"/>
    <p:sldId id="337" r:id="rId11"/>
    <p:sldId id="313" r:id="rId12"/>
    <p:sldId id="338" r:id="rId13"/>
    <p:sldId id="332" r:id="rId14"/>
    <p:sldId id="320" r:id="rId15"/>
    <p:sldId id="328" r:id="rId16"/>
    <p:sldId id="343" r:id="rId17"/>
    <p:sldId id="329" r:id="rId18"/>
    <p:sldId id="330" r:id="rId19"/>
    <p:sldId id="345" r:id="rId20"/>
    <p:sldId id="341" r:id="rId21"/>
    <p:sldId id="310" r:id="rId22"/>
    <p:sldId id="335" r:id="rId23"/>
    <p:sldId id="333" r:id="rId24"/>
    <p:sldId id="327" r:id="rId25"/>
    <p:sldId id="334" r:id="rId26"/>
    <p:sldId id="347" r:id="rId27"/>
    <p:sldId id="348" r:id="rId28"/>
    <p:sldId id="339" r:id="rId29"/>
    <p:sldId id="340" r:id="rId30"/>
    <p:sldId id="346" r:id="rId31"/>
    <p:sldId id="269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344"/>
            <p14:sldId id="336"/>
            <p14:sldId id="337"/>
            <p14:sldId id="313"/>
            <p14:sldId id="338"/>
            <p14:sldId id="332"/>
            <p14:sldId id="320"/>
            <p14:sldId id="328"/>
            <p14:sldId id="343"/>
            <p14:sldId id="329"/>
            <p14:sldId id="330"/>
            <p14:sldId id="345"/>
            <p14:sldId id="341"/>
            <p14:sldId id="310"/>
            <p14:sldId id="335"/>
            <p14:sldId id="333"/>
            <p14:sldId id="327"/>
            <p14:sldId id="334"/>
            <p14:sldId id="347"/>
            <p14:sldId id="348"/>
            <p14:sldId id="339"/>
            <p14:sldId id="340"/>
            <p14:sldId id="346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92818" autoAdjust="0"/>
  </p:normalViewPr>
  <p:slideViewPr>
    <p:cSldViewPr>
      <p:cViewPr varScale="1">
        <p:scale>
          <a:sx n="79" d="100"/>
          <a:sy n="79" d="100"/>
        </p:scale>
        <p:origin x="1290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8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加法器、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加减法器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  <a:p>
            <a:pPr algn="ctr"/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ALU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基本原理与设计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掌握一位全加器的工作原理和逻辑功能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掌握串行进位加法器的工作原理和进位延迟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掌握减法器的实现原理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掌握加减法器的设计方法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</a:t>
            </a:r>
            <a:r>
              <a:rPr lang="en-US" altLang="zh-CN" sz="2800" dirty="0"/>
              <a:t>ALU</a:t>
            </a:r>
            <a:r>
              <a:rPr lang="zh-CN" altLang="en-US" sz="2800" dirty="0"/>
              <a:t>基本原理及在</a:t>
            </a:r>
            <a:r>
              <a:rPr lang="en-US" altLang="zh-CN" sz="2800" dirty="0"/>
              <a:t>CPU</a:t>
            </a:r>
            <a:r>
              <a:rPr lang="zh-CN" altLang="en-US" sz="2800" dirty="0"/>
              <a:t>中的作用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</a:t>
            </a:r>
            <a:r>
              <a:rPr lang="en-US" altLang="zh-CN" sz="2800" dirty="0"/>
              <a:t>ALU</a:t>
            </a:r>
            <a:r>
              <a:rPr lang="zh-CN" altLang="en-US" sz="2800" dirty="0"/>
              <a:t>的设计方法</a:t>
            </a:r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  <a:endParaRPr lang="zh-CN" altLang="en-US" dirty="0" smtClean="0"/>
          </a:p>
          <a:p>
            <a:r>
              <a:rPr lang="zh-CN" altLang="en-US" dirty="0" smtClean="0"/>
              <a:t>实验材料</a:t>
            </a:r>
          </a:p>
          <a:p>
            <a:pPr lvl="1"/>
            <a:r>
              <a:rPr lang="zh-CN" altLang="en-US" dirty="0" smtClean="0"/>
              <a:t>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：原理图方式设计</a:t>
            </a:r>
            <a:r>
              <a:rPr lang="en-US" altLang="zh-CN" sz="2800" dirty="0"/>
              <a:t>4</a:t>
            </a:r>
            <a:r>
              <a:rPr lang="zh-CN" altLang="en-US" sz="2800" dirty="0"/>
              <a:t>位加减法</a:t>
            </a:r>
            <a:r>
              <a:rPr lang="zh-CN" altLang="en-US" sz="2800" dirty="0" smtClean="0"/>
              <a:t>器和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位</a:t>
            </a:r>
            <a:r>
              <a:rPr lang="en-US" altLang="zh-CN" sz="2800" dirty="0" smtClean="0"/>
              <a:t>ALU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 smtClean="0"/>
              <a:t>：设计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位</a:t>
            </a:r>
            <a:r>
              <a:rPr lang="en-US" altLang="zh-CN" sz="2800" dirty="0" smtClean="0"/>
              <a:t>ALU</a:t>
            </a:r>
            <a:r>
              <a:rPr lang="zh-CN" altLang="en-US" sz="2800" dirty="0" smtClean="0"/>
              <a:t>应用工程，在实验板上下载验证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：原理图方式设计</a:t>
            </a:r>
            <a:r>
              <a:rPr lang="en-US" altLang="zh-CN" sz="2800" dirty="0"/>
              <a:t>4</a:t>
            </a:r>
            <a:r>
              <a:rPr lang="zh-CN" altLang="en-US" sz="2800" dirty="0"/>
              <a:t>位加减法</a:t>
            </a:r>
            <a:r>
              <a:rPr lang="zh-CN" altLang="en-US" sz="2800" dirty="0" smtClean="0"/>
              <a:t>器和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位</a:t>
            </a:r>
            <a:r>
              <a:rPr lang="en-US" altLang="zh-CN" sz="2800" dirty="0" smtClean="0"/>
              <a:t>ALU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3913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位全加器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三个输入位：数据位 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，低位进位输入 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</a:p>
          <a:p>
            <a:pPr lvl="1">
              <a:defRPr/>
            </a:pPr>
            <a:r>
              <a:rPr lang="zh-CN" altLang="en-US" sz="2400" dirty="0"/>
              <a:t>二个输出位：全加和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，进位输出 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i+1</a:t>
            </a:r>
          </a:p>
          <a:p>
            <a:pPr lvl="1"/>
            <a:endParaRPr lang="zh-CN" altLang="en-US" sz="2400" dirty="0"/>
          </a:p>
        </p:txBody>
      </p:sp>
      <p:graphicFrame>
        <p:nvGraphicFramePr>
          <p:cNvPr id="9" name="1位全家器真值表 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85098"/>
              </p:ext>
            </p:extLst>
          </p:nvPr>
        </p:nvGraphicFramePr>
        <p:xfrm>
          <a:off x="457200" y="2924944"/>
          <a:ext cx="3686170" cy="321470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7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itchFamily="18" charset="0"/>
                          <a:ea typeface="新宋体" pitchFamily="49" charset="-122"/>
                        </a:rPr>
                        <a:t>A</a:t>
                      </a:r>
                      <a:r>
                        <a:rPr lang="en-US" altLang="zh-CN" sz="2000" i="1" baseline="-25000" dirty="0">
                          <a:latin typeface="Times New Roman" pitchFamily="18" charset="0"/>
                          <a:ea typeface="新宋体" pitchFamily="49" charset="-122"/>
                        </a:rPr>
                        <a:t>i</a:t>
                      </a:r>
                      <a:endParaRPr lang="zh-CN" altLang="en-US" sz="2000" i="1" baseline="-25000" dirty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itchFamily="18" charset="0"/>
                          <a:ea typeface="新宋体" pitchFamily="49" charset="-122"/>
                        </a:rPr>
                        <a:t>B</a:t>
                      </a:r>
                      <a:r>
                        <a:rPr lang="en-US" altLang="zh-CN" sz="2000" i="1" baseline="-25000">
                          <a:latin typeface="Times New Roman" pitchFamily="18" charset="0"/>
                          <a:ea typeface="新宋体" pitchFamily="49" charset="-122"/>
                        </a:rPr>
                        <a:t>i</a:t>
                      </a:r>
                      <a:endParaRPr lang="zh-CN" altLang="en-US" sz="2000" i="1" baseline="-2500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itchFamily="18" charset="0"/>
                          <a:ea typeface="新宋体" pitchFamily="49" charset="-122"/>
                        </a:rPr>
                        <a:t>C </a:t>
                      </a:r>
                      <a:r>
                        <a:rPr lang="en-US" altLang="zh-CN" sz="2000" i="1" baseline="-25000">
                          <a:latin typeface="Times New Roman" pitchFamily="18" charset="0"/>
                          <a:ea typeface="新宋体" pitchFamily="49" charset="-122"/>
                        </a:rPr>
                        <a:t>i</a:t>
                      </a:r>
                      <a:endParaRPr lang="zh-CN" altLang="en-US" sz="2000" baseline="-2500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>
                          <a:latin typeface="Times New Roman" pitchFamily="18" charset="0"/>
                          <a:ea typeface="新宋体" pitchFamily="49" charset="-122"/>
                        </a:rPr>
                        <a:t>S</a:t>
                      </a:r>
                      <a:r>
                        <a:rPr lang="en-US" altLang="zh-CN" sz="2000" i="1" baseline="-25000">
                          <a:latin typeface="Times New Roman" pitchFamily="18" charset="0"/>
                          <a:ea typeface="新宋体" pitchFamily="49" charset="-122"/>
                        </a:rPr>
                        <a:t>i</a:t>
                      </a:r>
                      <a:endParaRPr lang="zh-CN" altLang="en-US" sz="2000" i="1" baseline="-2500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i="1" baseline="0" dirty="0">
                          <a:latin typeface="Times New Roman" pitchFamily="18" charset="0"/>
                          <a:ea typeface="新宋体" pitchFamily="49" charset="-122"/>
                        </a:rPr>
                        <a:t>C </a:t>
                      </a:r>
                      <a:r>
                        <a:rPr lang="en-US" altLang="zh-CN" sz="2000" i="1" baseline="-25000" dirty="0">
                          <a:latin typeface="Times New Roman" pitchFamily="18" charset="0"/>
                          <a:ea typeface="新宋体" pitchFamily="49" charset="-122"/>
                        </a:rPr>
                        <a:t>i+</a:t>
                      </a:r>
                      <a:r>
                        <a:rPr lang="en-US" altLang="zh-CN" sz="2000" i="0" baseline="-25000" dirty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i="0" baseline="-25000" dirty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baseline="0" dirty="0"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sz="2000" b="1" baseline="0" dirty="0"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551285" y="3982465"/>
                <a:ext cx="295232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800" b="0" dirty="0" smtClean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285" y="3982465"/>
                <a:ext cx="295232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589615" y="4532298"/>
                <a:ext cx="40289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615" y="4532298"/>
                <a:ext cx="402892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90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一位全加器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根据一位全加器的输入输出关系，得到电路图</a:t>
            </a:r>
          </a:p>
        </p:txBody>
      </p:sp>
      <p:sp>
        <p:nvSpPr>
          <p:cNvPr id="5" name="Verilog代码"/>
          <p:cNvSpPr txBox="1"/>
          <p:nvPr/>
        </p:nvSpPr>
        <p:spPr>
          <a:xfrm>
            <a:off x="4895910" y="2509153"/>
            <a:ext cx="3564522" cy="369331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module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Adder1b (</a:t>
            </a:r>
            <a:endParaRPr lang="en-US" altLang="zh-CN" sz="1600" b="1" dirty="0">
              <a:latin typeface="Courier New" pitchFamily="49" charset="0"/>
              <a:ea typeface="新宋体" pitchFamily="49" charset="-122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input wire a, b, ci,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output wire s, co);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and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m0(c1,a,b);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and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m1(c2,b,ci);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and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m2(c3,a,ci);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xor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m3(s1,a,b);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xor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m4(s,s1,ci);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or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  <a:cs typeface="Courier New" pitchFamily="49" charset="0"/>
              </a:rPr>
              <a:t>  m5(co,c1,c2,c3);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 err="1">
                <a:solidFill>
                  <a:srgbClr val="0000FF"/>
                </a:solidFill>
                <a:latin typeface="Courier New" pitchFamily="49" charset="0"/>
                <a:ea typeface="新宋体" pitchFamily="49" charset="-122"/>
                <a:cs typeface="Courier New" pitchFamily="49" charset="0"/>
              </a:rPr>
              <a:t>endmodule</a:t>
            </a:r>
            <a:endParaRPr lang="en-US" altLang="zh-CN" sz="1600" b="1" dirty="0">
              <a:solidFill>
                <a:srgbClr val="0000FF"/>
              </a:solidFill>
              <a:latin typeface="Courier New" pitchFamily="49" charset="0"/>
              <a:ea typeface="新宋体" pitchFamily="49" charset="-122"/>
              <a:cs typeface="Courier New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204864"/>
            <a:ext cx="3384376" cy="2655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504" y="4860764"/>
            <a:ext cx="1502551" cy="162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多位串行进位加法器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多位串行进位加法器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由一位全加器将进位串接构成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低位进位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为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为高位进位输出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677168"/>
              </p:ext>
            </p:extLst>
          </p:nvPr>
        </p:nvGraphicFramePr>
        <p:xfrm>
          <a:off x="0" y="3170460"/>
          <a:ext cx="9136063" cy="249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name="Visio" r:id="rId3" imgW="4896923" imgH="1335536" progId="Visio.Drawing.11">
                  <p:embed/>
                </p:oleObj>
              </mc:Choice>
              <mc:Fallback>
                <p:oleObj name="Visio" r:id="rId3" imgW="4896923" imgH="1335536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70460"/>
                        <a:ext cx="9136063" cy="249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 smtClean="0"/>
              <a:t>位加法器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3883745" cy="34402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479674"/>
            <a:ext cx="24860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5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位加减法器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用负数补码加法实现，减数当作负数求补码</a:t>
            </a:r>
          </a:p>
          <a:p>
            <a:r>
              <a:rPr lang="zh-CN" altLang="en-US" sz="2800" dirty="0"/>
              <a:t>共用加法器</a:t>
            </a:r>
          </a:p>
          <a:p>
            <a:r>
              <a:rPr lang="zh-CN" altLang="en-US" sz="2800" dirty="0"/>
              <a:t>用“异或”门控制求反，低位进位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为</a:t>
            </a:r>
            <a:r>
              <a:rPr lang="en-US" altLang="zh-CN" sz="2800" dirty="0"/>
              <a:t>1</a:t>
            </a:r>
            <a:endParaRPr lang="zh-CN" altLang="en-US" sz="2800" dirty="0"/>
          </a:p>
          <a:p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3622408"/>
            <a:ext cx="1538861" cy="18505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3573016"/>
            <a:ext cx="5102725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5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多位串行进位全减器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用负数补码加法实现，减数当作负数求补码</a:t>
            </a:r>
          </a:p>
          <a:p>
            <a:r>
              <a:rPr lang="zh-CN" altLang="en-US" sz="2800" dirty="0"/>
              <a:t>共用加法器</a:t>
            </a:r>
          </a:p>
          <a:p>
            <a:r>
              <a:rPr lang="zh-CN" altLang="en-US" sz="2800" dirty="0"/>
              <a:t>用“异或”门控制求反，低位进位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为</a:t>
            </a:r>
            <a:r>
              <a:rPr lang="en-US" altLang="zh-CN" sz="2800" dirty="0"/>
              <a:t>1</a:t>
            </a:r>
            <a:endParaRPr lang="zh-CN" altLang="en-US" sz="28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828058"/>
              </p:ext>
            </p:extLst>
          </p:nvPr>
        </p:nvGraphicFramePr>
        <p:xfrm>
          <a:off x="107950" y="2965152"/>
          <a:ext cx="8655050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Visio" r:id="rId3" imgW="6192707" imgH="1660818" progId="Visio.Drawing.11">
                  <p:embed/>
                </p:oleObj>
              </mc:Choice>
              <mc:Fallback>
                <p:oleObj name="Visio" r:id="rId3" imgW="6192707" imgH="1660818" progId="Visio.Drawing.11">
                  <p:embed/>
                  <p:pic>
                    <p:nvPicPr>
                      <p:cNvPr id="0" name="逻辑电路图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2965152"/>
                        <a:ext cx="8655050" cy="232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22447"/>
              </p:ext>
            </p:extLst>
          </p:nvPr>
        </p:nvGraphicFramePr>
        <p:xfrm>
          <a:off x="3981450" y="5256485"/>
          <a:ext cx="4700588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5" imgW="2324100" imgH="698500" progId="Equation.DSMT4">
                  <p:embed/>
                </p:oleObj>
              </mc:Choice>
              <mc:Fallback>
                <p:oleObj name="Equation" r:id="rId5" imgW="2324100" imgH="6985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5256485"/>
                        <a:ext cx="4700588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159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位加减法器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2960772"/>
            <a:ext cx="1539277" cy="16561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00200"/>
            <a:ext cx="4536504" cy="43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89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两个</a:t>
            </a:r>
            <a:r>
              <a:rPr lang="en-US" altLang="zh-CN" sz="2800" dirty="0"/>
              <a:t>4</a:t>
            </a:r>
            <a:r>
              <a:rPr lang="zh-CN" altLang="en-US" sz="2800" dirty="0"/>
              <a:t>位操作数</a:t>
            </a:r>
            <a:r>
              <a:rPr lang="en-US" altLang="zh-CN" sz="2800" dirty="0"/>
              <a:t>A(3:0)</a:t>
            </a:r>
            <a:r>
              <a:rPr lang="zh-CN" altLang="en-US" sz="2800" dirty="0"/>
              <a:t>，</a:t>
            </a:r>
            <a:r>
              <a:rPr lang="en-US" altLang="zh-CN" sz="2800" dirty="0"/>
              <a:t>B(3:0)</a:t>
            </a:r>
          </a:p>
          <a:p>
            <a:r>
              <a:rPr lang="en-US" altLang="zh-CN" sz="2800" dirty="0"/>
              <a:t>S(1:0)</a:t>
            </a:r>
            <a:r>
              <a:rPr lang="zh-CN" altLang="en-US" sz="2800" dirty="0"/>
              <a:t>是</a:t>
            </a:r>
            <a:r>
              <a:rPr lang="en-US" altLang="zh-CN" sz="2800" dirty="0"/>
              <a:t>ALU</a:t>
            </a:r>
            <a:r>
              <a:rPr lang="zh-CN" altLang="en-US" sz="2800" dirty="0"/>
              <a:t>的功能选择引脚，分别选择选择加、减、与、或操作</a:t>
            </a:r>
            <a:endParaRPr lang="en-US" altLang="zh-CN" sz="2800" dirty="0"/>
          </a:p>
          <a:p>
            <a:pPr lvl="1"/>
            <a:r>
              <a:rPr lang="en-US" altLang="zh-CN" sz="2400" dirty="0"/>
              <a:t>S(1:0) = 00</a:t>
            </a:r>
            <a:r>
              <a:rPr lang="zh-CN" altLang="en-US" sz="2400" dirty="0"/>
              <a:t>：</a:t>
            </a:r>
            <a:r>
              <a:rPr lang="en-US" altLang="zh-CN" sz="2400" dirty="0"/>
              <a:t>C = A + B</a:t>
            </a:r>
          </a:p>
          <a:p>
            <a:pPr lvl="1"/>
            <a:r>
              <a:rPr lang="en-US" altLang="zh-CN" sz="2400" dirty="0"/>
              <a:t>S(1:0) = 01</a:t>
            </a:r>
            <a:r>
              <a:rPr lang="zh-CN" altLang="en-US" sz="2400" dirty="0"/>
              <a:t>：</a:t>
            </a:r>
            <a:r>
              <a:rPr lang="en-US" altLang="zh-CN" sz="2400" dirty="0"/>
              <a:t>C = A - B</a:t>
            </a:r>
          </a:p>
          <a:p>
            <a:pPr lvl="1"/>
            <a:r>
              <a:rPr lang="en-US" altLang="zh-CN" sz="2400" dirty="0"/>
              <a:t>S(1:0) = 10</a:t>
            </a:r>
            <a:r>
              <a:rPr lang="zh-CN" altLang="en-US" sz="2400" dirty="0"/>
              <a:t>：</a:t>
            </a:r>
            <a:r>
              <a:rPr lang="en-US" altLang="zh-CN" sz="2400" dirty="0"/>
              <a:t>C = A &amp; B</a:t>
            </a:r>
          </a:p>
          <a:p>
            <a:pPr lvl="1"/>
            <a:r>
              <a:rPr lang="en-US" altLang="zh-CN" sz="2400" dirty="0"/>
              <a:t>S(1:0) = 11</a:t>
            </a:r>
            <a:r>
              <a:rPr lang="zh-CN" altLang="en-US" sz="2400" dirty="0"/>
              <a:t>：</a:t>
            </a:r>
            <a:r>
              <a:rPr lang="en-US" altLang="zh-CN" sz="2400" dirty="0"/>
              <a:t>C = A | B</a:t>
            </a:r>
          </a:p>
          <a:p>
            <a:r>
              <a:rPr lang="en-US" altLang="zh-CN" sz="2800" dirty="0"/>
              <a:t>ALU</a:t>
            </a:r>
            <a:r>
              <a:rPr lang="zh-CN" altLang="en-US" sz="2800" dirty="0"/>
              <a:t>计算得到进位</a:t>
            </a:r>
            <a:r>
              <a:rPr lang="en-US" altLang="zh-CN" sz="2800" dirty="0"/>
              <a:t>Co</a:t>
            </a:r>
            <a:r>
              <a:rPr lang="zh-CN" altLang="en-US" sz="2800" dirty="0"/>
              <a:t>和结果</a:t>
            </a:r>
            <a:r>
              <a:rPr lang="en-US" altLang="zh-CN" sz="2800" dirty="0"/>
              <a:t>C(3:0)</a:t>
            </a:r>
          </a:p>
          <a:p>
            <a:r>
              <a:rPr lang="zh-CN" altLang="en-US" sz="2800" dirty="0" smtClean="0"/>
              <a:t>需要用</a:t>
            </a:r>
            <a:r>
              <a:rPr lang="en-US" altLang="zh-CN" sz="2800" dirty="0" smtClean="0"/>
              <a:t>4</a:t>
            </a:r>
            <a:r>
              <a:rPr lang="zh-CN" altLang="en-US" sz="2800" dirty="0"/>
              <a:t>位</a:t>
            </a:r>
            <a:r>
              <a:rPr lang="en-US" altLang="zh-CN" sz="2800" dirty="0"/>
              <a:t>2</a:t>
            </a:r>
            <a:r>
              <a:rPr lang="zh-CN" altLang="en-US" sz="2800" dirty="0"/>
              <a:t>输入与门和</a:t>
            </a:r>
            <a:r>
              <a:rPr lang="en-US" altLang="zh-CN" sz="2800" dirty="0"/>
              <a:t>4</a:t>
            </a:r>
            <a:r>
              <a:rPr lang="zh-CN" altLang="en-US" sz="2800" dirty="0"/>
              <a:t>位</a:t>
            </a:r>
            <a:r>
              <a:rPr lang="en-US" altLang="zh-CN" sz="2800" dirty="0"/>
              <a:t>2</a:t>
            </a:r>
            <a:r>
              <a:rPr lang="zh-CN" altLang="en-US" sz="2800" dirty="0"/>
              <a:t>输入或门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875111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原理图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96752"/>
            <a:ext cx="6984199" cy="51632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24128" y="56612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导出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98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仿真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里设计测试用例，对</a:t>
            </a:r>
            <a:r>
              <a:rPr lang="en-US" altLang="zh-CN" dirty="0" smtClean="0"/>
              <a:t>4</a:t>
            </a:r>
            <a:r>
              <a:rPr lang="zh-CN" altLang="en-US" dirty="0" smtClean="0"/>
              <a:t>位</a:t>
            </a:r>
            <a:r>
              <a:rPr lang="en-US" altLang="zh-CN" dirty="0" smtClean="0"/>
              <a:t>ALU</a:t>
            </a:r>
            <a:r>
              <a:rPr lang="zh-CN" altLang="en-US" dirty="0" smtClean="0"/>
              <a:t>进行仿真，要求覆盖</a:t>
            </a:r>
            <a:r>
              <a:rPr lang="en-US" altLang="zh-CN" dirty="0" smtClean="0"/>
              <a:t>ALU</a:t>
            </a:r>
            <a:r>
              <a:rPr lang="zh-CN" altLang="en-US" dirty="0" smtClean="0"/>
              <a:t>的加、减、与、或</a:t>
            </a:r>
            <a:r>
              <a:rPr lang="en-US" altLang="zh-CN" dirty="0" smtClean="0"/>
              <a:t>4</a:t>
            </a:r>
            <a:r>
              <a:rPr lang="zh-CN" altLang="en-US" dirty="0" smtClean="0"/>
              <a:t>种操作</a:t>
            </a:r>
            <a:endParaRPr lang="en-US" altLang="zh-CN" dirty="0" smtClean="0"/>
          </a:p>
          <a:p>
            <a:r>
              <a:rPr lang="zh-CN" altLang="en-US" dirty="0" smtClean="0"/>
              <a:t>在实验报告里选择截取仿真波形，对典型波形进行解释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701389"/>
            <a:ext cx="3085133" cy="21617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80112" y="4005064"/>
            <a:ext cx="2952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测试用例参考写法，请自行补充完善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7902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 smtClean="0"/>
              <a:t>：设计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位</a:t>
            </a:r>
            <a:r>
              <a:rPr lang="en-US" altLang="zh-CN" sz="2800" dirty="0" smtClean="0"/>
              <a:t>ALU</a:t>
            </a:r>
            <a:r>
              <a:rPr lang="zh-CN" altLang="en-US" sz="2800" dirty="0" smtClean="0"/>
              <a:t>应用工程，在实验板上下载验证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406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输入输出定义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两个</a:t>
            </a:r>
            <a:r>
              <a:rPr lang="en-US" altLang="zh-CN" sz="2800" dirty="0"/>
              <a:t>4</a:t>
            </a:r>
            <a:r>
              <a:rPr lang="zh-CN" altLang="en-US" sz="2800" dirty="0"/>
              <a:t>位操作数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，用按钮</a:t>
            </a:r>
            <a:r>
              <a:rPr lang="en-US" altLang="zh-CN" sz="2800" dirty="0" smtClean="0"/>
              <a:t>BTNX4Y0（BTN[3]） </a:t>
            </a:r>
            <a:r>
              <a:rPr lang="zh-CN" altLang="en-US" sz="2800" dirty="0"/>
              <a:t>、</a:t>
            </a:r>
            <a:r>
              <a:rPr lang="en-US" altLang="zh-CN" sz="2800"/>
              <a:t> </a:t>
            </a:r>
            <a:r>
              <a:rPr lang="en-US" altLang="zh-CN" sz="2800" smtClean="0"/>
              <a:t>BTNX4Y1（BTN[2]）</a:t>
            </a:r>
            <a:r>
              <a:rPr lang="zh-CN" altLang="en-US" sz="2800" dirty="0" smtClean="0"/>
              <a:t>分别</a:t>
            </a:r>
            <a:r>
              <a:rPr lang="zh-CN" altLang="en-US" sz="2800" dirty="0"/>
              <a:t>加或减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，具体是加还是减操作由</a:t>
            </a:r>
            <a:r>
              <a:rPr lang="en-US" altLang="zh-CN" sz="2800" dirty="0" smtClean="0"/>
              <a:t>SW[1:0]</a:t>
            </a:r>
            <a:r>
              <a:rPr lang="zh-CN" altLang="en-US" sz="2800" dirty="0" smtClean="0"/>
              <a:t>控制</a:t>
            </a:r>
            <a:endParaRPr lang="en-US" altLang="zh-CN" sz="2800" dirty="0"/>
          </a:p>
          <a:p>
            <a:r>
              <a:rPr lang="en-US" altLang="zh-CN" sz="2800" dirty="0" smtClean="0"/>
              <a:t>SW[15:14</a:t>
            </a:r>
            <a:r>
              <a:rPr lang="en-US" altLang="zh-CN" sz="2800" dirty="0"/>
              <a:t>]</a:t>
            </a:r>
            <a:r>
              <a:rPr lang="zh-CN" altLang="en-US" sz="2800" dirty="0" smtClean="0"/>
              <a:t>是</a:t>
            </a:r>
            <a:r>
              <a:rPr lang="en-US" altLang="zh-CN" sz="2800" dirty="0"/>
              <a:t>4</a:t>
            </a:r>
            <a:r>
              <a:rPr lang="zh-CN" altLang="en-US" sz="2800" dirty="0"/>
              <a:t>位</a:t>
            </a:r>
            <a:r>
              <a:rPr lang="en-US" altLang="zh-CN" sz="2800" dirty="0"/>
              <a:t>ALU</a:t>
            </a:r>
            <a:r>
              <a:rPr lang="zh-CN" altLang="en-US" sz="2800" dirty="0"/>
              <a:t>的功能选择引脚，分别</a:t>
            </a:r>
            <a:r>
              <a:rPr lang="zh-CN" altLang="en-US" sz="2800" dirty="0" smtClean="0"/>
              <a:t>选择</a:t>
            </a:r>
            <a:r>
              <a:rPr lang="zh-CN" altLang="en-US" sz="2800" dirty="0"/>
              <a:t>加、减、与、或操作</a:t>
            </a:r>
            <a:endParaRPr lang="en-US" altLang="zh-CN" sz="2800" dirty="0"/>
          </a:p>
          <a:p>
            <a:pPr lvl="1"/>
            <a:r>
              <a:rPr lang="en-US" altLang="zh-CN" sz="2400" dirty="0" smtClean="0"/>
              <a:t>SW[15:14</a:t>
            </a:r>
            <a:r>
              <a:rPr lang="en-US" altLang="zh-CN" sz="2400" dirty="0"/>
              <a:t>]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00</a:t>
            </a:r>
            <a:r>
              <a:rPr lang="zh-CN" altLang="en-US" sz="2400" dirty="0"/>
              <a:t>：</a:t>
            </a:r>
            <a:r>
              <a:rPr lang="en-US" altLang="zh-CN" sz="2400" dirty="0"/>
              <a:t>C = A + B</a:t>
            </a:r>
          </a:p>
          <a:p>
            <a:pPr lvl="1"/>
            <a:r>
              <a:rPr lang="en-US" altLang="zh-CN" sz="2400" dirty="0" smtClean="0"/>
              <a:t>SW[15:14</a:t>
            </a:r>
            <a:r>
              <a:rPr lang="en-US" altLang="zh-CN" sz="2400" dirty="0"/>
              <a:t>]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01</a:t>
            </a:r>
            <a:r>
              <a:rPr lang="zh-CN" altLang="en-US" sz="2400" dirty="0"/>
              <a:t>：</a:t>
            </a:r>
            <a:r>
              <a:rPr lang="en-US" altLang="zh-CN" sz="2400" dirty="0"/>
              <a:t>C = A - B</a:t>
            </a:r>
          </a:p>
          <a:p>
            <a:pPr lvl="1"/>
            <a:r>
              <a:rPr lang="en-US" altLang="zh-CN" sz="2400" dirty="0" smtClean="0"/>
              <a:t>SW[15:14</a:t>
            </a:r>
            <a:r>
              <a:rPr lang="en-US" altLang="zh-CN" sz="2400" dirty="0"/>
              <a:t>]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10</a:t>
            </a:r>
            <a:r>
              <a:rPr lang="zh-CN" altLang="en-US" sz="2400" dirty="0"/>
              <a:t>：</a:t>
            </a:r>
            <a:r>
              <a:rPr lang="en-US" altLang="zh-CN" sz="2400" dirty="0"/>
              <a:t>C = A &amp; B</a:t>
            </a:r>
          </a:p>
          <a:p>
            <a:pPr lvl="1"/>
            <a:r>
              <a:rPr lang="en-US" altLang="zh-CN" sz="2400" dirty="0" smtClean="0"/>
              <a:t>SW[15:14</a:t>
            </a:r>
            <a:r>
              <a:rPr lang="en-US" altLang="zh-CN" sz="2400" dirty="0"/>
              <a:t>]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11</a:t>
            </a:r>
            <a:r>
              <a:rPr lang="zh-CN" altLang="en-US" sz="2400" dirty="0"/>
              <a:t>：</a:t>
            </a:r>
            <a:r>
              <a:rPr lang="en-US" altLang="zh-CN" sz="2400" dirty="0"/>
              <a:t>C = A | B</a:t>
            </a:r>
          </a:p>
          <a:p>
            <a:r>
              <a:rPr lang="en-US" altLang="zh-CN" sz="2800" dirty="0"/>
              <a:t>ALU</a:t>
            </a:r>
            <a:r>
              <a:rPr lang="zh-CN" altLang="en-US" sz="2800" dirty="0"/>
              <a:t>计算得到进位</a:t>
            </a:r>
            <a:r>
              <a:rPr lang="en-US" altLang="zh-CN" sz="2800" dirty="0"/>
              <a:t>Co</a:t>
            </a:r>
            <a:r>
              <a:rPr lang="zh-CN" altLang="en-US" sz="2800" dirty="0"/>
              <a:t>和结果</a:t>
            </a:r>
            <a:r>
              <a:rPr lang="en-US" altLang="zh-CN" sz="2800" dirty="0"/>
              <a:t>C</a:t>
            </a:r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位数码管，分别表示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、进位</a:t>
            </a:r>
            <a:r>
              <a:rPr lang="en-US" altLang="zh-CN" sz="2800" dirty="0"/>
              <a:t>Co</a:t>
            </a:r>
            <a:r>
              <a:rPr lang="zh-CN" altLang="en-US" sz="2800" dirty="0"/>
              <a:t>和结果</a:t>
            </a:r>
            <a:r>
              <a:rPr lang="en-US" altLang="zh-CN" sz="2800" dirty="0"/>
              <a:t>C</a:t>
            </a:r>
            <a:r>
              <a:rPr lang="zh-CN" altLang="en-US" sz="2800" dirty="0"/>
              <a:t>。显示顺序要严格对应。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92603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实验工程建立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新建工程</a:t>
            </a:r>
            <a:endParaRPr lang="en-US" altLang="zh-CN" dirty="0"/>
          </a:p>
          <a:p>
            <a:pPr lvl="1"/>
            <a:r>
              <a:rPr lang="zh-CN" altLang="en-US" dirty="0"/>
              <a:t>工程名称用</a:t>
            </a:r>
            <a:r>
              <a:rPr lang="en-US" altLang="zh-CN" dirty="0" err="1"/>
              <a:t>MyALU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/>
              <a:t>添加源文件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MyALU.v</a:t>
            </a:r>
            <a:r>
              <a:rPr lang="zh-CN" altLang="en-US" dirty="0" smtClean="0"/>
              <a:t>（从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里导出的）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DispNum.v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CreateNumber.v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clkdiv.v</a:t>
            </a:r>
            <a:endParaRPr lang="en-US" altLang="zh-CN" dirty="0" smtClean="0"/>
          </a:p>
          <a:p>
            <a:r>
              <a:rPr lang="zh-CN" altLang="en-US" dirty="0" smtClean="0"/>
              <a:t>新建</a:t>
            </a:r>
            <a:r>
              <a:rPr lang="zh-CN" altLang="en-US" dirty="0"/>
              <a:t>源文件</a:t>
            </a:r>
            <a:endParaRPr lang="en-US" altLang="zh-CN" dirty="0"/>
          </a:p>
          <a:p>
            <a:pPr lvl="1"/>
            <a:r>
              <a:rPr lang="zh-CN" altLang="en-US" dirty="0"/>
              <a:t>类型是</a:t>
            </a:r>
            <a:r>
              <a:rPr lang="en-US" altLang="zh-CN" dirty="0"/>
              <a:t>Verilog</a:t>
            </a:r>
            <a:r>
              <a:rPr lang="zh-CN" altLang="en-US" dirty="0"/>
              <a:t>，文件名</a:t>
            </a:r>
            <a:r>
              <a:rPr lang="en-US" altLang="zh-CN" dirty="0" err="1" smtClean="0"/>
              <a:t>Top.v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右键设为“</a:t>
            </a:r>
            <a:r>
              <a:rPr lang="en-US" altLang="zh-CN" dirty="0"/>
              <a:t>Set as </a:t>
            </a:r>
            <a:r>
              <a:rPr lang="en-US" altLang="zh-CN" dirty="0" smtClean="0"/>
              <a:t>Top</a:t>
            </a:r>
            <a:r>
              <a:rPr lang="zh-CN" altLang="en-US" dirty="0" smtClean="0"/>
              <a:t>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537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94" y="2449373"/>
            <a:ext cx="5659509" cy="441381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设计按键数据输入模块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/>
          <a:lstStyle/>
          <a:p>
            <a:r>
              <a:rPr lang="zh-CN" altLang="en-US" dirty="0"/>
              <a:t>使用行为描述设计</a:t>
            </a:r>
            <a:endParaRPr lang="en-US" altLang="zh-CN" dirty="0"/>
          </a:p>
          <a:p>
            <a:pPr lvl="1"/>
            <a:r>
              <a:rPr lang="zh-CN" altLang="en-US" dirty="0"/>
              <a:t>在实验</a:t>
            </a:r>
            <a:r>
              <a:rPr lang="en-US" altLang="zh-CN" dirty="0"/>
              <a:t>7</a:t>
            </a:r>
            <a:r>
              <a:rPr lang="zh-CN" altLang="en-US" dirty="0"/>
              <a:t>基础上，更新</a:t>
            </a:r>
            <a:r>
              <a:rPr lang="en-US" altLang="zh-CN" dirty="0" err="1"/>
              <a:t>CreateNumber</a:t>
            </a:r>
            <a:r>
              <a:rPr lang="zh-CN" altLang="en-US" dirty="0"/>
              <a:t>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599" y="5381734"/>
            <a:ext cx="3677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*</a:t>
            </a:r>
            <a:r>
              <a:rPr lang="zh-CN" altLang="en-US" sz="2000" b="1" dirty="0"/>
              <a:t>本实验只用到</a:t>
            </a:r>
            <a:r>
              <a:rPr lang="en-US" altLang="zh-CN" sz="2000" b="1" dirty="0"/>
              <a:t>num[3:0]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num[7:4]</a:t>
            </a:r>
            <a:r>
              <a:rPr lang="zh-CN" altLang="en-US" sz="2000" b="1" dirty="0"/>
              <a:t>作为操作数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，所以实际上只需要用到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个按键和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个开关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4067943" y="2449373"/>
            <a:ext cx="2952329" cy="566292"/>
          </a:xfrm>
          <a:prstGeom prst="borderCallout1">
            <a:avLst>
              <a:gd name="adj1" fmla="val 31847"/>
              <a:gd name="adj2" fmla="val -4578"/>
              <a:gd name="adj3" fmla="val 76407"/>
              <a:gd name="adj4" fmla="val -402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位按键输入改变本位数值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4067942" y="3077115"/>
            <a:ext cx="2952329" cy="566292"/>
          </a:xfrm>
          <a:prstGeom prst="borderCallout1">
            <a:avLst>
              <a:gd name="adj1" fmla="val 13009"/>
              <a:gd name="adj2" fmla="val -10256"/>
              <a:gd name="adj3" fmla="val 953"/>
              <a:gd name="adj4" fmla="val -432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位开关控制加</a:t>
            </a:r>
            <a:r>
              <a:rPr lang="en-US" altLang="zh-CN" b="1" dirty="0"/>
              <a:t>/</a:t>
            </a:r>
            <a:r>
              <a:rPr lang="zh-CN" altLang="en-US" b="1" dirty="0"/>
              <a:t>减操作</a:t>
            </a:r>
          </a:p>
        </p:txBody>
      </p:sp>
      <p:sp>
        <p:nvSpPr>
          <p:cNvPr id="8" name="线形标注 1 7"/>
          <p:cNvSpPr/>
          <p:nvPr/>
        </p:nvSpPr>
        <p:spPr>
          <a:xfrm>
            <a:off x="7341387" y="3861048"/>
            <a:ext cx="1695109" cy="1368152"/>
          </a:xfrm>
          <a:prstGeom prst="borderCallout1">
            <a:avLst>
              <a:gd name="adj1" fmla="val 13009"/>
              <a:gd name="adj2" fmla="val -10256"/>
              <a:gd name="adj3" fmla="val 44614"/>
              <a:gd name="adj4" fmla="val -3198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采用</a:t>
            </a:r>
            <a:r>
              <a:rPr lang="en-US" altLang="zh-CN" b="1" dirty="0"/>
              <a:t>AddSub4b</a:t>
            </a:r>
            <a:r>
              <a:rPr lang="zh-CN" altLang="en-US" b="1" dirty="0"/>
              <a:t>模块实现</a:t>
            </a:r>
            <a:r>
              <a:rPr lang="en-US" altLang="zh-CN" b="1" dirty="0"/>
              <a:t>4</a:t>
            </a:r>
            <a:r>
              <a:rPr lang="zh-CN" altLang="en-US" b="1" dirty="0"/>
              <a:t>位二进制数的自增</a:t>
            </a:r>
            <a:r>
              <a:rPr lang="en-US" altLang="zh-CN" b="1" dirty="0"/>
              <a:t>/</a:t>
            </a:r>
            <a:r>
              <a:rPr lang="zh-CN" altLang="en-US" b="1" dirty="0"/>
              <a:t>自减</a:t>
            </a:r>
          </a:p>
        </p:txBody>
      </p:sp>
      <p:sp>
        <p:nvSpPr>
          <p:cNvPr id="9" name="线形标注 1 8"/>
          <p:cNvSpPr/>
          <p:nvPr/>
        </p:nvSpPr>
        <p:spPr>
          <a:xfrm>
            <a:off x="7371184" y="2449373"/>
            <a:ext cx="1695109" cy="1368152"/>
          </a:xfrm>
          <a:prstGeom prst="borderCallout1">
            <a:avLst>
              <a:gd name="adj1" fmla="val 89581"/>
              <a:gd name="adj2" fmla="val -5969"/>
              <a:gd name="adj3" fmla="val 152169"/>
              <a:gd name="adj4" fmla="val -88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命名端口连接方式，可以随意修改端口次序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4492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顶层模块</a:t>
            </a:r>
            <a:r>
              <a:rPr lang="en-US" altLang="zh-CN" dirty="0"/>
              <a:t>Top</a:t>
            </a:r>
            <a:r>
              <a:rPr lang="zh-CN" altLang="en-US" dirty="0"/>
              <a:t>设计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12776"/>
            <a:ext cx="8229600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Top.V</a:t>
            </a:r>
            <a:r>
              <a:rPr lang="zh-CN" altLang="en-US" dirty="0"/>
              <a:t>中用行为描述进行设计</a:t>
            </a:r>
            <a:endParaRPr lang="en-US" altLang="zh-CN" dirty="0"/>
          </a:p>
          <a:p>
            <a:pPr lvl="1"/>
            <a:r>
              <a:rPr lang="zh-CN" altLang="en-US" dirty="0" smtClean="0"/>
              <a:t>实例化</a:t>
            </a:r>
            <a:r>
              <a:rPr lang="en-US" altLang="zh-CN" dirty="0" err="1"/>
              <a:t>clkdiv</a:t>
            </a:r>
            <a:r>
              <a:rPr lang="zh-CN" altLang="en-US" dirty="0" smtClean="0"/>
              <a:t>模块</a:t>
            </a:r>
            <a:endParaRPr lang="en-US" altLang="zh-CN" dirty="0"/>
          </a:p>
          <a:p>
            <a:pPr lvl="1"/>
            <a:r>
              <a:rPr lang="zh-CN" altLang="en-US" dirty="0" smtClean="0"/>
              <a:t>为</a:t>
            </a:r>
            <a:r>
              <a:rPr lang="en-US" altLang="zh-CN" dirty="0" err="1" smtClean="0"/>
              <a:t>DispNum</a:t>
            </a:r>
            <a:r>
              <a:rPr lang="zh-CN" altLang="en-US" dirty="0" smtClean="0"/>
              <a:t>模块提供</a:t>
            </a:r>
            <a:r>
              <a:rPr lang="en-US" altLang="zh-CN" dirty="0" smtClean="0"/>
              <a:t>scan</a:t>
            </a:r>
            <a:r>
              <a:rPr lang="zh-CN" altLang="en-US" dirty="0" smtClean="0"/>
              <a:t>信号（</a:t>
            </a:r>
            <a:r>
              <a:rPr lang="en-US" altLang="zh-CN" dirty="0" err="1" smtClean="0"/>
              <a:t>clk_div</a:t>
            </a:r>
            <a:r>
              <a:rPr lang="en-US" altLang="zh-CN" dirty="0" smtClean="0"/>
              <a:t>[1:0]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num</a:t>
            </a:r>
            <a:r>
              <a:rPr lang="en-US" altLang="zh-CN" dirty="0"/>
              <a:t>[3:0]</a:t>
            </a:r>
            <a:r>
              <a:rPr lang="zh-CN" altLang="en-US" dirty="0"/>
              <a:t>表示</a:t>
            </a:r>
            <a:r>
              <a:rPr lang="en-US" altLang="zh-CN" dirty="0"/>
              <a:t>A</a:t>
            </a:r>
            <a:r>
              <a:rPr lang="zh-CN" altLang="en-US" dirty="0"/>
              <a:t>，用</a:t>
            </a:r>
            <a:r>
              <a:rPr lang="en-US" altLang="zh-CN" dirty="0" err="1"/>
              <a:t>num</a:t>
            </a:r>
            <a:r>
              <a:rPr lang="en-US" altLang="zh-CN" dirty="0"/>
              <a:t>[7:4]</a:t>
            </a:r>
            <a:r>
              <a:rPr lang="zh-CN" altLang="en-US" dirty="0"/>
              <a:t>表示</a:t>
            </a:r>
            <a:r>
              <a:rPr lang="en-US" altLang="zh-CN" dirty="0"/>
              <a:t>B</a:t>
            </a:r>
          </a:p>
          <a:p>
            <a:pPr lvl="1"/>
            <a:r>
              <a:rPr lang="zh-CN" altLang="en-US" dirty="0"/>
              <a:t>实例化</a:t>
            </a:r>
            <a:r>
              <a:rPr lang="en-US" altLang="zh-CN" dirty="0" err="1"/>
              <a:t>CreateNumber</a:t>
            </a:r>
            <a:r>
              <a:rPr lang="zh-CN" altLang="en-US" dirty="0"/>
              <a:t>模块，</a:t>
            </a:r>
            <a:r>
              <a:rPr lang="zh-CN" altLang="en-US" dirty="0" smtClean="0"/>
              <a:t>用按键</a:t>
            </a:r>
            <a:r>
              <a:rPr lang="en-US" altLang="zh-CN" dirty="0" smtClean="0">
                <a:solidFill>
                  <a:srgbClr val="FF0000"/>
                </a:solidFill>
              </a:rPr>
              <a:t>BTN[3]</a:t>
            </a:r>
            <a:r>
              <a:rPr lang="zh-CN" altLang="en-US" dirty="0" smtClean="0"/>
              <a:t>操作 </a:t>
            </a:r>
            <a:r>
              <a:rPr lang="en-US" altLang="zh-CN" dirty="0" smtClean="0"/>
              <a:t>A</a:t>
            </a:r>
            <a:r>
              <a:rPr lang="zh-CN" altLang="en-US" dirty="0" smtClean="0"/>
              <a:t>自</a:t>
            </a:r>
            <a:r>
              <a:rPr lang="zh-CN" altLang="en-US" dirty="0"/>
              <a:t>增或自</a:t>
            </a:r>
            <a:r>
              <a:rPr lang="zh-CN" altLang="en-US" dirty="0" smtClean="0"/>
              <a:t>减，增减由</a:t>
            </a:r>
            <a:r>
              <a:rPr lang="en-US" altLang="zh-CN" dirty="0" smtClean="0">
                <a:solidFill>
                  <a:srgbClr val="FF0000"/>
                </a:solidFill>
              </a:rPr>
              <a:t>SW[1]</a:t>
            </a:r>
            <a:r>
              <a:rPr lang="zh-CN" altLang="en-US" dirty="0" smtClean="0"/>
              <a:t>控制；用</a:t>
            </a:r>
            <a:r>
              <a:rPr lang="zh-CN" altLang="en-US" dirty="0"/>
              <a:t>按键</a:t>
            </a:r>
            <a:r>
              <a:rPr lang="en-US" altLang="zh-CN" dirty="0" smtClean="0">
                <a:solidFill>
                  <a:srgbClr val="FF0000"/>
                </a:solidFill>
              </a:rPr>
              <a:t>BTN[2]</a:t>
            </a:r>
            <a:r>
              <a:rPr lang="zh-CN" altLang="en-US" dirty="0" smtClean="0"/>
              <a:t>操作</a:t>
            </a:r>
            <a:r>
              <a:rPr lang="en-US" altLang="zh-CN" dirty="0" smtClean="0"/>
              <a:t>B</a:t>
            </a:r>
            <a:r>
              <a:rPr lang="zh-CN" altLang="en-US" dirty="0" smtClean="0"/>
              <a:t>自</a:t>
            </a:r>
            <a:r>
              <a:rPr lang="zh-CN" altLang="en-US" dirty="0"/>
              <a:t>增或自</a:t>
            </a:r>
            <a:r>
              <a:rPr lang="zh-CN" altLang="en-US" dirty="0" smtClean="0"/>
              <a:t>减</a:t>
            </a:r>
            <a:r>
              <a:rPr lang="zh-CN" altLang="en-US" dirty="0"/>
              <a:t>，增减由</a:t>
            </a:r>
            <a:r>
              <a:rPr lang="en-US" altLang="zh-CN" dirty="0" smtClean="0">
                <a:solidFill>
                  <a:srgbClr val="FF0000"/>
                </a:solidFill>
              </a:rPr>
              <a:t>SW[0]</a:t>
            </a:r>
            <a:r>
              <a:rPr lang="zh-CN" altLang="en-US" dirty="0"/>
              <a:t>控制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实例化</a:t>
            </a:r>
            <a:r>
              <a:rPr lang="en-US" altLang="zh-CN" dirty="0" err="1"/>
              <a:t>DispNum</a:t>
            </a:r>
            <a:r>
              <a:rPr lang="zh-CN" altLang="en-US" dirty="0"/>
              <a:t>模块，显示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C0</a:t>
            </a:r>
            <a:r>
              <a:rPr lang="zh-CN" altLang="en-US" dirty="0"/>
              <a:t>、</a:t>
            </a:r>
            <a:r>
              <a:rPr lang="en-US" altLang="zh-CN" dirty="0" smtClean="0"/>
              <a:t>C</a:t>
            </a:r>
          </a:p>
          <a:p>
            <a:pPr lvl="1"/>
            <a:r>
              <a:rPr lang="zh-CN" altLang="en-US" dirty="0" smtClean="0"/>
              <a:t>实例化</a:t>
            </a:r>
            <a:r>
              <a:rPr lang="en-US" altLang="zh-CN" dirty="0" err="1" smtClean="0"/>
              <a:t>MyALU</a:t>
            </a:r>
            <a:r>
              <a:rPr lang="zh-CN" altLang="en-US" dirty="0" smtClean="0"/>
              <a:t>模块，参见</a:t>
            </a:r>
            <a:r>
              <a:rPr lang="en-US" altLang="zh-CN" dirty="0" smtClean="0"/>
              <a:t>ALU</a:t>
            </a:r>
            <a:r>
              <a:rPr lang="zh-CN" altLang="en-US" dirty="0" smtClean="0"/>
              <a:t>输入输出定义，根据</a:t>
            </a:r>
            <a:r>
              <a:rPr lang="en-US" altLang="zh-CN" dirty="0" smtClean="0"/>
              <a:t>SW[15:14]</a:t>
            </a:r>
            <a:r>
              <a:rPr lang="zh-CN" altLang="en-US" dirty="0" smtClean="0"/>
              <a:t>进行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操作数的计算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027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顶层模块</a:t>
            </a:r>
            <a:r>
              <a:rPr lang="en-US" altLang="zh-CN" dirty="0"/>
              <a:t>Top</a:t>
            </a:r>
            <a:r>
              <a:rPr lang="zh-CN" altLang="en-US" dirty="0"/>
              <a:t>设计（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179512" y="1340768"/>
            <a:ext cx="862270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module top</a:t>
            </a:r>
            <a:r>
              <a:rPr lang="en-US" altLang="zh-CN" sz="2000" dirty="0" smtClean="0"/>
              <a:t>(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smtClean="0"/>
              <a:t>input wire </a:t>
            </a:r>
            <a:r>
              <a:rPr lang="en-US" altLang="zh-CN" sz="2000" dirty="0" err="1" smtClean="0"/>
              <a:t>clk</a:t>
            </a:r>
            <a:r>
              <a:rPr lang="en-US" altLang="zh-CN" sz="2000" dirty="0" smtClean="0"/>
              <a:t>,</a:t>
            </a:r>
            <a:endParaRPr lang="en-US" altLang="zh-CN" sz="2000" dirty="0"/>
          </a:p>
          <a:p>
            <a:r>
              <a:rPr lang="en-US" altLang="zh-CN" sz="2000" dirty="0"/>
              <a:t>	input wire [15:0] SW,</a:t>
            </a:r>
          </a:p>
          <a:p>
            <a:r>
              <a:rPr lang="en-US" altLang="zh-CN" sz="2000" dirty="0"/>
              <a:t>	input wire [3:0] BTN,</a:t>
            </a:r>
          </a:p>
          <a:p>
            <a:r>
              <a:rPr lang="en-US" altLang="zh-CN" sz="2000" dirty="0"/>
              <a:t>	output wire [3:0] AN,</a:t>
            </a:r>
          </a:p>
          <a:p>
            <a:r>
              <a:rPr lang="en-US" altLang="zh-CN" sz="2000" dirty="0"/>
              <a:t>	output wire [7:0] SEGMENT,</a:t>
            </a:r>
          </a:p>
          <a:p>
            <a:r>
              <a:rPr lang="en-US" altLang="zh-CN" sz="2000" dirty="0"/>
              <a:t>	output wire BTNX4 </a:t>
            </a:r>
            <a:endParaRPr lang="en-US" altLang="zh-CN" sz="2000" dirty="0" smtClean="0"/>
          </a:p>
          <a:p>
            <a:r>
              <a:rPr lang="en-US" altLang="zh-CN" sz="2000" dirty="0" smtClean="0"/>
              <a:t>); </a:t>
            </a:r>
            <a:endParaRPr lang="en-US" altLang="zh-CN" sz="2000" dirty="0"/>
          </a:p>
          <a:p>
            <a:r>
              <a:rPr lang="en-US" altLang="zh-CN" sz="2000" dirty="0"/>
              <a:t>	 </a:t>
            </a:r>
          </a:p>
          <a:p>
            <a:r>
              <a:rPr lang="en-US" altLang="zh-CN" sz="2000" dirty="0"/>
              <a:t>	wire [15:0] 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	wire [1:0] </a:t>
            </a:r>
            <a:r>
              <a:rPr lang="en-US" altLang="zh-CN" sz="2000" dirty="0" err="1"/>
              <a:t>btn_out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	wire [3:0] C;</a:t>
            </a:r>
          </a:p>
          <a:p>
            <a:r>
              <a:rPr lang="en-US" altLang="zh-CN" sz="2000" dirty="0"/>
              <a:t>	wire Co;</a:t>
            </a:r>
          </a:p>
          <a:p>
            <a:r>
              <a:rPr lang="en-US" altLang="zh-CN" sz="2000" dirty="0"/>
              <a:t>	wire [31:0] </a:t>
            </a:r>
            <a:r>
              <a:rPr lang="en-US" altLang="zh-CN" sz="2000" dirty="0" err="1"/>
              <a:t>clk_div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	wire [15:0] </a:t>
            </a:r>
            <a:r>
              <a:rPr lang="en-US" altLang="zh-CN" sz="2000" dirty="0" err="1"/>
              <a:t>disp_hexs</a:t>
            </a:r>
            <a:r>
              <a:rPr lang="en-US" altLang="zh-CN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12390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顶层模块</a:t>
            </a:r>
            <a:r>
              <a:rPr lang="en-US" altLang="zh-CN" dirty="0"/>
              <a:t>Top</a:t>
            </a:r>
            <a:r>
              <a:rPr lang="zh-CN" altLang="en-US" dirty="0"/>
              <a:t>设计（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1225689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/>
              <a:t>	assign </a:t>
            </a:r>
            <a:r>
              <a:rPr lang="en-US" altLang="zh-CN" sz="2200" dirty="0" err="1"/>
              <a:t>disp_hexs</a:t>
            </a:r>
            <a:r>
              <a:rPr lang="en-US" altLang="zh-CN" sz="2200" dirty="0"/>
              <a:t>[15:12] =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[3:0];	//A</a:t>
            </a:r>
          </a:p>
          <a:p>
            <a:r>
              <a:rPr lang="en-US" altLang="zh-CN" sz="2200" dirty="0"/>
              <a:t>	assign </a:t>
            </a:r>
            <a:r>
              <a:rPr lang="en-US" altLang="zh-CN" sz="2200" dirty="0" err="1"/>
              <a:t>disp_hexs</a:t>
            </a:r>
            <a:r>
              <a:rPr lang="en-US" altLang="zh-CN" sz="2200" dirty="0"/>
              <a:t>[11:8] =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[7:4];	//B</a:t>
            </a:r>
          </a:p>
          <a:p>
            <a:r>
              <a:rPr lang="en-US" altLang="zh-CN" sz="2200" dirty="0"/>
              <a:t>	assign </a:t>
            </a:r>
            <a:r>
              <a:rPr lang="en-US" altLang="zh-CN" sz="2200" dirty="0" err="1"/>
              <a:t>disp_hexs</a:t>
            </a:r>
            <a:r>
              <a:rPr lang="en-US" altLang="zh-CN" sz="2200" dirty="0"/>
              <a:t>[7:4] = {3'b000, Co};</a:t>
            </a:r>
          </a:p>
          <a:p>
            <a:r>
              <a:rPr lang="en-US" altLang="zh-CN" sz="2200" dirty="0"/>
              <a:t>	assign </a:t>
            </a:r>
            <a:r>
              <a:rPr lang="en-US" altLang="zh-CN" sz="2200" dirty="0" err="1"/>
              <a:t>disp_hexs</a:t>
            </a:r>
            <a:r>
              <a:rPr lang="en-US" altLang="zh-CN" sz="2200" dirty="0"/>
              <a:t>[3:0] = C[3:0];</a:t>
            </a:r>
          </a:p>
          <a:p>
            <a:endParaRPr lang="en-US" altLang="zh-CN" sz="2200" dirty="0"/>
          </a:p>
          <a:p>
            <a:r>
              <a:rPr lang="en-US" altLang="zh-CN" sz="2200" dirty="0"/>
              <a:t>	</a:t>
            </a:r>
            <a:r>
              <a:rPr lang="en-US" altLang="zh-CN" sz="2200" dirty="0" err="1"/>
              <a:t>clkdiv</a:t>
            </a:r>
            <a:r>
              <a:rPr lang="en-US" altLang="zh-CN" sz="2200" dirty="0"/>
              <a:t> c1(.</a:t>
            </a:r>
            <a:r>
              <a:rPr lang="en-US" altLang="zh-CN" sz="2200" dirty="0" err="1"/>
              <a:t>clk</a:t>
            </a:r>
            <a:r>
              <a:rPr lang="en-US" altLang="zh-CN" sz="2200" dirty="0"/>
              <a:t>(</a:t>
            </a:r>
            <a:r>
              <a:rPr lang="en-US" altLang="zh-CN" sz="2200" dirty="0" err="1"/>
              <a:t>clk</a:t>
            </a:r>
            <a:r>
              <a:rPr lang="en-US" altLang="zh-CN" sz="2200" dirty="0"/>
              <a:t>), .</a:t>
            </a:r>
            <a:r>
              <a:rPr lang="en-US" altLang="zh-CN" sz="2200" dirty="0" err="1"/>
              <a:t>rst</a:t>
            </a:r>
            <a:r>
              <a:rPr lang="en-US" altLang="zh-CN" sz="2200" dirty="0"/>
              <a:t>(1'b0), .</a:t>
            </a:r>
            <a:r>
              <a:rPr lang="en-US" altLang="zh-CN" sz="2200" dirty="0" err="1"/>
              <a:t>clk_div</a:t>
            </a:r>
            <a:r>
              <a:rPr lang="en-US" altLang="zh-CN" sz="2200" dirty="0"/>
              <a:t>(</a:t>
            </a:r>
            <a:r>
              <a:rPr lang="en-US" altLang="zh-CN" sz="2200" dirty="0" err="1"/>
              <a:t>clk_div</a:t>
            </a:r>
            <a:r>
              <a:rPr lang="en-US" altLang="zh-CN" sz="2200" dirty="0"/>
              <a:t>));</a:t>
            </a:r>
          </a:p>
          <a:p>
            <a:r>
              <a:rPr lang="en-US" altLang="zh-CN" sz="2200" dirty="0"/>
              <a:t>	</a:t>
            </a:r>
            <a:r>
              <a:rPr lang="en-US" altLang="zh-CN" sz="2200" dirty="0" err="1"/>
              <a:t>CreateNumber</a:t>
            </a:r>
            <a:r>
              <a:rPr lang="en-US" altLang="zh-CN" sz="2200" dirty="0"/>
              <a:t> m3(…);	//…</a:t>
            </a:r>
            <a:r>
              <a:rPr lang="zh-CN" altLang="en-US" sz="2200" dirty="0"/>
              <a:t>部分请自行补充</a:t>
            </a:r>
            <a:r>
              <a:rPr lang="zh-CN" altLang="en-US" sz="2200" dirty="0" smtClean="0"/>
              <a:t>完整，注意按键与开关引脚顺序要求</a:t>
            </a:r>
            <a:endParaRPr lang="en-US" altLang="zh-CN" sz="2200" dirty="0"/>
          </a:p>
          <a:p>
            <a:r>
              <a:rPr lang="en-US" altLang="zh-CN" sz="2200" dirty="0"/>
              <a:t>	</a:t>
            </a:r>
            <a:r>
              <a:rPr lang="en-US" altLang="zh-CN" sz="2200" dirty="0" err="1" smtClean="0"/>
              <a:t>MyALU</a:t>
            </a:r>
            <a:r>
              <a:rPr lang="en-US" altLang="zh-CN" sz="2200" dirty="0" smtClean="0"/>
              <a:t> </a:t>
            </a:r>
            <a:r>
              <a:rPr lang="en-US" altLang="zh-CN" sz="2200" dirty="0"/>
              <a:t>m5(…); 		//…</a:t>
            </a:r>
            <a:r>
              <a:rPr lang="zh-CN" altLang="en-US" sz="2200" dirty="0"/>
              <a:t>部分请自行补充</a:t>
            </a:r>
            <a:r>
              <a:rPr lang="zh-CN" altLang="en-US" sz="2200" dirty="0" smtClean="0"/>
              <a:t>完整，注意开关引脚顺序要求</a:t>
            </a:r>
            <a:endParaRPr lang="en-US" altLang="zh-CN" sz="2200" dirty="0"/>
          </a:p>
          <a:p>
            <a:r>
              <a:rPr lang="en-US" altLang="zh-CN" sz="2400" dirty="0" smtClean="0"/>
              <a:t>	</a:t>
            </a:r>
            <a:r>
              <a:rPr lang="en-US" altLang="zh-CN" sz="2400" dirty="0" err="1"/>
              <a:t>DispNum</a:t>
            </a:r>
            <a:r>
              <a:rPr lang="en-US" altLang="zh-CN" sz="2400" dirty="0"/>
              <a:t> d0(.</a:t>
            </a:r>
            <a:r>
              <a:rPr lang="en-US" altLang="zh-CN" sz="2400" dirty="0" smtClean="0">
                <a:solidFill>
                  <a:srgbClr val="FF0000"/>
                </a:solidFill>
              </a:rPr>
              <a:t>scan(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clk_div</a:t>
            </a:r>
            <a:r>
              <a:rPr lang="en-US" altLang="zh-CN" sz="2400" dirty="0" smtClean="0">
                <a:solidFill>
                  <a:srgbClr val="FF0000"/>
                </a:solidFill>
              </a:rPr>
              <a:t>[1:0]), </a:t>
            </a:r>
            <a:r>
              <a:rPr lang="en-US" altLang="zh-CN" sz="2400" dirty="0" smtClean="0"/>
              <a:t>.</a:t>
            </a:r>
            <a:r>
              <a:rPr lang="en-US" altLang="zh-CN" sz="2400" dirty="0"/>
              <a:t>HEXS(</a:t>
            </a:r>
            <a:r>
              <a:rPr lang="en-US" altLang="zh-CN" sz="2400" dirty="0" err="1"/>
              <a:t>disp_hexs</a:t>
            </a:r>
            <a:r>
              <a:rPr lang="en-US" altLang="zh-CN" sz="2400" dirty="0"/>
              <a:t>), </a:t>
            </a:r>
          </a:p>
          <a:p>
            <a:r>
              <a:rPr lang="en-US" altLang="zh-CN" sz="2400" dirty="0"/>
              <a:t>	 </a:t>
            </a:r>
            <a:r>
              <a:rPr lang="en-US" altLang="zh-CN" sz="2400" dirty="0" smtClean="0"/>
              <a:t>.</a:t>
            </a:r>
            <a:r>
              <a:rPr lang="en-US" altLang="zh-CN" sz="2400" dirty="0"/>
              <a:t>LES(4'b0), </a:t>
            </a:r>
            <a:r>
              <a:rPr lang="en-US" altLang="zh-CN" sz="2400" dirty="0" smtClean="0"/>
              <a:t>.</a:t>
            </a:r>
            <a:r>
              <a:rPr lang="en-US" altLang="zh-CN" sz="2400" dirty="0"/>
              <a:t>point(4'b0), </a:t>
            </a:r>
            <a:r>
              <a:rPr lang="en-US" altLang="zh-CN" sz="2400" dirty="0" smtClean="0"/>
              <a:t>.</a:t>
            </a:r>
            <a:r>
              <a:rPr lang="en-US" altLang="zh-CN" sz="2400" dirty="0"/>
              <a:t>AN(AN), </a:t>
            </a:r>
            <a:r>
              <a:rPr lang="en-US" altLang="zh-CN" sz="2400" dirty="0" smtClean="0"/>
              <a:t>.</a:t>
            </a:r>
            <a:r>
              <a:rPr lang="en-US" altLang="zh-CN" sz="2400" dirty="0"/>
              <a:t>SEGMENT(SEGMENT));</a:t>
            </a:r>
            <a:r>
              <a:rPr lang="en-US" altLang="zh-CN" sz="2200" dirty="0"/>
              <a:t>	</a:t>
            </a:r>
            <a:endParaRPr lang="en-US" altLang="zh-CN" sz="2200" dirty="0" smtClean="0"/>
          </a:p>
          <a:p>
            <a:r>
              <a:rPr lang="en-US" altLang="zh-CN" sz="2200" dirty="0"/>
              <a:t>	</a:t>
            </a:r>
            <a:r>
              <a:rPr lang="en-US" altLang="zh-CN" sz="2200" dirty="0" smtClean="0"/>
              <a:t>assign </a:t>
            </a:r>
            <a:r>
              <a:rPr lang="en-US" altLang="zh-CN" sz="2200" dirty="0"/>
              <a:t>BTNX4 = 1'b0;	//Enable button inputs</a:t>
            </a:r>
          </a:p>
          <a:p>
            <a:r>
              <a:rPr lang="en-US" altLang="zh-CN" sz="2200" dirty="0" err="1"/>
              <a:t>endmodule</a:t>
            </a:r>
            <a:endParaRPr lang="en-US" altLang="zh-CN" sz="2200" dirty="0"/>
          </a:p>
        </p:txBody>
      </p:sp>
      <p:sp>
        <p:nvSpPr>
          <p:cNvPr id="5" name="线形标注 1 4"/>
          <p:cNvSpPr/>
          <p:nvPr/>
        </p:nvSpPr>
        <p:spPr>
          <a:xfrm>
            <a:off x="6228184" y="2132856"/>
            <a:ext cx="2736305" cy="566292"/>
          </a:xfrm>
          <a:prstGeom prst="borderCallout1">
            <a:avLst>
              <a:gd name="adj1" fmla="val 13009"/>
              <a:gd name="adj2" fmla="val -4472"/>
              <a:gd name="adj3" fmla="val -570"/>
              <a:gd name="adj4" fmla="val -150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大括号内的信号组成总线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5868143" y="498088"/>
            <a:ext cx="2736305" cy="566292"/>
          </a:xfrm>
          <a:prstGeom prst="borderCallout1">
            <a:avLst>
              <a:gd name="adj1" fmla="val 13009"/>
              <a:gd name="adj2" fmla="val -4472"/>
              <a:gd name="adj3" fmla="val 144861"/>
              <a:gd name="adj4" fmla="val -83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/>
              <a:t>disp_hexs</a:t>
            </a:r>
            <a:r>
              <a:rPr lang="zh-CN" altLang="en-US" b="1" dirty="0" smtClean="0"/>
              <a:t>是</a:t>
            </a:r>
            <a:r>
              <a:rPr lang="en-US" altLang="zh-CN" b="1" dirty="0" err="1" smtClean="0"/>
              <a:t>DispNum</a:t>
            </a:r>
            <a:r>
              <a:rPr lang="zh-CN" altLang="en-US" b="1" dirty="0" smtClean="0"/>
              <a:t>模块显示的</a:t>
            </a:r>
            <a:r>
              <a:rPr lang="en-US" altLang="zh-CN" b="1" dirty="0" smtClean="0"/>
              <a:t>16</a:t>
            </a:r>
            <a:r>
              <a:rPr lang="zh-CN" altLang="en-US" b="1" dirty="0" smtClean="0"/>
              <a:t>位二进制数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70959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顶层模块</a:t>
            </a:r>
            <a:r>
              <a:rPr lang="en-US" altLang="zh-CN" dirty="0"/>
              <a:t>Top</a:t>
            </a:r>
            <a:r>
              <a:rPr lang="zh-CN" altLang="en-US" dirty="0"/>
              <a:t>设计 </a:t>
            </a:r>
            <a:r>
              <a:rPr lang="en-US" altLang="zh-CN" dirty="0" smtClean="0"/>
              <a:t>(4)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156" y="1268760"/>
            <a:ext cx="8568952" cy="532859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对</a:t>
            </a:r>
            <a:r>
              <a:rPr lang="en-US" altLang="zh-CN" dirty="0" err="1" smtClean="0"/>
              <a:t>Top.V</a:t>
            </a:r>
            <a:r>
              <a:rPr lang="zh-CN" altLang="en-US" dirty="0" smtClean="0"/>
              <a:t>进行行为仿真</a:t>
            </a:r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err="1"/>
              <a:t>Vivado</a:t>
            </a:r>
            <a:r>
              <a:rPr lang="zh-CN" altLang="en-US" dirty="0"/>
              <a:t>中建立</a:t>
            </a:r>
            <a:r>
              <a:rPr lang="en-US" altLang="zh-CN" dirty="0"/>
              <a:t>top</a:t>
            </a:r>
            <a:r>
              <a:rPr lang="zh-CN" altLang="en-US" dirty="0"/>
              <a:t>模块的仿真测试代码（参见</a:t>
            </a:r>
            <a:r>
              <a:rPr lang="zh-CN" altLang="en-US" dirty="0" smtClean="0"/>
              <a:t>实验</a:t>
            </a:r>
            <a:r>
              <a:rPr lang="en-US" altLang="zh-CN" dirty="0" smtClean="0"/>
              <a:t>7</a:t>
            </a:r>
            <a:r>
              <a:rPr lang="zh-CN" altLang="en-US" dirty="0" smtClean="0"/>
              <a:t>的</a:t>
            </a:r>
            <a:r>
              <a:rPr lang="zh-CN" altLang="en-US" dirty="0"/>
              <a:t>仿真代码），进行行为</a:t>
            </a:r>
            <a:r>
              <a:rPr lang="zh-CN" altLang="en-US" dirty="0" smtClean="0"/>
              <a:t>仿真，要求：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仿真按动</a:t>
            </a:r>
            <a:r>
              <a:rPr lang="en-US" altLang="zh-CN" dirty="0" smtClean="0"/>
              <a:t>BTN[3]</a:t>
            </a:r>
            <a:r>
              <a:rPr lang="zh-CN" altLang="en-US" dirty="0" smtClean="0"/>
              <a:t>让操作数</a:t>
            </a:r>
            <a:r>
              <a:rPr lang="en-US" altLang="zh-CN" dirty="0" smtClean="0"/>
              <a:t>A</a:t>
            </a:r>
            <a:r>
              <a:rPr lang="zh-CN" altLang="en-US" dirty="0" smtClean="0"/>
              <a:t>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，按动</a:t>
            </a:r>
            <a:r>
              <a:rPr lang="en-US" altLang="zh-CN" dirty="0" smtClean="0"/>
              <a:t>BTN[2]</a:t>
            </a:r>
            <a:r>
              <a:rPr lang="zh-CN" altLang="en-US" dirty="0" smtClean="0"/>
              <a:t>让操作数</a:t>
            </a:r>
            <a:r>
              <a:rPr lang="en-US" altLang="zh-CN" dirty="0" smtClean="0"/>
              <a:t>B</a:t>
            </a:r>
            <a:r>
              <a:rPr lang="zh-CN" altLang="en-US" dirty="0" smtClean="0"/>
              <a:t>减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，由对应的</a:t>
            </a:r>
            <a:r>
              <a:rPr lang="en-US" altLang="zh-CN" dirty="0" smtClean="0"/>
              <a:t>SW[1:0]</a:t>
            </a:r>
            <a:r>
              <a:rPr lang="zh-CN" altLang="en-US" dirty="0" smtClean="0"/>
              <a:t>来控制加</a:t>
            </a:r>
            <a:r>
              <a:rPr lang="en-US" altLang="zh-CN" dirty="0" smtClean="0"/>
              <a:t>/</a:t>
            </a:r>
            <a:r>
              <a:rPr lang="zh-CN" altLang="en-US" dirty="0" smtClean="0"/>
              <a:t>减操作；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拨动</a:t>
            </a:r>
            <a:r>
              <a:rPr lang="en-US" altLang="zh-CN" dirty="0" smtClean="0"/>
              <a:t>SW[15:14]</a:t>
            </a:r>
            <a:r>
              <a:rPr lang="zh-CN" altLang="en-US" dirty="0" smtClean="0"/>
              <a:t>，验证</a:t>
            </a:r>
            <a:r>
              <a:rPr lang="en-US" altLang="zh-CN" dirty="0" smtClean="0"/>
              <a:t>ALU</a:t>
            </a:r>
            <a:r>
              <a:rPr lang="zh-CN" altLang="en-US" dirty="0" smtClean="0"/>
              <a:t>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个操作能否控制数码管得到正确的显示结果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实验报告中提供仿真代码、仿真波形，并对波形进行解释，特别是说明</a:t>
            </a:r>
            <a:r>
              <a:rPr lang="zh-CN" altLang="en-US" dirty="0" smtClean="0"/>
              <a:t>按钮与开关操作、</a:t>
            </a:r>
            <a:r>
              <a:rPr lang="en-US" altLang="zh-CN" dirty="0"/>
              <a:t>AN</a:t>
            </a:r>
            <a:r>
              <a:rPr lang="zh-CN" altLang="en-US" dirty="0"/>
              <a:t>和</a:t>
            </a:r>
            <a:r>
              <a:rPr lang="en-US" altLang="zh-CN" dirty="0"/>
              <a:t>SEGMENT</a:t>
            </a:r>
            <a:r>
              <a:rPr lang="zh-CN" altLang="en-US" dirty="0"/>
              <a:t>输出代表的</a:t>
            </a:r>
            <a:r>
              <a:rPr lang="zh-CN" altLang="en-US" dirty="0" smtClean="0"/>
              <a:t>含义</a:t>
            </a:r>
            <a:endParaRPr lang="en-US" altLang="zh-CN" dirty="0" smtClean="0"/>
          </a:p>
          <a:p>
            <a:pPr lvl="1"/>
            <a:r>
              <a:rPr lang="zh-CN" altLang="en-US" dirty="0"/>
              <a:t>在实验报告里还需要截图记录工程里的模块</a:t>
            </a:r>
            <a:r>
              <a:rPr lang="zh-CN" altLang="en-US" dirty="0" smtClean="0"/>
              <a:t>层次结构</a:t>
            </a:r>
          </a:p>
        </p:txBody>
      </p:sp>
    </p:spTree>
    <p:extLst>
      <p:ext uri="{BB962C8B-B14F-4D97-AF65-F5344CB8AC3E}">
        <p14:creationId xmlns:p14="http://schemas.microsoft.com/office/powerpoint/2010/main" val="3208654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顶层模块</a:t>
            </a:r>
            <a:r>
              <a:rPr lang="en-US" altLang="zh-CN" dirty="0"/>
              <a:t>Top</a:t>
            </a:r>
            <a:r>
              <a:rPr lang="zh-CN" altLang="en-US" dirty="0"/>
              <a:t>设计 </a:t>
            </a:r>
            <a:r>
              <a:rPr lang="en-US" altLang="zh-CN" dirty="0" smtClean="0"/>
              <a:t>(5)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2051720" y="5085184"/>
            <a:ext cx="4824536" cy="57606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dirty="0" smtClean="0"/>
              <a:t>对</a:t>
            </a:r>
            <a:r>
              <a:rPr lang="en-US" altLang="zh-CN" dirty="0" err="1" smtClean="0"/>
              <a:t>Top.V</a:t>
            </a:r>
            <a:r>
              <a:rPr lang="zh-CN" altLang="en-US" dirty="0" smtClean="0"/>
              <a:t>的行为仿真示例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8179926" cy="352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7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按键去抖动原理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抖动原因：按键按下或放开时，存在机械震动</a:t>
            </a:r>
          </a:p>
          <a:p>
            <a:r>
              <a:rPr lang="zh-CN" altLang="en-US" sz="2800" dirty="0"/>
              <a:t>抖动时间一般在</a:t>
            </a:r>
            <a:r>
              <a:rPr lang="en-US" altLang="zh-CN" sz="2800" dirty="0"/>
              <a:t>10~20ms</a:t>
            </a:r>
          </a:p>
          <a:p>
            <a:r>
              <a:rPr lang="zh-CN" altLang="en-US" sz="2800" dirty="0"/>
              <a:t>按键去抖动方法：延时一段时间后再监测一次</a:t>
            </a:r>
            <a:r>
              <a:rPr lang="zh-CN" altLang="en-US" sz="2800" dirty="0" smtClean="0"/>
              <a:t>，直到按键输入稳定为止，以</a:t>
            </a:r>
            <a:r>
              <a:rPr lang="zh-CN" altLang="en-US" sz="2800" dirty="0"/>
              <a:t>避开机械抖动</a:t>
            </a:r>
          </a:p>
          <a:p>
            <a:endParaRPr lang="zh-CN" altLang="en-US" sz="28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786239"/>
              </p:ext>
            </p:extLst>
          </p:nvPr>
        </p:nvGraphicFramePr>
        <p:xfrm>
          <a:off x="593725" y="3749700"/>
          <a:ext cx="3622675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" name="Visio" r:id="rId3" imgW="1367871" imgH="742438" progId="Visio.Drawing.11">
                  <p:embed/>
                </p:oleObj>
              </mc:Choice>
              <mc:Fallback>
                <p:oleObj name="Visio" r:id="rId3" imgW="1367871" imgH="7424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3749700"/>
                        <a:ext cx="3622675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596518"/>
              </p:ext>
            </p:extLst>
          </p:nvPr>
        </p:nvGraphicFramePr>
        <p:xfrm>
          <a:off x="4532313" y="3756372"/>
          <a:ext cx="4173537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" name="Visio" r:id="rId5" imgW="1923885" imgH="976262" progId="Visio.Drawing.11">
                  <p:embed/>
                </p:oleObj>
              </mc:Choice>
              <mc:Fallback>
                <p:oleObj name="Visio" r:id="rId5" imgW="1923885" imgH="97626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3756372"/>
                        <a:ext cx="4173537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911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去抖动模块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196752"/>
            <a:ext cx="6696744" cy="53245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module </a:t>
            </a:r>
            <a:r>
              <a:rPr lang="en-US" altLang="zh-CN" sz="2000" dirty="0" err="1"/>
              <a:t>pbdebounce</a:t>
            </a:r>
            <a:r>
              <a:rPr lang="en-US" altLang="zh-CN" sz="2000" dirty="0"/>
              <a:t>(</a:t>
            </a:r>
          </a:p>
          <a:p>
            <a:r>
              <a:rPr lang="en-US" altLang="zh-CN" sz="2000" dirty="0"/>
              <a:t>	input wire clk_1ms,</a:t>
            </a:r>
          </a:p>
          <a:p>
            <a:r>
              <a:rPr lang="en-US" altLang="zh-CN" sz="2000" dirty="0"/>
              <a:t>	input wire button, </a:t>
            </a:r>
          </a:p>
          <a:p>
            <a:r>
              <a:rPr lang="en-US" altLang="zh-CN" sz="2000" dirty="0"/>
              <a:t>	output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pbreg</a:t>
            </a:r>
            <a:endParaRPr lang="en-US" altLang="zh-CN" sz="2000" dirty="0"/>
          </a:p>
          <a:p>
            <a:r>
              <a:rPr lang="en-US" altLang="zh-CN" sz="2000" dirty="0"/>
              <a:t>	);</a:t>
            </a:r>
          </a:p>
          <a:p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 [7:0] 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;</a:t>
            </a:r>
          </a:p>
          <a:p>
            <a:endParaRPr lang="en-US" altLang="zh-CN" sz="2000" dirty="0"/>
          </a:p>
          <a:p>
            <a:r>
              <a:rPr lang="en-US" altLang="zh-CN" sz="2000" dirty="0"/>
              <a:t>	always@(</a:t>
            </a:r>
            <a:r>
              <a:rPr lang="en-US" altLang="zh-CN" sz="2000" dirty="0" err="1"/>
              <a:t>posedge</a:t>
            </a:r>
            <a:r>
              <a:rPr lang="en-US" altLang="zh-CN" sz="2000" dirty="0"/>
              <a:t> clk_1ms) begin</a:t>
            </a:r>
          </a:p>
          <a:p>
            <a:r>
              <a:rPr lang="en-US" altLang="zh-CN" sz="2000" dirty="0"/>
              <a:t>		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&lt;&lt;1;</a:t>
            </a:r>
          </a:p>
          <a:p>
            <a:r>
              <a:rPr lang="en-US" altLang="zh-CN" sz="2000" dirty="0"/>
              <a:t>		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[0]=button;</a:t>
            </a:r>
          </a:p>
          <a:p>
            <a:r>
              <a:rPr lang="en-US" altLang="zh-CN" sz="2000" dirty="0"/>
              <a:t>		if (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==8'b0)</a:t>
            </a:r>
          </a:p>
          <a:p>
            <a:r>
              <a:rPr lang="en-US" altLang="zh-CN" sz="2000" dirty="0"/>
              <a:t>			</a:t>
            </a:r>
            <a:r>
              <a:rPr lang="en-US" altLang="zh-CN" sz="2000" dirty="0" err="1"/>
              <a:t>pbreg</a:t>
            </a:r>
            <a:r>
              <a:rPr lang="en-US" altLang="zh-CN" sz="2000" dirty="0"/>
              <a:t>=0;</a:t>
            </a:r>
          </a:p>
          <a:p>
            <a:r>
              <a:rPr lang="en-US" altLang="zh-CN" sz="2000" dirty="0"/>
              <a:t>		if (</a:t>
            </a:r>
            <a:r>
              <a:rPr lang="en-US" altLang="zh-CN" sz="2000" dirty="0" err="1"/>
              <a:t>pbshift</a:t>
            </a:r>
            <a:r>
              <a:rPr lang="en-US" altLang="zh-CN" sz="2000" dirty="0"/>
              <a:t>==8'hFF)</a:t>
            </a:r>
          </a:p>
          <a:p>
            <a:r>
              <a:rPr lang="en-US" altLang="zh-CN" sz="2000" dirty="0"/>
              <a:t>			</a:t>
            </a:r>
            <a:r>
              <a:rPr lang="en-US" altLang="zh-CN" sz="2000" dirty="0" err="1"/>
              <a:t>pbreg</a:t>
            </a:r>
            <a:r>
              <a:rPr lang="en-US" altLang="zh-CN" sz="2000" dirty="0"/>
              <a:t>=1;	</a:t>
            </a:r>
          </a:p>
          <a:p>
            <a:r>
              <a:rPr lang="en-US" altLang="zh-CN" sz="2000" dirty="0"/>
              <a:t>	end</a:t>
            </a:r>
          </a:p>
          <a:p>
            <a:r>
              <a:rPr lang="en-US" altLang="zh-CN" sz="2000" dirty="0" err="1"/>
              <a:t>endmodule</a:t>
            </a:r>
            <a:endParaRPr lang="zh-CN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788024" y="2924944"/>
            <a:ext cx="406845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2</a:t>
            </a:r>
            <a:r>
              <a:rPr lang="en-US" altLang="zh-CN" sz="3200" baseline="30000" dirty="0" smtClean="0"/>
              <a:t>17</a:t>
            </a:r>
            <a:r>
              <a:rPr lang="en-US" altLang="zh-CN" sz="3200" dirty="0" smtClean="0"/>
              <a:t> * 1/100M=1.31ms</a:t>
            </a:r>
            <a:endParaRPr lang="en-US" altLang="zh-CN" sz="32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800" dirty="0" smtClean="0"/>
              <a:t>因此实例化</a:t>
            </a:r>
            <a:r>
              <a:rPr lang="en-US" altLang="zh-CN" sz="2800" dirty="0" err="1"/>
              <a:t>pbdebounce</a:t>
            </a:r>
            <a:r>
              <a:rPr lang="zh-CN" altLang="en-US" sz="2800" dirty="0"/>
              <a:t>模块时用</a:t>
            </a:r>
            <a:r>
              <a:rPr lang="en-US" altLang="zh-CN" sz="2800" dirty="0" err="1" smtClean="0"/>
              <a:t>clk_div</a:t>
            </a:r>
            <a:r>
              <a:rPr lang="en-US" altLang="zh-CN" sz="2800" dirty="0" smtClean="0"/>
              <a:t>[17</a:t>
            </a:r>
            <a:r>
              <a:rPr lang="en-US" altLang="zh-CN" sz="2800" dirty="0"/>
              <a:t>]</a:t>
            </a:r>
            <a:r>
              <a:rPr lang="zh-CN" altLang="en-US" sz="2800" dirty="0"/>
              <a:t>接到</a:t>
            </a:r>
            <a:r>
              <a:rPr lang="en-US" altLang="zh-CN" sz="2800" dirty="0"/>
              <a:t>clk_1ms</a:t>
            </a:r>
            <a:r>
              <a:rPr lang="zh-CN" altLang="en-US" sz="2800" dirty="0"/>
              <a:t>引脚</a:t>
            </a:r>
            <a:r>
              <a:rPr lang="zh-CN" altLang="en-US" sz="2800" dirty="0" smtClean="0"/>
              <a:t>上，得到接近</a:t>
            </a:r>
            <a:r>
              <a:rPr lang="en-US" altLang="zh-CN" sz="2800" dirty="0" smtClean="0"/>
              <a:t>1ms</a:t>
            </a:r>
            <a:r>
              <a:rPr lang="zh-CN" altLang="en-US" sz="2800" dirty="0" smtClean="0"/>
              <a:t>的时钟信号</a:t>
            </a:r>
            <a:endParaRPr lang="zh-CN" altLang="en-US" sz="2800" dirty="0"/>
          </a:p>
        </p:txBody>
      </p:sp>
      <p:sp>
        <p:nvSpPr>
          <p:cNvPr id="7" name="线形标注 1 6"/>
          <p:cNvSpPr/>
          <p:nvPr/>
        </p:nvSpPr>
        <p:spPr>
          <a:xfrm>
            <a:off x="4572000" y="436426"/>
            <a:ext cx="2952328" cy="566292"/>
          </a:xfrm>
          <a:prstGeom prst="borderCallout1">
            <a:avLst>
              <a:gd name="adj1" fmla="val 13009"/>
              <a:gd name="adj2" fmla="val -4472"/>
              <a:gd name="adj3" fmla="val 202605"/>
              <a:gd name="adj4" fmla="val -42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周期为</a:t>
            </a:r>
            <a:r>
              <a:rPr lang="en-US" altLang="zh-CN" b="1" dirty="0" smtClean="0"/>
              <a:t>1ms</a:t>
            </a:r>
            <a:r>
              <a:rPr lang="zh-CN" altLang="en-US" b="1" dirty="0" smtClean="0"/>
              <a:t>左右的时钟信号</a:t>
            </a:r>
            <a:endParaRPr lang="zh-CN" altLang="en-US" b="1" dirty="0"/>
          </a:p>
        </p:txBody>
      </p:sp>
      <p:sp>
        <p:nvSpPr>
          <p:cNvPr id="8" name="线形标注 1 7"/>
          <p:cNvSpPr/>
          <p:nvPr/>
        </p:nvSpPr>
        <p:spPr>
          <a:xfrm>
            <a:off x="4581593" y="1107640"/>
            <a:ext cx="2952328" cy="566292"/>
          </a:xfrm>
          <a:prstGeom prst="borderCallout1">
            <a:avLst>
              <a:gd name="adj1" fmla="val 13009"/>
              <a:gd name="adj2" fmla="val -4472"/>
              <a:gd name="adj3" fmla="val 157692"/>
              <a:gd name="adj4" fmla="val -428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未去抖动的按键输入</a:t>
            </a:r>
            <a:endParaRPr lang="zh-CN" altLang="en-US" b="1" dirty="0"/>
          </a:p>
        </p:txBody>
      </p:sp>
      <p:sp>
        <p:nvSpPr>
          <p:cNvPr id="10" name="线形标注 1 9"/>
          <p:cNvSpPr/>
          <p:nvPr/>
        </p:nvSpPr>
        <p:spPr>
          <a:xfrm>
            <a:off x="4572000" y="1819352"/>
            <a:ext cx="2952328" cy="566292"/>
          </a:xfrm>
          <a:prstGeom prst="borderCallout1">
            <a:avLst>
              <a:gd name="adj1" fmla="val 13009"/>
              <a:gd name="adj2" fmla="val -4472"/>
              <a:gd name="adj3" fmla="val 90323"/>
              <a:gd name="adj4" fmla="val -462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去抖动之后的按键输出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41961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增加去抖动后的</a:t>
            </a:r>
            <a:r>
              <a:rPr lang="en-US" altLang="zh-CN" dirty="0" smtClean="0"/>
              <a:t>Top</a:t>
            </a:r>
            <a:r>
              <a:rPr lang="zh-CN" altLang="en-US" dirty="0" smtClean="0"/>
              <a:t>模块设计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504056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 err="1"/>
              <a:t>Top.V</a:t>
            </a:r>
            <a:r>
              <a:rPr lang="zh-CN" altLang="en-US" sz="2800" dirty="0"/>
              <a:t>中用行为描述进行设计</a:t>
            </a:r>
            <a:endParaRPr lang="en-US" altLang="zh-CN" sz="2800" dirty="0"/>
          </a:p>
          <a:p>
            <a:pPr lvl="1"/>
            <a:r>
              <a:rPr lang="zh-CN" altLang="en-US" sz="2400" dirty="0"/>
              <a:t>实例化</a:t>
            </a:r>
            <a:r>
              <a:rPr lang="en-US" altLang="zh-CN" sz="2400" dirty="0" err="1"/>
              <a:t>pbdebounce</a:t>
            </a:r>
            <a:r>
              <a:rPr lang="zh-CN" altLang="en-US" sz="2400" dirty="0" smtClean="0"/>
              <a:t>模块分别对</a:t>
            </a:r>
            <a:r>
              <a:rPr lang="en-US" altLang="zh-CN" sz="2400" dirty="0" smtClean="0"/>
              <a:t>BTN[3]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BTN[2]</a:t>
            </a:r>
            <a:r>
              <a:rPr lang="zh-CN" altLang="en-US" sz="2400" dirty="0" smtClean="0"/>
              <a:t>进行</a:t>
            </a:r>
            <a:r>
              <a:rPr lang="zh-CN" altLang="en-US" sz="2400" dirty="0"/>
              <a:t>去抖</a:t>
            </a:r>
            <a:endParaRPr lang="en-US" altLang="zh-CN" sz="2400" dirty="0"/>
          </a:p>
          <a:p>
            <a:pPr lvl="1"/>
            <a:r>
              <a:rPr lang="en-US" altLang="zh-CN" sz="2400" dirty="0" err="1" smtClean="0"/>
              <a:t>CreateNumber</a:t>
            </a:r>
            <a:r>
              <a:rPr lang="zh-CN" altLang="en-US" sz="2400" dirty="0"/>
              <a:t>模块</a:t>
            </a:r>
            <a:r>
              <a:rPr lang="zh-CN" altLang="en-US" sz="2400" dirty="0" smtClean="0"/>
              <a:t>，采用去抖动后的按键输出对</a:t>
            </a:r>
            <a:r>
              <a:rPr lang="en-US" altLang="zh-CN" sz="2400" dirty="0" err="1" smtClean="0"/>
              <a:t>num</a:t>
            </a:r>
            <a:r>
              <a:rPr lang="en-US" altLang="zh-CN" sz="2400" dirty="0" smtClean="0"/>
              <a:t>[7:4</a:t>
            </a:r>
            <a:r>
              <a:rPr lang="en-US" altLang="zh-CN" sz="2400" dirty="0"/>
              <a:t>]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[3:0]</a:t>
            </a:r>
            <a:r>
              <a:rPr lang="zh-CN" altLang="en-US" sz="2400" dirty="0"/>
              <a:t>自增或自</a:t>
            </a:r>
            <a:r>
              <a:rPr lang="zh-CN" altLang="en-US" sz="2400" dirty="0" smtClean="0"/>
              <a:t>减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将</a:t>
            </a:r>
            <a:r>
              <a:rPr lang="en-US" altLang="zh-CN" sz="2400" dirty="0" err="1"/>
              <a:t>DispNum</a:t>
            </a:r>
            <a:r>
              <a:rPr lang="zh-CN" altLang="en-US" sz="2400" dirty="0"/>
              <a:t>模块的</a:t>
            </a:r>
            <a:r>
              <a:rPr lang="en-US" altLang="zh-CN" sz="2400" dirty="0"/>
              <a:t>scan</a:t>
            </a:r>
            <a:r>
              <a:rPr lang="zh-CN" altLang="en-US" sz="2400" dirty="0"/>
              <a:t>改为</a:t>
            </a:r>
            <a:r>
              <a:rPr lang="en-US" altLang="zh-CN" sz="2400" dirty="0" err="1" smtClean="0"/>
              <a:t>clk_div</a:t>
            </a:r>
            <a:r>
              <a:rPr lang="en-US" altLang="zh-CN" sz="2400" dirty="0" smtClean="0"/>
              <a:t>[18:17]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进行综合后下载到</a:t>
            </a:r>
            <a:r>
              <a:rPr lang="en-US" altLang="zh-CN" sz="2400" dirty="0" smtClean="0"/>
              <a:t>FPGA</a:t>
            </a:r>
            <a:r>
              <a:rPr lang="zh-CN" altLang="en-US" sz="2400" dirty="0" smtClean="0"/>
              <a:t>验证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在实验报告里拍照记录按键增加、减少操作数，拨动开关让</a:t>
            </a:r>
            <a:r>
              <a:rPr lang="en-US" altLang="zh-CN" sz="2400" dirty="0" smtClean="0"/>
              <a:t>ALU</a:t>
            </a:r>
            <a:r>
              <a:rPr lang="zh-CN" altLang="en-US" sz="2400" dirty="0" smtClean="0"/>
              <a:t>执行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种计算的结果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在实验报告</a:t>
            </a:r>
            <a:r>
              <a:rPr lang="zh-CN" altLang="en-US" sz="2400" dirty="0" smtClean="0"/>
              <a:t>里截</a:t>
            </a:r>
            <a:r>
              <a:rPr lang="zh-CN" altLang="en-US" sz="2400" dirty="0"/>
              <a:t>图记录工程里的模块</a:t>
            </a:r>
            <a:r>
              <a:rPr lang="zh-CN" altLang="en-US" sz="2400" dirty="0" smtClean="0"/>
              <a:t>层次结构</a:t>
            </a:r>
            <a:endParaRPr lang="en-US" altLang="zh-CN" sz="2400" dirty="0" smtClean="0"/>
          </a:p>
          <a:p>
            <a:r>
              <a:rPr lang="zh-CN" altLang="en-US" sz="2800" dirty="0" smtClean="0"/>
              <a:t>思考：增加</a:t>
            </a:r>
            <a:r>
              <a:rPr lang="en-US" altLang="zh-CN" sz="2800" dirty="0" err="1" smtClean="0"/>
              <a:t>pbdebounce</a:t>
            </a:r>
            <a:r>
              <a:rPr lang="zh-CN" altLang="en-US" sz="2800" dirty="0" smtClean="0"/>
              <a:t>模块后如何做仿真？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8928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7268</TotalTime>
  <Words>1292</Words>
  <Application>Microsoft Office PowerPoint</Application>
  <PresentationFormat>全屏显示(4:3)</PresentationFormat>
  <Paragraphs>238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黑体</vt:lpstr>
      <vt:lpstr>华文细黑</vt:lpstr>
      <vt:lpstr>楷体_GB2312</vt:lpstr>
      <vt:lpstr>宋体</vt:lpstr>
      <vt:lpstr>微软雅黑</vt:lpstr>
      <vt:lpstr>新宋体</vt:lpstr>
      <vt:lpstr>Arial</vt:lpstr>
      <vt:lpstr>Calibri</vt:lpstr>
      <vt:lpstr>Cambria Math</vt:lpstr>
      <vt:lpstr>Courier New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Equation</vt:lpstr>
      <vt:lpstr>数字逻辑设计实验</vt:lpstr>
      <vt:lpstr>提  纲</vt:lpstr>
      <vt:lpstr>实验目的</vt:lpstr>
      <vt:lpstr>实验设备与材料</vt:lpstr>
      <vt:lpstr>实验任务</vt:lpstr>
      <vt:lpstr>实验任务</vt:lpstr>
      <vt:lpstr>实验原理</vt:lpstr>
      <vt:lpstr>一位全加器</vt:lpstr>
      <vt:lpstr>多位串行进位加法器</vt:lpstr>
      <vt:lpstr>4位加法器</vt:lpstr>
      <vt:lpstr>1位加减法器</vt:lpstr>
      <vt:lpstr>多位串行进位全减器</vt:lpstr>
      <vt:lpstr>4位加减法器</vt:lpstr>
      <vt:lpstr>4位ALU功能定义</vt:lpstr>
      <vt:lpstr>4位ALU原理图</vt:lpstr>
      <vt:lpstr>4位ALU仿真</vt:lpstr>
      <vt:lpstr>实验任务</vt:lpstr>
      <vt:lpstr>4位ALU输入输出定义</vt:lpstr>
      <vt:lpstr>4位ALU实验工程建立</vt:lpstr>
      <vt:lpstr>设计按键数据输入模块</vt:lpstr>
      <vt:lpstr>顶层模块Top设计 (1)</vt:lpstr>
      <vt:lpstr>顶层模块Top设计（2）</vt:lpstr>
      <vt:lpstr>顶层模块Top设计（3）</vt:lpstr>
      <vt:lpstr>顶层模块Top设计 (4)</vt:lpstr>
      <vt:lpstr>顶层模块Top设计 (5)</vt:lpstr>
      <vt:lpstr>按键去抖动原理</vt:lpstr>
      <vt:lpstr>去抖动模块</vt:lpstr>
      <vt:lpstr>增加去抖动后的Top模块设计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391</cp:revision>
  <dcterms:created xsi:type="dcterms:W3CDTF">2011-08-03T07:44:17Z</dcterms:created>
  <dcterms:modified xsi:type="dcterms:W3CDTF">2025-02-18T12:51:45Z</dcterms:modified>
</cp:coreProperties>
</file>