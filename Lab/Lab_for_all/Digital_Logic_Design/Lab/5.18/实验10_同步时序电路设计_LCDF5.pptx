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90" r:id="rId3"/>
  </p:sldMasterIdLst>
  <p:notesMasterIdLst>
    <p:notesMasterId r:id="rId32"/>
  </p:notesMasterIdLst>
  <p:sldIdLst>
    <p:sldId id="256" r:id="rId4"/>
    <p:sldId id="270" r:id="rId5"/>
    <p:sldId id="271" r:id="rId6"/>
    <p:sldId id="272" r:id="rId7"/>
    <p:sldId id="273" r:id="rId8"/>
    <p:sldId id="313" r:id="rId9"/>
    <p:sldId id="320" r:id="rId10"/>
    <p:sldId id="328" r:id="rId11"/>
    <p:sldId id="332" r:id="rId12"/>
    <p:sldId id="333" r:id="rId13"/>
    <p:sldId id="334" r:id="rId14"/>
    <p:sldId id="329" r:id="rId15"/>
    <p:sldId id="322" r:id="rId16"/>
    <p:sldId id="330" r:id="rId17"/>
    <p:sldId id="335" r:id="rId18"/>
    <p:sldId id="336" r:id="rId19"/>
    <p:sldId id="337" r:id="rId20"/>
    <p:sldId id="284" r:id="rId21"/>
    <p:sldId id="344" r:id="rId22"/>
    <p:sldId id="318" r:id="rId23"/>
    <p:sldId id="343" r:id="rId24"/>
    <p:sldId id="326" r:id="rId25"/>
    <p:sldId id="338" r:id="rId26"/>
    <p:sldId id="339" r:id="rId27"/>
    <p:sldId id="342" r:id="rId28"/>
    <p:sldId id="340" r:id="rId29"/>
    <p:sldId id="341" r:id="rId30"/>
    <p:sldId id="269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2BB560-6633-472E-86A8-D6CD2949BF9A}">
          <p14:sldIdLst>
            <p14:sldId id="256"/>
            <p14:sldId id="270"/>
            <p14:sldId id="271"/>
            <p14:sldId id="272"/>
            <p14:sldId id="273"/>
            <p14:sldId id="313"/>
            <p14:sldId id="320"/>
            <p14:sldId id="328"/>
            <p14:sldId id="332"/>
            <p14:sldId id="333"/>
            <p14:sldId id="334"/>
            <p14:sldId id="329"/>
            <p14:sldId id="322"/>
            <p14:sldId id="330"/>
            <p14:sldId id="335"/>
            <p14:sldId id="336"/>
            <p14:sldId id="337"/>
            <p14:sldId id="284"/>
            <p14:sldId id="344"/>
            <p14:sldId id="318"/>
            <p14:sldId id="343"/>
            <p14:sldId id="326"/>
            <p14:sldId id="338"/>
            <p14:sldId id="339"/>
            <p14:sldId id="342"/>
            <p14:sldId id="340"/>
            <p14:sldId id="341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2" autoAdjust="0"/>
    <p:restoredTop sz="92449" autoAdjust="0"/>
  </p:normalViewPr>
  <p:slideViewPr>
    <p:cSldViewPr>
      <p:cViewPr varScale="1">
        <p:scale>
          <a:sx n="69" d="100"/>
          <a:sy n="69" d="100"/>
        </p:scale>
        <p:origin x="1047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232E-0D23-E744-A2E7-48CC2B10A8E9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A588-43E9-AC44-AC90-AB7B6B5540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781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950515"/>
            <a:ext cx="8134672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005464" cy="95436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b="1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b="1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>
                <a:latin typeface="黑体" pitchFamily="49" charset="-122"/>
                <a:ea typeface="黑体" pitchFamily="49" charset="-122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>
                <a:latin typeface="黑体" pitchFamily="49" charset="-122"/>
                <a:ea typeface="黑体" pitchFamily="49" charset="-122"/>
              </a:defRPr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213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05464" cy="95436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6699"/>
                </a:solidFill>
                <a:effectLst/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1pPr>
            <a:lvl2pPr marL="742950" indent="-285750">
              <a:buClr>
                <a:schemeClr val="tx1"/>
              </a:buClr>
              <a:buSzPct val="70000"/>
              <a:buFont typeface="Wingdings" pitchFamily="2" charset="2"/>
              <a:buChar char="p"/>
              <a:defRPr sz="1800" b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2pPr>
            <a:lvl3pPr marL="1143000" indent="-228600">
              <a:buClr>
                <a:schemeClr val="tx1"/>
              </a:buClr>
              <a:buSzPct val="50000"/>
              <a:buFont typeface="Wingdings" pitchFamily="2" charset="2"/>
              <a:buChar char="n"/>
              <a:defRPr sz="1600">
                <a:latin typeface="华文细黑" pitchFamily="2" charset="-122"/>
                <a:ea typeface="华文细黑" pitchFamily="2" charset="-122"/>
              </a:defRPr>
            </a:lvl3pPr>
            <a:lvl4pPr marL="1600200" indent="-228600">
              <a:buClr>
                <a:schemeClr val="tx1"/>
              </a:buClr>
              <a:buSzPct val="50000"/>
              <a:buFont typeface="Wingdings" pitchFamily="2" charset="2"/>
              <a:buChar char="p"/>
              <a:defRPr sz="1400">
                <a:latin typeface="华文细黑" pitchFamily="2" charset="-122"/>
                <a:ea typeface="华文细黑" pitchFamily="2" charset="-122"/>
              </a:defRPr>
            </a:lvl4pPr>
            <a:lvl5pPr>
              <a:defRPr sz="1200">
                <a:latin typeface="华文细黑" pitchFamily="2" charset="-122"/>
                <a:ea typeface="华文细黑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2026/5/18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052736"/>
            <a:ext cx="8134672" cy="1728191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ea typeface="宋体" panose="02010600030101010101" pitchFamily="2" charset="-122"/>
              </a:rPr>
              <a:t>数字逻辑设计实验</a:t>
            </a:r>
            <a:endParaRPr lang="zh-CN" altLang="en-US" sz="4000" dirty="0">
              <a:effectLst/>
              <a:latin typeface="黑体"/>
              <a:ea typeface="黑体"/>
              <a:cs typeface="黑体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21088"/>
            <a:ext cx="6400800" cy="211264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董亚波</a:t>
            </a:r>
          </a:p>
          <a:p>
            <a:pPr>
              <a:spcBef>
                <a:spcPct val="0"/>
              </a:spcBef>
            </a:pPr>
            <a:r>
              <a:rPr lang="en-US" altLang="zh-CN" sz="28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dongyb@zju.edu.cn</a:t>
            </a:r>
            <a:endParaRPr lang="en-US" altLang="zh-CN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2916233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实验</a:t>
            </a:r>
            <a:r>
              <a:rPr lang="en-US" altLang="zh-CN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10</a:t>
            </a:r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、</a:t>
            </a:r>
            <a:r>
              <a:rPr lang="zh-CN" altLang="zh-CN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同步时序电路设计</a:t>
            </a:r>
            <a:endParaRPr lang="en-US" altLang="zh-CN" sz="3600" b="1" dirty="0">
              <a:solidFill>
                <a:srgbClr val="3333FF"/>
              </a:solidFill>
              <a:latin typeface="Helvetic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2661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  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  <a:endParaRPr lang="en-US" altLang="zh-CN" dirty="0"/>
          </a:p>
          <a:p>
            <a:r>
              <a:rPr lang="zh-CN" altLang="en-US" dirty="0"/>
              <a:t>实验设备与材料</a:t>
            </a:r>
            <a:endParaRPr lang="en-US" altLang="zh-CN" dirty="0"/>
          </a:p>
          <a:p>
            <a:r>
              <a:rPr lang="zh-CN" altLang="en-US" dirty="0"/>
              <a:t>实验任务</a:t>
            </a:r>
            <a:endParaRPr lang="en-US" altLang="zh-CN" dirty="0"/>
          </a:p>
          <a:p>
            <a:r>
              <a:rPr lang="zh-CN" altLang="en-US" dirty="0"/>
              <a:t>实验原理</a:t>
            </a:r>
            <a:endParaRPr lang="en-US" altLang="zh-CN" dirty="0"/>
          </a:p>
          <a:p>
            <a:r>
              <a:rPr lang="zh-CN" altLang="en-US" dirty="0"/>
              <a:t>实验内容与步骤</a:t>
            </a:r>
          </a:p>
        </p:txBody>
      </p:sp>
    </p:spTree>
    <p:extLst>
      <p:ext uri="{BB962C8B-B14F-4D97-AF65-F5344CB8AC3E}">
        <p14:creationId xmlns:p14="http://schemas.microsoft.com/office/powerpoint/2010/main" val="3293819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12776"/>
            <a:ext cx="8820472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掌握典型同步时序电路的工作原理和设计方法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掌握时序电路的激励函数、状态图、状态方程的运用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掌握用</a:t>
            </a:r>
            <a:r>
              <a:rPr lang="en-US" altLang="zh-CN" sz="2800" dirty="0"/>
              <a:t>Verilog</a:t>
            </a:r>
            <a:r>
              <a:rPr lang="zh-CN" altLang="en-US" sz="2800" dirty="0"/>
              <a:t>进行有限状态机的设计、调试、仿真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掌握用</a:t>
            </a:r>
            <a:r>
              <a:rPr lang="en-US" altLang="zh-CN" sz="2800" dirty="0"/>
              <a:t>FPGA</a:t>
            </a:r>
            <a:r>
              <a:rPr lang="zh-CN" altLang="en-US" sz="2800" dirty="0"/>
              <a:t>实现时序电路功能</a:t>
            </a:r>
          </a:p>
        </p:txBody>
      </p:sp>
    </p:spTree>
    <p:extLst>
      <p:ext uri="{BB962C8B-B14F-4D97-AF65-F5344CB8AC3E}">
        <p14:creationId xmlns:p14="http://schemas.microsoft.com/office/powerpoint/2010/main" val="40167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实验设备与材料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实验设备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装有</a:t>
            </a:r>
            <a:r>
              <a:rPr lang="en-US" altLang="zh-CN" dirty="0"/>
              <a:t>Xilinx </a:t>
            </a:r>
            <a:r>
              <a:rPr lang="en-US" altLang="zh-CN" dirty="0" err="1"/>
              <a:t>Vivado</a:t>
            </a:r>
            <a:r>
              <a:rPr lang="zh-CN" altLang="en-US" dirty="0"/>
              <a:t>和</a:t>
            </a:r>
            <a:r>
              <a:rPr lang="en-US" altLang="zh-CN" dirty="0"/>
              <a:t>Digital</a:t>
            </a:r>
            <a:r>
              <a:rPr lang="zh-CN" altLang="en-US" dirty="0"/>
              <a:t>的计算机</a:t>
            </a:r>
            <a:r>
              <a:rPr lang="en-US" altLang="zh-CN" dirty="0"/>
              <a:t>	1</a:t>
            </a:r>
            <a:r>
              <a:rPr lang="zh-CN" altLang="en-US" dirty="0"/>
              <a:t>台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SWORD</a:t>
            </a:r>
            <a:r>
              <a:rPr lang="zh-CN" altLang="en-US" dirty="0"/>
              <a:t>开发板</a:t>
            </a:r>
            <a:r>
              <a:rPr lang="en-US" altLang="zh-CN" dirty="0"/>
              <a:t>						1</a:t>
            </a:r>
            <a:r>
              <a:rPr lang="zh-CN" altLang="en-US" dirty="0"/>
              <a:t>套</a:t>
            </a:r>
          </a:p>
          <a:p>
            <a:r>
              <a:rPr lang="zh-CN" altLang="en-US" dirty="0"/>
              <a:t>实验材料</a:t>
            </a:r>
          </a:p>
          <a:p>
            <a:pPr lvl="1"/>
            <a:r>
              <a:rPr lang="zh-CN" altLang="en-US" dirty="0"/>
              <a:t>无</a:t>
            </a:r>
          </a:p>
        </p:txBody>
      </p:sp>
    </p:spTree>
    <p:extLst>
      <p:ext uri="{BB962C8B-B14F-4D97-AF65-F5344CB8AC3E}">
        <p14:creationId xmlns:p14="http://schemas.microsoft.com/office/powerpoint/2010/main" val="273157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：原理图方式设计</a:t>
            </a:r>
            <a:r>
              <a:rPr lang="en-US" altLang="zh-CN" sz="2800" dirty="0"/>
              <a:t>4</a:t>
            </a:r>
            <a:r>
              <a:rPr lang="zh-CN" altLang="zh-CN" sz="2800" dirty="0"/>
              <a:t>位同步二进制计数器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2</a:t>
            </a:r>
            <a:r>
              <a:rPr lang="zh-CN" altLang="en-US" sz="2800" dirty="0"/>
              <a:t>：以</a:t>
            </a:r>
            <a:r>
              <a:rPr lang="en-US" altLang="zh-CN" sz="2800" dirty="0"/>
              <a:t>Verilog</a:t>
            </a:r>
            <a:r>
              <a:rPr lang="zh-CN" altLang="en-US" sz="2800" dirty="0"/>
              <a:t>行为描述方式设计</a:t>
            </a:r>
            <a:r>
              <a:rPr lang="en-US" altLang="zh-CN" sz="2800" dirty="0"/>
              <a:t>16</a:t>
            </a:r>
            <a:r>
              <a:rPr lang="zh-CN" altLang="en-US" sz="2800" dirty="0"/>
              <a:t>位可逆二进制同步计数器</a:t>
            </a:r>
          </a:p>
          <a:p>
            <a:pPr>
              <a:lnSpc>
                <a:spcPct val="150000"/>
              </a:lnSpc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88722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79301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位二进制同步计数器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位可逆二进制同步计数器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分频器</a:t>
            </a:r>
          </a:p>
        </p:txBody>
      </p:sp>
    </p:spTree>
    <p:extLst>
      <p:ext uri="{BB962C8B-B14F-4D97-AF65-F5344CB8AC3E}">
        <p14:creationId xmlns:p14="http://schemas.microsoft.com/office/powerpoint/2010/main" val="1351644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位二进制同步计数器（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9" name="卡诺图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717819"/>
              </p:ext>
            </p:extLst>
          </p:nvPr>
        </p:nvGraphicFramePr>
        <p:xfrm>
          <a:off x="4745489" y="2540793"/>
          <a:ext cx="4041353" cy="26440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0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0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altLang="zh-CN" b="1" i="1" baseline="-250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CN" altLang="en-US" b="1" i="1" baseline="-250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l"/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C </a:t>
                      </a:r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CN" altLang="en-US" b="1" i="1" baseline="-25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667">
                <a:tc>
                  <a:txBody>
                    <a:bodyPr/>
                    <a:lstStyle/>
                    <a:p>
                      <a:pPr algn="r">
                        <a:tabLst/>
                      </a:pPr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CN" altLang="en-US" b="1" i="1" baseline="-25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667">
                <a:tc rowSpan="4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667">
                <a:tc vMerge="1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667">
                <a:tc vMerge="1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667">
                <a:tc vMerge="1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激励函数 公式"/>
          <p:cNvSpPr/>
          <p:nvPr/>
        </p:nvSpPr>
        <p:spPr>
          <a:xfrm>
            <a:off x="4659942" y="1223182"/>
            <a:ext cx="4341214" cy="12890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>
              <a:spcBef>
                <a:spcPct val="20000"/>
              </a:spcBef>
              <a:buClr>
                <a:srgbClr val="0BD0D9"/>
              </a:buClr>
              <a:buSzPct val="95000"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根据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D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触发器原理，在</a:t>
            </a:r>
            <a:r>
              <a:rPr lang="en-US" altLang="zh-CN" sz="2400" b="1" dirty="0" err="1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clk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作用下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Q 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= 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D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，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4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位计数器的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Q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和</a:t>
            </a:r>
            <a:r>
              <a:rPr lang="en-US" altLang="zh-CN" sz="2400" b="1" i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D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关系如左表</a:t>
            </a:r>
            <a:endParaRPr lang="en-US" altLang="zh-CN" sz="2400" b="1" dirty="0">
              <a:solidFill>
                <a:prstClr val="black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itchFamily="18" charset="0"/>
              <a:ea typeface="新宋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421553" y="5517232"/>
                <a:ext cx="1629485" cy="493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553" y="5517232"/>
                <a:ext cx="1629485" cy="4935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287679"/>
              </p:ext>
            </p:extLst>
          </p:nvPr>
        </p:nvGraphicFramePr>
        <p:xfrm>
          <a:off x="457202" y="1364348"/>
          <a:ext cx="3847502" cy="5160996"/>
        </p:xfrm>
        <a:graphic>
          <a:graphicData uri="http://schemas.openxmlformats.org/drawingml/2006/table">
            <a:tbl>
              <a:tblPr/>
              <a:tblGrid>
                <a:gridCol w="397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3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5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位二进制同步计数器（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8" name="卡诺图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812374"/>
              </p:ext>
            </p:extLst>
          </p:nvPr>
        </p:nvGraphicFramePr>
        <p:xfrm>
          <a:off x="4483100" y="1364348"/>
          <a:ext cx="4041353" cy="26440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0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0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altLang="zh-CN" b="1" i="1" baseline="-250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CN" altLang="en-US" b="1" i="1" baseline="-250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l"/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C </a:t>
                      </a:r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CN" altLang="en-US" b="1" i="1" baseline="-25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667">
                <a:tc>
                  <a:txBody>
                    <a:bodyPr/>
                    <a:lstStyle/>
                    <a:p>
                      <a:pPr algn="r">
                        <a:tabLst/>
                      </a:pPr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CN" altLang="en-US" b="1" i="1" baseline="-25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667">
                <a:tc rowSpan="4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667">
                <a:tc vMerge="1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667">
                <a:tc vMerge="1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667">
                <a:tc vMerge="1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表格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662442"/>
              </p:ext>
            </p:extLst>
          </p:nvPr>
        </p:nvGraphicFramePr>
        <p:xfrm>
          <a:off x="457202" y="1364348"/>
          <a:ext cx="3847502" cy="5160996"/>
        </p:xfrm>
        <a:graphic>
          <a:graphicData uri="http://schemas.openxmlformats.org/drawingml/2006/table">
            <a:tbl>
              <a:tblPr/>
              <a:tblGrid>
                <a:gridCol w="397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3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232608" y="4450404"/>
                <a:ext cx="3672408" cy="1571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sz="3200" dirty="0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sz="3200" b="0" i="1" dirty="0" smtClean="0">
                              <a:latin typeface="Cambria Math"/>
                              <a:ea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32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  <m:t>𝐶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sz="32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2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dirty="0" smtClean="0">
                                  <a:latin typeface="Cambria Math"/>
                                  <a:ea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32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𝐷</m:t>
                              </m:r>
                            </m:sub>
                          </m:sSub>
                        </m:e>
                      </m:acc>
                      <m:r>
                        <a:rPr lang="en-US" altLang="zh-CN" sz="3200" b="0" i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sz="3200" i="1">
                          <a:latin typeface="Cambria Math"/>
                          <a:ea typeface="Cambria Math"/>
                        </a:rPr>
                        <m:t>⊕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/>
                              <a:ea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altLang="zh-CN" sz="3200" b="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608" y="4450404"/>
                <a:ext cx="3672408" cy="15713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98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位二进制同步计数器（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5" name="卡诺图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898922"/>
              </p:ext>
            </p:extLst>
          </p:nvPr>
        </p:nvGraphicFramePr>
        <p:xfrm>
          <a:off x="4483100" y="1364348"/>
          <a:ext cx="4041353" cy="26440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0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0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altLang="zh-CN" b="1" i="1" baseline="-250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CN" altLang="en-US" b="1" i="1" baseline="-250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l"/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C </a:t>
                      </a:r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CN" altLang="en-US" b="1" i="1" baseline="-25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667">
                <a:tc>
                  <a:txBody>
                    <a:bodyPr/>
                    <a:lstStyle/>
                    <a:p>
                      <a:pPr algn="r">
                        <a:tabLst/>
                      </a:pPr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CN" altLang="en-US" b="1" i="1" baseline="-25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667">
                <a:tc rowSpan="4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667">
                <a:tc vMerge="1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667">
                <a:tc vMerge="1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667">
                <a:tc vMerge="1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表格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606390"/>
              </p:ext>
            </p:extLst>
          </p:nvPr>
        </p:nvGraphicFramePr>
        <p:xfrm>
          <a:off x="457202" y="1364348"/>
          <a:ext cx="3847502" cy="5160996"/>
        </p:xfrm>
        <a:graphic>
          <a:graphicData uri="http://schemas.openxmlformats.org/drawingml/2006/table">
            <a:tbl>
              <a:tblPr/>
              <a:tblGrid>
                <a:gridCol w="397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3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2"/>
              <p:cNvSpPr txBox="1"/>
              <p:nvPr/>
            </p:nvSpPr>
            <p:spPr>
              <a:xfrm>
                <a:off x="4304704" y="4437112"/>
                <a:ext cx="4896544" cy="1201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acc>
                      <m:r>
                        <a:rPr lang="en-US" altLang="zh-CN" sz="2400" dirty="0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  <m:t>𝐵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/>
                                  <a:ea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𝐷</m:t>
                              </m:r>
                            </m:sub>
                          </m:sSub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𝐵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sz="2400" b="0" i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  <a:ea typeface="Cambria Math"/>
                        </a:rPr>
                        <m:t>⊕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  <a:ea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8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704" y="4437112"/>
                <a:ext cx="4896544" cy="12014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3901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位二进制同步计数器（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7" name="表格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527250"/>
              </p:ext>
            </p:extLst>
          </p:nvPr>
        </p:nvGraphicFramePr>
        <p:xfrm>
          <a:off x="457202" y="1364348"/>
          <a:ext cx="3847502" cy="5160996"/>
        </p:xfrm>
        <a:graphic>
          <a:graphicData uri="http://schemas.openxmlformats.org/drawingml/2006/table">
            <a:tbl>
              <a:tblPr/>
              <a:tblGrid>
                <a:gridCol w="397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3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9" name="卡诺图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716065"/>
              </p:ext>
            </p:extLst>
          </p:nvPr>
        </p:nvGraphicFramePr>
        <p:xfrm>
          <a:off x="4483100" y="1364348"/>
          <a:ext cx="4041353" cy="26440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0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6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0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altLang="zh-CN" b="1" i="1" baseline="-250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CN" altLang="en-US" b="1" i="1" baseline="-250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l"/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C </a:t>
                      </a:r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CN" altLang="en-US" b="1" i="1" baseline="-25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667">
                <a:tc>
                  <a:txBody>
                    <a:bodyPr/>
                    <a:lstStyle/>
                    <a:p>
                      <a:pPr algn="r">
                        <a:tabLst/>
                      </a:pPr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r>
                        <a:rPr lang="en-US" altLang="zh-CN" b="1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lang="en-US" altLang="zh-CN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CN" altLang="en-US" b="1" i="1" baseline="-25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667">
                <a:tc rowSpan="4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667">
                <a:tc vMerge="1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01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667">
                <a:tc vMerge="1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667">
                <a:tc vMerge="1">
                  <a:txBody>
                    <a:bodyPr/>
                    <a:lstStyle/>
                    <a:p>
                      <a:pPr algn="r"/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zh-CN" altLang="en-US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2"/>
              <p:cNvSpPr txBox="1"/>
              <p:nvPr/>
            </p:nvSpPr>
            <p:spPr>
              <a:xfrm>
                <a:off x="4365980" y="4175946"/>
                <a:ext cx="4778020" cy="1016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acc>
                      <m:r>
                        <a:rPr lang="en-US" altLang="zh-CN" sz="2000" dirty="0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/>
                              <a:ea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/>
                            </a:rPr>
                            <m:t>𝐴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latin typeface="Cambria Math"/>
                                  <a:ea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𝐶</m:t>
                              </m:r>
                            </m:sub>
                          </m:sSub>
                        </m:e>
                      </m:acc>
                      <m:r>
                        <a:rPr lang="en-US" altLang="zh-CN" sz="2000" dirty="0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/>
                              <a:ea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  <m:t>𝐴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dirty="0" smtClean="0">
                                  <a:latin typeface="Cambria Math"/>
                                  <a:ea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𝐷</m:t>
                              </m:r>
                            </m:sub>
                          </m:sSub>
                        </m:e>
                      </m:ac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𝐴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sz="2000" b="0" i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/>
                              <a:ea typeface="Cambria Math"/>
                            </a:rPr>
                            <m:t>⊕</m:t>
                          </m:r>
                          <m:r>
                            <a:rPr lang="en-US" altLang="zh-CN" sz="2000" i="1">
                              <a:latin typeface="Cambria Math"/>
                              <a:ea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altLang="zh-CN" sz="2000" b="0" dirty="0"/>
              </a:p>
            </p:txBody>
          </p:sp>
        </mc:Choice>
        <mc:Fallback xmlns="">
          <p:sp>
            <p:nvSpPr>
              <p:cNvPr id="10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5980" y="4175946"/>
                <a:ext cx="4778020" cy="10167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754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位二进制同步计数器（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4429124" y="1268760"/>
            <a:ext cx="4257676" cy="532859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激励函数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进位</a:t>
            </a:r>
            <a:r>
              <a:rPr lang="en-US" altLang="zh-CN" sz="2400" dirty="0"/>
              <a:t>RC</a:t>
            </a:r>
            <a:r>
              <a:rPr lang="zh-CN" altLang="en-US" sz="2400" dirty="0"/>
              <a:t>的输出函数</a:t>
            </a:r>
          </a:p>
        </p:txBody>
      </p:sp>
      <p:graphicFrame>
        <p:nvGraphicFramePr>
          <p:cNvPr id="9" name="表格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220814"/>
              </p:ext>
            </p:extLst>
          </p:nvPr>
        </p:nvGraphicFramePr>
        <p:xfrm>
          <a:off x="457202" y="1364348"/>
          <a:ext cx="3847502" cy="5160996"/>
        </p:xfrm>
        <a:graphic>
          <a:graphicData uri="http://schemas.openxmlformats.org/drawingml/2006/table">
            <a:tbl>
              <a:tblPr/>
              <a:tblGrid>
                <a:gridCol w="397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39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3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4682489" y="4154437"/>
                <a:ext cx="1432765" cy="431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489" y="4154437"/>
                <a:ext cx="1432765" cy="431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546937" y="5445224"/>
                <a:ext cx="284866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/>
                              <a:ea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937" y="5445224"/>
                <a:ext cx="284866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4586029" y="3421626"/>
                <a:ext cx="251831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sz="2800" i="1">
                          <a:latin typeface="Cambria Math"/>
                          <a:ea typeface="Cambria Math"/>
                        </a:rPr>
                        <m:t>⊕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/>
                              <a:ea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029" y="3421626"/>
                <a:ext cx="251831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4629431" y="2504851"/>
                <a:ext cx="2971647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sz="2800" i="1">
                          <a:latin typeface="Cambria Math"/>
                          <a:ea typeface="Cambria Math"/>
                        </a:rPr>
                        <m:t>⊕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/>
                              <a:ea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431" y="2504851"/>
                <a:ext cx="2971647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4586029" y="1861293"/>
                <a:ext cx="33576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/>
                              <a:ea typeface="Cambria Math"/>
                            </a:rPr>
                            <m:t>⊕</m:t>
                          </m:r>
                          <m:r>
                            <a:rPr lang="en-US" altLang="zh-CN" sz="2800" i="1">
                              <a:latin typeface="Cambria Math"/>
                              <a:ea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029" y="1861293"/>
                <a:ext cx="335765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852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位二进制同步计数器（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40768"/>
            <a:ext cx="5832648" cy="522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988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位二进制同步计数器（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457200" y="1241782"/>
            <a:ext cx="8229600" cy="5643602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module</a:t>
            </a:r>
            <a:r>
              <a:rPr lang="en-US" altLang="zh-CN" dirty="0">
                <a:latin typeface="Consolas" pitchFamily="49" charset="0"/>
              </a:rPr>
              <a:t> counter_4bit(</a:t>
            </a:r>
            <a:r>
              <a:rPr lang="en-US" altLang="zh-CN" dirty="0" err="1">
                <a:latin typeface="Consolas" pitchFamily="49" charset="0"/>
              </a:rPr>
              <a:t>clk</a:t>
            </a:r>
            <a:r>
              <a:rPr lang="en-US" altLang="zh-CN" dirty="0">
                <a:latin typeface="Consolas" pitchFamily="49" charset="0"/>
              </a:rPr>
              <a:t>, </a:t>
            </a:r>
            <a:r>
              <a:rPr lang="en-US" altLang="zh-CN" dirty="0" err="1">
                <a:latin typeface="Consolas" pitchFamily="49" charset="0"/>
              </a:rPr>
              <a:t>Qd</a:t>
            </a:r>
            <a:r>
              <a:rPr lang="en-US" altLang="zh-CN" dirty="0">
                <a:latin typeface="Consolas" pitchFamily="49" charset="0"/>
              </a:rPr>
              <a:t>, Qc, </a:t>
            </a:r>
            <a:r>
              <a:rPr lang="en-US" altLang="zh-CN" dirty="0" err="1">
                <a:latin typeface="Consolas" pitchFamily="49" charset="0"/>
              </a:rPr>
              <a:t>Qb</a:t>
            </a:r>
            <a:r>
              <a:rPr lang="en-US" altLang="zh-CN" dirty="0">
                <a:latin typeface="Consolas" pitchFamily="49" charset="0"/>
              </a:rPr>
              <a:t>, </a:t>
            </a:r>
            <a:r>
              <a:rPr lang="en-US" altLang="zh-CN" dirty="0" err="1">
                <a:latin typeface="Consolas" pitchFamily="49" charset="0"/>
              </a:rPr>
              <a:t>Qa</a:t>
            </a:r>
            <a:r>
              <a:rPr lang="en-US" altLang="zh-CN" dirty="0">
                <a:latin typeface="Consolas" pitchFamily="49" charset="0"/>
              </a:rPr>
              <a:t>, </a:t>
            </a:r>
            <a:r>
              <a:rPr lang="en-US" altLang="zh-CN" dirty="0" err="1">
                <a:latin typeface="Consolas" pitchFamily="49" charset="0"/>
              </a:rPr>
              <a:t>Rc</a:t>
            </a:r>
            <a:r>
              <a:rPr lang="en-US" altLang="zh-CN" dirty="0">
                <a:latin typeface="Consolas" pitchFamily="49" charset="0"/>
              </a:rPr>
              <a:t>);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input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wire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clk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output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wire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Qd</a:t>
            </a:r>
            <a:r>
              <a:rPr lang="en-US" altLang="zh-CN" dirty="0">
                <a:latin typeface="Consolas" pitchFamily="49" charset="0"/>
              </a:rPr>
              <a:t>, Qc, </a:t>
            </a:r>
            <a:r>
              <a:rPr lang="en-US" altLang="zh-CN" dirty="0" err="1">
                <a:latin typeface="Consolas" pitchFamily="49" charset="0"/>
              </a:rPr>
              <a:t>Qb</a:t>
            </a:r>
            <a:r>
              <a:rPr lang="en-US" altLang="zh-CN" dirty="0">
                <a:latin typeface="Consolas" pitchFamily="49" charset="0"/>
              </a:rPr>
              <a:t>, </a:t>
            </a:r>
            <a:r>
              <a:rPr lang="en-US" altLang="zh-CN" dirty="0" err="1">
                <a:latin typeface="Consolas" pitchFamily="49" charset="0"/>
              </a:rPr>
              <a:t>Qa</a:t>
            </a:r>
            <a:r>
              <a:rPr lang="en-US" altLang="zh-CN" dirty="0">
                <a:latin typeface="Consolas" pitchFamily="49" charset="0"/>
              </a:rPr>
              <a:t>, </a:t>
            </a:r>
            <a:r>
              <a:rPr lang="en-US" altLang="zh-CN" dirty="0" err="1">
                <a:latin typeface="Consolas" pitchFamily="49" charset="0"/>
              </a:rPr>
              <a:t>Rc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wire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Nor_nQd_nQc</a:t>
            </a:r>
            <a:r>
              <a:rPr lang="en-US" altLang="zh-CN" dirty="0">
                <a:latin typeface="Consolas" pitchFamily="49" charset="0"/>
              </a:rPr>
              <a:t>, </a:t>
            </a:r>
            <a:r>
              <a:rPr lang="en-US" altLang="zh-CN" dirty="0" err="1">
                <a:latin typeface="Consolas" pitchFamily="49" charset="0"/>
              </a:rPr>
              <a:t>Nor_nQd_nQc_nQb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lvl="1">
              <a:lnSpc>
                <a:spcPct val="120000"/>
              </a:lnSpc>
              <a:buNone/>
            </a:pPr>
            <a:endParaRPr lang="en-US" altLang="zh-CN" dirty="0">
              <a:latin typeface="Consolas" pitchFamily="49" charset="0"/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FD</a:t>
            </a:r>
            <a:r>
              <a:rPr lang="en-US" altLang="zh-CN" dirty="0">
                <a:latin typeface="Consolas" pitchFamily="49" charset="0"/>
              </a:rPr>
              <a:t> FD_D(.C(</a:t>
            </a:r>
            <a:r>
              <a:rPr lang="en-US" altLang="zh-CN" dirty="0" err="1">
                <a:latin typeface="Consolas" pitchFamily="49" charset="0"/>
              </a:rPr>
              <a:t>clk</a:t>
            </a:r>
            <a:r>
              <a:rPr lang="en-US" altLang="zh-CN" dirty="0">
                <a:latin typeface="Consolas" pitchFamily="49" charset="0"/>
              </a:rPr>
              <a:t>), .D(</a:t>
            </a:r>
            <a:r>
              <a:rPr lang="en-US" altLang="zh-CN" dirty="0" err="1">
                <a:latin typeface="Consolas" pitchFamily="49" charset="0"/>
              </a:rPr>
              <a:t>Dd</a:t>
            </a:r>
            <a:r>
              <a:rPr lang="en-US" altLang="zh-CN" dirty="0">
                <a:latin typeface="Consolas" pitchFamily="49" charset="0"/>
              </a:rPr>
              <a:t>), .Q(</a:t>
            </a:r>
            <a:r>
              <a:rPr lang="en-US" altLang="zh-CN" dirty="0" err="1">
                <a:latin typeface="Consolas" pitchFamily="49" charset="0"/>
              </a:rPr>
              <a:t>Qd</a:t>
            </a:r>
            <a:r>
              <a:rPr lang="en-US" altLang="zh-CN" dirty="0">
                <a:latin typeface="Consolas" pitchFamily="49" charset="0"/>
              </a:rPr>
              <a:t>)),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latin typeface="Consolas" pitchFamily="49" charset="0"/>
              </a:rPr>
              <a:t>   FD_C(.C(</a:t>
            </a:r>
            <a:r>
              <a:rPr lang="en-US" altLang="zh-CN" dirty="0" err="1">
                <a:latin typeface="Consolas" pitchFamily="49" charset="0"/>
              </a:rPr>
              <a:t>clk</a:t>
            </a:r>
            <a:r>
              <a:rPr lang="en-US" altLang="zh-CN" dirty="0">
                <a:latin typeface="Consolas" pitchFamily="49" charset="0"/>
              </a:rPr>
              <a:t>), .D(Dc), .Q(Qc)),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latin typeface="Consolas" pitchFamily="49" charset="0"/>
              </a:rPr>
              <a:t>   FD_B(.C(</a:t>
            </a:r>
            <a:r>
              <a:rPr lang="en-US" altLang="zh-CN" dirty="0" err="1">
                <a:latin typeface="Consolas" pitchFamily="49" charset="0"/>
              </a:rPr>
              <a:t>clk</a:t>
            </a:r>
            <a:r>
              <a:rPr lang="en-US" altLang="zh-CN" dirty="0">
                <a:latin typeface="Consolas" pitchFamily="49" charset="0"/>
              </a:rPr>
              <a:t>), .D(Db), .Q(</a:t>
            </a:r>
            <a:r>
              <a:rPr lang="en-US" altLang="zh-CN" dirty="0" err="1">
                <a:latin typeface="Consolas" pitchFamily="49" charset="0"/>
              </a:rPr>
              <a:t>Qb</a:t>
            </a:r>
            <a:r>
              <a:rPr lang="en-US" altLang="zh-CN" dirty="0">
                <a:latin typeface="Consolas" pitchFamily="49" charset="0"/>
              </a:rPr>
              <a:t>)),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latin typeface="Consolas" pitchFamily="49" charset="0"/>
              </a:rPr>
              <a:t>   FD_A(.C(</a:t>
            </a:r>
            <a:r>
              <a:rPr lang="en-US" altLang="zh-CN" dirty="0" err="1">
                <a:latin typeface="Consolas" pitchFamily="49" charset="0"/>
              </a:rPr>
              <a:t>clk</a:t>
            </a:r>
            <a:r>
              <a:rPr lang="en-US" altLang="zh-CN" dirty="0">
                <a:latin typeface="Consolas" pitchFamily="49" charset="0"/>
              </a:rPr>
              <a:t>), .D(Da), .Q(</a:t>
            </a:r>
            <a:r>
              <a:rPr lang="en-US" altLang="zh-CN" dirty="0" err="1">
                <a:latin typeface="Consolas" pitchFamily="49" charset="0"/>
              </a:rPr>
              <a:t>Qa</a:t>
            </a:r>
            <a:r>
              <a:rPr lang="en-US" altLang="zh-CN" dirty="0">
                <a:latin typeface="Consolas" pitchFamily="49" charset="0"/>
              </a:rPr>
              <a:t>));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</a:rPr>
              <a:t>defparam</a:t>
            </a:r>
            <a:r>
              <a:rPr lang="en-US" altLang="zh-CN" dirty="0">
                <a:latin typeface="Consolas" pitchFamily="49" charset="0"/>
              </a:rPr>
              <a:t> FD_D.INIT = 1'b0, FD_C.INIT = 1'b0;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</a:rPr>
              <a:t>defparam</a:t>
            </a:r>
            <a:r>
              <a:rPr lang="en-US" altLang="zh-CN" dirty="0">
                <a:latin typeface="Consolas" pitchFamily="49" charset="0"/>
              </a:rPr>
              <a:t> FD_B.INIT = 1'b0, FD_A.INIT = 1'b0;</a:t>
            </a:r>
          </a:p>
          <a:p>
            <a:pPr lvl="1">
              <a:lnSpc>
                <a:spcPct val="120000"/>
              </a:lnSpc>
              <a:buNone/>
            </a:pPr>
            <a:endParaRPr lang="en-US" altLang="zh-CN" dirty="0">
              <a:latin typeface="Consolas" pitchFamily="49" charset="0"/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INV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nQd_L</a:t>
            </a:r>
            <a:r>
              <a:rPr lang="en-US" altLang="zh-CN" dirty="0">
                <a:latin typeface="Consolas" pitchFamily="49" charset="0"/>
              </a:rPr>
              <a:t>(.I(</a:t>
            </a:r>
            <a:r>
              <a:rPr lang="en-US" altLang="zh-CN" dirty="0" err="1">
                <a:latin typeface="Consolas" pitchFamily="49" charset="0"/>
              </a:rPr>
              <a:t>Qd</a:t>
            </a:r>
            <a:r>
              <a:rPr lang="en-US" altLang="zh-CN" dirty="0">
                <a:latin typeface="Consolas" pitchFamily="49" charset="0"/>
              </a:rPr>
              <a:t>), .O(</a:t>
            </a:r>
            <a:r>
              <a:rPr lang="en-US" altLang="zh-CN" dirty="0" err="1">
                <a:latin typeface="Consolas" pitchFamily="49" charset="0"/>
              </a:rPr>
              <a:t>nQd</a:t>
            </a:r>
            <a:r>
              <a:rPr lang="en-US" altLang="zh-CN" dirty="0">
                <a:latin typeface="Consolas" pitchFamily="49" charset="0"/>
              </a:rPr>
              <a:t>)), </a:t>
            </a:r>
            <a:r>
              <a:rPr lang="en-US" altLang="zh-CN" dirty="0" err="1">
                <a:latin typeface="Consolas" pitchFamily="49" charset="0"/>
              </a:rPr>
              <a:t>nQc_L</a:t>
            </a:r>
            <a:r>
              <a:rPr lang="en-US" altLang="zh-CN" dirty="0">
                <a:latin typeface="Consolas" pitchFamily="49" charset="0"/>
              </a:rPr>
              <a:t>(.I(Qc), .O(</a:t>
            </a:r>
            <a:r>
              <a:rPr lang="en-US" altLang="zh-CN" dirty="0" err="1">
                <a:latin typeface="Consolas" pitchFamily="49" charset="0"/>
              </a:rPr>
              <a:t>nQc</a:t>
            </a:r>
            <a:r>
              <a:rPr lang="en-US" altLang="zh-CN" dirty="0">
                <a:latin typeface="Consolas" pitchFamily="49" charset="0"/>
              </a:rPr>
              <a:t>)),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latin typeface="Consolas" pitchFamily="49" charset="0"/>
              </a:rPr>
              <a:t>    </a:t>
            </a:r>
            <a:r>
              <a:rPr lang="en-US" altLang="zh-CN" dirty="0" err="1">
                <a:latin typeface="Consolas" pitchFamily="49" charset="0"/>
              </a:rPr>
              <a:t>nQb_L</a:t>
            </a:r>
            <a:r>
              <a:rPr lang="en-US" altLang="zh-CN" dirty="0">
                <a:latin typeface="Consolas" pitchFamily="49" charset="0"/>
              </a:rPr>
              <a:t>(.I(</a:t>
            </a:r>
            <a:r>
              <a:rPr lang="en-US" altLang="zh-CN" dirty="0" err="1">
                <a:latin typeface="Consolas" pitchFamily="49" charset="0"/>
              </a:rPr>
              <a:t>Qb</a:t>
            </a:r>
            <a:r>
              <a:rPr lang="en-US" altLang="zh-CN" dirty="0">
                <a:latin typeface="Consolas" pitchFamily="49" charset="0"/>
              </a:rPr>
              <a:t>), .O(</a:t>
            </a:r>
            <a:r>
              <a:rPr lang="en-US" altLang="zh-CN" dirty="0" err="1">
                <a:latin typeface="Consolas" pitchFamily="49" charset="0"/>
              </a:rPr>
              <a:t>nQb</a:t>
            </a:r>
            <a:r>
              <a:rPr lang="en-US" altLang="zh-CN" dirty="0">
                <a:latin typeface="Consolas" pitchFamily="49" charset="0"/>
              </a:rPr>
              <a:t>)), </a:t>
            </a:r>
            <a:r>
              <a:rPr lang="en-US" altLang="zh-CN" dirty="0" err="1">
                <a:latin typeface="Consolas" pitchFamily="49" charset="0"/>
              </a:rPr>
              <a:t>nQa_L</a:t>
            </a:r>
            <a:r>
              <a:rPr lang="en-US" altLang="zh-CN" dirty="0">
                <a:latin typeface="Consolas" pitchFamily="49" charset="0"/>
              </a:rPr>
              <a:t>(.I(</a:t>
            </a:r>
            <a:r>
              <a:rPr lang="en-US" altLang="zh-CN" dirty="0" err="1">
                <a:latin typeface="Consolas" pitchFamily="49" charset="0"/>
              </a:rPr>
              <a:t>Qa</a:t>
            </a:r>
            <a:r>
              <a:rPr lang="en-US" altLang="zh-CN" dirty="0">
                <a:latin typeface="Consolas" pitchFamily="49" charset="0"/>
              </a:rPr>
              <a:t>), .O(</a:t>
            </a:r>
            <a:r>
              <a:rPr lang="en-US" altLang="zh-CN" dirty="0" err="1">
                <a:latin typeface="Consolas" pitchFamily="49" charset="0"/>
              </a:rPr>
              <a:t>nQa</a:t>
            </a:r>
            <a:r>
              <a:rPr lang="en-US" altLang="zh-CN" dirty="0">
                <a:latin typeface="Consolas" pitchFamily="49" charset="0"/>
              </a:rPr>
              <a:t>));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assign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Dd</a:t>
            </a:r>
            <a:r>
              <a:rPr lang="en-US" altLang="zh-CN" dirty="0">
                <a:latin typeface="Consolas" pitchFamily="49" charset="0"/>
              </a:rPr>
              <a:t> = </a:t>
            </a:r>
            <a:r>
              <a:rPr lang="en-US" altLang="zh-CN" dirty="0" err="1">
                <a:latin typeface="Consolas" pitchFamily="49" charset="0"/>
              </a:rPr>
              <a:t>nQd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lvl="1">
              <a:lnSpc>
                <a:spcPct val="120000"/>
              </a:lnSpc>
              <a:buNone/>
            </a:pPr>
            <a:endParaRPr lang="en-US" altLang="zh-CN" dirty="0">
              <a:latin typeface="Consolas" pitchFamily="49" charset="0"/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DNOR2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Dc_L</a:t>
            </a:r>
            <a:r>
              <a:rPr lang="en-US" altLang="zh-CN" dirty="0">
                <a:latin typeface="Consolas" pitchFamily="49" charset="0"/>
              </a:rPr>
              <a:t>(.I0(</a:t>
            </a:r>
            <a:r>
              <a:rPr lang="en-US" altLang="zh-CN" dirty="0" err="1">
                <a:latin typeface="Consolas" pitchFamily="49" charset="0"/>
              </a:rPr>
              <a:t>Qd</a:t>
            </a:r>
            <a:r>
              <a:rPr lang="en-US" altLang="zh-CN" dirty="0">
                <a:latin typeface="Consolas" pitchFamily="49" charset="0"/>
              </a:rPr>
              <a:t>),              .I1(</a:t>
            </a:r>
            <a:r>
              <a:rPr lang="en-US" altLang="zh-CN" dirty="0" err="1">
                <a:latin typeface="Consolas" pitchFamily="49" charset="0"/>
              </a:rPr>
              <a:t>nQc</a:t>
            </a:r>
            <a:r>
              <a:rPr lang="en-US" altLang="zh-CN" dirty="0">
                <a:latin typeface="Consolas" pitchFamily="49" charset="0"/>
              </a:rPr>
              <a:t>), .O(Dc)),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latin typeface="Consolas" pitchFamily="49" charset="0"/>
              </a:rPr>
              <a:t>      </a:t>
            </a:r>
            <a:r>
              <a:rPr lang="en-US" altLang="zh-CN" dirty="0" err="1">
                <a:latin typeface="Consolas" pitchFamily="49" charset="0"/>
              </a:rPr>
              <a:t>Db_L</a:t>
            </a:r>
            <a:r>
              <a:rPr lang="en-US" altLang="zh-CN" dirty="0">
                <a:latin typeface="Consolas" pitchFamily="49" charset="0"/>
              </a:rPr>
              <a:t>(.I0(</a:t>
            </a:r>
            <a:r>
              <a:rPr lang="en-US" altLang="zh-CN" dirty="0" err="1">
                <a:latin typeface="Consolas" pitchFamily="49" charset="0"/>
              </a:rPr>
              <a:t>Nor_nQd_nQc</a:t>
            </a:r>
            <a:r>
              <a:rPr lang="en-US" altLang="zh-CN" dirty="0">
                <a:latin typeface="Consolas" pitchFamily="49" charset="0"/>
              </a:rPr>
              <a:t>),     .I1(</a:t>
            </a:r>
            <a:r>
              <a:rPr lang="en-US" altLang="zh-CN" dirty="0" err="1">
                <a:latin typeface="Consolas" pitchFamily="49" charset="0"/>
              </a:rPr>
              <a:t>nQb</a:t>
            </a:r>
            <a:r>
              <a:rPr lang="en-US" altLang="zh-CN" dirty="0">
                <a:latin typeface="Consolas" pitchFamily="49" charset="0"/>
              </a:rPr>
              <a:t>), .O(Db)),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latin typeface="Consolas" pitchFamily="49" charset="0"/>
              </a:rPr>
              <a:t>      </a:t>
            </a:r>
            <a:r>
              <a:rPr lang="en-US" altLang="zh-CN" dirty="0" err="1">
                <a:latin typeface="Consolas" pitchFamily="49" charset="0"/>
              </a:rPr>
              <a:t>Da_L</a:t>
            </a:r>
            <a:r>
              <a:rPr lang="en-US" altLang="zh-CN" dirty="0">
                <a:latin typeface="Consolas" pitchFamily="49" charset="0"/>
              </a:rPr>
              <a:t>(.I0(</a:t>
            </a:r>
            <a:r>
              <a:rPr lang="en-US" altLang="zh-CN" dirty="0" err="1">
                <a:latin typeface="Consolas" pitchFamily="49" charset="0"/>
              </a:rPr>
              <a:t>Nor_nQd_nQc_nQb</a:t>
            </a:r>
            <a:r>
              <a:rPr lang="en-US" altLang="zh-CN" dirty="0">
                <a:latin typeface="Consolas" pitchFamily="49" charset="0"/>
              </a:rPr>
              <a:t>), .I1(</a:t>
            </a:r>
            <a:r>
              <a:rPr lang="en-US" altLang="zh-CN" dirty="0" err="1">
                <a:latin typeface="Consolas" pitchFamily="49" charset="0"/>
              </a:rPr>
              <a:t>nQa</a:t>
            </a:r>
            <a:r>
              <a:rPr lang="en-US" altLang="zh-CN" dirty="0">
                <a:latin typeface="Consolas" pitchFamily="49" charset="0"/>
              </a:rPr>
              <a:t>), .O(Da));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NOR4</a:t>
            </a: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Rc_L</a:t>
            </a:r>
            <a:r>
              <a:rPr lang="en-US" altLang="zh-CN" dirty="0">
                <a:latin typeface="Consolas" pitchFamily="49" charset="0"/>
              </a:rPr>
              <a:t>(.I0(</a:t>
            </a:r>
            <a:r>
              <a:rPr lang="en-US" altLang="zh-CN" dirty="0" err="1">
                <a:latin typeface="Consolas" pitchFamily="49" charset="0"/>
              </a:rPr>
              <a:t>nQd</a:t>
            </a:r>
            <a:r>
              <a:rPr lang="en-US" altLang="zh-CN" dirty="0">
                <a:latin typeface="Consolas" pitchFamily="49" charset="0"/>
              </a:rPr>
              <a:t>), .I1(</a:t>
            </a:r>
            <a:r>
              <a:rPr lang="en-US" altLang="zh-CN" dirty="0" err="1">
                <a:latin typeface="Consolas" pitchFamily="49" charset="0"/>
              </a:rPr>
              <a:t>nQc</a:t>
            </a:r>
            <a:r>
              <a:rPr lang="en-US" altLang="zh-CN" dirty="0">
                <a:latin typeface="Consolas" pitchFamily="49" charset="0"/>
              </a:rPr>
              <a:t>), .I2(</a:t>
            </a:r>
            <a:r>
              <a:rPr lang="en-US" altLang="zh-CN" dirty="0" err="1">
                <a:latin typeface="Consolas" pitchFamily="49" charset="0"/>
              </a:rPr>
              <a:t>nQb</a:t>
            </a:r>
            <a:r>
              <a:rPr lang="en-US" altLang="zh-CN" dirty="0">
                <a:latin typeface="Consolas" pitchFamily="49" charset="0"/>
              </a:rPr>
              <a:t>), .I3(</a:t>
            </a:r>
            <a:r>
              <a:rPr lang="en-US" altLang="zh-CN" dirty="0" err="1">
                <a:latin typeface="Consolas" pitchFamily="49" charset="0"/>
              </a:rPr>
              <a:t>nQa</a:t>
            </a:r>
            <a:r>
              <a:rPr lang="en-US" altLang="zh-CN" dirty="0">
                <a:latin typeface="Consolas" pitchFamily="49" charset="0"/>
              </a:rPr>
              <a:t>), .O(</a:t>
            </a:r>
            <a:r>
              <a:rPr lang="en-US" altLang="zh-CN" dirty="0" err="1">
                <a:latin typeface="Consolas" pitchFamily="49" charset="0"/>
              </a:rPr>
              <a:t>Rc</a:t>
            </a:r>
            <a:r>
              <a:rPr lang="en-US" altLang="zh-CN" dirty="0">
                <a:latin typeface="Consolas" pitchFamily="49" charset="0"/>
              </a:rPr>
              <a:t>));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NOR2</a:t>
            </a: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Nor_nQd_nQc_L</a:t>
            </a:r>
            <a:r>
              <a:rPr lang="en-US" altLang="zh-CN" dirty="0">
                <a:latin typeface="Consolas" pitchFamily="49" charset="0"/>
              </a:rPr>
              <a:t>    (.I0(</a:t>
            </a:r>
            <a:r>
              <a:rPr lang="en-US" altLang="zh-CN" dirty="0" err="1">
                <a:latin typeface="Consolas" pitchFamily="49" charset="0"/>
              </a:rPr>
              <a:t>nQd</a:t>
            </a:r>
            <a:r>
              <a:rPr lang="en-US" altLang="zh-CN" dirty="0">
                <a:latin typeface="Consolas" pitchFamily="49" charset="0"/>
              </a:rPr>
              <a:t>), .I1(</a:t>
            </a:r>
            <a:r>
              <a:rPr lang="en-US" altLang="zh-CN" dirty="0" err="1">
                <a:latin typeface="Consolas" pitchFamily="49" charset="0"/>
              </a:rPr>
              <a:t>nQc</a:t>
            </a:r>
            <a:r>
              <a:rPr lang="en-US" altLang="zh-CN" dirty="0">
                <a:latin typeface="Consolas" pitchFamily="49" charset="0"/>
              </a:rPr>
              <a:t>), .O(</a:t>
            </a:r>
            <a:r>
              <a:rPr lang="en-US" altLang="zh-CN" dirty="0" err="1">
                <a:latin typeface="Consolas" pitchFamily="49" charset="0"/>
              </a:rPr>
              <a:t>Nor_nQd_nQc</a:t>
            </a:r>
            <a:r>
              <a:rPr lang="en-US" altLang="zh-CN" dirty="0">
                <a:latin typeface="Consolas" pitchFamily="49" charset="0"/>
              </a:rPr>
              <a:t>));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NOR3</a:t>
            </a: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Nor_nQd_nQc_nQb_L</a:t>
            </a:r>
            <a:r>
              <a:rPr lang="en-US" altLang="zh-CN" dirty="0">
                <a:latin typeface="Consolas" pitchFamily="49" charset="0"/>
              </a:rPr>
              <a:t>(.I0(</a:t>
            </a:r>
            <a:r>
              <a:rPr lang="en-US" altLang="zh-CN" dirty="0" err="1">
                <a:latin typeface="Consolas" pitchFamily="49" charset="0"/>
              </a:rPr>
              <a:t>nQd</a:t>
            </a:r>
            <a:r>
              <a:rPr lang="en-US" altLang="zh-CN" dirty="0">
                <a:latin typeface="Consolas" pitchFamily="49" charset="0"/>
              </a:rPr>
              <a:t>), .I1(</a:t>
            </a:r>
            <a:r>
              <a:rPr lang="en-US" altLang="zh-CN" dirty="0" err="1">
                <a:latin typeface="Consolas" pitchFamily="49" charset="0"/>
              </a:rPr>
              <a:t>nQc</a:t>
            </a:r>
            <a:r>
              <a:rPr lang="en-US" altLang="zh-CN" dirty="0">
                <a:latin typeface="Consolas" pitchFamily="49" charset="0"/>
              </a:rPr>
              <a:t>), .I2(</a:t>
            </a:r>
            <a:r>
              <a:rPr lang="en-US" altLang="zh-CN" dirty="0" err="1">
                <a:latin typeface="Consolas" pitchFamily="49" charset="0"/>
              </a:rPr>
              <a:t>nQb</a:t>
            </a:r>
            <a:r>
              <a:rPr lang="en-US" altLang="zh-CN" dirty="0">
                <a:latin typeface="Consolas" pitchFamily="49" charset="0"/>
              </a:rPr>
              <a:t>), .O(</a:t>
            </a:r>
            <a:r>
              <a:rPr lang="en-US" altLang="zh-CN" dirty="0" err="1">
                <a:latin typeface="Consolas" pitchFamily="49" charset="0"/>
              </a:rPr>
              <a:t>Nor_nQd_nQc_nQb</a:t>
            </a:r>
            <a:r>
              <a:rPr lang="en-US" altLang="zh-CN" dirty="0">
                <a:latin typeface="Consolas" pitchFamily="49" charset="0"/>
              </a:rPr>
              <a:t>));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</a:rPr>
              <a:t>endmodule</a:t>
            </a:r>
            <a:endParaRPr lang="zh-CN" altLang="en-US" dirty="0">
              <a:solidFill>
                <a:srgbClr val="0000FF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39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位二进制同步计数器仿真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53" y="1700808"/>
            <a:ext cx="8820375" cy="238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29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653536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可逆二进制同步计数器（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可逆二进制同步计数器通过控制端</a:t>
            </a:r>
            <a:r>
              <a:rPr lang="en-US" altLang="zh-CN" sz="2800" dirty="0"/>
              <a:t>S</a:t>
            </a:r>
            <a:r>
              <a:rPr lang="zh-CN" altLang="en-US" sz="2800" dirty="0"/>
              <a:t>选择正向或者反向计数</a:t>
            </a:r>
          </a:p>
          <a:p>
            <a:pPr lvl="1"/>
            <a:r>
              <a:rPr lang="en-US" altLang="zh-CN" sz="2400" dirty="0"/>
              <a:t>S = 1</a:t>
            </a:r>
            <a:r>
              <a:rPr lang="zh-CN" altLang="en-US" sz="2400" dirty="0"/>
              <a:t>时，正向计数</a:t>
            </a:r>
          </a:p>
          <a:p>
            <a:pPr lvl="1"/>
            <a:r>
              <a:rPr lang="en-US" altLang="zh-CN" sz="2400" dirty="0"/>
              <a:t>S = 0</a:t>
            </a:r>
            <a:r>
              <a:rPr lang="zh-CN" altLang="en-US" sz="2400" dirty="0"/>
              <a:t>时，反向计数。各触发器逻辑表达式如下式</a:t>
            </a:r>
          </a:p>
          <a:p>
            <a:endParaRPr lang="zh-CN" altLang="en-US" sz="28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069414"/>
              </p:ext>
            </p:extLst>
          </p:nvPr>
        </p:nvGraphicFramePr>
        <p:xfrm>
          <a:off x="323528" y="3140968"/>
          <a:ext cx="8675688" cy="340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99100" imgH="2159000" progId="Equation.DSMT4">
                  <p:embed/>
                </p:oleObj>
              </mc:Choice>
              <mc:Fallback>
                <p:oleObj name="Equation" r:id="rId2" imgW="5499100" imgH="2159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3140968"/>
                        <a:ext cx="8675688" cy="340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166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797552" cy="954360"/>
          </a:xfrm>
        </p:spPr>
        <p:txBody>
          <a:bodyPr/>
          <a:lstStyle/>
          <a:p>
            <a:r>
              <a:rPr lang="zh-CN" altLang="en-US" dirty="0"/>
              <a:t>可逆二进制同步计数器（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可逆二进制</a:t>
            </a:r>
            <a:r>
              <a:rPr lang="en-US" altLang="zh-CN" sz="2800" dirty="0"/>
              <a:t>4</a:t>
            </a:r>
            <a:r>
              <a:rPr lang="zh-CN" altLang="en-US" sz="2800" dirty="0"/>
              <a:t>位同步计数器的行为描述</a:t>
            </a:r>
          </a:p>
        </p:txBody>
      </p:sp>
      <p:sp>
        <p:nvSpPr>
          <p:cNvPr id="5" name="verilog代码"/>
          <p:cNvSpPr/>
          <p:nvPr/>
        </p:nvSpPr>
        <p:spPr>
          <a:xfrm>
            <a:off x="745128" y="2348880"/>
            <a:ext cx="7715304" cy="403378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72000" tIns="36000" rIns="72000" bIns="3600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module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RevCounter_4bit(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clk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, s, 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, 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Rc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input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wire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clk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, s;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output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reg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[3:0] 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output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wire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Rc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initial 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= 0;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assign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Rc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= (~s &amp; (~|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)) | (s &amp; (&amp;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));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always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@ (</a:t>
            </a: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posedge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clk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)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begin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Consolas" pitchFamily="49" charset="0"/>
                <a:cs typeface="Courier New" pitchFamily="49" charset="0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if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(s)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&lt;= 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+ 1’b1;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Consolas" pitchFamily="49" charset="0"/>
                <a:cs typeface="Courier New" pitchFamily="49" charset="0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&lt;= </a:t>
            </a:r>
            <a:r>
              <a:rPr lang="en-US" altLang="zh-CN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 – 1’b1;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end</a:t>
            </a:r>
          </a:p>
          <a:p>
            <a:pPr>
              <a:lnSpc>
                <a:spcPct val="110000"/>
              </a:lnSpc>
            </a:pP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endmodule</a:t>
            </a:r>
            <a:endParaRPr lang="en-US" altLang="zh-CN" dirty="0">
              <a:solidFill>
                <a:srgbClr val="0000FF"/>
              </a:solidFill>
              <a:latin typeface="Consolas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814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秒计数器设计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新宋体" pitchFamily="49" charset="-122"/>
              </a:rPr>
              <a:t>100MHz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新宋体" pitchFamily="49" charset="-122"/>
              </a:rPr>
              <a:t>信号通过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新宋体" pitchFamily="49" charset="-122"/>
              </a:rPr>
              <a:t>50,000,000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新宋体" pitchFamily="49" charset="-122"/>
              </a:rPr>
              <a:t>次分频后，得到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新宋体" pitchFamily="49" charset="-122"/>
              </a:rPr>
              <a:t>1Hz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新宋体" pitchFamily="49" charset="-122"/>
              </a:rPr>
              <a:t>的秒脉冲方波，作为计数器的脉冲输入</a:t>
            </a:r>
          </a:p>
          <a:p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1691680" y="2348880"/>
            <a:ext cx="5054324" cy="4376583"/>
          </a:xfrm>
          <a:prstGeom prst="rect">
            <a:avLst/>
          </a:prstGeom>
          <a:noFill/>
          <a:ln w="3175">
            <a:noFill/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module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counter_1s(</a:t>
            </a:r>
            <a:r>
              <a:rPr lang="en-US" altLang="zh-CN" sz="1600" dirty="0" err="1">
                <a:latin typeface="Consolas" pitchFamily="49" charset="0"/>
                <a:cs typeface="Courier New" pitchFamily="49" charset="0"/>
              </a:rPr>
              <a:t>clk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, clk_1s);</a:t>
            </a:r>
          </a:p>
          <a:p>
            <a:pPr eaLnBrk="0" hangingPunct="0"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input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wire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sz="1600" dirty="0" err="1">
                <a:latin typeface="Consolas" pitchFamily="49" charset="0"/>
                <a:cs typeface="Courier New" pitchFamily="49" charset="0"/>
              </a:rPr>
              <a:t>clk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;</a:t>
            </a:r>
          </a:p>
          <a:p>
            <a:pPr eaLnBrk="0" hangingPunct="0"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output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reg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clk_1s;</a:t>
            </a:r>
          </a:p>
          <a:p>
            <a:pPr eaLnBrk="0" hangingPunct="0"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reg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[31:0] </a:t>
            </a:r>
            <a:r>
              <a:rPr lang="en-US" altLang="zh-CN" sz="1600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;</a:t>
            </a:r>
          </a:p>
          <a:p>
            <a:pPr eaLnBrk="0" hangingPunct="0"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initial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clk_1s = 0;</a:t>
            </a:r>
            <a:endParaRPr lang="zh-CN" altLang="en-US" sz="1600" dirty="0">
              <a:latin typeface="Consolas" pitchFamily="49" charset="0"/>
              <a:cs typeface="Courier New" pitchFamily="49" charset="0"/>
            </a:endParaRPr>
          </a:p>
          <a:p>
            <a:pPr eaLnBrk="0" hangingPunct="0"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always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@ 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posedge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sz="1600" dirty="0" err="1">
                <a:latin typeface="Consolas" pitchFamily="49" charset="0"/>
                <a:cs typeface="Courier New" pitchFamily="49" charset="0"/>
              </a:rPr>
              <a:t>clk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)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begin</a:t>
            </a:r>
          </a:p>
          <a:p>
            <a:pPr eaLnBrk="0" hangingPunct="0"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if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(</a:t>
            </a:r>
            <a:r>
              <a:rPr lang="en-US" altLang="zh-CN" sz="1600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&lt; 50_000_000)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begin</a:t>
            </a:r>
          </a:p>
          <a:p>
            <a:pPr eaLnBrk="0" hangingPunct="0"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      </a:t>
            </a:r>
            <a:r>
              <a:rPr lang="en-US" altLang="zh-CN" sz="1600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&lt;= </a:t>
            </a:r>
            <a:r>
              <a:rPr lang="en-US" altLang="zh-CN" sz="1600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+ 1’b1;</a:t>
            </a:r>
          </a:p>
          <a:p>
            <a:pPr eaLnBrk="0" hangingPunct="0"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end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else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begin</a:t>
            </a:r>
          </a:p>
          <a:p>
            <a:pPr eaLnBrk="0" hangingPunct="0"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      </a:t>
            </a:r>
            <a:r>
              <a:rPr lang="en-US" altLang="zh-CN" sz="1600" dirty="0" err="1">
                <a:latin typeface="Consolas" pitchFamily="49" charset="0"/>
                <a:cs typeface="Courier New" pitchFamily="49" charset="0"/>
              </a:rPr>
              <a:t>cnt</a:t>
            </a: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&lt;= 0;</a:t>
            </a:r>
          </a:p>
          <a:p>
            <a:pPr eaLnBrk="0" hangingPunct="0"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      clk_1s &lt;= ~clk_1s;</a:t>
            </a:r>
          </a:p>
          <a:p>
            <a:pPr eaLnBrk="0" hangingPunct="0"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>
                <a:latin typeface="Consolas" pitchFamily="49" charset="0"/>
                <a:cs typeface="Courier New" pitchFamily="49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end</a:t>
            </a:r>
          </a:p>
          <a:p>
            <a:pPr eaLnBrk="0" hangingPunct="0"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end</a:t>
            </a:r>
          </a:p>
          <a:p>
            <a:pPr eaLnBrk="0" hangingPunct="0">
              <a:lnSpc>
                <a:spcPct val="120000"/>
              </a:lnSpc>
              <a:tabLst>
                <a:tab pos="631825" algn="l"/>
              </a:tabLst>
            </a:pP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  <a:cs typeface="Courier New" pitchFamily="49" charset="0"/>
              </a:rPr>
              <a:t>endmodule</a:t>
            </a:r>
            <a:endParaRPr lang="en-US" altLang="zh-CN" sz="1600" dirty="0">
              <a:solidFill>
                <a:srgbClr val="0000FF"/>
              </a:solidFill>
              <a:latin typeface="Consolas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718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实验内容与步骤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：原理图方式设计</a:t>
            </a:r>
            <a:r>
              <a:rPr lang="en-US" altLang="zh-CN" sz="2800" dirty="0"/>
              <a:t>4</a:t>
            </a:r>
            <a:r>
              <a:rPr lang="zh-CN" altLang="zh-CN" sz="2800" dirty="0"/>
              <a:t>位同步二进制计数器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2</a:t>
            </a:r>
            <a:r>
              <a:rPr lang="zh-CN" altLang="en-US" sz="2800" dirty="0"/>
              <a:t>：以</a:t>
            </a:r>
            <a:r>
              <a:rPr lang="en-US" altLang="zh-CN" sz="2800" dirty="0"/>
              <a:t>Verilog</a:t>
            </a:r>
            <a:r>
              <a:rPr lang="zh-CN" altLang="en-US" sz="2800" dirty="0"/>
              <a:t>行为描述方式设计</a:t>
            </a:r>
            <a:r>
              <a:rPr lang="en-US" altLang="zh-CN" sz="2800" dirty="0"/>
              <a:t>16</a:t>
            </a:r>
            <a:r>
              <a:rPr lang="zh-CN" altLang="en-US" sz="2800" dirty="0"/>
              <a:t>位可逆二进制同步计数器</a:t>
            </a:r>
          </a:p>
          <a:p>
            <a:pPr>
              <a:lnSpc>
                <a:spcPct val="150000"/>
              </a:lnSpc>
            </a:pPr>
            <a:endParaRPr lang="zh-CN" altLang="en-US" sz="28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67516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09520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设计</a:t>
            </a:r>
            <a:r>
              <a:rPr lang="en-US" altLang="zh-CN" dirty="0"/>
              <a:t>4</a:t>
            </a:r>
            <a:r>
              <a:rPr lang="zh-CN" altLang="zh-CN" dirty="0"/>
              <a:t>位同步二进制计数器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Digital</a:t>
            </a:r>
            <a:r>
              <a:rPr lang="zh-CN" altLang="en-US" dirty="0"/>
              <a:t>里新建</a:t>
            </a:r>
            <a:r>
              <a:rPr lang="en-US" altLang="zh-CN" dirty="0"/>
              <a:t>Counter4b</a:t>
            </a:r>
            <a:r>
              <a:rPr lang="zh-CN" altLang="en-US" dirty="0"/>
              <a:t>原理图，用原理图方式进行设计，并设计测试用例进行仿真</a:t>
            </a:r>
            <a:endParaRPr lang="en-US" altLang="zh-CN" dirty="0"/>
          </a:p>
          <a:p>
            <a:r>
              <a:rPr lang="zh-CN" altLang="en-US" dirty="0"/>
              <a:t>导出</a:t>
            </a:r>
            <a:r>
              <a:rPr lang="en-US" altLang="zh-CN" dirty="0"/>
              <a:t>Counter4b.v</a:t>
            </a:r>
          </a:p>
        </p:txBody>
      </p:sp>
    </p:spTree>
    <p:extLst>
      <p:ext uri="{BB962C8B-B14F-4D97-AF65-F5344CB8AC3E}">
        <p14:creationId xmlns:p14="http://schemas.microsoft.com/office/powerpoint/2010/main" val="1210653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09520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设计</a:t>
            </a:r>
            <a:r>
              <a:rPr lang="en-US" altLang="zh-CN" dirty="0"/>
              <a:t>4</a:t>
            </a:r>
            <a:r>
              <a:rPr lang="zh-CN" altLang="zh-CN" dirty="0"/>
              <a:t>位同步二进制计数器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 err="1"/>
              <a:t>Vivado</a:t>
            </a:r>
            <a:r>
              <a:rPr lang="zh-CN" altLang="en-US" dirty="0"/>
              <a:t>中新建工程</a:t>
            </a:r>
            <a:r>
              <a:rPr lang="en-US" altLang="zh-CN" dirty="0" err="1"/>
              <a:t>MyCounter</a:t>
            </a:r>
            <a:endParaRPr lang="en-US" altLang="zh-CN" dirty="0"/>
          </a:p>
          <a:p>
            <a:r>
              <a:rPr lang="zh-CN" altLang="en-US" dirty="0"/>
              <a:t>加入</a:t>
            </a:r>
            <a:r>
              <a:rPr lang="en-US" altLang="zh-CN" dirty="0"/>
              <a:t>Counter4b.v</a:t>
            </a:r>
          </a:p>
          <a:p>
            <a:r>
              <a:rPr lang="zh-CN" altLang="en-US" dirty="0"/>
              <a:t>设计仿真波形文件进行行为仿真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6710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仿真波形图示例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132856"/>
            <a:ext cx="8078850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4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653536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设计</a:t>
            </a:r>
            <a:r>
              <a:rPr lang="en-US" altLang="zh-CN" dirty="0"/>
              <a:t>4</a:t>
            </a:r>
            <a:r>
              <a:rPr lang="zh-CN" altLang="zh-CN" dirty="0"/>
              <a:t>位同步二进制计数器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新建</a:t>
            </a:r>
            <a:r>
              <a:rPr lang="en-US" altLang="zh-CN" dirty="0">
                <a:latin typeface="Consolas" pitchFamily="49" charset="0"/>
                <a:cs typeface="Courier New" pitchFamily="49" charset="0"/>
              </a:rPr>
              <a:t>counter_1s.v</a:t>
            </a:r>
            <a:r>
              <a:rPr lang="zh-CN" altLang="en-US" dirty="0"/>
              <a:t>源文件，输出秒时钟</a:t>
            </a:r>
            <a:endParaRPr lang="en-US" altLang="zh-CN" dirty="0"/>
          </a:p>
          <a:p>
            <a:r>
              <a:rPr lang="zh-CN" altLang="en-US" dirty="0"/>
              <a:t>采用</a:t>
            </a:r>
            <a:r>
              <a:rPr lang="en-US" altLang="zh-CN" dirty="0"/>
              <a:t>Verilog</a:t>
            </a:r>
            <a:r>
              <a:rPr lang="zh-CN" altLang="en-US" dirty="0"/>
              <a:t>行为描述方法设计</a:t>
            </a:r>
            <a:endParaRPr lang="en-US" altLang="zh-CN" dirty="0"/>
          </a:p>
          <a:p>
            <a:r>
              <a:rPr lang="zh-CN" altLang="en-US" dirty="0"/>
              <a:t>新建</a:t>
            </a:r>
            <a:r>
              <a:rPr lang="en-US" altLang="zh-CN" dirty="0" err="1"/>
              <a:t>top.v</a:t>
            </a:r>
            <a:r>
              <a:rPr lang="zh-CN" altLang="en-US" dirty="0"/>
              <a:t>源文件，用行为描述进行设计</a:t>
            </a:r>
            <a:endParaRPr lang="en-US" altLang="zh-CN" dirty="0"/>
          </a:p>
          <a:p>
            <a:r>
              <a:rPr lang="zh-CN" altLang="en-US" dirty="0"/>
              <a:t>功能：</a:t>
            </a:r>
            <a:endParaRPr lang="en-US" altLang="zh-CN" dirty="0"/>
          </a:p>
          <a:p>
            <a:pPr lvl="1"/>
            <a:r>
              <a:rPr lang="zh-CN" altLang="en-US" dirty="0"/>
              <a:t>输入为</a:t>
            </a:r>
            <a:r>
              <a:rPr lang="en-US" altLang="zh-CN" dirty="0" err="1"/>
              <a:t>clk</a:t>
            </a:r>
            <a:r>
              <a:rPr lang="zh-CN" altLang="en-US" dirty="0"/>
              <a:t>（</a:t>
            </a:r>
            <a:r>
              <a:rPr lang="en-US" altLang="zh-CN" dirty="0"/>
              <a:t>100MHZ</a:t>
            </a:r>
            <a:r>
              <a:rPr lang="zh-CN" altLang="en-US" dirty="0"/>
              <a:t>）时钟</a:t>
            </a:r>
            <a:endParaRPr lang="en-US" altLang="zh-CN" dirty="0"/>
          </a:p>
          <a:p>
            <a:pPr lvl="1"/>
            <a:r>
              <a:rPr lang="zh-CN" altLang="en-US" dirty="0"/>
              <a:t>实例化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4</a:t>
            </a:r>
            <a:r>
              <a:rPr lang="zh-CN" altLang="en-US" dirty="0"/>
              <a:t>位二进制计数器</a:t>
            </a:r>
            <a:endParaRPr lang="en-US" altLang="zh-CN" dirty="0"/>
          </a:p>
          <a:p>
            <a:pPr lvl="1"/>
            <a:r>
              <a:rPr lang="zh-CN" altLang="en-US" dirty="0"/>
              <a:t>每秒自增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计数器输出值显示在</a:t>
            </a:r>
            <a:r>
              <a:rPr lang="en-US" altLang="zh-CN" dirty="0"/>
              <a:t>4</a:t>
            </a:r>
            <a:r>
              <a:rPr lang="zh-CN" altLang="en-US" dirty="0"/>
              <a:t>位数码管的最低位上</a:t>
            </a:r>
            <a:endParaRPr lang="en-US" altLang="zh-CN" dirty="0"/>
          </a:p>
          <a:p>
            <a:pPr lvl="1"/>
            <a:r>
              <a:rPr lang="en-US" altLang="zh-CN" dirty="0"/>
              <a:t>RC</a:t>
            </a:r>
            <a:r>
              <a:rPr lang="zh-CN" altLang="en-US" dirty="0"/>
              <a:t>显示在</a:t>
            </a:r>
            <a:r>
              <a:rPr lang="en-US" altLang="zh-CN" dirty="0"/>
              <a:t>LED[0]</a:t>
            </a:r>
            <a:r>
              <a:rPr lang="zh-CN" altLang="en-US" dirty="0"/>
              <a:t>灯上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11940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653536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设计</a:t>
            </a:r>
            <a:r>
              <a:rPr lang="en-US" altLang="zh-CN" dirty="0"/>
              <a:t>4</a:t>
            </a:r>
            <a:r>
              <a:rPr lang="zh-CN" altLang="zh-CN" dirty="0"/>
              <a:t>位同步二进制计数器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设计</a:t>
            </a:r>
            <a:r>
              <a:rPr lang="en-US" altLang="zh-CN" dirty="0"/>
              <a:t>top</a:t>
            </a:r>
            <a:r>
              <a:rPr lang="zh-CN" altLang="en-US" dirty="0"/>
              <a:t>文件的仿真波形代码，进行行为仿真，在实验报告中提供工程模块层次结构、仿真代码、仿真波形，并对波形进行解释</a:t>
            </a:r>
            <a:endParaRPr lang="en-US" altLang="zh-CN" dirty="0"/>
          </a:p>
          <a:p>
            <a:pPr lvl="1"/>
            <a:r>
              <a:rPr lang="zh-CN" altLang="en-US" dirty="0"/>
              <a:t>仿真时需要修改</a:t>
            </a:r>
            <a:r>
              <a:rPr lang="en-US" altLang="zh-CN" dirty="0"/>
              <a:t>counter_1s</a:t>
            </a:r>
            <a:r>
              <a:rPr lang="zh-CN" altLang="en-US" dirty="0"/>
              <a:t>模块的计数时间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3731057"/>
            <a:ext cx="5976664" cy="28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03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09520" cy="95436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设计</a:t>
            </a:r>
            <a:r>
              <a:rPr lang="en-US" altLang="zh-CN" dirty="0"/>
              <a:t>16</a:t>
            </a:r>
            <a:r>
              <a:rPr lang="zh-CN" altLang="zh-CN" dirty="0"/>
              <a:t>位</a:t>
            </a:r>
            <a:r>
              <a:rPr lang="zh-CN" altLang="en-US" dirty="0"/>
              <a:t>可逆</a:t>
            </a:r>
            <a:r>
              <a:rPr lang="zh-CN" altLang="zh-CN" dirty="0"/>
              <a:t>同步二进制计数器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新建工程</a:t>
            </a:r>
            <a:r>
              <a:rPr lang="en-US" altLang="zh-CN" dirty="0" err="1"/>
              <a:t>myRevCounter</a:t>
            </a:r>
            <a:endParaRPr lang="en-US" altLang="zh-CN" dirty="0"/>
          </a:p>
          <a:p>
            <a:r>
              <a:rPr lang="zh-CN" altLang="en-US" dirty="0"/>
              <a:t>新建源文件，设计</a:t>
            </a:r>
            <a:r>
              <a:rPr lang="en-US" altLang="zh-CN" dirty="0"/>
              <a:t>16</a:t>
            </a:r>
            <a:r>
              <a:rPr lang="zh-CN" altLang="en-US" dirty="0"/>
              <a:t>位可逆同步二进制计数器</a:t>
            </a:r>
            <a:endParaRPr lang="en-US" altLang="zh-CN" dirty="0"/>
          </a:p>
          <a:p>
            <a:pPr lvl="1"/>
            <a:r>
              <a:rPr lang="zh-CN" altLang="en-US" dirty="0"/>
              <a:t>类型是</a:t>
            </a:r>
            <a:r>
              <a:rPr lang="en-US" altLang="zh-CN" dirty="0"/>
              <a:t>Verilog</a:t>
            </a:r>
          </a:p>
          <a:p>
            <a:pPr lvl="1"/>
            <a:r>
              <a:rPr lang="zh-CN" altLang="en-US" dirty="0"/>
              <a:t>文件名称用</a:t>
            </a:r>
            <a:r>
              <a:rPr lang="en-US" altLang="zh-CN" dirty="0" err="1"/>
              <a:t>RevCounter</a:t>
            </a:r>
            <a:endParaRPr lang="en-US" altLang="zh-CN" dirty="0"/>
          </a:p>
          <a:p>
            <a:pPr lvl="1"/>
            <a:r>
              <a:rPr lang="zh-CN" altLang="en-US" dirty="0"/>
              <a:t>采用行为描述方式进行设计</a:t>
            </a:r>
            <a:endParaRPr lang="en-US" altLang="zh-CN" dirty="0"/>
          </a:p>
          <a:p>
            <a:r>
              <a:rPr lang="zh-CN" altLang="en-US" dirty="0"/>
              <a:t>波形仿真（要求仿真出</a:t>
            </a:r>
            <a:r>
              <a:rPr lang="en-US" altLang="zh-CN" dirty="0" err="1"/>
              <a:t>Rc</a:t>
            </a:r>
            <a:r>
              <a:rPr lang="zh-CN" altLang="en-US" dirty="0"/>
              <a:t>在正向计数进位和反向计数借位的输出波形）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60303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仿真波形图示例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060848"/>
            <a:ext cx="8290847" cy="232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47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653536" cy="95436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设计</a:t>
            </a:r>
            <a:r>
              <a:rPr lang="en-US" altLang="zh-CN" dirty="0"/>
              <a:t>16</a:t>
            </a:r>
            <a:r>
              <a:rPr lang="zh-CN" altLang="zh-CN" dirty="0"/>
              <a:t>位</a:t>
            </a:r>
            <a:r>
              <a:rPr lang="zh-CN" altLang="en-US" dirty="0"/>
              <a:t>可逆</a:t>
            </a:r>
            <a:r>
              <a:rPr lang="zh-CN" altLang="zh-CN" dirty="0"/>
              <a:t>同步二进制计数器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新建源文件，设计</a:t>
            </a:r>
            <a:r>
              <a:rPr lang="en-US" altLang="zh-CN" dirty="0"/>
              <a:t>100ms</a:t>
            </a:r>
            <a:r>
              <a:rPr lang="zh-CN" altLang="en-US" dirty="0"/>
              <a:t>时钟</a:t>
            </a:r>
            <a:endParaRPr lang="en-US" altLang="zh-CN" dirty="0"/>
          </a:p>
          <a:p>
            <a:pPr lvl="1"/>
            <a:r>
              <a:rPr lang="zh-CN" altLang="en-US" dirty="0"/>
              <a:t>类型是</a:t>
            </a:r>
            <a:r>
              <a:rPr lang="en-US" altLang="zh-CN" dirty="0"/>
              <a:t>Verilog</a:t>
            </a:r>
          </a:p>
          <a:p>
            <a:pPr lvl="1"/>
            <a:r>
              <a:rPr lang="zh-CN" altLang="en-US" dirty="0"/>
              <a:t>文件名称用</a:t>
            </a:r>
            <a:r>
              <a:rPr lang="en-US" altLang="zh-CN" dirty="0"/>
              <a:t>clk_100ms</a:t>
            </a:r>
          </a:p>
          <a:p>
            <a:pPr lvl="1"/>
            <a:r>
              <a:rPr lang="zh-CN" altLang="en-US" dirty="0"/>
              <a:t>采用</a:t>
            </a:r>
            <a:r>
              <a:rPr lang="en-US" altLang="zh-CN" dirty="0"/>
              <a:t>Verilog</a:t>
            </a:r>
            <a:r>
              <a:rPr lang="zh-CN" altLang="en-US" dirty="0"/>
              <a:t>行为描述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19014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653536" cy="95436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设计</a:t>
            </a:r>
            <a:r>
              <a:rPr lang="en-US" altLang="zh-CN" dirty="0"/>
              <a:t>16</a:t>
            </a:r>
            <a:r>
              <a:rPr lang="zh-CN" altLang="zh-CN" dirty="0"/>
              <a:t>位</a:t>
            </a:r>
            <a:r>
              <a:rPr lang="zh-CN" altLang="en-US" dirty="0"/>
              <a:t>可逆</a:t>
            </a:r>
            <a:r>
              <a:rPr lang="zh-CN" altLang="zh-CN" dirty="0"/>
              <a:t>同步二进制计数器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新建顶层模块</a:t>
            </a:r>
            <a:r>
              <a:rPr lang="en-US" altLang="zh-CN" dirty="0"/>
              <a:t>Top</a:t>
            </a:r>
          </a:p>
          <a:p>
            <a:r>
              <a:rPr lang="en-US" altLang="zh-CN" dirty="0"/>
              <a:t>Top</a:t>
            </a:r>
            <a:r>
              <a:rPr lang="zh-CN" altLang="en-US" dirty="0"/>
              <a:t>模块的输入为</a:t>
            </a:r>
            <a:r>
              <a:rPr lang="en-US" altLang="zh-CN" dirty="0" err="1"/>
              <a:t>clk</a:t>
            </a:r>
            <a:r>
              <a:rPr lang="zh-CN" altLang="en-US" dirty="0"/>
              <a:t>（</a:t>
            </a:r>
            <a:r>
              <a:rPr lang="en-US" altLang="zh-CN" dirty="0"/>
              <a:t>100MHZ</a:t>
            </a:r>
            <a:r>
              <a:rPr lang="zh-CN" altLang="en-US" dirty="0"/>
              <a:t>）时钟</a:t>
            </a:r>
            <a:endParaRPr lang="en-US" altLang="zh-CN" dirty="0"/>
          </a:p>
          <a:p>
            <a:r>
              <a:rPr lang="en-US" altLang="zh-CN" dirty="0" err="1"/>
              <a:t>RevCounter</a:t>
            </a:r>
            <a:r>
              <a:rPr lang="zh-CN" altLang="en-US" dirty="0"/>
              <a:t>模块的时钟输入为</a:t>
            </a:r>
            <a:r>
              <a:rPr lang="en-US" altLang="zh-CN" dirty="0"/>
              <a:t>100ms</a:t>
            </a:r>
            <a:r>
              <a:rPr lang="zh-CN" altLang="en-US" dirty="0"/>
              <a:t>时钟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 err="1"/>
              <a:t>sw</a:t>
            </a:r>
            <a:r>
              <a:rPr lang="en-US" altLang="zh-CN" dirty="0"/>
              <a:t>[0]</a:t>
            </a:r>
            <a:r>
              <a:rPr lang="zh-CN" altLang="en-US" dirty="0"/>
              <a:t>控制自增</a:t>
            </a:r>
            <a:r>
              <a:rPr lang="en-US" altLang="zh-CN" dirty="0"/>
              <a:t>/</a:t>
            </a:r>
            <a:r>
              <a:rPr lang="zh-CN" altLang="en-US" dirty="0"/>
              <a:t>自减</a:t>
            </a:r>
            <a:r>
              <a:rPr lang="en-US" altLang="zh-CN" dirty="0"/>
              <a:t>1</a:t>
            </a:r>
            <a:r>
              <a:rPr lang="zh-CN" altLang="en-US" dirty="0"/>
              <a:t>（每</a:t>
            </a:r>
            <a:r>
              <a:rPr lang="en-US" altLang="zh-CN" dirty="0"/>
              <a:t>0.1</a:t>
            </a:r>
            <a:r>
              <a:rPr lang="zh-CN" altLang="en-US" dirty="0"/>
              <a:t>秒）</a:t>
            </a:r>
            <a:endParaRPr lang="en-US" altLang="zh-CN" dirty="0"/>
          </a:p>
          <a:p>
            <a:r>
              <a:rPr lang="zh-CN" altLang="en-US" dirty="0"/>
              <a:t>计数结果显示在</a:t>
            </a:r>
            <a:r>
              <a:rPr lang="en-US" altLang="zh-CN" dirty="0"/>
              <a:t>4</a:t>
            </a:r>
            <a:r>
              <a:rPr lang="zh-CN" altLang="en-US" dirty="0"/>
              <a:t>位数码管上</a:t>
            </a:r>
            <a:endParaRPr lang="en-US" altLang="zh-CN" dirty="0"/>
          </a:p>
          <a:p>
            <a:r>
              <a:rPr lang="en-US" altLang="zh-CN" dirty="0" err="1"/>
              <a:t>Rc</a:t>
            </a:r>
            <a:r>
              <a:rPr lang="zh-CN" altLang="en-US" dirty="0"/>
              <a:t>状态用</a:t>
            </a:r>
            <a:r>
              <a:rPr lang="en-US" altLang="zh-CN" dirty="0"/>
              <a:t>LED</a:t>
            </a:r>
            <a:r>
              <a:rPr lang="zh-CN" altLang="en-US" dirty="0"/>
              <a:t>灯来显示</a:t>
            </a:r>
            <a:endParaRPr lang="en-US" altLang="zh-CN" dirty="0"/>
          </a:p>
          <a:p>
            <a:r>
              <a:rPr lang="zh-CN" altLang="en-US" dirty="0"/>
              <a:t>下载运行</a:t>
            </a:r>
            <a:endParaRPr lang="en-US" altLang="zh-CN" dirty="0"/>
          </a:p>
          <a:p>
            <a:pPr lvl="1"/>
            <a:r>
              <a:rPr lang="zh-CN" altLang="en-US" dirty="0"/>
              <a:t>拍视频记录正向、反向计数过零点的情况，在实验报告里截图显示两个</a:t>
            </a:r>
            <a:r>
              <a:rPr lang="en-US" altLang="zh-CN" dirty="0" err="1"/>
              <a:t>Rc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  <a:r>
              <a:rPr lang="zh-CN" altLang="en-US" dirty="0"/>
              <a:t>的时刻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6092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WordArt 3"/>
          <p:cNvSpPr>
            <a:spLocks noChangeArrowheads="1" noChangeShapeType="1" noTextEdit="1"/>
          </p:cNvSpPr>
          <p:nvPr/>
        </p:nvSpPr>
        <p:spPr bwMode="gray">
          <a:xfrm>
            <a:off x="2051720" y="321297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5400" b="1" kern="10" dirty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/>
                <a:ea typeface="Verdana"/>
                <a:cs typeface="Verdana"/>
              </a:rPr>
              <a:t>Thank You !</a:t>
            </a:r>
            <a:endParaRPr lang="zh-CN" altLang="en-US" sz="5400" b="1" kern="10" dirty="0">
              <a:ln w="28575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69391522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实验室PPT模版2013 beta1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3282</TotalTime>
  <Words>2162</Words>
  <Application>Microsoft Office PowerPoint</Application>
  <PresentationFormat>全屏显示(4:3)</PresentationFormat>
  <Paragraphs>1000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5" baseType="lpstr">
      <vt:lpstr>黑体</vt:lpstr>
      <vt:lpstr>华文细黑</vt:lpstr>
      <vt:lpstr>楷体_GB2312</vt:lpstr>
      <vt:lpstr>宋体</vt:lpstr>
      <vt:lpstr>微软雅黑</vt:lpstr>
      <vt:lpstr>Arial</vt:lpstr>
      <vt:lpstr>Calibri</vt:lpstr>
      <vt:lpstr>Cambria Math</vt:lpstr>
      <vt:lpstr>Consolas</vt:lpstr>
      <vt:lpstr>Helvetica</vt:lpstr>
      <vt:lpstr>Times New Roman</vt:lpstr>
      <vt:lpstr>Verdana</vt:lpstr>
      <vt:lpstr>Wingdings</vt:lpstr>
      <vt:lpstr>自定义设计方案</vt:lpstr>
      <vt:lpstr>实验室PPT模版2013 beta1</vt:lpstr>
      <vt:lpstr>1_自定义设计方案</vt:lpstr>
      <vt:lpstr>Equation</vt:lpstr>
      <vt:lpstr>数字逻辑设计实验</vt:lpstr>
      <vt:lpstr>提  纲</vt:lpstr>
      <vt:lpstr>实验目的</vt:lpstr>
      <vt:lpstr>实验设备与材料</vt:lpstr>
      <vt:lpstr>实验任务</vt:lpstr>
      <vt:lpstr>实验原理</vt:lpstr>
      <vt:lpstr>4位二进制同步计数器（1）</vt:lpstr>
      <vt:lpstr>4位二进制同步计数器（2）</vt:lpstr>
      <vt:lpstr>4位二进制同步计数器（3）</vt:lpstr>
      <vt:lpstr>4位二进制同步计数器（4）</vt:lpstr>
      <vt:lpstr>4位二进制同步计数器（5）</vt:lpstr>
      <vt:lpstr>4位二进制同步计数器（6）</vt:lpstr>
      <vt:lpstr>4位二进制同步计数器（7）</vt:lpstr>
      <vt:lpstr>4位二进制同步计数器仿真</vt:lpstr>
      <vt:lpstr>可逆二进制同步计数器（1）</vt:lpstr>
      <vt:lpstr>可逆二进制同步计数器（2）</vt:lpstr>
      <vt:lpstr>秒计数器设计</vt:lpstr>
      <vt:lpstr>实验内容与步骤</vt:lpstr>
      <vt:lpstr>设计4位同步二进制计数器（1）</vt:lpstr>
      <vt:lpstr>设计4位同步二进制计数器（2）</vt:lpstr>
      <vt:lpstr>仿真波形图示例</vt:lpstr>
      <vt:lpstr>设计4位同步二进制计数器（3）</vt:lpstr>
      <vt:lpstr>设计4位同步二进制计数器（4）</vt:lpstr>
      <vt:lpstr>设计16位可逆同步二进制计数器（1）</vt:lpstr>
      <vt:lpstr>仿真波形图示例</vt:lpstr>
      <vt:lpstr>设计16位可逆同步二进制计数器（2）</vt:lpstr>
      <vt:lpstr>设计16位可逆同步二进制计数器（3）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xu3stones</dc:creator>
  <cp:lastModifiedBy>2479617811@qq.com</cp:lastModifiedBy>
  <cp:revision>365</cp:revision>
  <dcterms:created xsi:type="dcterms:W3CDTF">2011-08-03T07:44:17Z</dcterms:created>
  <dcterms:modified xsi:type="dcterms:W3CDTF">2026-05-18T05:16:41Z</dcterms:modified>
</cp:coreProperties>
</file>