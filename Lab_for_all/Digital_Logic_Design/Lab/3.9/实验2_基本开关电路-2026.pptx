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notesMasterIdLst>
    <p:notesMasterId r:id="rId6"/>
  </p:notesMasterIdLst>
  <p:sldIdLst>
    <p:sldId id="256" r:id="rId5"/>
    <p:sldId id="270" r:id="rId7"/>
    <p:sldId id="271" r:id="rId8"/>
    <p:sldId id="272" r:id="rId9"/>
    <p:sldId id="273" r:id="rId10"/>
    <p:sldId id="274" r:id="rId11"/>
    <p:sldId id="300" r:id="rId12"/>
    <p:sldId id="299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275" r:id="rId27"/>
    <p:sldId id="294" r:id="rId28"/>
    <p:sldId id="293" r:id="rId29"/>
    <p:sldId id="276" r:id="rId30"/>
    <p:sldId id="295" r:id="rId31"/>
    <p:sldId id="277" r:id="rId32"/>
    <p:sldId id="297" r:id="rId33"/>
    <p:sldId id="296" r:id="rId34"/>
    <p:sldId id="278" r:id="rId35"/>
    <p:sldId id="279" r:id="rId36"/>
    <p:sldId id="280" r:id="rId37"/>
    <p:sldId id="281" r:id="rId38"/>
    <p:sldId id="282" r:id="rId39"/>
    <p:sldId id="291" r:id="rId40"/>
    <p:sldId id="283" r:id="rId41"/>
    <p:sldId id="286" r:id="rId42"/>
    <p:sldId id="288" r:id="rId43"/>
    <p:sldId id="289" r:id="rId44"/>
    <p:sldId id="290" r:id="rId45"/>
    <p:sldId id="269" r:id="rId46"/>
  </p:sldIdLst>
  <p:sldSz cx="9144000" cy="6858000" type="screen4x3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274"/>
            <p14:sldId id="300"/>
            <p14:sldId id="299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275"/>
            <p14:sldId id="294"/>
            <p14:sldId id="293"/>
            <p14:sldId id="276"/>
            <p14:sldId id="295"/>
            <p14:sldId id="277"/>
            <p14:sldId id="297"/>
            <p14:sldId id="296"/>
            <p14:sldId id="278"/>
            <p14:sldId id="279"/>
            <p14:sldId id="280"/>
            <p14:sldId id="281"/>
            <p14:sldId id="282"/>
            <p14:sldId id="291"/>
            <p14:sldId id="283"/>
            <p14:sldId id="286"/>
            <p14:sldId id="288"/>
            <p14:sldId id="289"/>
            <p14:sldId id="290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89397" autoAdjust="0"/>
  </p:normalViewPr>
  <p:slideViewPr>
    <p:cSldViewPr showGuides="1">
      <p:cViewPr varScale="1">
        <p:scale>
          <a:sx n="74" d="100"/>
          <a:sy n="74" d="100"/>
        </p:scale>
        <p:origin x="456" y="60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0" Type="http://schemas.openxmlformats.org/officeDocument/2006/relationships/tags" Target="tags/tag1.xml"/><Relationship Id="rId5" Type="http://schemas.openxmlformats.org/officeDocument/2006/relationships/slide" Target="slides/slide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anose="05000000000000000000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p"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 sz="1800" b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anose="05000000000000000000" pitchFamily="2" charset="2"/>
              <a:buChar char="n"/>
              <a:defRPr sz="1600"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400"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5.pn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p"/>
        <a:defRPr sz="22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p"/>
        <a:defRPr sz="22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3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6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9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0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1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2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3.bin"/><Relationship Id="rId2" Type="http://schemas.microsoft.com/office/2007/relationships/hdphoto" Target="../media/image18.wdp"/><Relationship Id="rId1" Type="http://schemas.openxmlformats.org/officeDocument/2006/relationships/image" Target="../media/image17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23.jpeg"/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4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15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5.emf"/><Relationship Id="rId1" Type="http://schemas.openxmlformats.org/officeDocument/2006/relationships/oleObject" Target="../embeddings/oleObject16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microsoft.com/office/2007/relationships/hdphoto" Target="../media/image18.wdp"/><Relationship Id="rId1" Type="http://schemas.openxmlformats.org/officeDocument/2006/relationships/image" Target="../media/image17.jpe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26.emf"/><Relationship Id="rId3" Type="http://schemas.openxmlformats.org/officeDocument/2006/relationships/oleObject" Target="../embeddings/oleObject17.bin"/><Relationship Id="rId2" Type="http://schemas.microsoft.com/office/2007/relationships/hdphoto" Target="../media/image18.wdp"/><Relationship Id="rId1" Type="http://schemas.openxmlformats.org/officeDocument/2006/relationships/image" Target="../media/image1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microsoft.com/office/2007/relationships/hdphoto" Target="../media/image28.wdp"/><Relationship Id="rId1" Type="http://schemas.openxmlformats.org/officeDocument/2006/relationships/image" Target="../media/image27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实验</a:t>
            </a:r>
            <a:r>
              <a:rPr lang="en-US" altLang="zh-CN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2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、基本开关电路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r>
              <a:rPr lang="zh-CN" altLang="en-US" dirty="0"/>
              <a:t>实验设备与材料</a:t>
            </a:r>
            <a:endParaRPr lang="en-US" altLang="zh-CN" dirty="0"/>
          </a:p>
          <a:p>
            <a:r>
              <a:rPr lang="zh-CN" altLang="en-US" dirty="0"/>
              <a:t>实验任务</a:t>
            </a:r>
            <a:endParaRPr lang="en-US" altLang="zh-CN" dirty="0"/>
          </a:p>
          <a:p>
            <a:r>
              <a:rPr lang="zh-CN" altLang="en-US" dirty="0"/>
              <a:t>实验原理</a:t>
            </a:r>
            <a:endParaRPr lang="en-US" altLang="zh-CN" dirty="0"/>
          </a:p>
          <a:p>
            <a:r>
              <a:rPr lang="zh-CN" altLang="en-US" dirty="0"/>
              <a:t>实验内容与步骤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5184576"/>
          </a:xfrm>
        </p:spPr>
        <p:txBody>
          <a:bodyPr>
            <a:normAutofit/>
          </a:bodyPr>
          <a:lstStyle/>
          <a:p>
            <a:r>
              <a:rPr lang="zh-CN" altLang="en-US" dirty="0"/>
              <a:t>掌握逻辑开关电路的基本结构</a:t>
            </a:r>
            <a:endParaRPr lang="zh-CN" altLang="en-US" dirty="0"/>
          </a:p>
          <a:p>
            <a:r>
              <a:rPr lang="zh-CN" altLang="en-US" dirty="0"/>
              <a:t>掌握二极管导通和截止的概念</a:t>
            </a:r>
            <a:endParaRPr lang="zh-CN" altLang="en-US" dirty="0"/>
          </a:p>
          <a:p>
            <a:r>
              <a:rPr lang="zh-CN" altLang="en-US" dirty="0"/>
              <a:t>用二极管、三极管构成简单逻辑门电路</a:t>
            </a:r>
            <a:endParaRPr lang="zh-CN" altLang="en-US" dirty="0"/>
          </a:p>
          <a:p>
            <a:r>
              <a:rPr lang="zh-CN" altLang="en-US" dirty="0"/>
              <a:t>掌握最简单的逻辑门电路构成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r>
              <a:rPr lang="zh-CN" altLang="en-US" dirty="0"/>
              <a:t>实验设备</a:t>
            </a:r>
            <a:endParaRPr lang="zh-CN" altLang="en-US" dirty="0"/>
          </a:p>
          <a:p>
            <a:pPr lvl="1"/>
            <a:r>
              <a:rPr lang="zh-CN" altLang="en-US" dirty="0"/>
              <a:t>数字万用表			</a:t>
            </a:r>
            <a:r>
              <a:rPr lang="en-US" altLang="zh-CN" dirty="0"/>
              <a:t>1</a:t>
            </a:r>
            <a:r>
              <a:rPr lang="zh-CN" altLang="en-US" dirty="0"/>
              <a:t>只</a:t>
            </a:r>
            <a:endParaRPr lang="zh-CN" altLang="en-US" dirty="0"/>
          </a:p>
          <a:p>
            <a:pPr lvl="1"/>
            <a:r>
              <a:rPr lang="zh-CN" altLang="en-US" dirty="0"/>
              <a:t>电路设计实验箱	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  <a:endParaRPr lang="zh-CN" altLang="en-US" dirty="0"/>
          </a:p>
          <a:p>
            <a:r>
              <a:rPr lang="zh-CN" altLang="en-US" dirty="0"/>
              <a:t>实验材料</a:t>
            </a:r>
            <a:endParaRPr lang="zh-CN" altLang="en-US" dirty="0"/>
          </a:p>
          <a:p>
            <a:pPr lvl="1"/>
            <a:r>
              <a:rPr lang="zh-CN" altLang="en-US" dirty="0"/>
              <a:t>二极管</a:t>
            </a:r>
            <a:r>
              <a:rPr lang="en-US" altLang="zh-CN" dirty="0"/>
              <a:t>IN4001		3</a:t>
            </a:r>
            <a:r>
              <a:rPr lang="zh-CN" altLang="en-US" dirty="0"/>
              <a:t>只</a:t>
            </a:r>
            <a:endParaRPr lang="zh-CN" altLang="en-US" dirty="0"/>
          </a:p>
          <a:p>
            <a:pPr lvl="1"/>
            <a:r>
              <a:rPr lang="zh-CN" altLang="en-US" dirty="0"/>
              <a:t>三极管</a:t>
            </a:r>
            <a:r>
              <a:rPr lang="en-US" altLang="zh-CN" dirty="0"/>
              <a:t>9013		1</a:t>
            </a:r>
            <a:r>
              <a:rPr lang="zh-CN" altLang="en-US" dirty="0"/>
              <a:t>只</a:t>
            </a:r>
            <a:endParaRPr lang="zh-CN" altLang="en-US" dirty="0"/>
          </a:p>
          <a:p>
            <a:pPr lvl="1"/>
            <a:r>
              <a:rPr lang="zh-CN" altLang="en-US" dirty="0"/>
              <a:t>发光二极管		</a:t>
            </a:r>
            <a:r>
              <a:rPr lang="en-US" altLang="zh-CN" dirty="0"/>
              <a:t>1</a:t>
            </a:r>
            <a:r>
              <a:rPr lang="zh-CN" altLang="en-US" dirty="0"/>
              <a:t>只</a:t>
            </a:r>
            <a:endParaRPr lang="zh-CN" altLang="en-US" dirty="0"/>
          </a:p>
          <a:p>
            <a:pPr lvl="1"/>
            <a:r>
              <a:rPr lang="zh-CN" altLang="en-US" dirty="0"/>
              <a:t>电阻</a:t>
            </a:r>
            <a:endParaRPr lang="zh-CN" altLang="en-US" dirty="0"/>
          </a:p>
          <a:p>
            <a:pPr lvl="2"/>
            <a:r>
              <a:rPr lang="en-US" altLang="zh-CN" dirty="0"/>
              <a:t>10KΩ  		5</a:t>
            </a:r>
            <a:r>
              <a:rPr lang="zh-CN" altLang="en-US" dirty="0"/>
              <a:t>只</a:t>
            </a:r>
            <a:endParaRPr lang="zh-CN" altLang="en-US" dirty="0"/>
          </a:p>
          <a:p>
            <a:pPr lvl="2"/>
            <a:r>
              <a:rPr lang="en-US" altLang="zh-CN" dirty="0"/>
              <a:t>5.1KΩ 		3</a:t>
            </a:r>
            <a:r>
              <a:rPr lang="zh-CN" altLang="en-US" dirty="0"/>
              <a:t>只</a:t>
            </a:r>
            <a:endParaRPr lang="zh-CN" altLang="en-US" dirty="0"/>
          </a:p>
          <a:p>
            <a:pPr lvl="2"/>
            <a:r>
              <a:rPr lang="en-US" altLang="zh-CN" dirty="0"/>
              <a:t>47KΩ			2</a:t>
            </a:r>
            <a:r>
              <a:rPr lang="zh-CN" altLang="en-US" dirty="0"/>
              <a:t>只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用二极管实现正逻辑</a:t>
            </a:r>
            <a:r>
              <a:rPr lang="zh-CN" altLang="en-US" dirty="0">
                <a:solidFill>
                  <a:srgbClr val="FF0000"/>
                </a:solidFill>
              </a:rPr>
              <a:t>与门</a:t>
            </a:r>
            <a:r>
              <a:rPr lang="zh-CN" altLang="en-US" dirty="0"/>
              <a:t>，并测量输入输出电压参数，分析其逻辑功能</a:t>
            </a:r>
            <a:endParaRPr lang="zh-CN" altLang="en-US" dirty="0"/>
          </a:p>
          <a:p>
            <a:r>
              <a:rPr lang="zh-CN" altLang="en-US" dirty="0"/>
              <a:t>用二极管实现正逻辑</a:t>
            </a:r>
            <a:r>
              <a:rPr lang="zh-CN" altLang="en-US" dirty="0">
                <a:solidFill>
                  <a:srgbClr val="FF0000"/>
                </a:solidFill>
              </a:rPr>
              <a:t>或门</a:t>
            </a:r>
            <a:r>
              <a:rPr lang="zh-CN" altLang="en-US" dirty="0"/>
              <a:t>，并测量输入输出电压参数，分析其逻辑功能</a:t>
            </a:r>
            <a:endParaRPr lang="zh-CN" altLang="en-US" dirty="0"/>
          </a:p>
          <a:p>
            <a:r>
              <a:rPr lang="zh-CN" altLang="en-US" dirty="0"/>
              <a:t>用三极管反向特性实现正逻辑</a:t>
            </a:r>
            <a:r>
              <a:rPr lang="zh-CN" altLang="en-US" dirty="0">
                <a:solidFill>
                  <a:srgbClr val="FF0000"/>
                </a:solidFill>
              </a:rPr>
              <a:t>非门</a:t>
            </a:r>
            <a:r>
              <a:rPr lang="zh-CN" altLang="en-US" dirty="0"/>
              <a:t>，测量输入输出电压参数，分析其逻辑功能</a:t>
            </a:r>
            <a:endParaRPr lang="zh-CN" altLang="en-US" dirty="0"/>
          </a:p>
          <a:p>
            <a:r>
              <a:rPr lang="zh-CN" altLang="en-US" dirty="0"/>
              <a:t>采用前面的与门和非门实现</a:t>
            </a:r>
            <a:r>
              <a:rPr lang="zh-CN" altLang="en-US" dirty="0">
                <a:solidFill>
                  <a:srgbClr val="FF0000"/>
                </a:solidFill>
              </a:rPr>
              <a:t>与非门</a:t>
            </a:r>
            <a:r>
              <a:rPr lang="zh-CN" altLang="en-US" dirty="0"/>
              <a:t>，测量输入输出电压参数，分析其逻辑功能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82663" y="998538"/>
            <a:ext cx="533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D6C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35000" y="1181101"/>
            <a:ext cx="57642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D6C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1.1.1  本征半导体</a:t>
            </a:r>
            <a:r>
              <a:rPr lang="zh-CN" altLang="en-US" sz="3600" b="1">
                <a:solidFill>
                  <a:srgbClr val="0000FF"/>
                </a:solidFill>
                <a:ea typeface="隶书" panose="02010509060101010101" pitchFamily="49" charset="-122"/>
              </a:rPr>
              <a:t> </a:t>
            </a:r>
            <a:endParaRPr lang="zh-CN" altLang="en-US" sz="3600" b="1">
              <a:solidFill>
                <a:srgbClr val="0000FF"/>
              </a:solidFill>
              <a:ea typeface="隶书" panose="02010509060101010101" pitchFamily="49" charset="-122"/>
            </a:endParaRPr>
          </a:p>
          <a:p>
            <a:r>
              <a:rPr lang="zh-CN" altLang="en-US" b="1">
                <a:solidFill>
                  <a:srgbClr val="0000FF"/>
                </a:solidFill>
                <a:ea typeface="隶书" panose="02010509060101010101" pitchFamily="49" charset="-122"/>
              </a:rPr>
              <a:t>　　</a:t>
            </a:r>
            <a:r>
              <a:rPr lang="zh-CN" altLang="en-US" b="1"/>
              <a:t>纯净的具有晶体结构的半导体</a:t>
            </a:r>
            <a:endParaRPr lang="zh-CN" altLang="en-US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30225" y="2779713"/>
            <a:ext cx="83439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99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52830" indent="-10528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4211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116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021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926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498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07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642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214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导体：</a:t>
            </a:r>
            <a:r>
              <a:rPr lang="zh-CN" altLang="en-US" sz="2800" b="1">
                <a:latin typeface="宋体" panose="02010600030101010101" pitchFamily="2" charset="-122"/>
              </a:rPr>
              <a:t>自然界中很容易导电的物质称为</a:t>
            </a:r>
            <a:r>
              <a:rPr lang="zh-CN" altLang="en-US" sz="2800" b="1">
                <a:solidFill>
                  <a:srgbClr val="CC3300"/>
                </a:solidFill>
                <a:latin typeface="宋体" panose="02010600030101010101" pitchFamily="2" charset="-122"/>
              </a:rPr>
              <a:t>导体</a:t>
            </a:r>
            <a:r>
              <a:rPr lang="zh-CN" altLang="en-US" sz="2800" b="1">
                <a:latin typeface="宋体" panose="02010600030101010101" pitchFamily="2" charset="-122"/>
              </a:rPr>
              <a:t>，金属一般都是导体。</a:t>
            </a:r>
            <a:endParaRPr lang="zh-CN" altLang="en-US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573088" y="3886200"/>
            <a:ext cx="83613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428750" indent="-1428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619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09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00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90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479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051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623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19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绝缘体：</a:t>
            </a:r>
            <a:r>
              <a:rPr lang="zh-CN" altLang="en-US" sz="2800" b="1">
                <a:latin typeface="宋体" panose="02010600030101010101" pitchFamily="2" charset="-122"/>
              </a:rPr>
              <a:t>有的物质几乎不导电，称为</a:t>
            </a:r>
            <a:r>
              <a:rPr lang="zh-CN" altLang="en-US" sz="2800" b="1">
                <a:solidFill>
                  <a:srgbClr val="CC3300"/>
                </a:solidFill>
                <a:latin typeface="宋体" panose="02010600030101010101" pitchFamily="2" charset="-122"/>
              </a:rPr>
              <a:t>绝缘体</a:t>
            </a:r>
            <a:r>
              <a:rPr lang="zh-CN" altLang="en-US" sz="2800" b="1">
                <a:latin typeface="宋体" panose="02010600030101010101" pitchFamily="2" charset="-122"/>
              </a:rPr>
              <a:t>，如橡皮、陶瓷、塑料和石英。</a:t>
            </a:r>
            <a:endParaRPr lang="zh-CN" altLang="en-US"/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573088" y="5084763"/>
            <a:ext cx="836136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428750" indent="-1428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619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09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00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90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479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051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623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19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半导体：</a:t>
            </a:r>
            <a:r>
              <a:rPr lang="zh-CN" altLang="en-US" sz="2800" b="1">
                <a:latin typeface="宋体" panose="02010600030101010101" pitchFamily="2" charset="-122"/>
              </a:rPr>
              <a:t>另有一类物质的导电特性处于导体和绝缘体之间，称为</a:t>
            </a:r>
            <a:r>
              <a:rPr lang="zh-CN" altLang="en-US" sz="2800" b="1">
                <a:solidFill>
                  <a:srgbClr val="CC3300"/>
                </a:solidFill>
                <a:latin typeface="宋体" panose="02010600030101010101" pitchFamily="2" charset="-122"/>
              </a:rPr>
              <a:t>半导体</a:t>
            </a:r>
            <a:r>
              <a:rPr lang="zh-CN" altLang="en-US" sz="2800" b="1">
                <a:latin typeface="宋体" panose="02010600030101010101" pitchFamily="2" charset="-122"/>
              </a:rPr>
              <a:t>，如锗、硅、砷化镓和一些硫化物、氧化物等。</a:t>
            </a:r>
            <a:endParaRPr lang="zh-CN" alt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35000" y="2022475"/>
            <a:ext cx="5080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b="1">
                <a:solidFill>
                  <a:srgbClr val="0000FF"/>
                </a:solidFill>
                <a:ea typeface="隶书" panose="02010509060101010101" pitchFamily="49" charset="-122"/>
              </a:rPr>
              <a:t>一、</a:t>
            </a:r>
            <a:r>
              <a:rPr lang="zh-CN" altLang="en-US" sz="32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导体、半导体和绝缘体</a:t>
            </a:r>
            <a:endParaRPr lang="zh-CN" altLang="en-US" sz="3200" b="1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82663" y="998538"/>
            <a:ext cx="533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D6C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1115616" y="1484784"/>
            <a:ext cx="69723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D6C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半导体</a:t>
            </a:r>
            <a:r>
              <a:rPr lang="zh-CN" altLang="en-US" sz="2800" b="1" dirty="0">
                <a:latin typeface="宋体" panose="02010600030101010101" pitchFamily="2" charset="-122"/>
              </a:rPr>
              <a:t>的导电机理不同于其它物质，所以它具有不同于其它物质的特点。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例如：</a:t>
            </a:r>
            <a:endParaRPr lang="zh-CN" altLang="en-US" dirty="0"/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1115616" y="3389784"/>
            <a:ext cx="6172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D6C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当受外界热和光的作用时，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</a:rPr>
              <a:t>它的导电能力明显变化。</a:t>
            </a:r>
            <a:endParaRPr lang="zh-CN" altLang="en-US" dirty="0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1115616" y="4989984"/>
            <a:ext cx="55657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D6C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往纯净的半导体中掺入某些杂质，会使它的导电能力明显改变。</a:t>
            </a:r>
            <a:endParaRPr lang="zh-CN" altLang="en-US" dirty="0"/>
          </a:p>
        </p:txBody>
      </p:sp>
      <p:grpSp>
        <p:nvGrpSpPr>
          <p:cNvPr id="16" name="Group 10"/>
          <p:cNvGrpSpPr/>
          <p:nvPr/>
        </p:nvGrpSpPr>
        <p:grpSpPr bwMode="auto">
          <a:xfrm>
            <a:off x="5001816" y="4304184"/>
            <a:ext cx="2362200" cy="457200"/>
            <a:chOff x="3552" y="2016"/>
            <a:chExt cx="1488" cy="288"/>
          </a:xfrm>
        </p:grpSpPr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552" y="2160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4032" y="2016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</a:rPr>
                <a:t>光敏器件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Group 13"/>
          <p:cNvGrpSpPr/>
          <p:nvPr/>
        </p:nvGrpSpPr>
        <p:grpSpPr bwMode="auto">
          <a:xfrm>
            <a:off x="5001816" y="5980584"/>
            <a:ext cx="2362200" cy="457200"/>
            <a:chOff x="3552" y="2016"/>
            <a:chExt cx="1488" cy="288"/>
          </a:xfrm>
        </p:grpSpPr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3552" y="2160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4032" y="2016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</a:rPr>
                <a:t>二极管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82663" y="998538"/>
            <a:ext cx="533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D6C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2" name="Group 2"/>
          <p:cNvGrpSpPr/>
          <p:nvPr/>
        </p:nvGrpSpPr>
        <p:grpSpPr bwMode="auto">
          <a:xfrm>
            <a:off x="3352800" y="762000"/>
            <a:ext cx="5791200" cy="5715000"/>
            <a:chOff x="672" y="336"/>
            <a:chExt cx="3648" cy="3600"/>
          </a:xfrm>
        </p:grpSpPr>
        <p:sp>
          <p:nvSpPr>
            <p:cNvPr id="23" name="Freeform 3"/>
            <p:cNvSpPr/>
            <p:nvPr/>
          </p:nvSpPr>
          <p:spPr bwMode="auto">
            <a:xfrm rot="12413793">
              <a:off x="1440" y="1296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4"/>
            <p:cNvSpPr/>
            <p:nvPr/>
          </p:nvSpPr>
          <p:spPr bwMode="auto">
            <a:xfrm rot="11438180">
              <a:off x="1728" y="1008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5"/>
            <p:cNvSpPr/>
            <p:nvPr/>
          </p:nvSpPr>
          <p:spPr bwMode="auto">
            <a:xfrm rot="-5219164">
              <a:off x="3504" y="1296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" name="Group 6"/>
            <p:cNvGrpSpPr/>
            <p:nvPr/>
          </p:nvGrpSpPr>
          <p:grpSpPr bwMode="auto">
            <a:xfrm rot="16200000">
              <a:off x="2328" y="312"/>
              <a:ext cx="1152" cy="1200"/>
              <a:chOff x="2736" y="288"/>
              <a:chExt cx="1152" cy="1200"/>
            </a:xfrm>
          </p:grpSpPr>
          <p:sp>
            <p:nvSpPr>
              <p:cNvPr id="120" name="Oval 7"/>
              <p:cNvSpPr>
                <a:spLocks noChangeArrowheads="1"/>
              </p:cNvSpPr>
              <p:nvPr/>
            </p:nvSpPr>
            <p:spPr bwMode="auto">
              <a:xfrm>
                <a:off x="2736" y="33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Rectangle 8"/>
              <p:cNvSpPr>
                <a:spLocks noChangeArrowheads="1"/>
              </p:cNvSpPr>
              <p:nvPr/>
            </p:nvSpPr>
            <p:spPr bwMode="auto">
              <a:xfrm>
                <a:off x="3264" y="288"/>
                <a:ext cx="624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" name="Group 9"/>
            <p:cNvGrpSpPr/>
            <p:nvPr/>
          </p:nvGrpSpPr>
          <p:grpSpPr bwMode="auto">
            <a:xfrm rot="16200000">
              <a:off x="1512" y="360"/>
              <a:ext cx="1152" cy="1200"/>
              <a:chOff x="2736" y="288"/>
              <a:chExt cx="1152" cy="1200"/>
            </a:xfrm>
          </p:grpSpPr>
          <p:sp>
            <p:nvSpPr>
              <p:cNvPr id="118" name="Oval 10"/>
              <p:cNvSpPr>
                <a:spLocks noChangeArrowheads="1"/>
              </p:cNvSpPr>
              <p:nvPr/>
            </p:nvSpPr>
            <p:spPr bwMode="auto">
              <a:xfrm>
                <a:off x="2736" y="33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" name="Rectangle 11"/>
              <p:cNvSpPr>
                <a:spLocks noChangeArrowheads="1"/>
              </p:cNvSpPr>
              <p:nvPr/>
            </p:nvSpPr>
            <p:spPr bwMode="auto">
              <a:xfrm>
                <a:off x="3264" y="288"/>
                <a:ext cx="624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" name="Group 12"/>
            <p:cNvGrpSpPr/>
            <p:nvPr/>
          </p:nvGrpSpPr>
          <p:grpSpPr bwMode="auto">
            <a:xfrm rot="10800000">
              <a:off x="672" y="1920"/>
              <a:ext cx="1152" cy="1200"/>
              <a:chOff x="2736" y="288"/>
              <a:chExt cx="1152" cy="1200"/>
            </a:xfrm>
          </p:grpSpPr>
          <p:sp>
            <p:nvSpPr>
              <p:cNvPr id="116" name="Oval 13"/>
              <p:cNvSpPr>
                <a:spLocks noChangeArrowheads="1"/>
              </p:cNvSpPr>
              <p:nvPr/>
            </p:nvSpPr>
            <p:spPr bwMode="auto">
              <a:xfrm>
                <a:off x="2736" y="33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Rectangle 14"/>
              <p:cNvSpPr>
                <a:spLocks noChangeArrowheads="1"/>
              </p:cNvSpPr>
              <p:nvPr/>
            </p:nvSpPr>
            <p:spPr bwMode="auto">
              <a:xfrm>
                <a:off x="3264" y="288"/>
                <a:ext cx="624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Group 15"/>
            <p:cNvGrpSpPr/>
            <p:nvPr/>
          </p:nvGrpSpPr>
          <p:grpSpPr bwMode="auto">
            <a:xfrm rot="10800000">
              <a:off x="672" y="1152"/>
              <a:ext cx="1152" cy="1200"/>
              <a:chOff x="2736" y="288"/>
              <a:chExt cx="1152" cy="1200"/>
            </a:xfrm>
          </p:grpSpPr>
          <p:sp>
            <p:nvSpPr>
              <p:cNvPr id="114" name="Oval 16"/>
              <p:cNvSpPr>
                <a:spLocks noChangeArrowheads="1"/>
              </p:cNvSpPr>
              <p:nvPr/>
            </p:nvSpPr>
            <p:spPr bwMode="auto">
              <a:xfrm>
                <a:off x="2736" y="33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Rectangle 17"/>
              <p:cNvSpPr>
                <a:spLocks noChangeArrowheads="1"/>
              </p:cNvSpPr>
              <p:nvPr/>
            </p:nvSpPr>
            <p:spPr bwMode="auto">
              <a:xfrm>
                <a:off x="3264" y="288"/>
                <a:ext cx="624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Group 18"/>
            <p:cNvGrpSpPr/>
            <p:nvPr/>
          </p:nvGrpSpPr>
          <p:grpSpPr bwMode="auto">
            <a:xfrm rot="5400000">
              <a:off x="1464" y="2760"/>
              <a:ext cx="1152" cy="1200"/>
              <a:chOff x="2736" y="288"/>
              <a:chExt cx="1152" cy="1200"/>
            </a:xfrm>
          </p:grpSpPr>
          <p:sp>
            <p:nvSpPr>
              <p:cNvPr id="112" name="Oval 19"/>
              <p:cNvSpPr>
                <a:spLocks noChangeArrowheads="1"/>
              </p:cNvSpPr>
              <p:nvPr/>
            </p:nvSpPr>
            <p:spPr bwMode="auto">
              <a:xfrm>
                <a:off x="2736" y="33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Rectangle 20"/>
              <p:cNvSpPr>
                <a:spLocks noChangeArrowheads="1"/>
              </p:cNvSpPr>
              <p:nvPr/>
            </p:nvSpPr>
            <p:spPr bwMode="auto">
              <a:xfrm>
                <a:off x="3264" y="288"/>
                <a:ext cx="624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" name="Group 21"/>
            <p:cNvGrpSpPr/>
            <p:nvPr/>
          </p:nvGrpSpPr>
          <p:grpSpPr bwMode="auto">
            <a:xfrm rot="5400000">
              <a:off x="2328" y="2760"/>
              <a:ext cx="1152" cy="1200"/>
              <a:chOff x="2736" y="288"/>
              <a:chExt cx="1152" cy="1200"/>
            </a:xfrm>
          </p:grpSpPr>
          <p:sp>
            <p:nvSpPr>
              <p:cNvPr id="110" name="Oval 22"/>
              <p:cNvSpPr>
                <a:spLocks noChangeArrowheads="1"/>
              </p:cNvSpPr>
              <p:nvPr/>
            </p:nvSpPr>
            <p:spPr bwMode="auto">
              <a:xfrm>
                <a:off x="2736" y="33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Rectangle 23"/>
              <p:cNvSpPr>
                <a:spLocks noChangeArrowheads="1"/>
              </p:cNvSpPr>
              <p:nvPr/>
            </p:nvSpPr>
            <p:spPr bwMode="auto">
              <a:xfrm>
                <a:off x="3264" y="288"/>
                <a:ext cx="624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Group 24"/>
            <p:cNvGrpSpPr/>
            <p:nvPr/>
          </p:nvGrpSpPr>
          <p:grpSpPr bwMode="auto">
            <a:xfrm>
              <a:off x="3168" y="1152"/>
              <a:ext cx="1152" cy="1200"/>
              <a:chOff x="2736" y="288"/>
              <a:chExt cx="1152" cy="1200"/>
            </a:xfrm>
          </p:grpSpPr>
          <p:sp>
            <p:nvSpPr>
              <p:cNvPr id="108" name="Oval 25"/>
              <p:cNvSpPr>
                <a:spLocks noChangeArrowheads="1"/>
              </p:cNvSpPr>
              <p:nvPr/>
            </p:nvSpPr>
            <p:spPr bwMode="auto">
              <a:xfrm>
                <a:off x="2736" y="33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Rectangle 26"/>
              <p:cNvSpPr>
                <a:spLocks noChangeArrowheads="1"/>
              </p:cNvSpPr>
              <p:nvPr/>
            </p:nvSpPr>
            <p:spPr bwMode="auto">
              <a:xfrm>
                <a:off x="3264" y="288"/>
                <a:ext cx="624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3" name="Group 27"/>
            <p:cNvGrpSpPr/>
            <p:nvPr/>
          </p:nvGrpSpPr>
          <p:grpSpPr bwMode="auto">
            <a:xfrm>
              <a:off x="3168" y="1968"/>
              <a:ext cx="1152" cy="1200"/>
              <a:chOff x="2736" y="288"/>
              <a:chExt cx="1152" cy="1200"/>
            </a:xfrm>
          </p:grpSpPr>
          <p:sp>
            <p:nvSpPr>
              <p:cNvPr id="106" name="Oval 28"/>
              <p:cNvSpPr>
                <a:spLocks noChangeArrowheads="1"/>
              </p:cNvSpPr>
              <p:nvPr/>
            </p:nvSpPr>
            <p:spPr bwMode="auto">
              <a:xfrm>
                <a:off x="2736" y="33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Rectangle 29"/>
              <p:cNvSpPr>
                <a:spLocks noChangeArrowheads="1"/>
              </p:cNvSpPr>
              <p:nvPr/>
            </p:nvSpPr>
            <p:spPr bwMode="auto">
              <a:xfrm>
                <a:off x="3264" y="288"/>
                <a:ext cx="624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" name="Oval 30"/>
            <p:cNvSpPr>
              <a:spLocks noChangeArrowheads="1"/>
            </p:cNvSpPr>
            <p:nvPr/>
          </p:nvSpPr>
          <p:spPr bwMode="auto">
            <a:xfrm>
              <a:off x="1536" y="1205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1"/>
            <p:cNvSpPr>
              <a:spLocks noChangeArrowheads="1"/>
            </p:cNvSpPr>
            <p:nvPr/>
          </p:nvSpPr>
          <p:spPr bwMode="auto">
            <a:xfrm>
              <a:off x="2352" y="1200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2"/>
            <p:cNvSpPr>
              <a:spLocks noChangeArrowheads="1"/>
            </p:cNvSpPr>
            <p:nvPr/>
          </p:nvSpPr>
          <p:spPr bwMode="auto">
            <a:xfrm>
              <a:off x="1536" y="1991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3"/>
            <p:cNvSpPr>
              <a:spLocks noChangeArrowheads="1"/>
            </p:cNvSpPr>
            <p:nvPr/>
          </p:nvSpPr>
          <p:spPr bwMode="auto">
            <a:xfrm>
              <a:off x="2352" y="1991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" name="Group 34"/>
            <p:cNvGrpSpPr/>
            <p:nvPr/>
          </p:nvGrpSpPr>
          <p:grpSpPr bwMode="auto">
            <a:xfrm>
              <a:off x="3024" y="1104"/>
              <a:ext cx="576" cy="531"/>
              <a:chOff x="3744" y="2112"/>
              <a:chExt cx="576" cy="531"/>
            </a:xfrm>
          </p:grpSpPr>
          <p:sp>
            <p:nvSpPr>
              <p:cNvPr id="100" name="Oval 35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Oval 36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Oval 37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Oval 38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Oval 39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Text Box 40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grpSp>
          <p:nvGrpSpPr>
            <p:cNvPr id="39" name="Group 41"/>
            <p:cNvGrpSpPr/>
            <p:nvPr/>
          </p:nvGrpSpPr>
          <p:grpSpPr bwMode="auto">
            <a:xfrm>
              <a:off x="3024" y="1869"/>
              <a:ext cx="576" cy="531"/>
              <a:chOff x="3744" y="2112"/>
              <a:chExt cx="576" cy="531"/>
            </a:xfrm>
          </p:grpSpPr>
          <p:sp>
            <p:nvSpPr>
              <p:cNvPr id="94" name="Oval 42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Oval 43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Oval 44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Oval 45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Oval 46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Text Box 47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grpSp>
          <p:nvGrpSpPr>
            <p:cNvPr id="40" name="Group 48"/>
            <p:cNvGrpSpPr/>
            <p:nvPr/>
          </p:nvGrpSpPr>
          <p:grpSpPr bwMode="auto">
            <a:xfrm>
              <a:off x="2208" y="2685"/>
              <a:ext cx="576" cy="531"/>
              <a:chOff x="3744" y="2112"/>
              <a:chExt cx="576" cy="531"/>
            </a:xfrm>
          </p:grpSpPr>
          <p:sp>
            <p:nvSpPr>
              <p:cNvPr id="88" name="Oval 49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Oval 50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Oval 51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Oval 52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Oval 53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Text Box 54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grpSp>
          <p:nvGrpSpPr>
            <p:cNvPr id="41" name="Group 55"/>
            <p:cNvGrpSpPr/>
            <p:nvPr/>
          </p:nvGrpSpPr>
          <p:grpSpPr bwMode="auto">
            <a:xfrm>
              <a:off x="1392" y="2685"/>
              <a:ext cx="576" cy="531"/>
              <a:chOff x="3744" y="2112"/>
              <a:chExt cx="576" cy="531"/>
            </a:xfrm>
          </p:grpSpPr>
          <p:sp>
            <p:nvSpPr>
              <p:cNvPr id="82" name="Oval 56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Oval 57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Oval 58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Oval 59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Oval 60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Text Box 61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grpSp>
          <p:nvGrpSpPr>
            <p:cNvPr id="42" name="Group 62"/>
            <p:cNvGrpSpPr/>
            <p:nvPr/>
          </p:nvGrpSpPr>
          <p:grpSpPr bwMode="auto">
            <a:xfrm>
              <a:off x="3024" y="2685"/>
              <a:ext cx="576" cy="531"/>
              <a:chOff x="3744" y="2112"/>
              <a:chExt cx="576" cy="531"/>
            </a:xfrm>
          </p:grpSpPr>
          <p:sp>
            <p:nvSpPr>
              <p:cNvPr id="76" name="Oval 63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Oval 64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Oval 65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Oval 66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Oval 67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Text Box 68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grpSp>
          <p:nvGrpSpPr>
            <p:cNvPr id="43" name="Group 69"/>
            <p:cNvGrpSpPr/>
            <p:nvPr/>
          </p:nvGrpSpPr>
          <p:grpSpPr bwMode="auto">
            <a:xfrm>
              <a:off x="2208" y="1872"/>
              <a:ext cx="576" cy="531"/>
              <a:chOff x="3744" y="2112"/>
              <a:chExt cx="576" cy="531"/>
            </a:xfrm>
          </p:grpSpPr>
          <p:sp>
            <p:nvSpPr>
              <p:cNvPr id="70" name="Oval 70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Oval 71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Oval 72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Oval 73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Oval 74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Text Box 75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grpSp>
          <p:nvGrpSpPr>
            <p:cNvPr id="44" name="Group 76"/>
            <p:cNvGrpSpPr/>
            <p:nvPr/>
          </p:nvGrpSpPr>
          <p:grpSpPr bwMode="auto">
            <a:xfrm>
              <a:off x="2208" y="1104"/>
              <a:ext cx="576" cy="531"/>
              <a:chOff x="3744" y="2112"/>
              <a:chExt cx="576" cy="531"/>
            </a:xfrm>
          </p:grpSpPr>
          <p:sp>
            <p:nvSpPr>
              <p:cNvPr id="64" name="Oval 77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Oval 78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Oval 79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Oval 80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Oval 81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Text Box 82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grpSp>
          <p:nvGrpSpPr>
            <p:cNvPr id="45" name="Group 83"/>
            <p:cNvGrpSpPr/>
            <p:nvPr/>
          </p:nvGrpSpPr>
          <p:grpSpPr bwMode="auto">
            <a:xfrm>
              <a:off x="1392" y="1872"/>
              <a:ext cx="576" cy="531"/>
              <a:chOff x="3744" y="2112"/>
              <a:chExt cx="576" cy="531"/>
            </a:xfrm>
          </p:grpSpPr>
          <p:sp>
            <p:nvSpPr>
              <p:cNvPr id="58" name="Oval 84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Oval 85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Oval 86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Oval 87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Oval 88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Text Box 89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grpSp>
          <p:nvGrpSpPr>
            <p:cNvPr id="46" name="Group 90"/>
            <p:cNvGrpSpPr/>
            <p:nvPr/>
          </p:nvGrpSpPr>
          <p:grpSpPr bwMode="auto">
            <a:xfrm>
              <a:off x="1392" y="1107"/>
              <a:ext cx="576" cy="531"/>
              <a:chOff x="3744" y="2112"/>
              <a:chExt cx="576" cy="531"/>
            </a:xfrm>
          </p:grpSpPr>
          <p:sp>
            <p:nvSpPr>
              <p:cNvPr id="52" name="Oval 91"/>
              <p:cNvSpPr>
                <a:spLocks noChangeArrowheads="1"/>
              </p:cNvSpPr>
              <p:nvPr/>
            </p:nvSpPr>
            <p:spPr bwMode="auto">
              <a:xfrm>
                <a:off x="3744" y="2349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Oval 92"/>
              <p:cNvSpPr>
                <a:spLocks noChangeArrowheads="1"/>
              </p:cNvSpPr>
              <p:nvPr/>
            </p:nvSpPr>
            <p:spPr bwMode="auto">
              <a:xfrm>
                <a:off x="3888" y="2229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Oval 93"/>
              <p:cNvSpPr>
                <a:spLocks noChangeArrowheads="1"/>
              </p:cNvSpPr>
              <p:nvPr/>
            </p:nvSpPr>
            <p:spPr bwMode="auto">
              <a:xfrm>
                <a:off x="3984" y="259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Oval 94"/>
              <p:cNvSpPr>
                <a:spLocks noChangeArrowheads="1"/>
              </p:cNvSpPr>
              <p:nvPr/>
            </p:nvSpPr>
            <p:spPr bwMode="auto">
              <a:xfrm>
                <a:off x="4267" y="2352"/>
                <a:ext cx="53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Oval 95"/>
              <p:cNvSpPr>
                <a:spLocks noChangeArrowheads="1"/>
              </p:cNvSpPr>
              <p:nvPr/>
            </p:nvSpPr>
            <p:spPr bwMode="auto">
              <a:xfrm>
                <a:off x="3984" y="2112"/>
                <a:ext cx="52" cy="5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Text Box 96"/>
              <p:cNvSpPr txBox="1">
                <a:spLocks noChangeArrowheads="1"/>
              </p:cNvSpPr>
              <p:nvPr/>
            </p:nvSpPr>
            <p:spPr bwMode="auto">
              <a:xfrm>
                <a:off x="3860" y="2246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  <p:sp>
          <p:nvSpPr>
            <p:cNvPr id="47" name="Freeform 97"/>
            <p:cNvSpPr/>
            <p:nvPr/>
          </p:nvSpPr>
          <p:spPr bwMode="auto">
            <a:xfrm>
              <a:off x="3168" y="3024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98"/>
            <p:cNvSpPr/>
            <p:nvPr/>
          </p:nvSpPr>
          <p:spPr bwMode="auto">
            <a:xfrm rot="3287629">
              <a:off x="3504" y="2688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99"/>
            <p:cNvSpPr/>
            <p:nvPr/>
          </p:nvSpPr>
          <p:spPr bwMode="auto">
            <a:xfrm rot="4881532">
              <a:off x="1344" y="2688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100"/>
            <p:cNvSpPr/>
            <p:nvPr/>
          </p:nvSpPr>
          <p:spPr bwMode="auto">
            <a:xfrm rot="8928615">
              <a:off x="1747" y="3066"/>
              <a:ext cx="48" cy="192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1"/>
            <p:cNvSpPr/>
            <p:nvPr/>
          </p:nvSpPr>
          <p:spPr bwMode="auto">
            <a:xfrm rot="-2293138">
              <a:off x="3168" y="960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" name="Text Box 102"/>
          <p:cNvSpPr txBox="1">
            <a:spLocks noChangeArrowheads="1"/>
          </p:cNvSpPr>
          <p:nvPr/>
        </p:nvSpPr>
        <p:spPr bwMode="auto">
          <a:xfrm>
            <a:off x="304800" y="1187450"/>
            <a:ext cx="838200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</a:pPr>
            <a:r>
              <a:rPr lang="zh-CN" altLang="en-US" sz="2600" b="1">
                <a:solidFill>
                  <a:schemeClr val="accent2"/>
                </a:solidFill>
              </a:rPr>
              <a:t>      </a:t>
            </a:r>
            <a:r>
              <a:rPr lang="zh-CN" altLang="en-US" sz="2600" b="1">
                <a:solidFill>
                  <a:srgbClr val="FF0000"/>
                </a:solidFill>
              </a:rPr>
              <a:t>完全纯净的、不含其他杂质且具有晶体结构的半导体称为本征半导体</a:t>
            </a:r>
            <a:r>
              <a:rPr lang="zh-CN" altLang="en-US" sz="2600" b="1">
                <a:solidFill>
                  <a:schemeClr val="accent2"/>
                </a:solidFill>
              </a:rPr>
              <a:t>      </a:t>
            </a:r>
            <a:endParaRPr lang="zh-CN" altLang="en-US" sz="2600" b="1">
              <a:solidFill>
                <a:schemeClr val="accent2"/>
              </a:solidFill>
            </a:endParaRPr>
          </a:p>
        </p:txBody>
      </p:sp>
      <p:sp>
        <p:nvSpPr>
          <p:cNvPr id="123" name="Text Box 103"/>
          <p:cNvSpPr txBox="1">
            <a:spLocks noChangeArrowheads="1"/>
          </p:cNvSpPr>
          <p:nvPr/>
        </p:nvSpPr>
        <p:spPr bwMode="auto">
          <a:xfrm>
            <a:off x="457200" y="2574925"/>
            <a:ext cx="2590800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b="1"/>
              <a:t>将硅或锗材料提纯便形成单晶体，它的原子结构为共价键结构。</a:t>
            </a:r>
            <a:endParaRPr lang="zh-CN" altLang="en-US" sz="2600" b="1"/>
          </a:p>
        </p:txBody>
      </p:sp>
      <p:sp>
        <p:nvSpPr>
          <p:cNvPr id="124" name="Text Box 104"/>
          <p:cNvSpPr txBox="1">
            <a:spLocks noChangeArrowheads="1"/>
          </p:cNvSpPr>
          <p:nvPr/>
        </p:nvSpPr>
        <p:spPr bwMode="auto">
          <a:xfrm>
            <a:off x="8247063" y="2514600"/>
            <a:ext cx="439737" cy="10064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</a:rPr>
              <a:t>价电子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25" name="Text Box 105"/>
          <p:cNvSpPr txBox="1">
            <a:spLocks noChangeArrowheads="1"/>
          </p:cNvSpPr>
          <p:nvPr/>
        </p:nvSpPr>
        <p:spPr bwMode="auto">
          <a:xfrm>
            <a:off x="3657600" y="2971800"/>
            <a:ext cx="457200" cy="10064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</a:rPr>
              <a:t>共价键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26" name="Text Box 106"/>
          <p:cNvSpPr txBox="1">
            <a:spLocks noChangeArrowheads="1"/>
          </p:cNvSpPr>
          <p:nvPr/>
        </p:nvSpPr>
        <p:spPr bwMode="auto">
          <a:xfrm>
            <a:off x="4343400" y="5805488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图 1.1.1　本征半导体结构示意图</a:t>
            </a:r>
            <a:endParaRPr lang="zh-CN" altLang="en-US" b="1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sp>
        <p:nvSpPr>
          <p:cNvPr id="127" name="Line 107"/>
          <p:cNvSpPr>
            <a:spLocks noChangeShapeType="1"/>
          </p:cNvSpPr>
          <p:nvPr/>
        </p:nvSpPr>
        <p:spPr bwMode="auto">
          <a:xfrm flipV="1">
            <a:off x="4114800" y="2895600"/>
            <a:ext cx="609600" cy="3508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" name="Line 108"/>
          <p:cNvSpPr>
            <a:spLocks noChangeShapeType="1"/>
          </p:cNvSpPr>
          <p:nvPr/>
        </p:nvSpPr>
        <p:spPr bwMode="auto">
          <a:xfrm>
            <a:off x="4114800" y="3581400"/>
            <a:ext cx="685800" cy="395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" name="Line 109"/>
          <p:cNvSpPr>
            <a:spLocks noChangeShapeType="1"/>
          </p:cNvSpPr>
          <p:nvPr/>
        </p:nvSpPr>
        <p:spPr bwMode="auto">
          <a:xfrm>
            <a:off x="7543800" y="2778125"/>
            <a:ext cx="6858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" name="Line 110"/>
          <p:cNvSpPr>
            <a:spLocks noChangeShapeType="1"/>
          </p:cNvSpPr>
          <p:nvPr/>
        </p:nvSpPr>
        <p:spPr bwMode="auto">
          <a:xfrm flipV="1">
            <a:off x="7561263" y="3089275"/>
            <a:ext cx="6858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" name="Rectangle 111"/>
          <p:cNvSpPr>
            <a:spLocks noChangeArrowheads="1"/>
          </p:cNvSpPr>
          <p:nvPr/>
        </p:nvSpPr>
        <p:spPr bwMode="auto">
          <a:xfrm>
            <a:off x="2692400" y="470424"/>
            <a:ext cx="5080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2"/>
                </a:solidFill>
              </a:rPr>
              <a:t>二</a:t>
            </a:r>
            <a:r>
              <a:rPr lang="zh-CN" altLang="en-US" sz="3200" b="1" dirty="0">
                <a:solidFill>
                  <a:schemeClr val="accent2"/>
                </a:solidFill>
              </a:rPr>
              <a:t>、本征半导体的</a:t>
            </a:r>
            <a:r>
              <a:rPr lang="zh-CN" altLang="en-US" sz="3200" b="1" dirty="0">
                <a:solidFill>
                  <a:schemeClr val="accent2"/>
                </a:solidFill>
              </a:rPr>
              <a:t>晶体</a:t>
            </a:r>
            <a:r>
              <a:rPr lang="zh-CN" altLang="en-US" sz="3200" b="1" dirty="0">
                <a:solidFill>
                  <a:schemeClr val="accent2"/>
                </a:solidFill>
              </a:rPr>
              <a:t>结构</a:t>
            </a:r>
            <a:endParaRPr lang="zh-CN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132" name="Text Box 112"/>
          <p:cNvSpPr txBox="1">
            <a:spLocks noChangeArrowheads="1"/>
          </p:cNvSpPr>
          <p:nvPr/>
        </p:nvSpPr>
        <p:spPr bwMode="auto">
          <a:xfrm>
            <a:off x="304800" y="5127625"/>
            <a:ext cx="3810000" cy="104457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b="1"/>
              <a:t>当温度 </a:t>
            </a:r>
            <a:r>
              <a:rPr lang="en-US" altLang="zh-CN" sz="2600" b="1" i="1"/>
              <a:t>T </a:t>
            </a:r>
            <a:r>
              <a:rPr lang="en-US" altLang="zh-CN" sz="2600" b="1"/>
              <a:t>= 0</a:t>
            </a:r>
            <a:r>
              <a:rPr lang="en-US" altLang="zh-CN" sz="2600" b="1" i="1"/>
              <a:t> </a:t>
            </a:r>
            <a:r>
              <a:rPr lang="en-US" altLang="zh-CN" sz="2600" b="1"/>
              <a:t>K </a:t>
            </a:r>
            <a:r>
              <a:rPr lang="zh-CN" altLang="en-US" sz="2600" b="1"/>
              <a:t>时，半导体不导电，如同绝缘体。</a:t>
            </a:r>
            <a:endParaRPr lang="zh-CN" altLang="en-US" sz="2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133" name="Text Box 2"/>
          <p:cNvSpPr txBox="1">
            <a:spLocks noChangeArrowheads="1"/>
          </p:cNvSpPr>
          <p:nvPr/>
        </p:nvSpPr>
        <p:spPr bwMode="auto">
          <a:xfrm>
            <a:off x="3086100" y="531019"/>
            <a:ext cx="510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1.1.2　杂质半导体</a:t>
            </a:r>
            <a:endParaRPr lang="zh-CN" altLang="en-US" sz="32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4" name="Text Box 3"/>
          <p:cNvSpPr txBox="1">
            <a:spLocks noChangeArrowheads="1"/>
          </p:cNvSpPr>
          <p:nvPr/>
        </p:nvSpPr>
        <p:spPr bwMode="auto">
          <a:xfrm>
            <a:off x="1219200" y="1949450"/>
            <a:ext cx="3429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>
                <a:solidFill>
                  <a:schemeClr val="accent2"/>
                </a:solidFill>
              </a:rPr>
              <a:t>杂质半导体有两种</a:t>
            </a:r>
            <a:endParaRPr lang="zh-CN" altLang="en-US" sz="2600" b="1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5" name="AutoShape 4"/>
          <p:cNvSpPr/>
          <p:nvPr/>
        </p:nvSpPr>
        <p:spPr bwMode="auto">
          <a:xfrm>
            <a:off x="4343400" y="1803400"/>
            <a:ext cx="228600" cy="776288"/>
          </a:xfrm>
          <a:prstGeom prst="leftBrace">
            <a:avLst>
              <a:gd name="adj1" fmla="val 28299"/>
              <a:gd name="adj2" fmla="val 50000"/>
            </a:avLst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Text Box 5"/>
          <p:cNvSpPr txBox="1">
            <a:spLocks noChangeArrowheads="1"/>
          </p:cNvSpPr>
          <p:nvPr/>
        </p:nvSpPr>
        <p:spPr bwMode="auto">
          <a:xfrm>
            <a:off x="4724400" y="1630363"/>
            <a:ext cx="2514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 b="1"/>
              <a:t>N </a:t>
            </a:r>
            <a:r>
              <a:rPr lang="zh-CN" altLang="en-US" sz="2600" b="1"/>
              <a:t>型半导体</a:t>
            </a:r>
            <a:endParaRPr lang="zh-CN" altLang="en-US" sz="2600" b="1"/>
          </a:p>
        </p:txBody>
      </p:sp>
      <p:sp>
        <p:nvSpPr>
          <p:cNvPr id="137" name="Text Box 6"/>
          <p:cNvSpPr txBox="1">
            <a:spLocks noChangeArrowheads="1"/>
          </p:cNvSpPr>
          <p:nvPr/>
        </p:nvSpPr>
        <p:spPr bwMode="auto">
          <a:xfrm>
            <a:off x="4724400" y="2239963"/>
            <a:ext cx="2514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 b="1"/>
              <a:t>P </a:t>
            </a:r>
            <a:r>
              <a:rPr lang="zh-CN" altLang="en-US" sz="2600" b="1"/>
              <a:t>型半导体</a:t>
            </a:r>
            <a:endParaRPr lang="zh-CN" altLang="en-US" sz="2600" b="1"/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1295400" y="286385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一、 </a:t>
            </a:r>
            <a:r>
              <a:rPr lang="en-US" altLang="zh-CN" sz="2800" b="1">
                <a:solidFill>
                  <a:srgbClr val="0000FF"/>
                </a:solidFill>
              </a:rPr>
              <a:t>N </a:t>
            </a:r>
            <a:r>
              <a:rPr lang="zh-CN" altLang="en-US" sz="2800" b="1">
                <a:solidFill>
                  <a:srgbClr val="0000FF"/>
                </a:solidFill>
              </a:rPr>
              <a:t>型半导体(</a:t>
            </a:r>
            <a:r>
              <a:rPr lang="en-US" altLang="zh-CN" sz="2800" b="1">
                <a:solidFill>
                  <a:srgbClr val="0000FF"/>
                </a:solidFill>
              </a:rPr>
              <a:t>Negative)</a:t>
            </a:r>
            <a:endParaRPr lang="en-US" altLang="zh-CN" sz="2800" b="1">
              <a:solidFill>
                <a:srgbClr val="0000FF"/>
              </a:solidFill>
            </a:endParaRPr>
          </a:p>
        </p:txBody>
      </p:sp>
      <p:sp>
        <p:nvSpPr>
          <p:cNvPr id="139" name="Text Box 8"/>
          <p:cNvSpPr txBox="1">
            <a:spLocks noChangeArrowheads="1"/>
          </p:cNvSpPr>
          <p:nvPr/>
        </p:nvSpPr>
        <p:spPr bwMode="auto">
          <a:xfrm>
            <a:off x="609600" y="3505200"/>
            <a:ext cx="7924800" cy="163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600" b="1"/>
              <a:t>　　在硅或锗的晶体中掺入少量的 </a:t>
            </a:r>
            <a:r>
              <a:rPr lang="zh-CN" altLang="en-US" sz="2600" b="1">
                <a:solidFill>
                  <a:srgbClr val="FF0000"/>
                </a:solidFill>
              </a:rPr>
              <a:t>5 价</a:t>
            </a:r>
            <a:r>
              <a:rPr lang="zh-CN" altLang="en-US" sz="2600" b="1"/>
              <a:t>杂质元素，如　　磷、锑、砷等，即构成 </a:t>
            </a:r>
            <a:r>
              <a:rPr lang="en-US" altLang="zh-CN" sz="2600" b="1">
                <a:solidFill>
                  <a:srgbClr val="FF0000"/>
                </a:solidFill>
              </a:rPr>
              <a:t>N </a:t>
            </a:r>
            <a:r>
              <a:rPr lang="zh-CN" altLang="en-US" sz="2600" b="1">
                <a:solidFill>
                  <a:srgbClr val="FF0000"/>
                </a:solidFill>
              </a:rPr>
              <a:t>型半导体</a:t>
            </a:r>
            <a:r>
              <a:rPr lang="zh-CN" altLang="en-US" sz="2600" b="1">
                <a:latin typeface="宋体" panose="02010600030101010101" pitchFamily="2" charset="-122"/>
              </a:rPr>
              <a:t>(</a:t>
            </a:r>
            <a:r>
              <a:rPr lang="zh-CN" altLang="en-US" sz="2600" b="1"/>
              <a:t>或称电子型　　半导体</a:t>
            </a:r>
            <a:r>
              <a:rPr lang="zh-CN" altLang="en-US" sz="2600" b="1">
                <a:latin typeface="宋体" panose="02010600030101010101" pitchFamily="2" charset="-122"/>
              </a:rPr>
              <a:t>)</a:t>
            </a:r>
            <a:r>
              <a:rPr lang="zh-CN" altLang="en-US" sz="2600" b="1"/>
              <a:t>。</a:t>
            </a:r>
            <a:endParaRPr lang="zh-CN" altLang="en-US" sz="2600" b="1"/>
          </a:p>
        </p:txBody>
      </p:sp>
      <p:sp>
        <p:nvSpPr>
          <p:cNvPr id="140" name="Text Box 9"/>
          <p:cNvSpPr txBox="1">
            <a:spLocks noChangeArrowheads="1"/>
          </p:cNvSpPr>
          <p:nvPr/>
        </p:nvSpPr>
        <p:spPr bwMode="auto">
          <a:xfrm>
            <a:off x="1524000" y="5597525"/>
            <a:ext cx="7010400" cy="498475"/>
          </a:xfrm>
          <a:prstGeom prst="rect">
            <a:avLst/>
          </a:prstGeom>
          <a:noFill/>
          <a:ln w="9525">
            <a:solidFill>
              <a:srgbClr val="99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>
                <a:solidFill>
                  <a:srgbClr val="9900FF"/>
                </a:solidFill>
              </a:rPr>
              <a:t>常用的 5 价杂质元素有磷、锑、砷等。</a:t>
            </a:r>
            <a:endParaRPr lang="zh-CN" altLang="en-US" sz="2600" b="1">
              <a:solidFill>
                <a:srgbClr val="99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grpSp>
        <p:nvGrpSpPr>
          <p:cNvPr id="11" name="Group 2"/>
          <p:cNvGrpSpPr/>
          <p:nvPr/>
        </p:nvGrpSpPr>
        <p:grpSpPr bwMode="auto">
          <a:xfrm>
            <a:off x="70485" y="1505585"/>
            <a:ext cx="5451475" cy="5122863"/>
            <a:chOff x="1270" y="806"/>
            <a:chExt cx="3434" cy="3227"/>
          </a:xfrm>
        </p:grpSpPr>
        <p:grpSp>
          <p:nvGrpSpPr>
            <p:cNvPr id="12" name="Group 3"/>
            <p:cNvGrpSpPr/>
            <p:nvPr/>
          </p:nvGrpSpPr>
          <p:grpSpPr bwMode="auto">
            <a:xfrm>
              <a:off x="1270" y="806"/>
              <a:ext cx="3434" cy="3227"/>
              <a:chOff x="934" y="853"/>
              <a:chExt cx="3434" cy="3227"/>
            </a:xfrm>
          </p:grpSpPr>
          <p:sp>
            <p:nvSpPr>
              <p:cNvPr id="14" name="Freeform 4"/>
              <p:cNvSpPr/>
              <p:nvPr/>
            </p:nvSpPr>
            <p:spPr bwMode="auto">
              <a:xfrm rot="4881532">
                <a:off x="1392" y="2832"/>
                <a:ext cx="96" cy="288"/>
              </a:xfrm>
              <a:custGeom>
                <a:avLst/>
                <a:gdLst>
                  <a:gd name="T0" fmla="*/ 144 w 144"/>
                  <a:gd name="T1" fmla="*/ 0 h 240"/>
                  <a:gd name="T2" fmla="*/ 48 w 144"/>
                  <a:gd name="T3" fmla="*/ 96 h 240"/>
                  <a:gd name="T4" fmla="*/ 0 w 14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5"/>
              <p:cNvSpPr/>
              <p:nvPr/>
            </p:nvSpPr>
            <p:spPr bwMode="auto">
              <a:xfrm rot="-5219164">
                <a:off x="3552" y="1440"/>
                <a:ext cx="96" cy="288"/>
              </a:xfrm>
              <a:custGeom>
                <a:avLst/>
                <a:gdLst>
                  <a:gd name="T0" fmla="*/ 144 w 144"/>
                  <a:gd name="T1" fmla="*/ 0 h 240"/>
                  <a:gd name="T2" fmla="*/ 48 w 144"/>
                  <a:gd name="T3" fmla="*/ 96 h 240"/>
                  <a:gd name="T4" fmla="*/ 0 w 14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Oval 6"/>
              <p:cNvSpPr>
                <a:spLocks noChangeArrowheads="1"/>
              </p:cNvSpPr>
              <p:nvPr/>
            </p:nvSpPr>
            <p:spPr bwMode="auto">
              <a:xfrm rot="16200000">
                <a:off x="2578" y="728"/>
                <a:ext cx="724" cy="1081"/>
              </a:xfrm>
              <a:custGeom>
                <a:avLst/>
                <a:gdLst>
                  <a:gd name="connsiteX0" fmla="*/ 0 w 1810"/>
                  <a:gd name="connsiteY0" fmla="*/ 1351 h 2703"/>
                  <a:gd name="connsiteX1" fmla="*/ 1380 w 1810"/>
                  <a:gd name="connsiteY1" fmla="*/ 0 h 2703"/>
                  <a:gd name="connsiteX2" fmla="*/ 1660 w 1810"/>
                  <a:gd name="connsiteY2" fmla="*/ 1312 h 2703"/>
                  <a:gd name="connsiteX3" fmla="*/ 1380 w 1810"/>
                  <a:gd name="connsiteY3" fmla="*/ 2703 h 2703"/>
                  <a:gd name="connsiteX4" fmla="*/ 0 w 1810"/>
                  <a:gd name="connsiteY4" fmla="*/ 1351 h 2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0" h="2703">
                    <a:moveTo>
                      <a:pt x="0" y="1351"/>
                    </a:moveTo>
                    <a:cubicBezTo>
                      <a:pt x="0" y="605"/>
                      <a:pt x="618" y="0"/>
                      <a:pt x="1380" y="0"/>
                    </a:cubicBezTo>
                    <a:cubicBezTo>
                      <a:pt x="2142" y="0"/>
                      <a:pt x="1660" y="566"/>
                      <a:pt x="1660" y="1312"/>
                    </a:cubicBezTo>
                    <a:cubicBezTo>
                      <a:pt x="1660" y="2059"/>
                      <a:pt x="2142" y="2703"/>
                      <a:pt x="1380" y="2703"/>
                    </a:cubicBezTo>
                    <a:cubicBezTo>
                      <a:pt x="618" y="2703"/>
                      <a:pt x="0" y="2098"/>
                      <a:pt x="0" y="1351"/>
                    </a:cubicBez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Rectangle 7"/>
              <p:cNvSpPr>
                <a:spLocks noChangeArrowheads="1"/>
              </p:cNvSpPr>
              <p:nvPr/>
            </p:nvSpPr>
            <p:spPr bwMode="auto">
              <a:xfrm rot="16200000">
                <a:off x="2826" y="378"/>
                <a:ext cx="251" cy="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" name="Group 8"/>
              <p:cNvGrpSpPr/>
              <p:nvPr/>
            </p:nvGrpSpPr>
            <p:grpSpPr bwMode="auto">
              <a:xfrm rot="16200000">
                <a:off x="1733" y="677"/>
                <a:ext cx="808" cy="1200"/>
                <a:chOff x="2736" y="288"/>
                <a:chExt cx="808" cy="1200"/>
              </a:xfrm>
            </p:grpSpPr>
            <p:sp>
              <p:nvSpPr>
                <p:cNvPr id="124" name="Oval 9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718" cy="1081"/>
                </a:xfrm>
                <a:custGeom>
                  <a:avLst/>
                  <a:gdLst>
                    <a:gd name="connsiteX0" fmla="*/ 0 w 1794"/>
                    <a:gd name="connsiteY0" fmla="*/ 1351 h 2703"/>
                    <a:gd name="connsiteX1" fmla="*/ 1380 w 1794"/>
                    <a:gd name="connsiteY1" fmla="*/ 0 h 2703"/>
                    <a:gd name="connsiteX2" fmla="*/ 1621 w 1794"/>
                    <a:gd name="connsiteY2" fmla="*/ 1386 h 2703"/>
                    <a:gd name="connsiteX3" fmla="*/ 1380 w 1794"/>
                    <a:gd name="connsiteY3" fmla="*/ 2703 h 2703"/>
                    <a:gd name="connsiteX4" fmla="*/ 0 w 1794"/>
                    <a:gd name="connsiteY4" fmla="*/ 1351 h 2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95" h="2703">
                      <a:moveTo>
                        <a:pt x="0" y="1351"/>
                      </a:moveTo>
                      <a:cubicBezTo>
                        <a:pt x="0" y="605"/>
                        <a:pt x="618" y="0"/>
                        <a:pt x="1380" y="0"/>
                      </a:cubicBezTo>
                      <a:cubicBezTo>
                        <a:pt x="2142" y="0"/>
                        <a:pt x="1621" y="640"/>
                        <a:pt x="1621" y="1386"/>
                      </a:cubicBezTo>
                      <a:cubicBezTo>
                        <a:pt x="1621" y="2133"/>
                        <a:pt x="2142" y="2703"/>
                        <a:pt x="1380" y="2703"/>
                      </a:cubicBezTo>
                      <a:cubicBezTo>
                        <a:pt x="618" y="2703"/>
                        <a:pt x="0" y="2098"/>
                        <a:pt x="0" y="1351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Rectangle 10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280" cy="1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Group 11"/>
              <p:cNvGrpSpPr/>
              <p:nvPr/>
            </p:nvGrpSpPr>
            <p:grpSpPr bwMode="auto">
              <a:xfrm rot="10800000">
                <a:off x="980" y="2011"/>
                <a:ext cx="892" cy="1205"/>
                <a:chOff x="2736" y="336"/>
                <a:chExt cx="892" cy="1205"/>
              </a:xfrm>
            </p:grpSpPr>
            <p:sp>
              <p:nvSpPr>
                <p:cNvPr id="122" name="Oval 12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724" cy="1081"/>
                </a:xfrm>
                <a:custGeom>
                  <a:avLst/>
                  <a:gdLst>
                    <a:gd name="connsiteX0" fmla="*/ 0 w 1811"/>
                    <a:gd name="connsiteY0" fmla="*/ 1351 h 2703"/>
                    <a:gd name="connsiteX1" fmla="*/ 1380 w 1811"/>
                    <a:gd name="connsiteY1" fmla="*/ 0 h 2703"/>
                    <a:gd name="connsiteX2" fmla="*/ 1662 w 1811"/>
                    <a:gd name="connsiteY2" fmla="*/ 1346 h 2703"/>
                    <a:gd name="connsiteX3" fmla="*/ 1380 w 1811"/>
                    <a:gd name="connsiteY3" fmla="*/ 2703 h 2703"/>
                    <a:gd name="connsiteX4" fmla="*/ 0 w 1811"/>
                    <a:gd name="connsiteY4" fmla="*/ 1351 h 2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1" h="2703">
                      <a:moveTo>
                        <a:pt x="0" y="1351"/>
                      </a:moveTo>
                      <a:cubicBezTo>
                        <a:pt x="0" y="605"/>
                        <a:pt x="618" y="0"/>
                        <a:pt x="1380" y="0"/>
                      </a:cubicBezTo>
                      <a:cubicBezTo>
                        <a:pt x="2142" y="0"/>
                        <a:pt x="1662" y="600"/>
                        <a:pt x="1662" y="1346"/>
                      </a:cubicBezTo>
                      <a:cubicBezTo>
                        <a:pt x="1662" y="2093"/>
                        <a:pt x="2142" y="2703"/>
                        <a:pt x="1380" y="2703"/>
                      </a:cubicBezTo>
                      <a:cubicBezTo>
                        <a:pt x="618" y="2703"/>
                        <a:pt x="0" y="2098"/>
                        <a:pt x="0" y="1351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" name="Rectangle 13"/>
                <p:cNvSpPr>
                  <a:spLocks noChangeArrowheads="1"/>
                </p:cNvSpPr>
                <p:nvPr/>
              </p:nvSpPr>
              <p:spPr bwMode="auto">
                <a:xfrm>
                  <a:off x="3284" y="341"/>
                  <a:ext cx="344" cy="1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Group 14"/>
              <p:cNvGrpSpPr/>
              <p:nvPr/>
            </p:nvGrpSpPr>
            <p:grpSpPr bwMode="auto">
              <a:xfrm rot="10800000">
                <a:off x="934" y="1251"/>
                <a:ext cx="938" cy="1200"/>
                <a:chOff x="2736" y="333"/>
                <a:chExt cx="938" cy="1200"/>
              </a:xfrm>
            </p:grpSpPr>
            <p:sp>
              <p:nvSpPr>
                <p:cNvPr id="120" name="Oval 15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790" cy="1081"/>
                </a:xfrm>
                <a:custGeom>
                  <a:avLst/>
                  <a:gdLst>
                    <a:gd name="connsiteX0" fmla="*/ 0 w 1974"/>
                    <a:gd name="connsiteY0" fmla="*/ 1351 h 2703"/>
                    <a:gd name="connsiteX1" fmla="*/ 1380 w 1974"/>
                    <a:gd name="connsiteY1" fmla="*/ 0 h 2703"/>
                    <a:gd name="connsiteX2" fmla="*/ 1954 w 1974"/>
                    <a:gd name="connsiteY2" fmla="*/ 1425 h 2703"/>
                    <a:gd name="connsiteX3" fmla="*/ 1380 w 1974"/>
                    <a:gd name="connsiteY3" fmla="*/ 2703 h 2703"/>
                    <a:gd name="connsiteX4" fmla="*/ 0 w 1974"/>
                    <a:gd name="connsiteY4" fmla="*/ 1351 h 2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75" h="2703">
                      <a:moveTo>
                        <a:pt x="0" y="1351"/>
                      </a:moveTo>
                      <a:cubicBezTo>
                        <a:pt x="0" y="605"/>
                        <a:pt x="618" y="0"/>
                        <a:pt x="1380" y="0"/>
                      </a:cubicBezTo>
                      <a:cubicBezTo>
                        <a:pt x="2142" y="0"/>
                        <a:pt x="1954" y="679"/>
                        <a:pt x="1954" y="1425"/>
                      </a:cubicBezTo>
                      <a:cubicBezTo>
                        <a:pt x="1954" y="2172"/>
                        <a:pt x="2142" y="2703"/>
                        <a:pt x="1380" y="2703"/>
                      </a:cubicBezTo>
                      <a:cubicBezTo>
                        <a:pt x="618" y="2703"/>
                        <a:pt x="0" y="2098"/>
                        <a:pt x="0" y="1351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Rectangle 16"/>
                <p:cNvSpPr>
                  <a:spLocks noChangeArrowheads="1"/>
                </p:cNvSpPr>
                <p:nvPr/>
              </p:nvSpPr>
              <p:spPr bwMode="auto">
                <a:xfrm>
                  <a:off x="3287" y="333"/>
                  <a:ext cx="387" cy="1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Group 17"/>
              <p:cNvGrpSpPr/>
              <p:nvPr/>
            </p:nvGrpSpPr>
            <p:grpSpPr bwMode="auto">
              <a:xfrm rot="5400000">
                <a:off x="1512" y="2904"/>
                <a:ext cx="1152" cy="1200"/>
                <a:chOff x="2736" y="288"/>
                <a:chExt cx="1152" cy="1200"/>
              </a:xfrm>
            </p:grpSpPr>
            <p:sp>
              <p:nvSpPr>
                <p:cNvPr id="118" name="Oval 18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Rectangle 19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20"/>
              <p:cNvGrpSpPr/>
              <p:nvPr/>
            </p:nvGrpSpPr>
            <p:grpSpPr bwMode="auto">
              <a:xfrm rot="5400000">
                <a:off x="2376" y="2904"/>
                <a:ext cx="1152" cy="1200"/>
                <a:chOff x="2736" y="288"/>
                <a:chExt cx="1152" cy="1200"/>
              </a:xfrm>
            </p:grpSpPr>
            <p:sp>
              <p:nvSpPr>
                <p:cNvPr id="116" name="Oval 21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7" name="Rectangle 22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 bwMode="auto">
              <a:xfrm>
                <a:off x="3216" y="1296"/>
                <a:ext cx="1152" cy="1200"/>
                <a:chOff x="2736" y="288"/>
                <a:chExt cx="1152" cy="1200"/>
              </a:xfrm>
            </p:grpSpPr>
            <p:sp>
              <p:nvSpPr>
                <p:cNvPr id="114" name="Oval 24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Rectangle 25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" name="Group 26"/>
              <p:cNvGrpSpPr/>
              <p:nvPr/>
            </p:nvGrpSpPr>
            <p:grpSpPr bwMode="auto">
              <a:xfrm>
                <a:off x="3216" y="2112"/>
                <a:ext cx="1152" cy="1200"/>
                <a:chOff x="2736" y="288"/>
                <a:chExt cx="1152" cy="1200"/>
              </a:xfrm>
            </p:grpSpPr>
            <p:sp>
              <p:nvSpPr>
                <p:cNvPr id="112" name="Oval 27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" name="Rectangle 28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" name="Oval 29"/>
              <p:cNvSpPr>
                <a:spLocks noChangeArrowheads="1"/>
              </p:cNvSpPr>
              <p:nvPr/>
            </p:nvSpPr>
            <p:spPr bwMode="auto">
              <a:xfrm>
                <a:off x="1584" y="1349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30"/>
              <p:cNvSpPr>
                <a:spLocks noChangeArrowheads="1"/>
              </p:cNvSpPr>
              <p:nvPr/>
            </p:nvSpPr>
            <p:spPr bwMode="auto">
              <a:xfrm>
                <a:off x="2400" y="1344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Oval 31"/>
              <p:cNvSpPr>
                <a:spLocks noChangeArrowheads="1"/>
              </p:cNvSpPr>
              <p:nvPr/>
            </p:nvSpPr>
            <p:spPr bwMode="auto">
              <a:xfrm>
                <a:off x="1584" y="2135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Oval 32"/>
              <p:cNvSpPr>
                <a:spLocks noChangeArrowheads="1"/>
              </p:cNvSpPr>
              <p:nvPr/>
            </p:nvSpPr>
            <p:spPr bwMode="auto">
              <a:xfrm>
                <a:off x="2400" y="2135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Oval 33"/>
              <p:cNvSpPr>
                <a:spLocks noChangeArrowheads="1"/>
              </p:cNvSpPr>
              <p:nvPr/>
            </p:nvSpPr>
            <p:spPr bwMode="auto">
              <a:xfrm>
                <a:off x="2256" y="2253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Oval 34"/>
              <p:cNvSpPr>
                <a:spLocks noChangeArrowheads="1"/>
              </p:cNvSpPr>
              <p:nvPr/>
            </p:nvSpPr>
            <p:spPr bwMode="auto">
              <a:xfrm>
                <a:off x="2400" y="2133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Oval 35"/>
              <p:cNvSpPr>
                <a:spLocks noChangeArrowheads="1"/>
              </p:cNvSpPr>
              <p:nvPr/>
            </p:nvSpPr>
            <p:spPr bwMode="auto">
              <a:xfrm>
                <a:off x="2496" y="2496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Oval 36"/>
              <p:cNvSpPr>
                <a:spLocks noChangeArrowheads="1"/>
              </p:cNvSpPr>
              <p:nvPr/>
            </p:nvSpPr>
            <p:spPr bwMode="auto">
              <a:xfrm>
                <a:off x="2779" y="2256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37"/>
              <p:cNvSpPr>
                <a:spLocks noChangeArrowheads="1"/>
              </p:cNvSpPr>
              <p:nvPr/>
            </p:nvSpPr>
            <p:spPr bwMode="auto">
              <a:xfrm>
                <a:off x="2496" y="2016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Text Box 38"/>
              <p:cNvSpPr txBox="1">
                <a:spLocks noChangeArrowheads="1"/>
              </p:cNvSpPr>
              <p:nvPr/>
            </p:nvSpPr>
            <p:spPr bwMode="auto">
              <a:xfrm>
                <a:off x="2372" y="2150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  <p:grpSp>
            <p:nvGrpSpPr>
              <p:cNvPr id="35" name="Group 39"/>
              <p:cNvGrpSpPr/>
              <p:nvPr/>
            </p:nvGrpSpPr>
            <p:grpSpPr bwMode="auto">
              <a:xfrm>
                <a:off x="1440" y="1152"/>
                <a:ext cx="576" cy="630"/>
                <a:chOff x="2832" y="1104"/>
                <a:chExt cx="576" cy="630"/>
              </a:xfrm>
            </p:grpSpPr>
            <p:sp>
              <p:nvSpPr>
                <p:cNvPr id="103" name="Freeform 40"/>
                <p:cNvSpPr/>
                <p:nvPr/>
              </p:nvSpPr>
              <p:spPr bwMode="auto">
                <a:xfrm rot="12413793">
                  <a:off x="2880" y="1392"/>
                  <a:ext cx="96" cy="288"/>
                </a:xfrm>
                <a:custGeom>
                  <a:avLst/>
                  <a:gdLst>
                    <a:gd name="T0" fmla="*/ 144 w 144"/>
                    <a:gd name="T1" fmla="*/ 0 h 240"/>
                    <a:gd name="T2" fmla="*/ 48 w 144"/>
                    <a:gd name="T3" fmla="*/ 96 h 240"/>
                    <a:gd name="T4" fmla="*/ 0 w 144"/>
                    <a:gd name="T5" fmla="*/ 24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" name="Freeform 41"/>
                <p:cNvSpPr/>
                <p:nvPr/>
              </p:nvSpPr>
              <p:spPr bwMode="auto">
                <a:xfrm rot="11438180">
                  <a:off x="3168" y="1104"/>
                  <a:ext cx="96" cy="288"/>
                </a:xfrm>
                <a:custGeom>
                  <a:avLst/>
                  <a:gdLst>
                    <a:gd name="T0" fmla="*/ 144 w 144"/>
                    <a:gd name="T1" fmla="*/ 0 h 240"/>
                    <a:gd name="T2" fmla="*/ 48 w 144"/>
                    <a:gd name="T3" fmla="*/ 96 h 240"/>
                    <a:gd name="T4" fmla="*/ 0 w 144"/>
                    <a:gd name="T5" fmla="*/ 24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" name="Oval 42"/>
                <p:cNvSpPr>
                  <a:spLocks noChangeArrowheads="1"/>
                </p:cNvSpPr>
                <p:nvPr/>
              </p:nvSpPr>
              <p:spPr bwMode="auto">
                <a:xfrm>
                  <a:off x="2976" y="1320"/>
                  <a:ext cx="293" cy="289"/>
                </a:xfrm>
                <a:prstGeom prst="ellipse">
                  <a:avLst/>
                </a:prstGeom>
                <a:solidFill>
                  <a:srgbClr val="FFFF66"/>
                </a:solidFill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06" name="Group 43"/>
                <p:cNvGrpSpPr/>
                <p:nvPr/>
              </p:nvGrpSpPr>
              <p:grpSpPr bwMode="auto">
                <a:xfrm>
                  <a:off x="2832" y="1203"/>
                  <a:ext cx="576" cy="531"/>
                  <a:chOff x="2832" y="1203"/>
                  <a:chExt cx="576" cy="531"/>
                </a:xfrm>
              </p:grpSpPr>
              <p:sp>
                <p:nvSpPr>
                  <p:cNvPr id="107" name="Oval 44"/>
                  <p:cNvSpPr>
                    <a:spLocks noChangeArrowheads="1"/>
                  </p:cNvSpPr>
                  <p:nvPr/>
                </p:nvSpPr>
                <p:spPr bwMode="auto">
                  <a:xfrm>
                    <a:off x="2832" y="1440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68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Oval 46"/>
                  <p:cNvSpPr>
                    <a:spLocks noChangeArrowheads="1"/>
                  </p:cNvSpPr>
                  <p:nvPr/>
                </p:nvSpPr>
                <p:spPr bwMode="auto">
                  <a:xfrm>
                    <a:off x="3355" y="1443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20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" name="Text 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8" y="1337"/>
                    <a:ext cx="3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66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/>
                      <a:t>+4</a:t>
                    </a:r>
                    <a:endParaRPr lang="zh-CN" altLang="en-US" sz="2000" b="1"/>
                  </a:p>
                </p:txBody>
              </p:sp>
            </p:grpSp>
          </p:grpSp>
          <p:sp>
            <p:nvSpPr>
              <p:cNvPr id="36" name="Freeform 49"/>
              <p:cNvSpPr/>
              <p:nvPr/>
            </p:nvSpPr>
            <p:spPr bwMode="auto">
              <a:xfrm>
                <a:off x="3216" y="3168"/>
                <a:ext cx="96" cy="288"/>
              </a:xfrm>
              <a:custGeom>
                <a:avLst/>
                <a:gdLst>
                  <a:gd name="T0" fmla="*/ 144 w 144"/>
                  <a:gd name="T1" fmla="*/ 0 h 240"/>
                  <a:gd name="T2" fmla="*/ 48 w 144"/>
                  <a:gd name="T3" fmla="*/ 96 h 240"/>
                  <a:gd name="T4" fmla="*/ 0 w 14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50"/>
              <p:cNvSpPr/>
              <p:nvPr/>
            </p:nvSpPr>
            <p:spPr bwMode="auto">
              <a:xfrm rot="3287629">
                <a:off x="3552" y="2832"/>
                <a:ext cx="96" cy="288"/>
              </a:xfrm>
              <a:custGeom>
                <a:avLst/>
                <a:gdLst>
                  <a:gd name="T0" fmla="*/ 144 w 144"/>
                  <a:gd name="T1" fmla="*/ 0 h 240"/>
                  <a:gd name="T2" fmla="*/ 48 w 144"/>
                  <a:gd name="T3" fmla="*/ 96 h 240"/>
                  <a:gd name="T4" fmla="*/ 0 w 14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51"/>
              <p:cNvSpPr/>
              <p:nvPr/>
            </p:nvSpPr>
            <p:spPr bwMode="auto">
              <a:xfrm rot="8928615">
                <a:off x="1795" y="3210"/>
                <a:ext cx="48" cy="192"/>
              </a:xfrm>
              <a:custGeom>
                <a:avLst/>
                <a:gdLst>
                  <a:gd name="T0" fmla="*/ 144 w 144"/>
                  <a:gd name="T1" fmla="*/ 0 h 240"/>
                  <a:gd name="T2" fmla="*/ 48 w 144"/>
                  <a:gd name="T3" fmla="*/ 96 h 240"/>
                  <a:gd name="T4" fmla="*/ 0 w 14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52"/>
              <p:cNvSpPr/>
              <p:nvPr/>
            </p:nvSpPr>
            <p:spPr bwMode="auto">
              <a:xfrm rot="-2293138">
                <a:off x="3216" y="1104"/>
                <a:ext cx="96" cy="288"/>
              </a:xfrm>
              <a:custGeom>
                <a:avLst/>
                <a:gdLst>
                  <a:gd name="T0" fmla="*/ 144 w 144"/>
                  <a:gd name="T1" fmla="*/ 0 h 240"/>
                  <a:gd name="T2" fmla="*/ 48 w 144"/>
                  <a:gd name="T3" fmla="*/ 96 h 240"/>
                  <a:gd name="T4" fmla="*/ 0 w 14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Oval 53"/>
              <p:cNvSpPr>
                <a:spLocks noChangeArrowheads="1"/>
              </p:cNvSpPr>
              <p:nvPr/>
            </p:nvSpPr>
            <p:spPr bwMode="auto">
              <a:xfrm>
                <a:off x="1584" y="2136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1" name="Group 54"/>
              <p:cNvGrpSpPr/>
              <p:nvPr/>
            </p:nvGrpSpPr>
            <p:grpSpPr bwMode="auto">
              <a:xfrm>
                <a:off x="1440" y="2019"/>
                <a:ext cx="576" cy="531"/>
                <a:chOff x="2832" y="1203"/>
                <a:chExt cx="576" cy="531"/>
              </a:xfrm>
            </p:grpSpPr>
            <p:sp>
              <p:nvSpPr>
                <p:cNvPr id="98" name="Oval 55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" name="Oval 56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0" name="Oval 57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1" name="Oval 58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/>
                    <a:t>+4</a:t>
                  </a:r>
                  <a:endParaRPr lang="zh-CN" altLang="en-US" sz="2000" b="1"/>
                </a:p>
              </p:txBody>
            </p:sp>
          </p:grpSp>
          <p:sp>
            <p:nvSpPr>
              <p:cNvPr id="42" name="Oval 60"/>
              <p:cNvSpPr>
                <a:spLocks noChangeArrowheads="1"/>
              </p:cNvSpPr>
              <p:nvPr/>
            </p:nvSpPr>
            <p:spPr bwMode="auto">
              <a:xfrm>
                <a:off x="2400" y="136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" name="Group 61"/>
              <p:cNvGrpSpPr/>
              <p:nvPr/>
            </p:nvGrpSpPr>
            <p:grpSpPr bwMode="auto">
              <a:xfrm>
                <a:off x="2256" y="1251"/>
                <a:ext cx="576" cy="531"/>
                <a:chOff x="2832" y="1203"/>
                <a:chExt cx="576" cy="531"/>
              </a:xfrm>
            </p:grpSpPr>
            <p:sp>
              <p:nvSpPr>
                <p:cNvPr id="93" name="Oval 62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Oval 63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Oval 64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Oval 65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/>
                    <a:t>+4</a:t>
                  </a:r>
                  <a:endParaRPr lang="zh-CN" altLang="en-US" sz="2000" b="1"/>
                </a:p>
              </p:txBody>
            </p:sp>
          </p:grpSp>
          <p:sp>
            <p:nvSpPr>
              <p:cNvPr id="44" name="Oval 67"/>
              <p:cNvSpPr>
                <a:spLocks noChangeArrowheads="1"/>
              </p:cNvSpPr>
              <p:nvPr/>
            </p:nvSpPr>
            <p:spPr bwMode="auto">
              <a:xfrm>
                <a:off x="3216" y="136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5" name="Group 68"/>
              <p:cNvGrpSpPr/>
              <p:nvPr/>
            </p:nvGrpSpPr>
            <p:grpSpPr bwMode="auto">
              <a:xfrm>
                <a:off x="3072" y="1251"/>
                <a:ext cx="576" cy="531"/>
                <a:chOff x="2832" y="1203"/>
                <a:chExt cx="576" cy="531"/>
              </a:xfrm>
            </p:grpSpPr>
            <p:sp>
              <p:nvSpPr>
                <p:cNvPr id="88" name="Oval 69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Oval 70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Oval 71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Oval 72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/>
                    <a:t>+4</a:t>
                  </a:r>
                  <a:endParaRPr lang="zh-CN" altLang="en-US" sz="2000" b="1"/>
                </a:p>
              </p:txBody>
            </p:sp>
          </p:grpSp>
          <p:sp>
            <p:nvSpPr>
              <p:cNvPr id="46" name="Oval 74"/>
              <p:cNvSpPr>
                <a:spLocks noChangeArrowheads="1"/>
              </p:cNvSpPr>
              <p:nvPr/>
            </p:nvSpPr>
            <p:spPr bwMode="auto">
              <a:xfrm>
                <a:off x="1584" y="2946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7" name="Group 75"/>
              <p:cNvGrpSpPr/>
              <p:nvPr/>
            </p:nvGrpSpPr>
            <p:grpSpPr bwMode="auto">
              <a:xfrm>
                <a:off x="1440" y="2829"/>
                <a:ext cx="576" cy="531"/>
                <a:chOff x="2832" y="1203"/>
                <a:chExt cx="576" cy="531"/>
              </a:xfrm>
            </p:grpSpPr>
            <p:sp>
              <p:nvSpPr>
                <p:cNvPr id="83" name="Oval 76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Oval 77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Oval 78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Oval 79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/>
                    <a:t>+4</a:t>
                  </a:r>
                  <a:endParaRPr lang="zh-CN" altLang="en-US" sz="2000" b="1"/>
                </a:p>
              </p:txBody>
            </p:sp>
          </p:grpSp>
          <p:sp>
            <p:nvSpPr>
              <p:cNvPr id="48" name="Oval 81"/>
              <p:cNvSpPr>
                <a:spLocks noChangeArrowheads="1"/>
              </p:cNvSpPr>
              <p:nvPr/>
            </p:nvSpPr>
            <p:spPr bwMode="auto">
              <a:xfrm>
                <a:off x="2400" y="2952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9" name="Group 82"/>
              <p:cNvGrpSpPr/>
              <p:nvPr/>
            </p:nvGrpSpPr>
            <p:grpSpPr bwMode="auto">
              <a:xfrm>
                <a:off x="2256" y="2835"/>
                <a:ext cx="576" cy="531"/>
                <a:chOff x="2832" y="1203"/>
                <a:chExt cx="576" cy="531"/>
              </a:xfrm>
            </p:grpSpPr>
            <p:sp>
              <p:nvSpPr>
                <p:cNvPr id="78" name="Oval 83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Oval 84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Oval 85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Oval 86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/>
                    <a:t>+4</a:t>
                  </a:r>
                  <a:endParaRPr lang="zh-CN" altLang="en-US" sz="2000" b="1"/>
                </a:p>
              </p:txBody>
            </p:sp>
          </p:grpSp>
          <p:sp>
            <p:nvSpPr>
              <p:cNvPr id="50" name="Oval 88"/>
              <p:cNvSpPr>
                <a:spLocks noChangeArrowheads="1"/>
              </p:cNvSpPr>
              <p:nvPr/>
            </p:nvSpPr>
            <p:spPr bwMode="auto">
              <a:xfrm>
                <a:off x="3216" y="2946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1" name="Group 89"/>
              <p:cNvGrpSpPr/>
              <p:nvPr/>
            </p:nvGrpSpPr>
            <p:grpSpPr bwMode="auto">
              <a:xfrm>
                <a:off x="3072" y="2829"/>
                <a:ext cx="576" cy="531"/>
                <a:chOff x="2832" y="1203"/>
                <a:chExt cx="576" cy="531"/>
              </a:xfrm>
            </p:grpSpPr>
            <p:sp>
              <p:nvSpPr>
                <p:cNvPr id="73" name="Oval 90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Oval 91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Oval 92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Oval 93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/>
                    <a:t>+4</a:t>
                  </a:r>
                  <a:endParaRPr lang="zh-CN" altLang="en-US" sz="2000" b="1"/>
                </a:p>
              </p:txBody>
            </p:sp>
          </p:grpSp>
          <p:sp>
            <p:nvSpPr>
              <p:cNvPr id="52" name="Oval 95"/>
              <p:cNvSpPr>
                <a:spLocks noChangeArrowheads="1"/>
              </p:cNvSpPr>
              <p:nvPr/>
            </p:nvSpPr>
            <p:spPr bwMode="auto">
              <a:xfrm>
                <a:off x="3216" y="213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3" name="Group 96"/>
              <p:cNvGrpSpPr/>
              <p:nvPr/>
            </p:nvGrpSpPr>
            <p:grpSpPr bwMode="auto">
              <a:xfrm>
                <a:off x="3072" y="2013"/>
                <a:ext cx="576" cy="531"/>
                <a:chOff x="2832" y="1203"/>
                <a:chExt cx="576" cy="531"/>
              </a:xfrm>
            </p:grpSpPr>
            <p:sp>
              <p:nvSpPr>
                <p:cNvPr id="68" name="Oval 97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Oval 98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Oval 99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Oval 100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/>
                    <a:t>+4</a:t>
                  </a:r>
                  <a:endParaRPr lang="zh-CN" altLang="en-US" sz="2000" b="1"/>
                </a:p>
              </p:txBody>
            </p:sp>
          </p:grpSp>
          <p:grpSp>
            <p:nvGrpSpPr>
              <p:cNvPr id="54" name="Group 102"/>
              <p:cNvGrpSpPr/>
              <p:nvPr/>
            </p:nvGrpSpPr>
            <p:grpSpPr bwMode="auto">
              <a:xfrm>
                <a:off x="2256" y="2016"/>
                <a:ext cx="576" cy="531"/>
                <a:chOff x="576" y="1203"/>
                <a:chExt cx="576" cy="531"/>
              </a:xfrm>
            </p:grpSpPr>
            <p:sp>
              <p:nvSpPr>
                <p:cNvPr id="61" name="Oval 103"/>
                <p:cNvSpPr>
                  <a:spLocks noChangeArrowheads="1"/>
                </p:cNvSpPr>
                <p:nvPr/>
              </p:nvSpPr>
              <p:spPr bwMode="auto">
                <a:xfrm>
                  <a:off x="1056" y="1245"/>
                  <a:ext cx="53" cy="51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Oval 104"/>
                <p:cNvSpPr>
                  <a:spLocks noChangeArrowheads="1"/>
                </p:cNvSpPr>
                <p:nvPr/>
              </p:nvSpPr>
              <p:spPr bwMode="auto">
                <a:xfrm>
                  <a:off x="720" y="1320"/>
                  <a:ext cx="293" cy="289"/>
                </a:xfrm>
                <a:prstGeom prst="ellipse">
                  <a:avLst/>
                </a:prstGeom>
                <a:solidFill>
                  <a:srgbClr val="FFFF66"/>
                </a:solidFill>
                <a:ln w="25400">
                  <a:solidFill>
                    <a:srgbClr val="FF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Oval 105"/>
                <p:cNvSpPr>
                  <a:spLocks noChangeArrowheads="1"/>
                </p:cNvSpPr>
                <p:nvPr/>
              </p:nvSpPr>
              <p:spPr bwMode="auto">
                <a:xfrm>
                  <a:off x="576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FF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Oval 106"/>
                <p:cNvSpPr>
                  <a:spLocks noChangeArrowheads="1"/>
                </p:cNvSpPr>
                <p:nvPr/>
              </p:nvSpPr>
              <p:spPr bwMode="auto">
                <a:xfrm>
                  <a:off x="816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FF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Oval 107"/>
                <p:cNvSpPr>
                  <a:spLocks noChangeArrowheads="1"/>
                </p:cNvSpPr>
                <p:nvPr/>
              </p:nvSpPr>
              <p:spPr bwMode="auto">
                <a:xfrm>
                  <a:off x="1099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FF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Oval 108"/>
                <p:cNvSpPr>
                  <a:spLocks noChangeArrowheads="1"/>
                </p:cNvSpPr>
                <p:nvPr/>
              </p:nvSpPr>
              <p:spPr bwMode="auto">
                <a:xfrm>
                  <a:off x="816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FF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92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>
                      <a:solidFill>
                        <a:srgbClr val="FF0000"/>
                      </a:solidFill>
                    </a:rPr>
                    <a:t>+5</a:t>
                  </a:r>
                  <a:endParaRPr lang="zh-CN" altLang="en-US" sz="2000" b="1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55" name="Group 110"/>
              <p:cNvGrpSpPr/>
              <p:nvPr/>
            </p:nvGrpSpPr>
            <p:grpSpPr bwMode="auto">
              <a:xfrm>
                <a:off x="3264" y="1536"/>
                <a:ext cx="760" cy="256"/>
                <a:chOff x="1536" y="3536"/>
                <a:chExt cx="760" cy="256"/>
              </a:xfrm>
            </p:grpSpPr>
            <p:sp>
              <p:nvSpPr>
                <p:cNvPr id="59" name="AutoShape 111"/>
                <p:cNvSpPr>
                  <a:spLocks noChangeArrowheads="1"/>
                </p:cNvSpPr>
                <p:nvPr/>
              </p:nvSpPr>
              <p:spPr bwMode="auto">
                <a:xfrm>
                  <a:off x="1584" y="3552"/>
                  <a:ext cx="672" cy="240"/>
                </a:xfrm>
                <a:prstGeom prst="wedgeRoundRectCallout">
                  <a:avLst>
                    <a:gd name="adj1" fmla="val -118750"/>
                    <a:gd name="adj2" fmla="val 153333"/>
                    <a:gd name="adj3" fmla="val 16667"/>
                  </a:avLst>
                </a:prstGeom>
                <a:solidFill>
                  <a:srgbClr val="FF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endParaRPr lang="zh-CN" altLang="en-US" sz="2800" b="1"/>
                </a:p>
              </p:txBody>
            </p:sp>
            <p:sp>
              <p:nvSpPr>
                <p:cNvPr id="60" name="Rectangle 112"/>
                <p:cNvSpPr>
                  <a:spLocks noChangeArrowheads="1"/>
                </p:cNvSpPr>
                <p:nvPr/>
              </p:nvSpPr>
              <p:spPr bwMode="auto">
                <a:xfrm>
                  <a:off x="1536" y="3536"/>
                  <a:ext cx="76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FF0000"/>
                      </a:solidFill>
                    </a:rPr>
                    <a:t>自由电子</a:t>
                  </a:r>
                  <a:endParaRPr lang="zh-CN" altLang="en-US" sz="2000" b="1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56" name="Group 113"/>
              <p:cNvGrpSpPr/>
              <p:nvPr/>
            </p:nvGrpSpPr>
            <p:grpSpPr bwMode="auto">
              <a:xfrm>
                <a:off x="2640" y="2544"/>
                <a:ext cx="816" cy="298"/>
                <a:chOff x="672" y="3168"/>
                <a:chExt cx="816" cy="298"/>
              </a:xfrm>
            </p:grpSpPr>
            <p:sp>
              <p:nvSpPr>
                <p:cNvPr id="57" name="AutoShape 114"/>
                <p:cNvSpPr>
                  <a:spLocks noChangeArrowheads="1"/>
                </p:cNvSpPr>
                <p:nvPr/>
              </p:nvSpPr>
              <p:spPr bwMode="auto">
                <a:xfrm>
                  <a:off x="672" y="3168"/>
                  <a:ext cx="672" cy="288"/>
                </a:xfrm>
                <a:prstGeom prst="wedgeRoundRectCallout">
                  <a:avLst>
                    <a:gd name="adj1" fmla="val -55653"/>
                    <a:gd name="adj2" fmla="val -107639"/>
                    <a:gd name="adj3" fmla="val 16667"/>
                  </a:avLst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endParaRPr lang="zh-CN" altLang="en-US" sz="2800" b="1"/>
                </a:p>
              </p:txBody>
            </p:sp>
            <p:sp>
              <p:nvSpPr>
                <p:cNvPr id="58" name="Text Box 115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8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>
                      <a:solidFill>
                        <a:srgbClr val="FF0000"/>
                      </a:solidFill>
                    </a:rPr>
                    <a:t>施主原子</a:t>
                  </a:r>
                  <a:endParaRPr lang="zh-CN" altLang="en-US" sz="2000" b="1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13" name="Text Box 116"/>
            <p:cNvSpPr txBox="1">
              <a:spLocks noChangeArrowheads="1"/>
            </p:cNvSpPr>
            <p:nvPr/>
          </p:nvSpPr>
          <p:spPr bwMode="auto">
            <a:xfrm>
              <a:off x="1883" y="3560"/>
              <a:ext cx="1892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00FF"/>
                  </a:solidFill>
                  <a:ea typeface="黑体" panose="02010609060101010101" pitchFamily="49" charset="-122"/>
                </a:rPr>
                <a:t>　　图 1.1.3　</a:t>
              </a:r>
              <a:r>
                <a:rPr lang="en-US" altLang="zh-CN" b="1">
                  <a:solidFill>
                    <a:srgbClr val="FF00FF"/>
                  </a:solidFill>
                  <a:ea typeface="黑体" panose="02010609060101010101" pitchFamily="49" charset="-122"/>
                </a:rPr>
                <a:t>N </a:t>
              </a:r>
              <a:r>
                <a:rPr lang="zh-CN" altLang="en-US" b="1">
                  <a:solidFill>
                    <a:srgbClr val="FF00FF"/>
                  </a:solidFill>
                  <a:ea typeface="黑体" panose="02010609060101010101" pitchFamily="49" charset="-122"/>
                </a:rPr>
                <a:t>型半导体</a:t>
              </a:r>
              <a:endParaRPr lang="zh-CN" altLang="en-US" b="1">
                <a:solidFill>
                  <a:srgbClr val="FF00FF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133" name="Text Box 2"/>
          <p:cNvSpPr txBox="1">
            <a:spLocks noChangeArrowheads="1"/>
          </p:cNvSpPr>
          <p:nvPr/>
        </p:nvSpPr>
        <p:spPr bwMode="auto">
          <a:xfrm>
            <a:off x="3083741" y="548483"/>
            <a:ext cx="510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1.1.2　杂质半导体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9" name="Text Box 111"/>
          <p:cNvSpPr txBox="1">
            <a:spLocks noChangeArrowheads="1"/>
          </p:cNvSpPr>
          <p:nvPr/>
        </p:nvSpPr>
        <p:spPr bwMode="auto">
          <a:xfrm>
            <a:off x="5220335" y="3636010"/>
            <a:ext cx="3733800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600" b="1"/>
              <a:t>　　电子浓度多于空穴浓度，即 </a:t>
            </a:r>
            <a:r>
              <a:rPr lang="en-US" altLang="zh-CN" sz="2600" b="1" i="1">
                <a:solidFill>
                  <a:srgbClr val="FF0000"/>
                </a:solidFill>
              </a:rPr>
              <a:t>n</a:t>
            </a:r>
            <a:r>
              <a:rPr lang="en-US" altLang="zh-CN" sz="2600" b="1" i="1">
                <a:solidFill>
                  <a:srgbClr val="FF0000"/>
                </a:solidFill>
              </a:rPr>
              <a:t>  </a:t>
            </a:r>
            <a:r>
              <a:rPr lang="en-US" altLang="zh-CN" sz="2600" b="1">
                <a:solidFill>
                  <a:srgbClr val="FF0000"/>
                </a:solidFill>
              </a:rPr>
              <a:t>&gt;&gt; </a:t>
            </a:r>
            <a:r>
              <a:rPr lang="en-US" altLang="zh-CN" sz="2600" b="1" i="1">
                <a:solidFill>
                  <a:srgbClr val="FF0000"/>
                </a:solidFill>
              </a:rPr>
              <a:t>p</a:t>
            </a:r>
            <a:r>
              <a:rPr lang="en-US" altLang="zh-CN" sz="2600" b="1"/>
              <a:t>。</a:t>
            </a:r>
            <a:r>
              <a:rPr lang="zh-CN" altLang="en-US" sz="2600" b="1">
                <a:solidFill>
                  <a:srgbClr val="0000FF"/>
                </a:solidFill>
              </a:rPr>
              <a:t>电子</a:t>
            </a:r>
            <a:r>
              <a:rPr lang="zh-CN" altLang="en-US" sz="2600" b="1">
                <a:solidFill>
                  <a:srgbClr val="0000FF"/>
                </a:solidFill>
              </a:rPr>
              <a:t>为多数载流子</a:t>
            </a:r>
            <a:r>
              <a:rPr lang="zh-CN" altLang="en-US" sz="2600" b="1"/>
              <a:t>，空穴为少数载流子。</a:t>
            </a:r>
            <a:endParaRPr lang="zh-CN" altLang="en-US" sz="2600" b="1"/>
          </a:p>
        </p:txBody>
      </p:sp>
      <p:sp>
        <p:nvSpPr>
          <p:cNvPr id="233" name="Text Box 115"/>
          <p:cNvSpPr txBox="1">
            <a:spLocks noChangeArrowheads="1"/>
          </p:cNvSpPr>
          <p:nvPr/>
        </p:nvSpPr>
        <p:spPr bwMode="auto">
          <a:xfrm>
            <a:off x="5220335" y="2493010"/>
            <a:ext cx="3733800" cy="1050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600" b="1"/>
              <a:t>　　</a:t>
            </a:r>
            <a:r>
              <a:rPr lang="en-US" altLang="zh-CN" sz="2600" b="1"/>
              <a:t>5</a:t>
            </a:r>
            <a:r>
              <a:rPr lang="zh-CN" altLang="en-US" sz="2600" b="1"/>
              <a:t> 价杂质原子称为</a:t>
            </a:r>
            <a:r>
              <a:rPr lang="zh-CN" altLang="en-US" sz="2600" b="1">
                <a:solidFill>
                  <a:srgbClr val="9900FF"/>
                </a:solidFill>
              </a:rPr>
              <a:t>施</a:t>
            </a:r>
            <a:r>
              <a:rPr lang="zh-CN" altLang="en-US" sz="2600" b="1">
                <a:solidFill>
                  <a:srgbClr val="9900FF"/>
                </a:solidFill>
              </a:rPr>
              <a:t>主原子。</a:t>
            </a:r>
            <a:endParaRPr lang="zh-CN" altLang="en-US" sz="2600" b="1">
              <a:solidFill>
                <a:srgbClr val="99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126" name="Text Box 2"/>
          <p:cNvSpPr txBox="1">
            <a:spLocks noChangeArrowheads="1"/>
          </p:cNvSpPr>
          <p:nvPr/>
        </p:nvSpPr>
        <p:spPr bwMode="auto">
          <a:xfrm>
            <a:off x="3352800" y="554831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二、 </a:t>
            </a:r>
            <a:r>
              <a:rPr lang="en-US" altLang="zh-CN" sz="3200" b="1" dirty="0">
                <a:solidFill>
                  <a:srgbClr val="0000FF"/>
                </a:solidFill>
              </a:rPr>
              <a:t>P </a:t>
            </a:r>
            <a:r>
              <a:rPr lang="zh-CN" altLang="en-US" sz="3200" b="1" dirty="0">
                <a:solidFill>
                  <a:srgbClr val="0000FF"/>
                </a:solidFill>
              </a:rPr>
              <a:t>型半导体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127" name="Freeform 4"/>
          <p:cNvSpPr/>
          <p:nvPr/>
        </p:nvSpPr>
        <p:spPr bwMode="auto">
          <a:xfrm rot="4881532">
            <a:off x="1066800" y="4953000"/>
            <a:ext cx="152400" cy="457200"/>
          </a:xfrm>
          <a:custGeom>
            <a:avLst/>
            <a:gdLst>
              <a:gd name="T0" fmla="*/ 144 w 144"/>
              <a:gd name="T1" fmla="*/ 0 h 240"/>
              <a:gd name="T2" fmla="*/ 48 w 144"/>
              <a:gd name="T3" fmla="*/ 96 h 240"/>
              <a:gd name="T4" fmla="*/ 0 w 14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240">
                <a:moveTo>
                  <a:pt x="144" y="0"/>
                </a:moveTo>
                <a:cubicBezTo>
                  <a:pt x="108" y="28"/>
                  <a:pt x="72" y="56"/>
                  <a:pt x="48" y="96"/>
                </a:cubicBezTo>
                <a:cubicBezTo>
                  <a:pt x="24" y="136"/>
                  <a:pt x="8" y="216"/>
                  <a:pt x="0" y="24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" name="Freeform 5"/>
          <p:cNvSpPr/>
          <p:nvPr/>
        </p:nvSpPr>
        <p:spPr bwMode="auto">
          <a:xfrm rot="16380836">
            <a:off x="4495800" y="2743200"/>
            <a:ext cx="152400" cy="457200"/>
          </a:xfrm>
          <a:custGeom>
            <a:avLst/>
            <a:gdLst>
              <a:gd name="T0" fmla="*/ 144 w 144"/>
              <a:gd name="T1" fmla="*/ 0 h 240"/>
              <a:gd name="T2" fmla="*/ 48 w 144"/>
              <a:gd name="T3" fmla="*/ 96 h 240"/>
              <a:gd name="T4" fmla="*/ 0 w 14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240">
                <a:moveTo>
                  <a:pt x="144" y="0"/>
                </a:moveTo>
                <a:cubicBezTo>
                  <a:pt x="108" y="28"/>
                  <a:pt x="72" y="56"/>
                  <a:pt x="48" y="96"/>
                </a:cubicBezTo>
                <a:cubicBezTo>
                  <a:pt x="24" y="136"/>
                  <a:pt x="8" y="216"/>
                  <a:pt x="0" y="24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9" name="Group 6"/>
          <p:cNvGrpSpPr/>
          <p:nvPr/>
        </p:nvGrpSpPr>
        <p:grpSpPr bwMode="auto">
          <a:xfrm rot="16200000">
            <a:off x="2628900" y="1181100"/>
            <a:ext cx="1828800" cy="1905000"/>
            <a:chOff x="2736" y="288"/>
            <a:chExt cx="1152" cy="1200"/>
          </a:xfrm>
        </p:grpSpPr>
        <p:sp>
          <p:nvSpPr>
            <p:cNvPr id="130" name="Oval 7"/>
            <p:cNvSpPr>
              <a:spLocks noChangeArrowheads="1"/>
            </p:cNvSpPr>
            <p:nvPr/>
          </p:nvSpPr>
          <p:spPr bwMode="auto">
            <a:xfrm>
              <a:off x="2736" y="336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Rectangle 8"/>
            <p:cNvSpPr>
              <a:spLocks noChangeArrowheads="1"/>
            </p:cNvSpPr>
            <p:nvPr/>
          </p:nvSpPr>
          <p:spPr bwMode="auto">
            <a:xfrm>
              <a:off x="3264" y="288"/>
              <a:ext cx="624" cy="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2" name="Group 9"/>
          <p:cNvGrpSpPr/>
          <p:nvPr/>
        </p:nvGrpSpPr>
        <p:grpSpPr bwMode="auto">
          <a:xfrm rot="16200000">
            <a:off x="1333500" y="1257300"/>
            <a:ext cx="1828800" cy="1905000"/>
            <a:chOff x="2736" y="288"/>
            <a:chExt cx="1152" cy="1200"/>
          </a:xfrm>
        </p:grpSpPr>
        <p:sp>
          <p:nvSpPr>
            <p:cNvPr id="134" name="Oval 10"/>
            <p:cNvSpPr>
              <a:spLocks noChangeArrowheads="1"/>
            </p:cNvSpPr>
            <p:nvPr/>
          </p:nvSpPr>
          <p:spPr bwMode="auto">
            <a:xfrm>
              <a:off x="2736" y="336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Rectangle 11"/>
            <p:cNvSpPr>
              <a:spLocks noChangeArrowheads="1"/>
            </p:cNvSpPr>
            <p:nvPr/>
          </p:nvSpPr>
          <p:spPr bwMode="auto">
            <a:xfrm>
              <a:off x="3264" y="288"/>
              <a:ext cx="624" cy="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" name="Group 12"/>
          <p:cNvGrpSpPr/>
          <p:nvPr/>
        </p:nvGrpSpPr>
        <p:grpSpPr bwMode="auto">
          <a:xfrm rot="10800000">
            <a:off x="0" y="3733800"/>
            <a:ext cx="1828800" cy="1905000"/>
            <a:chOff x="2736" y="288"/>
            <a:chExt cx="1152" cy="1200"/>
          </a:xfrm>
        </p:grpSpPr>
        <p:sp>
          <p:nvSpPr>
            <p:cNvPr id="137" name="Oval 13"/>
            <p:cNvSpPr>
              <a:spLocks noChangeArrowheads="1"/>
            </p:cNvSpPr>
            <p:nvPr/>
          </p:nvSpPr>
          <p:spPr bwMode="auto">
            <a:xfrm>
              <a:off x="2736" y="336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Rectangle 14"/>
            <p:cNvSpPr>
              <a:spLocks noChangeArrowheads="1"/>
            </p:cNvSpPr>
            <p:nvPr/>
          </p:nvSpPr>
          <p:spPr bwMode="auto">
            <a:xfrm>
              <a:off x="3264" y="288"/>
              <a:ext cx="624" cy="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9" name="Group 15"/>
          <p:cNvGrpSpPr/>
          <p:nvPr/>
        </p:nvGrpSpPr>
        <p:grpSpPr bwMode="auto">
          <a:xfrm rot="10800000">
            <a:off x="0" y="2514600"/>
            <a:ext cx="1828800" cy="1905000"/>
            <a:chOff x="2736" y="288"/>
            <a:chExt cx="1152" cy="1200"/>
          </a:xfrm>
        </p:grpSpPr>
        <p:sp>
          <p:nvSpPr>
            <p:cNvPr id="140" name="Oval 16"/>
            <p:cNvSpPr>
              <a:spLocks noChangeArrowheads="1"/>
            </p:cNvSpPr>
            <p:nvPr/>
          </p:nvSpPr>
          <p:spPr bwMode="auto">
            <a:xfrm>
              <a:off x="2736" y="336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Rectangle 17"/>
            <p:cNvSpPr>
              <a:spLocks noChangeArrowheads="1"/>
            </p:cNvSpPr>
            <p:nvPr/>
          </p:nvSpPr>
          <p:spPr bwMode="auto">
            <a:xfrm>
              <a:off x="3264" y="288"/>
              <a:ext cx="624" cy="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2" name="Group 24"/>
          <p:cNvGrpSpPr/>
          <p:nvPr/>
        </p:nvGrpSpPr>
        <p:grpSpPr bwMode="auto">
          <a:xfrm>
            <a:off x="3962400" y="2514600"/>
            <a:ext cx="1828800" cy="1905000"/>
            <a:chOff x="2736" y="288"/>
            <a:chExt cx="1152" cy="1200"/>
          </a:xfrm>
        </p:grpSpPr>
        <p:sp>
          <p:nvSpPr>
            <p:cNvPr id="143" name="Oval 25"/>
            <p:cNvSpPr>
              <a:spLocks noChangeArrowheads="1"/>
            </p:cNvSpPr>
            <p:nvPr/>
          </p:nvSpPr>
          <p:spPr bwMode="auto">
            <a:xfrm>
              <a:off x="2736" y="336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Rectangle 26"/>
            <p:cNvSpPr>
              <a:spLocks noChangeArrowheads="1"/>
            </p:cNvSpPr>
            <p:nvPr/>
          </p:nvSpPr>
          <p:spPr bwMode="auto">
            <a:xfrm>
              <a:off x="3264" y="288"/>
              <a:ext cx="624" cy="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5" name="Group 27"/>
          <p:cNvGrpSpPr/>
          <p:nvPr/>
        </p:nvGrpSpPr>
        <p:grpSpPr bwMode="auto">
          <a:xfrm>
            <a:off x="3962400" y="3810000"/>
            <a:ext cx="1828800" cy="1905000"/>
            <a:chOff x="2736" y="288"/>
            <a:chExt cx="1152" cy="1200"/>
          </a:xfrm>
        </p:grpSpPr>
        <p:sp>
          <p:nvSpPr>
            <p:cNvPr id="146" name="Oval 28"/>
            <p:cNvSpPr>
              <a:spLocks noChangeArrowheads="1"/>
            </p:cNvSpPr>
            <p:nvPr/>
          </p:nvSpPr>
          <p:spPr bwMode="auto">
            <a:xfrm>
              <a:off x="2736" y="336"/>
              <a:ext cx="1104" cy="10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Rectangle 29"/>
            <p:cNvSpPr>
              <a:spLocks noChangeArrowheads="1"/>
            </p:cNvSpPr>
            <p:nvPr/>
          </p:nvSpPr>
          <p:spPr bwMode="auto">
            <a:xfrm>
              <a:off x="3264" y="288"/>
              <a:ext cx="624" cy="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8" name="Oval 30"/>
          <p:cNvSpPr>
            <a:spLocks noChangeArrowheads="1"/>
          </p:cNvSpPr>
          <p:nvPr/>
        </p:nvSpPr>
        <p:spPr bwMode="auto">
          <a:xfrm>
            <a:off x="1371600" y="2598738"/>
            <a:ext cx="1752600" cy="1716087"/>
          </a:xfrm>
          <a:prstGeom prst="ellips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Oval 31"/>
          <p:cNvSpPr>
            <a:spLocks noChangeArrowheads="1"/>
          </p:cNvSpPr>
          <p:nvPr/>
        </p:nvSpPr>
        <p:spPr bwMode="auto">
          <a:xfrm>
            <a:off x="2667000" y="2590800"/>
            <a:ext cx="1752600" cy="1716088"/>
          </a:xfrm>
          <a:prstGeom prst="ellips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" name="Oval 32"/>
          <p:cNvSpPr>
            <a:spLocks noChangeArrowheads="1"/>
          </p:cNvSpPr>
          <p:nvPr/>
        </p:nvSpPr>
        <p:spPr bwMode="auto">
          <a:xfrm>
            <a:off x="1371600" y="3846513"/>
            <a:ext cx="1752600" cy="1716087"/>
          </a:xfrm>
          <a:prstGeom prst="ellips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Oval 33"/>
          <p:cNvSpPr>
            <a:spLocks noChangeArrowheads="1"/>
          </p:cNvSpPr>
          <p:nvPr/>
        </p:nvSpPr>
        <p:spPr bwMode="auto">
          <a:xfrm>
            <a:off x="2667000" y="3846513"/>
            <a:ext cx="1752600" cy="1716087"/>
          </a:xfrm>
          <a:prstGeom prst="ellips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" name="Oval 34"/>
          <p:cNvSpPr>
            <a:spLocks noChangeArrowheads="1"/>
          </p:cNvSpPr>
          <p:nvPr/>
        </p:nvSpPr>
        <p:spPr bwMode="auto">
          <a:xfrm>
            <a:off x="2438400" y="4033838"/>
            <a:ext cx="84138" cy="809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" name="Oval 35"/>
          <p:cNvSpPr>
            <a:spLocks noChangeArrowheads="1"/>
          </p:cNvSpPr>
          <p:nvPr/>
        </p:nvSpPr>
        <p:spPr bwMode="auto">
          <a:xfrm>
            <a:off x="2667000" y="3843338"/>
            <a:ext cx="465138" cy="458787"/>
          </a:xfrm>
          <a:prstGeom prst="ellipse">
            <a:avLst/>
          </a:prstGeom>
          <a:solidFill>
            <a:srgbClr val="FFFF66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Oval 36"/>
          <p:cNvSpPr>
            <a:spLocks noChangeArrowheads="1"/>
          </p:cNvSpPr>
          <p:nvPr/>
        </p:nvSpPr>
        <p:spPr bwMode="auto">
          <a:xfrm>
            <a:off x="2819400" y="4419600"/>
            <a:ext cx="82550" cy="809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" name="Oval 37"/>
          <p:cNvSpPr>
            <a:spLocks noChangeArrowheads="1"/>
          </p:cNvSpPr>
          <p:nvPr/>
        </p:nvSpPr>
        <p:spPr bwMode="auto">
          <a:xfrm>
            <a:off x="3268663" y="4038600"/>
            <a:ext cx="84137" cy="809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" name="Oval 38"/>
          <p:cNvSpPr>
            <a:spLocks noChangeArrowheads="1"/>
          </p:cNvSpPr>
          <p:nvPr/>
        </p:nvSpPr>
        <p:spPr bwMode="auto">
          <a:xfrm>
            <a:off x="2819400" y="3657600"/>
            <a:ext cx="82550" cy="8096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" name="Text Box 39"/>
          <p:cNvSpPr txBox="1">
            <a:spLocks noChangeArrowheads="1"/>
          </p:cNvSpPr>
          <p:nvPr/>
        </p:nvSpPr>
        <p:spPr bwMode="auto">
          <a:xfrm>
            <a:off x="2622550" y="3870325"/>
            <a:ext cx="577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/>
              <a:t>+4</a:t>
            </a:r>
            <a:endParaRPr lang="zh-CN" altLang="en-US" sz="2000" b="1"/>
          </a:p>
        </p:txBody>
      </p:sp>
      <p:grpSp>
        <p:nvGrpSpPr>
          <p:cNvPr id="158" name="Group 40"/>
          <p:cNvGrpSpPr/>
          <p:nvPr/>
        </p:nvGrpSpPr>
        <p:grpSpPr bwMode="auto">
          <a:xfrm>
            <a:off x="1143000" y="2286000"/>
            <a:ext cx="914400" cy="1000125"/>
            <a:chOff x="2832" y="1104"/>
            <a:chExt cx="576" cy="630"/>
          </a:xfrm>
        </p:grpSpPr>
        <p:sp>
          <p:nvSpPr>
            <p:cNvPr id="159" name="Freeform 41"/>
            <p:cNvSpPr/>
            <p:nvPr/>
          </p:nvSpPr>
          <p:spPr bwMode="auto">
            <a:xfrm rot="12413793">
              <a:off x="2880" y="1392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Freeform 42"/>
            <p:cNvSpPr/>
            <p:nvPr/>
          </p:nvSpPr>
          <p:spPr bwMode="auto">
            <a:xfrm rot="11438180">
              <a:off x="3168" y="1104"/>
              <a:ext cx="96" cy="288"/>
            </a:xfrm>
            <a:custGeom>
              <a:avLst/>
              <a:gdLst>
                <a:gd name="T0" fmla="*/ 144 w 144"/>
                <a:gd name="T1" fmla="*/ 0 h 240"/>
                <a:gd name="T2" fmla="*/ 48 w 144"/>
                <a:gd name="T3" fmla="*/ 96 h 240"/>
                <a:gd name="T4" fmla="*/ 0 w 14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Oval 43"/>
            <p:cNvSpPr>
              <a:spLocks noChangeArrowheads="1"/>
            </p:cNvSpPr>
            <p:nvPr/>
          </p:nvSpPr>
          <p:spPr bwMode="auto">
            <a:xfrm>
              <a:off x="2976" y="1320"/>
              <a:ext cx="293" cy="289"/>
            </a:xfrm>
            <a:prstGeom prst="ellipse">
              <a:avLst/>
            </a:prstGeom>
            <a:solidFill>
              <a:srgbClr val="FFFF66"/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2" name="Group 44"/>
            <p:cNvGrpSpPr/>
            <p:nvPr/>
          </p:nvGrpSpPr>
          <p:grpSpPr bwMode="auto">
            <a:xfrm>
              <a:off x="2832" y="1203"/>
              <a:ext cx="576" cy="531"/>
              <a:chOff x="2832" y="1203"/>
              <a:chExt cx="576" cy="531"/>
            </a:xfrm>
          </p:grpSpPr>
          <p:sp>
            <p:nvSpPr>
              <p:cNvPr id="163" name="Oval 45"/>
              <p:cNvSpPr>
                <a:spLocks noChangeArrowheads="1"/>
              </p:cNvSpPr>
              <p:nvPr/>
            </p:nvSpPr>
            <p:spPr bwMode="auto">
              <a:xfrm>
                <a:off x="2832" y="1440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" name="Oval 46"/>
              <p:cNvSpPr>
                <a:spLocks noChangeArrowheads="1"/>
              </p:cNvSpPr>
              <p:nvPr/>
            </p:nvSpPr>
            <p:spPr bwMode="auto">
              <a:xfrm>
                <a:off x="3072" y="1683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Oval 47"/>
              <p:cNvSpPr>
                <a:spLocks noChangeArrowheads="1"/>
              </p:cNvSpPr>
              <p:nvPr/>
            </p:nvSpPr>
            <p:spPr bwMode="auto">
              <a:xfrm>
                <a:off x="3355" y="1443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Oval 48"/>
              <p:cNvSpPr>
                <a:spLocks noChangeArrowheads="1"/>
              </p:cNvSpPr>
              <p:nvPr/>
            </p:nvSpPr>
            <p:spPr bwMode="auto">
              <a:xfrm>
                <a:off x="3072" y="1203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Text Box 49"/>
              <p:cNvSpPr txBox="1">
                <a:spLocks noChangeArrowheads="1"/>
              </p:cNvSpPr>
              <p:nvPr/>
            </p:nvSpPr>
            <p:spPr bwMode="auto">
              <a:xfrm>
                <a:off x="2948" y="1337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+4</a:t>
                </a:r>
                <a:endParaRPr lang="zh-CN" altLang="en-US" sz="2000" b="1"/>
              </a:p>
            </p:txBody>
          </p:sp>
        </p:grpSp>
      </p:grpSp>
      <p:sp>
        <p:nvSpPr>
          <p:cNvPr id="168" name="Freeform 50"/>
          <p:cNvSpPr/>
          <p:nvPr/>
        </p:nvSpPr>
        <p:spPr bwMode="auto">
          <a:xfrm>
            <a:off x="3962400" y="5486400"/>
            <a:ext cx="152400" cy="457200"/>
          </a:xfrm>
          <a:custGeom>
            <a:avLst/>
            <a:gdLst>
              <a:gd name="T0" fmla="*/ 144 w 144"/>
              <a:gd name="T1" fmla="*/ 0 h 240"/>
              <a:gd name="T2" fmla="*/ 48 w 144"/>
              <a:gd name="T3" fmla="*/ 96 h 240"/>
              <a:gd name="T4" fmla="*/ 0 w 14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240">
                <a:moveTo>
                  <a:pt x="144" y="0"/>
                </a:moveTo>
                <a:cubicBezTo>
                  <a:pt x="108" y="28"/>
                  <a:pt x="72" y="56"/>
                  <a:pt x="48" y="96"/>
                </a:cubicBezTo>
                <a:cubicBezTo>
                  <a:pt x="24" y="136"/>
                  <a:pt x="8" y="216"/>
                  <a:pt x="0" y="24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" name="Freeform 51"/>
          <p:cNvSpPr/>
          <p:nvPr/>
        </p:nvSpPr>
        <p:spPr bwMode="auto">
          <a:xfrm rot="3287629">
            <a:off x="4495800" y="4953000"/>
            <a:ext cx="152400" cy="457200"/>
          </a:xfrm>
          <a:custGeom>
            <a:avLst/>
            <a:gdLst>
              <a:gd name="T0" fmla="*/ 144 w 144"/>
              <a:gd name="T1" fmla="*/ 0 h 240"/>
              <a:gd name="T2" fmla="*/ 48 w 144"/>
              <a:gd name="T3" fmla="*/ 96 h 240"/>
              <a:gd name="T4" fmla="*/ 0 w 14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240">
                <a:moveTo>
                  <a:pt x="144" y="0"/>
                </a:moveTo>
                <a:cubicBezTo>
                  <a:pt x="108" y="28"/>
                  <a:pt x="72" y="56"/>
                  <a:pt x="48" y="96"/>
                </a:cubicBezTo>
                <a:cubicBezTo>
                  <a:pt x="24" y="136"/>
                  <a:pt x="8" y="216"/>
                  <a:pt x="0" y="24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" name="Freeform 52"/>
          <p:cNvSpPr/>
          <p:nvPr/>
        </p:nvSpPr>
        <p:spPr bwMode="auto">
          <a:xfrm rot="8928615">
            <a:off x="1706563" y="5553075"/>
            <a:ext cx="76200" cy="304800"/>
          </a:xfrm>
          <a:custGeom>
            <a:avLst/>
            <a:gdLst>
              <a:gd name="T0" fmla="*/ 144 w 144"/>
              <a:gd name="T1" fmla="*/ 0 h 240"/>
              <a:gd name="T2" fmla="*/ 48 w 144"/>
              <a:gd name="T3" fmla="*/ 96 h 240"/>
              <a:gd name="T4" fmla="*/ 0 w 14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240">
                <a:moveTo>
                  <a:pt x="144" y="0"/>
                </a:moveTo>
                <a:cubicBezTo>
                  <a:pt x="108" y="28"/>
                  <a:pt x="72" y="56"/>
                  <a:pt x="48" y="96"/>
                </a:cubicBezTo>
                <a:cubicBezTo>
                  <a:pt x="24" y="136"/>
                  <a:pt x="8" y="216"/>
                  <a:pt x="0" y="24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" name="Freeform 53"/>
          <p:cNvSpPr/>
          <p:nvPr/>
        </p:nvSpPr>
        <p:spPr bwMode="auto">
          <a:xfrm rot="19306862">
            <a:off x="3962400" y="2209800"/>
            <a:ext cx="152400" cy="457200"/>
          </a:xfrm>
          <a:custGeom>
            <a:avLst/>
            <a:gdLst>
              <a:gd name="T0" fmla="*/ 144 w 144"/>
              <a:gd name="T1" fmla="*/ 0 h 240"/>
              <a:gd name="T2" fmla="*/ 48 w 144"/>
              <a:gd name="T3" fmla="*/ 96 h 240"/>
              <a:gd name="T4" fmla="*/ 0 w 14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240">
                <a:moveTo>
                  <a:pt x="144" y="0"/>
                </a:moveTo>
                <a:cubicBezTo>
                  <a:pt x="108" y="28"/>
                  <a:pt x="72" y="56"/>
                  <a:pt x="48" y="96"/>
                </a:cubicBezTo>
                <a:cubicBezTo>
                  <a:pt x="24" y="136"/>
                  <a:pt x="8" y="216"/>
                  <a:pt x="0" y="24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" name="Oval 54"/>
          <p:cNvSpPr>
            <a:spLocks noChangeArrowheads="1"/>
          </p:cNvSpPr>
          <p:nvPr/>
        </p:nvSpPr>
        <p:spPr bwMode="auto">
          <a:xfrm>
            <a:off x="1371600" y="3848100"/>
            <a:ext cx="465138" cy="458788"/>
          </a:xfrm>
          <a:prstGeom prst="ellipse">
            <a:avLst/>
          </a:prstGeom>
          <a:solidFill>
            <a:srgbClr val="FFFF66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3" name="Group 55"/>
          <p:cNvGrpSpPr/>
          <p:nvPr/>
        </p:nvGrpSpPr>
        <p:grpSpPr bwMode="auto">
          <a:xfrm>
            <a:off x="1143000" y="3662363"/>
            <a:ext cx="914400" cy="842962"/>
            <a:chOff x="2832" y="1203"/>
            <a:chExt cx="576" cy="531"/>
          </a:xfrm>
        </p:grpSpPr>
        <p:sp>
          <p:nvSpPr>
            <p:cNvPr id="174" name="Oval 56"/>
            <p:cNvSpPr>
              <a:spLocks noChangeArrowheads="1"/>
            </p:cNvSpPr>
            <p:nvPr/>
          </p:nvSpPr>
          <p:spPr bwMode="auto">
            <a:xfrm>
              <a:off x="2832" y="1440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Oval 57"/>
            <p:cNvSpPr>
              <a:spLocks noChangeArrowheads="1"/>
            </p:cNvSpPr>
            <p:nvPr/>
          </p:nvSpPr>
          <p:spPr bwMode="auto">
            <a:xfrm>
              <a:off x="3072" y="168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Oval 58"/>
            <p:cNvSpPr>
              <a:spLocks noChangeArrowheads="1"/>
            </p:cNvSpPr>
            <p:nvPr/>
          </p:nvSpPr>
          <p:spPr bwMode="auto">
            <a:xfrm>
              <a:off x="3355" y="1443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" name="Oval 59"/>
            <p:cNvSpPr>
              <a:spLocks noChangeArrowheads="1"/>
            </p:cNvSpPr>
            <p:nvPr/>
          </p:nvSpPr>
          <p:spPr bwMode="auto">
            <a:xfrm>
              <a:off x="3072" y="120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" name="Text Box 60"/>
            <p:cNvSpPr txBox="1">
              <a:spLocks noChangeArrowheads="1"/>
            </p:cNvSpPr>
            <p:nvPr/>
          </p:nvSpPr>
          <p:spPr bwMode="auto">
            <a:xfrm>
              <a:off x="2948" y="1337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+4</a:t>
              </a:r>
              <a:endParaRPr lang="zh-CN" altLang="en-US" sz="2000" b="1"/>
            </a:p>
          </p:txBody>
        </p:sp>
      </p:grpSp>
      <p:sp>
        <p:nvSpPr>
          <p:cNvPr id="179" name="Oval 61"/>
          <p:cNvSpPr>
            <a:spLocks noChangeArrowheads="1"/>
          </p:cNvSpPr>
          <p:nvPr/>
        </p:nvSpPr>
        <p:spPr bwMode="auto">
          <a:xfrm>
            <a:off x="2667000" y="2628900"/>
            <a:ext cx="465138" cy="458788"/>
          </a:xfrm>
          <a:prstGeom prst="ellipse">
            <a:avLst/>
          </a:prstGeom>
          <a:solidFill>
            <a:srgbClr val="FFFF66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0" name="Group 62"/>
          <p:cNvGrpSpPr/>
          <p:nvPr/>
        </p:nvGrpSpPr>
        <p:grpSpPr bwMode="auto">
          <a:xfrm>
            <a:off x="2438400" y="2443163"/>
            <a:ext cx="914400" cy="842962"/>
            <a:chOff x="2832" y="1203"/>
            <a:chExt cx="576" cy="531"/>
          </a:xfrm>
        </p:grpSpPr>
        <p:sp>
          <p:nvSpPr>
            <p:cNvPr id="181" name="Oval 63"/>
            <p:cNvSpPr>
              <a:spLocks noChangeArrowheads="1"/>
            </p:cNvSpPr>
            <p:nvPr/>
          </p:nvSpPr>
          <p:spPr bwMode="auto">
            <a:xfrm>
              <a:off x="2832" y="1440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Oval 64"/>
            <p:cNvSpPr>
              <a:spLocks noChangeArrowheads="1"/>
            </p:cNvSpPr>
            <p:nvPr/>
          </p:nvSpPr>
          <p:spPr bwMode="auto">
            <a:xfrm>
              <a:off x="3072" y="168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Oval 65"/>
            <p:cNvSpPr>
              <a:spLocks noChangeArrowheads="1"/>
            </p:cNvSpPr>
            <p:nvPr/>
          </p:nvSpPr>
          <p:spPr bwMode="auto">
            <a:xfrm>
              <a:off x="3355" y="1443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Oval 66"/>
            <p:cNvSpPr>
              <a:spLocks noChangeArrowheads="1"/>
            </p:cNvSpPr>
            <p:nvPr/>
          </p:nvSpPr>
          <p:spPr bwMode="auto">
            <a:xfrm>
              <a:off x="3072" y="120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Text Box 67"/>
            <p:cNvSpPr txBox="1">
              <a:spLocks noChangeArrowheads="1"/>
            </p:cNvSpPr>
            <p:nvPr/>
          </p:nvSpPr>
          <p:spPr bwMode="auto">
            <a:xfrm>
              <a:off x="2948" y="1337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+4</a:t>
              </a:r>
              <a:endParaRPr lang="zh-CN" altLang="en-US" sz="2000" b="1"/>
            </a:p>
          </p:txBody>
        </p:sp>
      </p:grpSp>
      <p:sp>
        <p:nvSpPr>
          <p:cNvPr id="186" name="Oval 68"/>
          <p:cNvSpPr>
            <a:spLocks noChangeArrowheads="1"/>
          </p:cNvSpPr>
          <p:nvPr/>
        </p:nvSpPr>
        <p:spPr bwMode="auto">
          <a:xfrm>
            <a:off x="3962400" y="2628900"/>
            <a:ext cx="465138" cy="458788"/>
          </a:xfrm>
          <a:prstGeom prst="ellipse">
            <a:avLst/>
          </a:prstGeom>
          <a:solidFill>
            <a:srgbClr val="FFFF66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7" name="Group 69"/>
          <p:cNvGrpSpPr/>
          <p:nvPr/>
        </p:nvGrpSpPr>
        <p:grpSpPr bwMode="auto">
          <a:xfrm>
            <a:off x="3733800" y="2443163"/>
            <a:ext cx="914400" cy="842962"/>
            <a:chOff x="2832" y="1203"/>
            <a:chExt cx="576" cy="531"/>
          </a:xfrm>
        </p:grpSpPr>
        <p:sp>
          <p:nvSpPr>
            <p:cNvPr id="188" name="Oval 70"/>
            <p:cNvSpPr>
              <a:spLocks noChangeArrowheads="1"/>
            </p:cNvSpPr>
            <p:nvPr/>
          </p:nvSpPr>
          <p:spPr bwMode="auto">
            <a:xfrm>
              <a:off x="2832" y="1440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Oval 71"/>
            <p:cNvSpPr>
              <a:spLocks noChangeArrowheads="1"/>
            </p:cNvSpPr>
            <p:nvPr/>
          </p:nvSpPr>
          <p:spPr bwMode="auto">
            <a:xfrm>
              <a:off x="3072" y="168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Oval 72"/>
            <p:cNvSpPr>
              <a:spLocks noChangeArrowheads="1"/>
            </p:cNvSpPr>
            <p:nvPr/>
          </p:nvSpPr>
          <p:spPr bwMode="auto">
            <a:xfrm>
              <a:off x="3355" y="1443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Oval 73"/>
            <p:cNvSpPr>
              <a:spLocks noChangeArrowheads="1"/>
            </p:cNvSpPr>
            <p:nvPr/>
          </p:nvSpPr>
          <p:spPr bwMode="auto">
            <a:xfrm>
              <a:off x="3072" y="120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Text Box 74"/>
            <p:cNvSpPr txBox="1">
              <a:spLocks noChangeArrowheads="1"/>
            </p:cNvSpPr>
            <p:nvPr/>
          </p:nvSpPr>
          <p:spPr bwMode="auto">
            <a:xfrm>
              <a:off x="2948" y="1337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+4</a:t>
              </a:r>
              <a:endParaRPr lang="zh-CN" altLang="en-US" sz="2000" b="1"/>
            </a:p>
          </p:txBody>
        </p:sp>
      </p:grpSp>
      <p:sp>
        <p:nvSpPr>
          <p:cNvPr id="193" name="Oval 75"/>
          <p:cNvSpPr>
            <a:spLocks noChangeArrowheads="1"/>
          </p:cNvSpPr>
          <p:nvPr/>
        </p:nvSpPr>
        <p:spPr bwMode="auto">
          <a:xfrm>
            <a:off x="1371600" y="5133975"/>
            <a:ext cx="465138" cy="458788"/>
          </a:xfrm>
          <a:prstGeom prst="ellipse">
            <a:avLst/>
          </a:prstGeom>
          <a:solidFill>
            <a:srgbClr val="FFFF66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4" name="Group 76"/>
          <p:cNvGrpSpPr/>
          <p:nvPr/>
        </p:nvGrpSpPr>
        <p:grpSpPr bwMode="auto">
          <a:xfrm>
            <a:off x="1143000" y="4948238"/>
            <a:ext cx="914400" cy="842962"/>
            <a:chOff x="2832" y="1203"/>
            <a:chExt cx="576" cy="531"/>
          </a:xfrm>
        </p:grpSpPr>
        <p:sp>
          <p:nvSpPr>
            <p:cNvPr id="195" name="Oval 77"/>
            <p:cNvSpPr>
              <a:spLocks noChangeArrowheads="1"/>
            </p:cNvSpPr>
            <p:nvPr/>
          </p:nvSpPr>
          <p:spPr bwMode="auto">
            <a:xfrm>
              <a:off x="2832" y="1440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Oval 78"/>
            <p:cNvSpPr>
              <a:spLocks noChangeArrowheads="1"/>
            </p:cNvSpPr>
            <p:nvPr/>
          </p:nvSpPr>
          <p:spPr bwMode="auto">
            <a:xfrm>
              <a:off x="3072" y="168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Oval 79"/>
            <p:cNvSpPr>
              <a:spLocks noChangeArrowheads="1"/>
            </p:cNvSpPr>
            <p:nvPr/>
          </p:nvSpPr>
          <p:spPr bwMode="auto">
            <a:xfrm>
              <a:off x="3355" y="1443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Oval 80"/>
            <p:cNvSpPr>
              <a:spLocks noChangeArrowheads="1"/>
            </p:cNvSpPr>
            <p:nvPr/>
          </p:nvSpPr>
          <p:spPr bwMode="auto">
            <a:xfrm>
              <a:off x="3072" y="120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Text Box 81"/>
            <p:cNvSpPr txBox="1">
              <a:spLocks noChangeArrowheads="1"/>
            </p:cNvSpPr>
            <p:nvPr/>
          </p:nvSpPr>
          <p:spPr bwMode="auto">
            <a:xfrm>
              <a:off x="2948" y="1337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+4</a:t>
              </a:r>
              <a:endParaRPr lang="zh-CN" altLang="en-US" sz="2000" b="1"/>
            </a:p>
          </p:txBody>
        </p:sp>
      </p:grpSp>
      <p:sp>
        <p:nvSpPr>
          <p:cNvPr id="200" name="Oval 82"/>
          <p:cNvSpPr>
            <a:spLocks noChangeArrowheads="1"/>
          </p:cNvSpPr>
          <p:nvPr/>
        </p:nvSpPr>
        <p:spPr bwMode="auto">
          <a:xfrm>
            <a:off x="2667000" y="5143500"/>
            <a:ext cx="465138" cy="458788"/>
          </a:xfrm>
          <a:prstGeom prst="ellipse">
            <a:avLst/>
          </a:prstGeom>
          <a:solidFill>
            <a:srgbClr val="FFFF66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1" name="Group 83"/>
          <p:cNvGrpSpPr/>
          <p:nvPr/>
        </p:nvGrpSpPr>
        <p:grpSpPr bwMode="auto">
          <a:xfrm>
            <a:off x="2438400" y="4957763"/>
            <a:ext cx="914400" cy="842962"/>
            <a:chOff x="2832" y="1203"/>
            <a:chExt cx="576" cy="531"/>
          </a:xfrm>
        </p:grpSpPr>
        <p:sp>
          <p:nvSpPr>
            <p:cNvPr id="202" name="Oval 84"/>
            <p:cNvSpPr>
              <a:spLocks noChangeArrowheads="1"/>
            </p:cNvSpPr>
            <p:nvPr/>
          </p:nvSpPr>
          <p:spPr bwMode="auto">
            <a:xfrm>
              <a:off x="2832" y="1440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Oval 85"/>
            <p:cNvSpPr>
              <a:spLocks noChangeArrowheads="1"/>
            </p:cNvSpPr>
            <p:nvPr/>
          </p:nvSpPr>
          <p:spPr bwMode="auto">
            <a:xfrm>
              <a:off x="3072" y="168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" name="Oval 86"/>
            <p:cNvSpPr>
              <a:spLocks noChangeArrowheads="1"/>
            </p:cNvSpPr>
            <p:nvPr/>
          </p:nvSpPr>
          <p:spPr bwMode="auto">
            <a:xfrm>
              <a:off x="3355" y="1443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Oval 87"/>
            <p:cNvSpPr>
              <a:spLocks noChangeArrowheads="1"/>
            </p:cNvSpPr>
            <p:nvPr/>
          </p:nvSpPr>
          <p:spPr bwMode="auto">
            <a:xfrm>
              <a:off x="3072" y="120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Text Box 88"/>
            <p:cNvSpPr txBox="1">
              <a:spLocks noChangeArrowheads="1"/>
            </p:cNvSpPr>
            <p:nvPr/>
          </p:nvSpPr>
          <p:spPr bwMode="auto">
            <a:xfrm>
              <a:off x="2948" y="1337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+4</a:t>
              </a:r>
              <a:endParaRPr lang="zh-CN" altLang="en-US" sz="2000" b="1"/>
            </a:p>
          </p:txBody>
        </p:sp>
      </p:grpSp>
      <p:sp>
        <p:nvSpPr>
          <p:cNvPr id="207" name="Oval 89"/>
          <p:cNvSpPr>
            <a:spLocks noChangeArrowheads="1"/>
          </p:cNvSpPr>
          <p:nvPr/>
        </p:nvSpPr>
        <p:spPr bwMode="auto">
          <a:xfrm>
            <a:off x="3962400" y="5133975"/>
            <a:ext cx="465138" cy="458788"/>
          </a:xfrm>
          <a:prstGeom prst="ellipse">
            <a:avLst/>
          </a:prstGeom>
          <a:solidFill>
            <a:srgbClr val="FFFF66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8" name="Group 90"/>
          <p:cNvGrpSpPr/>
          <p:nvPr/>
        </p:nvGrpSpPr>
        <p:grpSpPr bwMode="auto">
          <a:xfrm>
            <a:off x="3733800" y="4948238"/>
            <a:ext cx="914400" cy="842962"/>
            <a:chOff x="2832" y="1203"/>
            <a:chExt cx="576" cy="531"/>
          </a:xfrm>
        </p:grpSpPr>
        <p:sp>
          <p:nvSpPr>
            <p:cNvPr id="209" name="Oval 91"/>
            <p:cNvSpPr>
              <a:spLocks noChangeArrowheads="1"/>
            </p:cNvSpPr>
            <p:nvPr/>
          </p:nvSpPr>
          <p:spPr bwMode="auto">
            <a:xfrm>
              <a:off x="2832" y="1440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" name="Oval 92"/>
            <p:cNvSpPr>
              <a:spLocks noChangeArrowheads="1"/>
            </p:cNvSpPr>
            <p:nvPr/>
          </p:nvSpPr>
          <p:spPr bwMode="auto">
            <a:xfrm>
              <a:off x="3072" y="168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Oval 93"/>
            <p:cNvSpPr>
              <a:spLocks noChangeArrowheads="1"/>
            </p:cNvSpPr>
            <p:nvPr/>
          </p:nvSpPr>
          <p:spPr bwMode="auto">
            <a:xfrm>
              <a:off x="3355" y="1443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" name="Oval 94"/>
            <p:cNvSpPr>
              <a:spLocks noChangeArrowheads="1"/>
            </p:cNvSpPr>
            <p:nvPr/>
          </p:nvSpPr>
          <p:spPr bwMode="auto">
            <a:xfrm>
              <a:off x="3072" y="120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" name="Text Box 95"/>
            <p:cNvSpPr txBox="1">
              <a:spLocks noChangeArrowheads="1"/>
            </p:cNvSpPr>
            <p:nvPr/>
          </p:nvSpPr>
          <p:spPr bwMode="auto">
            <a:xfrm>
              <a:off x="2948" y="1337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+4</a:t>
              </a:r>
              <a:endParaRPr lang="zh-CN" altLang="en-US" sz="2000" b="1"/>
            </a:p>
          </p:txBody>
        </p:sp>
      </p:grpSp>
      <p:sp>
        <p:nvSpPr>
          <p:cNvPr id="214" name="Oval 96"/>
          <p:cNvSpPr>
            <a:spLocks noChangeArrowheads="1"/>
          </p:cNvSpPr>
          <p:nvPr/>
        </p:nvSpPr>
        <p:spPr bwMode="auto">
          <a:xfrm>
            <a:off x="3962400" y="3838575"/>
            <a:ext cx="465138" cy="458788"/>
          </a:xfrm>
          <a:prstGeom prst="ellipse">
            <a:avLst/>
          </a:prstGeom>
          <a:solidFill>
            <a:srgbClr val="FFFF66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" name="Group 97"/>
          <p:cNvGrpSpPr/>
          <p:nvPr/>
        </p:nvGrpSpPr>
        <p:grpSpPr bwMode="auto">
          <a:xfrm>
            <a:off x="3733800" y="3652838"/>
            <a:ext cx="914400" cy="842962"/>
            <a:chOff x="2832" y="1203"/>
            <a:chExt cx="576" cy="531"/>
          </a:xfrm>
        </p:grpSpPr>
        <p:sp>
          <p:nvSpPr>
            <p:cNvPr id="216" name="Oval 98"/>
            <p:cNvSpPr>
              <a:spLocks noChangeArrowheads="1"/>
            </p:cNvSpPr>
            <p:nvPr/>
          </p:nvSpPr>
          <p:spPr bwMode="auto">
            <a:xfrm>
              <a:off x="2832" y="1440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" name="Oval 99"/>
            <p:cNvSpPr>
              <a:spLocks noChangeArrowheads="1"/>
            </p:cNvSpPr>
            <p:nvPr/>
          </p:nvSpPr>
          <p:spPr bwMode="auto">
            <a:xfrm>
              <a:off x="3072" y="168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" name="Oval 100"/>
            <p:cNvSpPr>
              <a:spLocks noChangeArrowheads="1"/>
            </p:cNvSpPr>
            <p:nvPr/>
          </p:nvSpPr>
          <p:spPr bwMode="auto">
            <a:xfrm>
              <a:off x="3355" y="1443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" name="Oval 101"/>
            <p:cNvSpPr>
              <a:spLocks noChangeArrowheads="1"/>
            </p:cNvSpPr>
            <p:nvPr/>
          </p:nvSpPr>
          <p:spPr bwMode="auto">
            <a:xfrm>
              <a:off x="3072" y="1203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" name="Text Box 102"/>
            <p:cNvSpPr txBox="1">
              <a:spLocks noChangeArrowheads="1"/>
            </p:cNvSpPr>
            <p:nvPr/>
          </p:nvSpPr>
          <p:spPr bwMode="auto">
            <a:xfrm>
              <a:off x="2948" y="1337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+4</a:t>
              </a:r>
              <a:endParaRPr lang="zh-CN" altLang="en-US" sz="2000" b="1"/>
            </a:p>
          </p:txBody>
        </p:sp>
      </p:grpSp>
      <p:sp>
        <p:nvSpPr>
          <p:cNvPr id="221" name="Text Box 103"/>
          <p:cNvSpPr txBox="1">
            <a:spLocks noChangeArrowheads="1"/>
          </p:cNvSpPr>
          <p:nvPr/>
        </p:nvSpPr>
        <p:spPr bwMode="auto">
          <a:xfrm>
            <a:off x="838200" y="1416050"/>
            <a:ext cx="807720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b="1"/>
              <a:t>　　在硅或锗的晶体中掺入少量的 </a:t>
            </a:r>
            <a:r>
              <a:rPr lang="zh-CN" altLang="en-US" sz="2600" b="1">
                <a:solidFill>
                  <a:srgbClr val="FF0000"/>
                </a:solidFill>
              </a:rPr>
              <a:t>3 价</a:t>
            </a:r>
            <a:r>
              <a:rPr lang="zh-CN" altLang="en-US" sz="2600" b="1"/>
              <a:t>杂质元素，如硼、镓、铟等，即构成 </a:t>
            </a:r>
            <a:r>
              <a:rPr lang="en-US" altLang="zh-CN" sz="2600" b="1">
                <a:solidFill>
                  <a:srgbClr val="FF0000"/>
                </a:solidFill>
              </a:rPr>
              <a:t>P </a:t>
            </a:r>
            <a:r>
              <a:rPr lang="zh-CN" altLang="en-US" sz="2600" b="1">
                <a:solidFill>
                  <a:srgbClr val="FF0000"/>
                </a:solidFill>
              </a:rPr>
              <a:t>型半导体</a:t>
            </a:r>
            <a:r>
              <a:rPr lang="zh-CN" altLang="en-US" sz="2600" b="1"/>
              <a:t>。</a:t>
            </a:r>
            <a:endParaRPr lang="zh-CN" altLang="en-US" sz="2600" b="1"/>
          </a:p>
        </p:txBody>
      </p:sp>
      <p:grpSp>
        <p:nvGrpSpPr>
          <p:cNvPr id="222" name="Group 104"/>
          <p:cNvGrpSpPr/>
          <p:nvPr/>
        </p:nvGrpSpPr>
        <p:grpSpPr bwMode="auto">
          <a:xfrm>
            <a:off x="2438400" y="3636963"/>
            <a:ext cx="914400" cy="842962"/>
            <a:chOff x="4560" y="3360"/>
            <a:chExt cx="576" cy="531"/>
          </a:xfrm>
        </p:grpSpPr>
        <p:sp>
          <p:nvSpPr>
            <p:cNvPr id="223" name="Oval 105"/>
            <p:cNvSpPr>
              <a:spLocks noChangeArrowheads="1"/>
            </p:cNvSpPr>
            <p:nvPr/>
          </p:nvSpPr>
          <p:spPr bwMode="auto">
            <a:xfrm>
              <a:off x="4704" y="3477"/>
              <a:ext cx="293" cy="289"/>
            </a:xfrm>
            <a:prstGeom prst="ellipse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" name="Oval 106"/>
            <p:cNvSpPr>
              <a:spLocks noChangeArrowheads="1"/>
            </p:cNvSpPr>
            <p:nvPr/>
          </p:nvSpPr>
          <p:spPr bwMode="auto">
            <a:xfrm>
              <a:off x="4560" y="3597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" name="Oval 107"/>
            <p:cNvSpPr>
              <a:spLocks noChangeArrowheads="1"/>
            </p:cNvSpPr>
            <p:nvPr/>
          </p:nvSpPr>
          <p:spPr bwMode="auto">
            <a:xfrm>
              <a:off x="4800" y="3840"/>
              <a:ext cx="52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" name="Oval 108"/>
            <p:cNvSpPr>
              <a:spLocks noChangeArrowheads="1"/>
            </p:cNvSpPr>
            <p:nvPr/>
          </p:nvSpPr>
          <p:spPr bwMode="auto">
            <a:xfrm>
              <a:off x="5083" y="3600"/>
              <a:ext cx="53" cy="5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" name="Oval 109"/>
            <p:cNvSpPr>
              <a:spLocks noChangeArrowheads="1"/>
            </p:cNvSpPr>
            <p:nvPr/>
          </p:nvSpPr>
          <p:spPr bwMode="auto">
            <a:xfrm>
              <a:off x="4800" y="3360"/>
              <a:ext cx="52" cy="5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8" name="Text Box 110"/>
            <p:cNvSpPr txBox="1">
              <a:spLocks noChangeArrowheads="1"/>
            </p:cNvSpPr>
            <p:nvPr/>
          </p:nvSpPr>
          <p:spPr bwMode="auto">
            <a:xfrm>
              <a:off x="4676" y="3494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0000"/>
                  </a:solidFill>
                </a:rPr>
                <a:t>+3</a:t>
              </a:r>
              <a:endParaRPr lang="zh-CN" altLang="en-US" sz="2000" b="1">
                <a:solidFill>
                  <a:srgbClr val="FF0000"/>
                </a:solidFill>
              </a:endParaRPr>
            </a:p>
          </p:txBody>
        </p:sp>
      </p:grpSp>
      <p:sp>
        <p:nvSpPr>
          <p:cNvPr id="229" name="Text Box 111"/>
          <p:cNvSpPr txBox="1">
            <a:spLocks noChangeArrowheads="1"/>
          </p:cNvSpPr>
          <p:nvPr/>
        </p:nvSpPr>
        <p:spPr bwMode="auto">
          <a:xfrm>
            <a:off x="5257800" y="3886200"/>
            <a:ext cx="3733800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b="1"/>
              <a:t>　　空穴浓度多于电子浓度，即 </a:t>
            </a:r>
            <a:r>
              <a:rPr lang="en-US" altLang="zh-CN" sz="2600" b="1" i="1">
                <a:solidFill>
                  <a:srgbClr val="FF0000"/>
                </a:solidFill>
              </a:rPr>
              <a:t>p  </a:t>
            </a:r>
            <a:r>
              <a:rPr lang="en-US" altLang="zh-CN" sz="2600" b="1">
                <a:solidFill>
                  <a:srgbClr val="FF0000"/>
                </a:solidFill>
              </a:rPr>
              <a:t>&gt;&gt; </a:t>
            </a:r>
            <a:r>
              <a:rPr lang="en-US" altLang="zh-CN" sz="2600" b="1" i="1">
                <a:solidFill>
                  <a:srgbClr val="FF0000"/>
                </a:solidFill>
              </a:rPr>
              <a:t>n</a:t>
            </a:r>
            <a:r>
              <a:rPr lang="en-US" altLang="zh-CN" sz="2600" b="1"/>
              <a:t>。</a:t>
            </a:r>
            <a:r>
              <a:rPr lang="zh-CN" altLang="en-US" sz="2600" b="1">
                <a:solidFill>
                  <a:srgbClr val="0000FF"/>
                </a:solidFill>
              </a:rPr>
              <a:t>空穴为多数载流子</a:t>
            </a:r>
            <a:r>
              <a:rPr lang="zh-CN" altLang="en-US" sz="2600" b="1"/>
              <a:t>，电子为少数载流子。</a:t>
            </a:r>
            <a:endParaRPr lang="zh-CN" altLang="en-US" sz="2600" b="1"/>
          </a:p>
        </p:txBody>
      </p:sp>
      <p:sp>
        <p:nvSpPr>
          <p:cNvPr id="230" name="Oval 112"/>
          <p:cNvSpPr>
            <a:spLocks noChangeArrowheads="1"/>
          </p:cNvSpPr>
          <p:nvPr/>
        </p:nvSpPr>
        <p:spPr bwMode="auto">
          <a:xfrm>
            <a:off x="2819400" y="3636963"/>
            <a:ext cx="82550" cy="8096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1" name="Oval 113"/>
          <p:cNvSpPr>
            <a:spLocks noChangeArrowheads="1"/>
          </p:cNvSpPr>
          <p:nvPr/>
        </p:nvSpPr>
        <p:spPr bwMode="auto">
          <a:xfrm>
            <a:off x="2819400" y="3636963"/>
            <a:ext cx="82550" cy="8096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2" name="Oval 114"/>
          <p:cNvSpPr>
            <a:spLocks noChangeArrowheads="1"/>
          </p:cNvSpPr>
          <p:nvPr/>
        </p:nvSpPr>
        <p:spPr bwMode="auto">
          <a:xfrm>
            <a:off x="2819400" y="3636963"/>
            <a:ext cx="82550" cy="8096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3" name="Text Box 115"/>
          <p:cNvSpPr txBox="1">
            <a:spLocks noChangeArrowheads="1"/>
          </p:cNvSpPr>
          <p:nvPr/>
        </p:nvSpPr>
        <p:spPr bwMode="auto">
          <a:xfrm>
            <a:off x="5257800" y="2743200"/>
            <a:ext cx="373380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b="1"/>
              <a:t>　　3 价杂质原子称为</a:t>
            </a:r>
            <a:r>
              <a:rPr lang="zh-CN" altLang="en-US" sz="2600" b="1">
                <a:solidFill>
                  <a:srgbClr val="9900FF"/>
                </a:solidFill>
              </a:rPr>
              <a:t>受主原子。</a:t>
            </a:r>
            <a:endParaRPr lang="zh-CN" altLang="en-US" sz="2600" b="1">
              <a:solidFill>
                <a:srgbClr val="9900FF"/>
              </a:solidFill>
            </a:endParaRPr>
          </a:p>
        </p:txBody>
      </p:sp>
      <p:sp>
        <p:nvSpPr>
          <p:cNvPr id="234" name="Text Box 116"/>
          <p:cNvSpPr txBox="1">
            <a:spLocks noChangeArrowheads="1"/>
          </p:cNvSpPr>
          <p:nvPr/>
        </p:nvSpPr>
        <p:spPr bwMode="auto">
          <a:xfrm>
            <a:off x="3260725" y="4041775"/>
            <a:ext cx="762000" cy="711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FF"/>
                </a:solidFill>
              </a:rPr>
              <a:t>受主原子</a:t>
            </a:r>
            <a:endParaRPr lang="zh-CN" altLang="en-US" sz="2000" b="1">
              <a:solidFill>
                <a:srgbClr val="0000FF"/>
              </a:solidFill>
            </a:endParaRPr>
          </a:p>
        </p:txBody>
      </p:sp>
      <p:sp>
        <p:nvSpPr>
          <p:cNvPr id="235" name="Text Box 117"/>
          <p:cNvSpPr txBox="1">
            <a:spLocks noChangeArrowheads="1"/>
          </p:cNvSpPr>
          <p:nvPr/>
        </p:nvSpPr>
        <p:spPr bwMode="auto">
          <a:xfrm>
            <a:off x="3201988" y="3417888"/>
            <a:ext cx="704850" cy="406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00FF"/>
                </a:solidFill>
              </a:rPr>
              <a:t>空穴</a:t>
            </a:r>
            <a:endParaRPr lang="zh-CN" altLang="en-US" sz="2000" b="1">
              <a:solidFill>
                <a:srgbClr val="0000FF"/>
              </a:solidFill>
            </a:endParaRPr>
          </a:p>
        </p:txBody>
      </p:sp>
      <p:sp>
        <p:nvSpPr>
          <p:cNvPr id="236" name="Text Box 118"/>
          <p:cNvSpPr txBox="1">
            <a:spLocks noChangeArrowheads="1"/>
          </p:cNvSpPr>
          <p:nvPr/>
        </p:nvSpPr>
        <p:spPr bwMode="auto">
          <a:xfrm>
            <a:off x="914400" y="6096000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图 1.1.4　</a:t>
            </a:r>
            <a:r>
              <a:rPr lang="en-US" altLang="zh-CN" b="1">
                <a:solidFill>
                  <a:srgbClr val="FF00FF"/>
                </a:solidFill>
                <a:ea typeface="黑体" panose="02010609060101010101" pitchFamily="49" charset="-122"/>
              </a:rPr>
              <a:t>P </a:t>
            </a: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型半导体</a:t>
            </a:r>
            <a:endParaRPr lang="zh-CN" altLang="en-US" b="1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113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382000" cy="152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b="1"/>
              <a:t>        在一块半导体单晶上一侧掺杂成为 </a:t>
            </a:r>
            <a:r>
              <a:rPr lang="en-US" altLang="zh-CN" sz="2600" b="1"/>
              <a:t>P </a:t>
            </a:r>
            <a:r>
              <a:rPr lang="zh-CN" altLang="en-US" sz="2600" b="1"/>
              <a:t>型半导体，另一侧掺杂成为 </a:t>
            </a:r>
            <a:r>
              <a:rPr lang="en-US" altLang="zh-CN" sz="2600" b="1"/>
              <a:t>N </a:t>
            </a:r>
            <a:r>
              <a:rPr lang="zh-CN" altLang="en-US" sz="2600" b="1"/>
              <a:t>型半导体，两个区域的交界处就形成了一个特殊的薄层，</a:t>
            </a:r>
            <a:r>
              <a:rPr lang="zh-CN" altLang="en-US" sz="2600" b="1">
                <a:solidFill>
                  <a:srgbClr val="0000FF"/>
                </a:solidFill>
              </a:rPr>
              <a:t>称为 </a:t>
            </a:r>
            <a:r>
              <a:rPr lang="en-US" altLang="zh-CN" sz="2600" b="1">
                <a:solidFill>
                  <a:srgbClr val="0000FF"/>
                </a:solidFill>
              </a:rPr>
              <a:t>PN </a:t>
            </a:r>
            <a:r>
              <a:rPr lang="zh-CN" altLang="en-US" sz="2600" b="1">
                <a:solidFill>
                  <a:srgbClr val="0000FF"/>
                </a:solidFill>
              </a:rPr>
              <a:t>结</a:t>
            </a:r>
            <a:r>
              <a:rPr lang="zh-CN" altLang="en-US" sz="2600" b="1"/>
              <a:t>。 </a:t>
            </a:r>
            <a:endParaRPr lang="zh-CN" altLang="en-US" sz="2600" b="1"/>
          </a:p>
        </p:txBody>
      </p:sp>
      <p:grpSp>
        <p:nvGrpSpPr>
          <p:cNvPr id="114" name="Group 3"/>
          <p:cNvGrpSpPr/>
          <p:nvPr/>
        </p:nvGrpSpPr>
        <p:grpSpPr bwMode="auto">
          <a:xfrm>
            <a:off x="1752600" y="3429000"/>
            <a:ext cx="5715000" cy="2590800"/>
            <a:chOff x="960" y="2064"/>
            <a:chExt cx="3600" cy="1632"/>
          </a:xfrm>
        </p:grpSpPr>
        <p:grpSp>
          <p:nvGrpSpPr>
            <p:cNvPr id="115" name="Group 4"/>
            <p:cNvGrpSpPr/>
            <p:nvPr/>
          </p:nvGrpSpPr>
          <p:grpSpPr bwMode="auto">
            <a:xfrm>
              <a:off x="960" y="2391"/>
              <a:ext cx="3600" cy="1305"/>
              <a:chOff x="960" y="2391"/>
              <a:chExt cx="3600" cy="1305"/>
            </a:xfrm>
          </p:grpSpPr>
          <p:grpSp>
            <p:nvGrpSpPr>
              <p:cNvPr id="118" name="Group 5"/>
              <p:cNvGrpSpPr/>
              <p:nvPr/>
            </p:nvGrpSpPr>
            <p:grpSpPr bwMode="auto">
              <a:xfrm>
                <a:off x="1104" y="2487"/>
                <a:ext cx="288" cy="288"/>
                <a:chOff x="1968" y="2592"/>
                <a:chExt cx="288" cy="288"/>
              </a:xfrm>
            </p:grpSpPr>
            <p:sp>
              <p:nvSpPr>
                <p:cNvPr id="343" name="Oval 6"/>
                <p:cNvSpPr>
                  <a:spLocks noChangeArrowheads="1"/>
                </p:cNvSpPr>
                <p:nvPr/>
              </p:nvSpPr>
              <p:spPr bwMode="auto">
                <a:xfrm>
                  <a:off x="1968" y="2592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4" name="Line 7"/>
                <p:cNvSpPr>
                  <a:spLocks noChangeShapeType="1"/>
                </p:cNvSpPr>
                <p:nvPr/>
              </p:nvSpPr>
              <p:spPr bwMode="auto">
                <a:xfrm>
                  <a:off x="2016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8"/>
              <p:cNvGrpSpPr/>
              <p:nvPr/>
            </p:nvGrpSpPr>
            <p:grpSpPr bwMode="auto">
              <a:xfrm>
                <a:off x="1536" y="2487"/>
                <a:ext cx="288" cy="288"/>
                <a:chOff x="2496" y="2784"/>
                <a:chExt cx="288" cy="288"/>
              </a:xfrm>
            </p:grpSpPr>
            <p:sp>
              <p:nvSpPr>
                <p:cNvPr id="341" name="Oval 9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2" name="Line 10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0" name="Group 11"/>
              <p:cNvGrpSpPr/>
              <p:nvPr/>
            </p:nvGrpSpPr>
            <p:grpSpPr bwMode="auto">
              <a:xfrm>
                <a:off x="1104" y="2871"/>
                <a:ext cx="288" cy="288"/>
                <a:chOff x="2160" y="2928"/>
                <a:chExt cx="288" cy="288"/>
              </a:xfrm>
            </p:grpSpPr>
            <p:sp>
              <p:nvSpPr>
                <p:cNvPr id="339" name="Oval 12"/>
                <p:cNvSpPr>
                  <a:spLocks noChangeArrowheads="1"/>
                </p:cNvSpPr>
                <p:nvPr/>
              </p:nvSpPr>
              <p:spPr bwMode="auto">
                <a:xfrm>
                  <a:off x="2160" y="2928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0" name="Line 13"/>
                <p:cNvSpPr>
                  <a:spLocks noChangeShapeType="1"/>
                </p:cNvSpPr>
                <p:nvPr/>
              </p:nvSpPr>
              <p:spPr bwMode="auto">
                <a:xfrm>
                  <a:off x="2208" y="3072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Group 14"/>
              <p:cNvGrpSpPr/>
              <p:nvPr/>
            </p:nvGrpSpPr>
            <p:grpSpPr bwMode="auto">
              <a:xfrm>
                <a:off x="1536" y="2871"/>
                <a:ext cx="288" cy="288"/>
                <a:chOff x="2016" y="3456"/>
                <a:chExt cx="288" cy="288"/>
              </a:xfrm>
            </p:grpSpPr>
            <p:sp>
              <p:nvSpPr>
                <p:cNvPr id="337" name="Oval 15"/>
                <p:cNvSpPr>
                  <a:spLocks noChangeArrowheads="1"/>
                </p:cNvSpPr>
                <p:nvPr/>
              </p:nvSpPr>
              <p:spPr bwMode="auto">
                <a:xfrm>
                  <a:off x="2016" y="3456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8" name="Line 16"/>
                <p:cNvSpPr>
                  <a:spLocks noChangeShapeType="1"/>
                </p:cNvSpPr>
                <p:nvPr/>
              </p:nvSpPr>
              <p:spPr bwMode="auto">
                <a:xfrm>
                  <a:off x="2064" y="3600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22" name="Oval 17"/>
              <p:cNvSpPr>
                <a:spLocks noChangeArrowheads="1"/>
              </p:cNvSpPr>
              <p:nvPr/>
            </p:nvSpPr>
            <p:spPr bwMode="auto">
              <a:xfrm>
                <a:off x="1392" y="2631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Oval 18"/>
              <p:cNvSpPr>
                <a:spLocks noChangeArrowheads="1"/>
              </p:cNvSpPr>
              <p:nvPr/>
            </p:nvSpPr>
            <p:spPr bwMode="auto">
              <a:xfrm>
                <a:off x="1824" y="3111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Oval 19"/>
              <p:cNvSpPr>
                <a:spLocks noChangeArrowheads="1"/>
              </p:cNvSpPr>
              <p:nvPr/>
            </p:nvSpPr>
            <p:spPr bwMode="auto">
              <a:xfrm>
                <a:off x="1440" y="3303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Oval 20"/>
              <p:cNvSpPr>
                <a:spLocks noChangeArrowheads="1"/>
              </p:cNvSpPr>
              <p:nvPr/>
            </p:nvSpPr>
            <p:spPr bwMode="auto">
              <a:xfrm>
                <a:off x="1344" y="3111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" name="Oval 21"/>
              <p:cNvSpPr>
                <a:spLocks noChangeArrowheads="1"/>
              </p:cNvSpPr>
              <p:nvPr/>
            </p:nvSpPr>
            <p:spPr bwMode="auto">
              <a:xfrm>
                <a:off x="1056" y="3495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Oval 22"/>
              <p:cNvSpPr>
                <a:spLocks noChangeArrowheads="1"/>
              </p:cNvSpPr>
              <p:nvPr/>
            </p:nvSpPr>
            <p:spPr bwMode="auto">
              <a:xfrm>
                <a:off x="1776" y="2439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38" name="Group 23"/>
              <p:cNvGrpSpPr/>
              <p:nvPr/>
            </p:nvGrpSpPr>
            <p:grpSpPr bwMode="auto">
              <a:xfrm>
                <a:off x="4128" y="2487"/>
                <a:ext cx="288" cy="288"/>
                <a:chOff x="3024" y="2592"/>
                <a:chExt cx="288" cy="288"/>
              </a:xfrm>
            </p:grpSpPr>
            <p:grpSp>
              <p:nvGrpSpPr>
                <p:cNvPr id="333" name="Group 24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35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6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4" name="Line 27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39" name="Oval 28"/>
              <p:cNvSpPr>
                <a:spLocks noChangeArrowheads="1"/>
              </p:cNvSpPr>
              <p:nvPr/>
            </p:nvSpPr>
            <p:spPr bwMode="auto">
              <a:xfrm>
                <a:off x="3130" y="32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66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40" name="Group 29"/>
              <p:cNvGrpSpPr/>
              <p:nvPr/>
            </p:nvGrpSpPr>
            <p:grpSpPr bwMode="auto">
              <a:xfrm>
                <a:off x="3130" y="2804"/>
                <a:ext cx="96" cy="576"/>
                <a:chOff x="4944" y="720"/>
                <a:chExt cx="96" cy="576"/>
              </a:xfrm>
            </p:grpSpPr>
            <p:sp>
              <p:nvSpPr>
                <p:cNvPr id="331" name="Oval 30"/>
                <p:cNvSpPr>
                  <a:spLocks noChangeArrowheads="1"/>
                </p:cNvSpPr>
                <p:nvPr/>
              </p:nvSpPr>
              <p:spPr bwMode="auto">
                <a:xfrm>
                  <a:off x="4944" y="72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FFFFFF"/>
                  </a:solidFill>
                  <a:round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2" name="Oval 31"/>
                <p:cNvSpPr>
                  <a:spLocks noChangeArrowheads="1"/>
                </p:cNvSpPr>
                <p:nvPr/>
              </p:nvSpPr>
              <p:spPr bwMode="auto">
                <a:xfrm>
                  <a:off x="4944" y="120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FFFFFF"/>
                  </a:solidFill>
                  <a:round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1" name="Oval 32"/>
              <p:cNvSpPr>
                <a:spLocks noChangeArrowheads="1"/>
              </p:cNvSpPr>
              <p:nvPr/>
            </p:nvSpPr>
            <p:spPr bwMode="auto">
              <a:xfrm>
                <a:off x="3600" y="2439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FF66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" name="Oval 33"/>
              <p:cNvSpPr>
                <a:spLocks noChangeArrowheads="1"/>
              </p:cNvSpPr>
              <p:nvPr/>
            </p:nvSpPr>
            <p:spPr bwMode="auto">
              <a:xfrm>
                <a:off x="4032" y="2823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FF66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Oval 34"/>
              <p:cNvSpPr>
                <a:spLocks noChangeArrowheads="1"/>
              </p:cNvSpPr>
              <p:nvPr/>
            </p:nvSpPr>
            <p:spPr bwMode="auto">
              <a:xfrm>
                <a:off x="4272" y="2391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FF66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Oval 35"/>
              <p:cNvSpPr>
                <a:spLocks noChangeArrowheads="1"/>
              </p:cNvSpPr>
              <p:nvPr/>
            </p:nvSpPr>
            <p:spPr bwMode="auto">
              <a:xfrm>
                <a:off x="4032" y="3447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" name="Oval 36"/>
              <p:cNvSpPr>
                <a:spLocks noChangeArrowheads="1"/>
              </p:cNvSpPr>
              <p:nvPr/>
            </p:nvSpPr>
            <p:spPr bwMode="auto">
              <a:xfrm>
                <a:off x="3936" y="3207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FF66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" name="Oval 37"/>
              <p:cNvSpPr>
                <a:spLocks noChangeArrowheads="1"/>
              </p:cNvSpPr>
              <p:nvPr/>
            </p:nvSpPr>
            <p:spPr bwMode="auto">
              <a:xfrm>
                <a:off x="3600" y="3063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FF66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47" name="Group 38"/>
              <p:cNvGrpSpPr/>
              <p:nvPr/>
            </p:nvGrpSpPr>
            <p:grpSpPr bwMode="auto">
              <a:xfrm>
                <a:off x="3696" y="2487"/>
                <a:ext cx="288" cy="288"/>
                <a:chOff x="3024" y="2592"/>
                <a:chExt cx="288" cy="288"/>
              </a:xfrm>
            </p:grpSpPr>
            <p:grpSp>
              <p:nvGrpSpPr>
                <p:cNvPr id="327" name="Group 39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29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8" name="Line 42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8" name="Group 43"/>
              <p:cNvGrpSpPr/>
              <p:nvPr/>
            </p:nvGrpSpPr>
            <p:grpSpPr bwMode="auto">
              <a:xfrm>
                <a:off x="3696" y="2871"/>
                <a:ext cx="288" cy="288"/>
                <a:chOff x="3024" y="2592"/>
                <a:chExt cx="288" cy="288"/>
              </a:xfrm>
            </p:grpSpPr>
            <p:grpSp>
              <p:nvGrpSpPr>
                <p:cNvPr id="323" name="Group 44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25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6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4" name="Line 47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9" name="Group 48"/>
              <p:cNvGrpSpPr/>
              <p:nvPr/>
            </p:nvGrpSpPr>
            <p:grpSpPr bwMode="auto">
              <a:xfrm>
                <a:off x="4128" y="2871"/>
                <a:ext cx="288" cy="288"/>
                <a:chOff x="3024" y="2592"/>
                <a:chExt cx="288" cy="288"/>
              </a:xfrm>
            </p:grpSpPr>
            <p:grpSp>
              <p:nvGrpSpPr>
                <p:cNvPr id="319" name="Group 49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21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0" name="Line 52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0" name="Group 53"/>
              <p:cNvGrpSpPr/>
              <p:nvPr/>
            </p:nvGrpSpPr>
            <p:grpSpPr bwMode="auto">
              <a:xfrm>
                <a:off x="3696" y="3255"/>
                <a:ext cx="288" cy="288"/>
                <a:chOff x="3024" y="2592"/>
                <a:chExt cx="288" cy="288"/>
              </a:xfrm>
            </p:grpSpPr>
            <p:grpSp>
              <p:nvGrpSpPr>
                <p:cNvPr id="315" name="Group 54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17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6" name="Line 57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1" name="Group 58"/>
              <p:cNvGrpSpPr/>
              <p:nvPr/>
            </p:nvGrpSpPr>
            <p:grpSpPr bwMode="auto">
              <a:xfrm>
                <a:off x="4128" y="3255"/>
                <a:ext cx="288" cy="288"/>
                <a:chOff x="3024" y="2592"/>
                <a:chExt cx="288" cy="288"/>
              </a:xfrm>
            </p:grpSpPr>
            <p:grpSp>
              <p:nvGrpSpPr>
                <p:cNvPr id="311" name="Group 59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13" name="Oval 60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2" name="Line 62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2" name="Group 63"/>
              <p:cNvGrpSpPr/>
              <p:nvPr/>
            </p:nvGrpSpPr>
            <p:grpSpPr bwMode="auto">
              <a:xfrm>
                <a:off x="1104" y="3255"/>
                <a:ext cx="288" cy="288"/>
                <a:chOff x="1968" y="2592"/>
                <a:chExt cx="288" cy="288"/>
              </a:xfrm>
            </p:grpSpPr>
            <p:sp>
              <p:nvSpPr>
                <p:cNvPr id="309" name="Oval 64"/>
                <p:cNvSpPr>
                  <a:spLocks noChangeArrowheads="1"/>
                </p:cNvSpPr>
                <p:nvPr/>
              </p:nvSpPr>
              <p:spPr bwMode="auto">
                <a:xfrm>
                  <a:off x="1968" y="2592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0" name="Line 65"/>
                <p:cNvSpPr>
                  <a:spLocks noChangeShapeType="1"/>
                </p:cNvSpPr>
                <p:nvPr/>
              </p:nvSpPr>
              <p:spPr bwMode="auto">
                <a:xfrm>
                  <a:off x="2016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3" name="Group 66"/>
              <p:cNvGrpSpPr/>
              <p:nvPr/>
            </p:nvGrpSpPr>
            <p:grpSpPr bwMode="auto">
              <a:xfrm>
                <a:off x="1536" y="3255"/>
                <a:ext cx="288" cy="288"/>
                <a:chOff x="2496" y="2784"/>
                <a:chExt cx="288" cy="288"/>
              </a:xfrm>
            </p:grpSpPr>
            <p:sp>
              <p:nvSpPr>
                <p:cNvPr id="307" name="Oval 67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8" name="Line 68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4" name="Rectangle 69"/>
              <p:cNvSpPr>
                <a:spLocks noChangeArrowheads="1"/>
              </p:cNvSpPr>
              <p:nvPr/>
            </p:nvSpPr>
            <p:spPr bwMode="auto">
              <a:xfrm>
                <a:off x="960" y="2391"/>
                <a:ext cx="3600" cy="129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55" name="Group 70"/>
              <p:cNvGrpSpPr/>
              <p:nvPr/>
            </p:nvGrpSpPr>
            <p:grpSpPr bwMode="auto">
              <a:xfrm>
                <a:off x="1920" y="2400"/>
                <a:ext cx="1680" cy="1296"/>
                <a:chOff x="1920" y="2160"/>
                <a:chExt cx="1680" cy="1296"/>
              </a:xfrm>
            </p:grpSpPr>
            <p:grpSp>
              <p:nvGrpSpPr>
                <p:cNvPr id="256" name="Group 71"/>
                <p:cNvGrpSpPr/>
                <p:nvPr/>
              </p:nvGrpSpPr>
              <p:grpSpPr bwMode="auto">
                <a:xfrm>
                  <a:off x="2400" y="2256"/>
                  <a:ext cx="288" cy="288"/>
                  <a:chOff x="1440" y="2592"/>
                  <a:chExt cx="288" cy="288"/>
                </a:xfrm>
              </p:grpSpPr>
              <p:sp>
                <p:nvSpPr>
                  <p:cNvPr id="305" name="Oval 72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2592"/>
                    <a:ext cx="288" cy="288"/>
                  </a:xfrm>
                  <a:prstGeom prst="ellips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993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6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2736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7" name="Group 74"/>
                <p:cNvGrpSpPr/>
                <p:nvPr/>
              </p:nvGrpSpPr>
              <p:grpSpPr bwMode="auto">
                <a:xfrm>
                  <a:off x="1968" y="2640"/>
                  <a:ext cx="288" cy="288"/>
                  <a:chOff x="1440" y="3120"/>
                  <a:chExt cx="288" cy="288"/>
                </a:xfrm>
              </p:grpSpPr>
              <p:sp>
                <p:nvSpPr>
                  <p:cNvPr id="303" name="Oval 75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3120"/>
                    <a:ext cx="288" cy="288"/>
                  </a:xfrm>
                  <a:prstGeom prst="ellips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993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4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3264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8" name="Group 77"/>
                <p:cNvGrpSpPr/>
                <p:nvPr/>
              </p:nvGrpSpPr>
              <p:grpSpPr bwMode="auto">
                <a:xfrm>
                  <a:off x="1968" y="2256"/>
                  <a:ext cx="288" cy="288"/>
                  <a:chOff x="1056" y="2688"/>
                  <a:chExt cx="288" cy="288"/>
                </a:xfrm>
              </p:grpSpPr>
              <p:sp>
                <p:nvSpPr>
                  <p:cNvPr id="301" name="Oval 78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2688"/>
                    <a:ext cx="288" cy="288"/>
                  </a:xfrm>
                  <a:prstGeom prst="ellips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993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2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2832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9" name="Group 80"/>
                <p:cNvGrpSpPr/>
                <p:nvPr/>
              </p:nvGrpSpPr>
              <p:grpSpPr bwMode="auto">
                <a:xfrm>
                  <a:off x="2400" y="2640"/>
                  <a:ext cx="288" cy="288"/>
                  <a:chOff x="1776" y="3120"/>
                  <a:chExt cx="288" cy="288"/>
                </a:xfrm>
              </p:grpSpPr>
              <p:sp>
                <p:nvSpPr>
                  <p:cNvPr id="299" name="Oval 81"/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3120"/>
                    <a:ext cx="288" cy="288"/>
                  </a:xfrm>
                  <a:prstGeom prst="ellips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993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0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264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0" name="Group 83"/>
                <p:cNvGrpSpPr/>
                <p:nvPr/>
              </p:nvGrpSpPr>
              <p:grpSpPr bwMode="auto">
                <a:xfrm>
                  <a:off x="2832" y="2256"/>
                  <a:ext cx="288" cy="288"/>
                  <a:chOff x="3024" y="2592"/>
                  <a:chExt cx="288" cy="288"/>
                </a:xfrm>
              </p:grpSpPr>
              <p:grpSp>
                <p:nvGrpSpPr>
                  <p:cNvPr id="295" name="Group 84"/>
                  <p:cNvGrpSpPr/>
                  <p:nvPr/>
                </p:nvGrpSpPr>
                <p:grpSpPr bwMode="auto">
                  <a:xfrm>
                    <a:off x="3024" y="2592"/>
                    <a:ext cx="288" cy="288"/>
                    <a:chOff x="3024" y="2592"/>
                    <a:chExt cx="288" cy="288"/>
                  </a:xfrm>
                </p:grpSpPr>
                <p:sp>
                  <p:nvSpPr>
                    <p:cNvPr id="297" name="Oval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4" y="2592"/>
                      <a:ext cx="288" cy="2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993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8" name="Line 8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2640"/>
                      <a:ext cx="0" cy="19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96" name="Line 87"/>
                  <p:cNvSpPr>
                    <a:spLocks noChangeShapeType="1"/>
                  </p:cNvSpPr>
                  <p:nvPr/>
                </p:nvSpPr>
                <p:spPr bwMode="auto">
                  <a:xfrm>
                    <a:off x="3072" y="2736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1" name="Group 88"/>
                <p:cNvGrpSpPr/>
                <p:nvPr/>
              </p:nvGrpSpPr>
              <p:grpSpPr bwMode="auto">
                <a:xfrm>
                  <a:off x="2832" y="2640"/>
                  <a:ext cx="288" cy="288"/>
                  <a:chOff x="3024" y="2592"/>
                  <a:chExt cx="288" cy="288"/>
                </a:xfrm>
              </p:grpSpPr>
              <p:grpSp>
                <p:nvGrpSpPr>
                  <p:cNvPr id="291" name="Group 89"/>
                  <p:cNvGrpSpPr/>
                  <p:nvPr/>
                </p:nvGrpSpPr>
                <p:grpSpPr bwMode="auto">
                  <a:xfrm>
                    <a:off x="3024" y="2592"/>
                    <a:ext cx="288" cy="288"/>
                    <a:chOff x="3024" y="2592"/>
                    <a:chExt cx="288" cy="288"/>
                  </a:xfrm>
                </p:grpSpPr>
                <p:sp>
                  <p:nvSpPr>
                    <p:cNvPr id="293" name="Oval 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4" y="2592"/>
                      <a:ext cx="288" cy="2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993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4" name="Line 9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2640"/>
                      <a:ext cx="0" cy="19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92" name="Line 92"/>
                  <p:cNvSpPr>
                    <a:spLocks noChangeShapeType="1"/>
                  </p:cNvSpPr>
                  <p:nvPr/>
                </p:nvSpPr>
                <p:spPr bwMode="auto">
                  <a:xfrm>
                    <a:off x="3072" y="2736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2" name="Group 93"/>
                <p:cNvGrpSpPr/>
                <p:nvPr/>
              </p:nvGrpSpPr>
              <p:grpSpPr bwMode="auto">
                <a:xfrm>
                  <a:off x="3264" y="2256"/>
                  <a:ext cx="288" cy="288"/>
                  <a:chOff x="3024" y="2592"/>
                  <a:chExt cx="288" cy="288"/>
                </a:xfrm>
              </p:grpSpPr>
              <p:grpSp>
                <p:nvGrpSpPr>
                  <p:cNvPr id="287" name="Group 94"/>
                  <p:cNvGrpSpPr/>
                  <p:nvPr/>
                </p:nvGrpSpPr>
                <p:grpSpPr bwMode="auto">
                  <a:xfrm>
                    <a:off x="3024" y="2592"/>
                    <a:ext cx="288" cy="288"/>
                    <a:chOff x="3024" y="2592"/>
                    <a:chExt cx="288" cy="288"/>
                  </a:xfrm>
                </p:grpSpPr>
                <p:sp>
                  <p:nvSpPr>
                    <p:cNvPr id="289" name="Oval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4" y="2592"/>
                      <a:ext cx="288" cy="2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993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0" name="Line 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2640"/>
                      <a:ext cx="0" cy="19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88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3072" y="2736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3" name="Group 98"/>
                <p:cNvGrpSpPr/>
                <p:nvPr/>
              </p:nvGrpSpPr>
              <p:grpSpPr bwMode="auto">
                <a:xfrm>
                  <a:off x="3264" y="2640"/>
                  <a:ext cx="288" cy="288"/>
                  <a:chOff x="3024" y="2592"/>
                  <a:chExt cx="288" cy="288"/>
                </a:xfrm>
              </p:grpSpPr>
              <p:grpSp>
                <p:nvGrpSpPr>
                  <p:cNvPr id="283" name="Group 99"/>
                  <p:cNvGrpSpPr/>
                  <p:nvPr/>
                </p:nvGrpSpPr>
                <p:grpSpPr bwMode="auto">
                  <a:xfrm>
                    <a:off x="3024" y="2592"/>
                    <a:ext cx="288" cy="288"/>
                    <a:chOff x="3024" y="2592"/>
                    <a:chExt cx="288" cy="288"/>
                  </a:xfrm>
                </p:grpSpPr>
                <p:sp>
                  <p:nvSpPr>
                    <p:cNvPr id="285" name="Oval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4" y="2592"/>
                      <a:ext cx="288" cy="2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993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6" name="Line 10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2640"/>
                      <a:ext cx="0" cy="19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84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3072" y="2736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4" name="Group 103"/>
                <p:cNvGrpSpPr/>
                <p:nvPr/>
              </p:nvGrpSpPr>
              <p:grpSpPr bwMode="auto">
                <a:xfrm>
                  <a:off x="2832" y="3024"/>
                  <a:ext cx="288" cy="288"/>
                  <a:chOff x="3024" y="2592"/>
                  <a:chExt cx="288" cy="288"/>
                </a:xfrm>
              </p:grpSpPr>
              <p:grpSp>
                <p:nvGrpSpPr>
                  <p:cNvPr id="279" name="Group 104"/>
                  <p:cNvGrpSpPr/>
                  <p:nvPr/>
                </p:nvGrpSpPr>
                <p:grpSpPr bwMode="auto">
                  <a:xfrm>
                    <a:off x="3024" y="2592"/>
                    <a:ext cx="288" cy="288"/>
                    <a:chOff x="3024" y="2592"/>
                    <a:chExt cx="288" cy="288"/>
                  </a:xfrm>
                </p:grpSpPr>
                <p:sp>
                  <p:nvSpPr>
                    <p:cNvPr id="281" name="Oval 1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4" y="2592"/>
                      <a:ext cx="288" cy="2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993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2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2640"/>
                      <a:ext cx="0" cy="19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80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3072" y="2736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5" name="Group 108"/>
                <p:cNvGrpSpPr/>
                <p:nvPr/>
              </p:nvGrpSpPr>
              <p:grpSpPr bwMode="auto">
                <a:xfrm>
                  <a:off x="3264" y="3024"/>
                  <a:ext cx="288" cy="288"/>
                  <a:chOff x="3024" y="2592"/>
                  <a:chExt cx="288" cy="288"/>
                </a:xfrm>
              </p:grpSpPr>
              <p:grpSp>
                <p:nvGrpSpPr>
                  <p:cNvPr id="275" name="Group 109"/>
                  <p:cNvGrpSpPr/>
                  <p:nvPr/>
                </p:nvGrpSpPr>
                <p:grpSpPr bwMode="auto">
                  <a:xfrm>
                    <a:off x="3024" y="2592"/>
                    <a:ext cx="288" cy="288"/>
                    <a:chOff x="3024" y="2592"/>
                    <a:chExt cx="288" cy="288"/>
                  </a:xfrm>
                </p:grpSpPr>
                <p:sp>
                  <p:nvSpPr>
                    <p:cNvPr id="277" name="Oval 1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4" y="2592"/>
                      <a:ext cx="288" cy="2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993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8" name="Line 1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2640"/>
                      <a:ext cx="0" cy="19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0000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76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3072" y="2736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6" name="Group 113"/>
                <p:cNvGrpSpPr/>
                <p:nvPr/>
              </p:nvGrpSpPr>
              <p:grpSpPr bwMode="auto">
                <a:xfrm>
                  <a:off x="2400" y="3024"/>
                  <a:ext cx="288" cy="288"/>
                  <a:chOff x="1440" y="2592"/>
                  <a:chExt cx="288" cy="288"/>
                </a:xfrm>
              </p:grpSpPr>
              <p:sp>
                <p:nvSpPr>
                  <p:cNvPr id="273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2592"/>
                    <a:ext cx="288" cy="288"/>
                  </a:xfrm>
                  <a:prstGeom prst="ellips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993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2736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7" name="Group 116"/>
                <p:cNvGrpSpPr/>
                <p:nvPr/>
              </p:nvGrpSpPr>
              <p:grpSpPr bwMode="auto">
                <a:xfrm>
                  <a:off x="1968" y="3024"/>
                  <a:ext cx="288" cy="288"/>
                  <a:chOff x="1056" y="2688"/>
                  <a:chExt cx="288" cy="288"/>
                </a:xfrm>
              </p:grpSpPr>
              <p:sp>
                <p:nvSpPr>
                  <p:cNvPr id="271" name="Oval 117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2688"/>
                    <a:ext cx="288" cy="288"/>
                  </a:xfrm>
                  <a:prstGeom prst="ellips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993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2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2832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0000FF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68" name="Line 119"/>
                <p:cNvSpPr>
                  <a:spLocks noChangeShapeType="1"/>
                </p:cNvSpPr>
                <p:nvPr/>
              </p:nvSpPr>
              <p:spPr bwMode="auto">
                <a:xfrm>
                  <a:off x="2736" y="2160"/>
                  <a:ext cx="0" cy="12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" name="Line 120"/>
                <p:cNvSpPr>
                  <a:spLocks noChangeShapeType="1"/>
                </p:cNvSpPr>
                <p:nvPr/>
              </p:nvSpPr>
              <p:spPr bwMode="auto">
                <a:xfrm>
                  <a:off x="1920" y="2160"/>
                  <a:ext cx="0" cy="12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" name="Line 121"/>
                <p:cNvSpPr>
                  <a:spLocks noChangeShapeType="1"/>
                </p:cNvSpPr>
                <p:nvPr/>
              </p:nvSpPr>
              <p:spPr bwMode="auto">
                <a:xfrm>
                  <a:off x="3600" y="2160"/>
                  <a:ext cx="0" cy="12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6" name="Text Box 122"/>
            <p:cNvSpPr txBox="1">
              <a:spLocks noChangeArrowheads="1"/>
            </p:cNvSpPr>
            <p:nvPr/>
          </p:nvSpPr>
          <p:spPr bwMode="auto">
            <a:xfrm>
              <a:off x="1584" y="210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P</a:t>
              </a:r>
              <a:endParaRPr lang="en-US" altLang="zh-CN" sz="2800" b="1"/>
            </a:p>
          </p:txBody>
        </p:sp>
        <p:sp>
          <p:nvSpPr>
            <p:cNvPr id="117" name="Text Box 123"/>
            <p:cNvSpPr txBox="1">
              <a:spLocks noChangeArrowheads="1"/>
            </p:cNvSpPr>
            <p:nvPr/>
          </p:nvSpPr>
          <p:spPr bwMode="auto">
            <a:xfrm>
              <a:off x="3696" y="2064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N</a:t>
              </a:r>
              <a:endParaRPr lang="en-US" altLang="zh-CN" sz="2800" b="1"/>
            </a:p>
          </p:txBody>
        </p:sp>
      </p:grpSp>
      <p:grpSp>
        <p:nvGrpSpPr>
          <p:cNvPr id="345" name="Group 124"/>
          <p:cNvGrpSpPr/>
          <p:nvPr/>
        </p:nvGrpSpPr>
        <p:grpSpPr bwMode="auto">
          <a:xfrm>
            <a:off x="3276600" y="3962400"/>
            <a:ext cx="2667000" cy="2057400"/>
            <a:chOff x="2016" y="1776"/>
            <a:chExt cx="1680" cy="1296"/>
          </a:xfrm>
        </p:grpSpPr>
        <p:sp>
          <p:nvSpPr>
            <p:cNvPr id="346" name="Rectangle 125"/>
            <p:cNvSpPr>
              <a:spLocks noChangeArrowheads="1"/>
            </p:cNvSpPr>
            <p:nvPr/>
          </p:nvSpPr>
          <p:spPr bwMode="auto">
            <a:xfrm>
              <a:off x="2016" y="1776"/>
              <a:ext cx="1680" cy="129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7" name="Group 126"/>
            <p:cNvGrpSpPr/>
            <p:nvPr/>
          </p:nvGrpSpPr>
          <p:grpSpPr bwMode="auto">
            <a:xfrm>
              <a:off x="2016" y="1776"/>
              <a:ext cx="1680" cy="1296"/>
              <a:chOff x="1920" y="2160"/>
              <a:chExt cx="1680" cy="1296"/>
            </a:xfrm>
          </p:grpSpPr>
          <p:grpSp>
            <p:nvGrpSpPr>
              <p:cNvPr id="348" name="Group 127"/>
              <p:cNvGrpSpPr/>
              <p:nvPr/>
            </p:nvGrpSpPr>
            <p:grpSpPr bwMode="auto">
              <a:xfrm>
                <a:off x="2400" y="2256"/>
                <a:ext cx="288" cy="288"/>
                <a:chOff x="1440" y="2592"/>
                <a:chExt cx="288" cy="288"/>
              </a:xfrm>
            </p:grpSpPr>
            <p:sp>
              <p:nvSpPr>
                <p:cNvPr id="397" name="Oval 128"/>
                <p:cNvSpPr>
                  <a:spLocks noChangeArrowheads="1"/>
                </p:cNvSpPr>
                <p:nvPr/>
              </p:nvSpPr>
              <p:spPr bwMode="auto">
                <a:xfrm>
                  <a:off x="1440" y="2592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8" name="Line 129"/>
                <p:cNvSpPr>
                  <a:spLocks noChangeShapeType="1"/>
                </p:cNvSpPr>
                <p:nvPr/>
              </p:nvSpPr>
              <p:spPr bwMode="auto">
                <a:xfrm>
                  <a:off x="1488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9" name="Group 130"/>
              <p:cNvGrpSpPr/>
              <p:nvPr/>
            </p:nvGrpSpPr>
            <p:grpSpPr bwMode="auto">
              <a:xfrm>
                <a:off x="1968" y="2640"/>
                <a:ext cx="288" cy="288"/>
                <a:chOff x="1440" y="3120"/>
                <a:chExt cx="288" cy="288"/>
              </a:xfrm>
            </p:grpSpPr>
            <p:sp>
              <p:nvSpPr>
                <p:cNvPr id="395" name="Oval 131"/>
                <p:cNvSpPr>
                  <a:spLocks noChangeArrowheads="1"/>
                </p:cNvSpPr>
                <p:nvPr/>
              </p:nvSpPr>
              <p:spPr bwMode="auto">
                <a:xfrm>
                  <a:off x="1440" y="3120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6" name="Line 132"/>
                <p:cNvSpPr>
                  <a:spLocks noChangeShapeType="1"/>
                </p:cNvSpPr>
                <p:nvPr/>
              </p:nvSpPr>
              <p:spPr bwMode="auto">
                <a:xfrm>
                  <a:off x="1488" y="3264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0" name="Group 133"/>
              <p:cNvGrpSpPr/>
              <p:nvPr/>
            </p:nvGrpSpPr>
            <p:grpSpPr bwMode="auto">
              <a:xfrm>
                <a:off x="1968" y="2256"/>
                <a:ext cx="288" cy="288"/>
                <a:chOff x="1056" y="2688"/>
                <a:chExt cx="288" cy="288"/>
              </a:xfrm>
            </p:grpSpPr>
            <p:sp>
              <p:nvSpPr>
                <p:cNvPr id="393" name="Oval 134"/>
                <p:cNvSpPr>
                  <a:spLocks noChangeArrowheads="1"/>
                </p:cNvSpPr>
                <p:nvPr/>
              </p:nvSpPr>
              <p:spPr bwMode="auto">
                <a:xfrm>
                  <a:off x="1056" y="2688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4" name="Line 135"/>
                <p:cNvSpPr>
                  <a:spLocks noChangeShapeType="1"/>
                </p:cNvSpPr>
                <p:nvPr/>
              </p:nvSpPr>
              <p:spPr bwMode="auto">
                <a:xfrm>
                  <a:off x="1104" y="2832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1" name="Group 136"/>
              <p:cNvGrpSpPr/>
              <p:nvPr/>
            </p:nvGrpSpPr>
            <p:grpSpPr bwMode="auto">
              <a:xfrm>
                <a:off x="2400" y="2640"/>
                <a:ext cx="288" cy="288"/>
                <a:chOff x="1776" y="3120"/>
                <a:chExt cx="288" cy="288"/>
              </a:xfrm>
            </p:grpSpPr>
            <p:sp>
              <p:nvSpPr>
                <p:cNvPr id="391" name="Oval 137"/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2" name="Line 138"/>
                <p:cNvSpPr>
                  <a:spLocks noChangeShapeType="1"/>
                </p:cNvSpPr>
                <p:nvPr/>
              </p:nvSpPr>
              <p:spPr bwMode="auto">
                <a:xfrm>
                  <a:off x="1824" y="3264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2" name="Group 139"/>
              <p:cNvGrpSpPr/>
              <p:nvPr/>
            </p:nvGrpSpPr>
            <p:grpSpPr bwMode="auto">
              <a:xfrm>
                <a:off x="2832" y="2256"/>
                <a:ext cx="288" cy="288"/>
                <a:chOff x="3024" y="2592"/>
                <a:chExt cx="288" cy="288"/>
              </a:xfrm>
            </p:grpSpPr>
            <p:grpSp>
              <p:nvGrpSpPr>
                <p:cNvPr id="387" name="Group 140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89" name="Oval 141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0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88" name="Line 143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3" name="Group 144"/>
              <p:cNvGrpSpPr/>
              <p:nvPr/>
            </p:nvGrpSpPr>
            <p:grpSpPr bwMode="auto">
              <a:xfrm>
                <a:off x="2832" y="2640"/>
                <a:ext cx="288" cy="288"/>
                <a:chOff x="3024" y="2592"/>
                <a:chExt cx="288" cy="288"/>
              </a:xfrm>
            </p:grpSpPr>
            <p:grpSp>
              <p:nvGrpSpPr>
                <p:cNvPr id="383" name="Group 145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85" name="Oval 146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6" name="Line 14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84" name="Line 148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4" name="Group 149"/>
              <p:cNvGrpSpPr/>
              <p:nvPr/>
            </p:nvGrpSpPr>
            <p:grpSpPr bwMode="auto">
              <a:xfrm>
                <a:off x="3264" y="2256"/>
                <a:ext cx="288" cy="288"/>
                <a:chOff x="3024" y="2592"/>
                <a:chExt cx="288" cy="288"/>
              </a:xfrm>
            </p:grpSpPr>
            <p:grpSp>
              <p:nvGrpSpPr>
                <p:cNvPr id="379" name="Group 150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81" name="Oval 151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2" name="Line 15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80" name="Line 153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5" name="Group 154"/>
              <p:cNvGrpSpPr/>
              <p:nvPr/>
            </p:nvGrpSpPr>
            <p:grpSpPr bwMode="auto">
              <a:xfrm>
                <a:off x="3264" y="2640"/>
                <a:ext cx="288" cy="288"/>
                <a:chOff x="3024" y="2592"/>
                <a:chExt cx="288" cy="288"/>
              </a:xfrm>
            </p:grpSpPr>
            <p:grpSp>
              <p:nvGrpSpPr>
                <p:cNvPr id="375" name="Group 155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77" name="Oval 156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8" name="Line 15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76" name="Line 158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6" name="Group 159"/>
              <p:cNvGrpSpPr/>
              <p:nvPr/>
            </p:nvGrpSpPr>
            <p:grpSpPr bwMode="auto">
              <a:xfrm>
                <a:off x="2832" y="3024"/>
                <a:ext cx="288" cy="288"/>
                <a:chOff x="3024" y="2592"/>
                <a:chExt cx="288" cy="288"/>
              </a:xfrm>
            </p:grpSpPr>
            <p:grpSp>
              <p:nvGrpSpPr>
                <p:cNvPr id="371" name="Group 160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73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4" name="Line 16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72" name="Line 163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7" name="Group 164"/>
              <p:cNvGrpSpPr/>
              <p:nvPr/>
            </p:nvGrpSpPr>
            <p:grpSpPr bwMode="auto">
              <a:xfrm>
                <a:off x="3264" y="3024"/>
                <a:ext cx="288" cy="288"/>
                <a:chOff x="3024" y="2592"/>
                <a:chExt cx="288" cy="288"/>
              </a:xfrm>
            </p:grpSpPr>
            <p:grpSp>
              <p:nvGrpSpPr>
                <p:cNvPr id="367" name="Group 165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69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0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5715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68" name="Line 168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8" name="Group 169"/>
              <p:cNvGrpSpPr/>
              <p:nvPr/>
            </p:nvGrpSpPr>
            <p:grpSpPr bwMode="auto">
              <a:xfrm>
                <a:off x="2400" y="3024"/>
                <a:ext cx="288" cy="288"/>
                <a:chOff x="1440" y="2592"/>
                <a:chExt cx="288" cy="288"/>
              </a:xfrm>
            </p:grpSpPr>
            <p:sp>
              <p:nvSpPr>
                <p:cNvPr id="365" name="Oval 170"/>
                <p:cNvSpPr>
                  <a:spLocks noChangeArrowheads="1"/>
                </p:cNvSpPr>
                <p:nvPr/>
              </p:nvSpPr>
              <p:spPr bwMode="auto">
                <a:xfrm>
                  <a:off x="1440" y="2592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6" name="Line 171"/>
                <p:cNvSpPr>
                  <a:spLocks noChangeShapeType="1"/>
                </p:cNvSpPr>
                <p:nvPr/>
              </p:nvSpPr>
              <p:spPr bwMode="auto">
                <a:xfrm>
                  <a:off x="1488" y="2736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9" name="Group 172"/>
              <p:cNvGrpSpPr/>
              <p:nvPr/>
            </p:nvGrpSpPr>
            <p:grpSpPr bwMode="auto">
              <a:xfrm>
                <a:off x="1968" y="3024"/>
                <a:ext cx="288" cy="288"/>
                <a:chOff x="1056" y="2688"/>
                <a:chExt cx="288" cy="288"/>
              </a:xfrm>
            </p:grpSpPr>
            <p:sp>
              <p:nvSpPr>
                <p:cNvPr id="363" name="Oval 173"/>
                <p:cNvSpPr>
                  <a:spLocks noChangeArrowheads="1"/>
                </p:cNvSpPr>
                <p:nvPr/>
              </p:nvSpPr>
              <p:spPr bwMode="auto">
                <a:xfrm>
                  <a:off x="1056" y="2688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0000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4" name="Line 174"/>
                <p:cNvSpPr>
                  <a:spLocks noChangeShapeType="1"/>
                </p:cNvSpPr>
                <p:nvPr/>
              </p:nvSpPr>
              <p:spPr bwMode="auto">
                <a:xfrm>
                  <a:off x="1104" y="2832"/>
                  <a:ext cx="192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0" name="Line 175"/>
              <p:cNvSpPr>
                <a:spLocks noChangeShapeType="1"/>
              </p:cNvSpPr>
              <p:nvPr/>
            </p:nvSpPr>
            <p:spPr bwMode="auto">
              <a:xfrm>
                <a:off x="2736" y="2160"/>
                <a:ext cx="0" cy="1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1" name="Line 176"/>
              <p:cNvSpPr>
                <a:spLocks noChangeShapeType="1"/>
              </p:cNvSpPr>
              <p:nvPr/>
            </p:nvSpPr>
            <p:spPr bwMode="auto">
              <a:xfrm>
                <a:off x="1920" y="2160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" name="Line 177"/>
              <p:cNvSpPr>
                <a:spLocks noChangeShapeType="1"/>
              </p:cNvSpPr>
              <p:nvPr/>
            </p:nvSpPr>
            <p:spPr bwMode="auto">
              <a:xfrm>
                <a:off x="3600" y="2160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99" name="Group 178"/>
          <p:cNvGrpSpPr/>
          <p:nvPr/>
        </p:nvGrpSpPr>
        <p:grpSpPr bwMode="auto">
          <a:xfrm>
            <a:off x="3276600" y="3475038"/>
            <a:ext cx="2667000" cy="473075"/>
            <a:chOff x="1920" y="2093"/>
            <a:chExt cx="1680" cy="298"/>
          </a:xfrm>
        </p:grpSpPr>
        <p:sp>
          <p:nvSpPr>
            <p:cNvPr id="400" name="Line 179"/>
            <p:cNvSpPr>
              <a:spLocks noChangeShapeType="1"/>
            </p:cNvSpPr>
            <p:nvPr/>
          </p:nvSpPr>
          <p:spPr bwMode="auto">
            <a:xfrm>
              <a:off x="1920" y="2151"/>
              <a:ext cx="0" cy="240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180"/>
            <p:cNvSpPr>
              <a:spLocks noChangeShapeType="1"/>
            </p:cNvSpPr>
            <p:nvPr/>
          </p:nvSpPr>
          <p:spPr bwMode="auto">
            <a:xfrm>
              <a:off x="3600" y="2151"/>
              <a:ext cx="0" cy="240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181"/>
            <p:cNvSpPr>
              <a:spLocks noChangeShapeType="1"/>
            </p:cNvSpPr>
            <p:nvPr/>
          </p:nvSpPr>
          <p:spPr bwMode="auto">
            <a:xfrm>
              <a:off x="3216" y="2247"/>
              <a:ext cx="384" cy="0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182"/>
            <p:cNvSpPr>
              <a:spLocks noChangeShapeType="1"/>
            </p:cNvSpPr>
            <p:nvPr/>
          </p:nvSpPr>
          <p:spPr bwMode="auto">
            <a:xfrm rot="-10800000">
              <a:off x="1920" y="2247"/>
              <a:ext cx="384" cy="1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Text Box 183"/>
            <p:cNvSpPr txBox="1">
              <a:spLocks noChangeArrowheads="1"/>
            </p:cNvSpPr>
            <p:nvPr/>
          </p:nvSpPr>
          <p:spPr bwMode="auto">
            <a:xfrm>
              <a:off x="2544" y="2093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9900FF"/>
                  </a:solidFill>
                </a:rPr>
                <a:t>PN</a:t>
              </a:r>
              <a:r>
                <a:rPr lang="zh-CN" altLang="en-US" b="1">
                  <a:solidFill>
                    <a:srgbClr val="9900FF"/>
                  </a:solidFill>
                </a:rPr>
                <a:t>结</a:t>
              </a:r>
              <a:endParaRPr lang="zh-CN" altLang="en-US" b="1">
                <a:solidFill>
                  <a:srgbClr val="9900FF"/>
                </a:solidFill>
              </a:endParaRPr>
            </a:p>
          </p:txBody>
        </p:sp>
      </p:grpSp>
      <p:sp>
        <p:nvSpPr>
          <p:cNvPr id="405" name="Text Box 184"/>
          <p:cNvSpPr txBox="1">
            <a:spLocks noChangeArrowheads="1"/>
          </p:cNvSpPr>
          <p:nvPr/>
        </p:nvSpPr>
        <p:spPr bwMode="auto">
          <a:xfrm>
            <a:off x="1676400" y="6096000"/>
            <a:ext cx="563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图 　</a:t>
            </a:r>
            <a:r>
              <a:rPr lang="en-US" altLang="zh-CN" b="1">
                <a:solidFill>
                  <a:srgbClr val="FF00FF"/>
                </a:solidFill>
                <a:ea typeface="黑体" panose="02010609060101010101" pitchFamily="49" charset="-122"/>
              </a:rPr>
              <a:t>PN </a:t>
            </a: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结的形成</a:t>
            </a:r>
            <a:endParaRPr lang="zh-CN" altLang="en-US" b="1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sp>
        <p:nvSpPr>
          <p:cNvPr id="406" name="Rectangle 185"/>
          <p:cNvSpPr>
            <a:spLocks noChangeArrowheads="1"/>
          </p:cNvSpPr>
          <p:nvPr/>
        </p:nvSpPr>
        <p:spPr bwMode="auto">
          <a:xfrm>
            <a:off x="685800" y="2644775"/>
            <a:ext cx="32750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一、</a:t>
            </a:r>
            <a:r>
              <a:rPr lang="en-US" altLang="zh-CN" sz="3200" b="1">
                <a:solidFill>
                  <a:schemeClr val="accent2"/>
                </a:solidFill>
                <a:ea typeface="黑体" panose="02010609060101010101" pitchFamily="49" charset="-122"/>
              </a:rPr>
              <a:t>PN </a:t>
            </a:r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结的形成</a:t>
            </a:r>
            <a:endParaRPr lang="zh-CN" altLang="en-US" sz="3200" b="1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407" name="Text Box 186"/>
          <p:cNvSpPr txBox="1">
            <a:spLocks noChangeArrowheads="1"/>
          </p:cNvSpPr>
          <p:nvPr/>
        </p:nvSpPr>
        <p:spPr bwMode="auto">
          <a:xfrm>
            <a:off x="3584274" y="565232"/>
            <a:ext cx="281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1.1.3　</a:t>
            </a:r>
            <a:r>
              <a:rPr lang="en-US" altLang="zh-CN" sz="3200" b="1" dirty="0">
                <a:solidFill>
                  <a:srgbClr val="FF0000"/>
                </a:solidFill>
              </a:rPr>
              <a:t>PN</a:t>
            </a:r>
            <a:r>
              <a:rPr lang="zh-CN" altLang="en-US" sz="3200" b="1" dirty="0">
                <a:solidFill>
                  <a:srgbClr val="FF0000"/>
                </a:solidFill>
              </a:rPr>
              <a:t>结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552" name="Text Box 2"/>
          <p:cNvSpPr txBox="1">
            <a:spLocks noChangeArrowheads="1"/>
          </p:cNvSpPr>
          <p:nvPr/>
        </p:nvSpPr>
        <p:spPr bwMode="auto">
          <a:xfrm>
            <a:off x="2478597" y="508000"/>
            <a:ext cx="4800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 </a:t>
            </a:r>
            <a:r>
              <a:rPr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PN </a:t>
            </a:r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结的单向导电性</a:t>
            </a:r>
            <a:endParaRPr lang="zh-CN" altLang="en-US" sz="32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3" name="Text Box 3"/>
          <p:cNvSpPr txBox="1">
            <a:spLocks noChangeArrowheads="1"/>
          </p:cNvSpPr>
          <p:nvPr/>
        </p:nvSpPr>
        <p:spPr bwMode="auto">
          <a:xfrm>
            <a:off x="838200" y="1263650"/>
            <a:ext cx="6096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>
                <a:solidFill>
                  <a:srgbClr val="9900FF"/>
                </a:solidFill>
              </a:rPr>
              <a:t>1. </a:t>
            </a:r>
            <a:r>
              <a:rPr lang="en-US" altLang="zh-CN" sz="2600" b="1">
                <a:solidFill>
                  <a:srgbClr val="99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PN</a:t>
            </a:r>
            <a:r>
              <a:rPr lang="zh-CN" altLang="en-US" sz="2600" b="1">
                <a:solidFill>
                  <a:srgbClr val="99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结 </a:t>
            </a:r>
            <a:r>
              <a:rPr lang="zh-CN" altLang="en-US" sz="2600" b="1">
                <a:solidFill>
                  <a:srgbClr val="9900FF"/>
                </a:solidFill>
              </a:rPr>
              <a:t>外加正向电压时处于导通状态</a:t>
            </a:r>
            <a:endParaRPr lang="zh-CN" altLang="en-US" sz="2600" b="1">
              <a:solidFill>
                <a:srgbClr val="9900FF"/>
              </a:solidFill>
            </a:endParaRPr>
          </a:p>
        </p:txBody>
      </p:sp>
      <p:sp>
        <p:nvSpPr>
          <p:cNvPr id="554" name="Text Box 4"/>
          <p:cNvSpPr txBox="1">
            <a:spLocks noChangeArrowheads="1"/>
          </p:cNvSpPr>
          <p:nvPr/>
        </p:nvSpPr>
        <p:spPr bwMode="auto">
          <a:xfrm>
            <a:off x="838200" y="1843088"/>
            <a:ext cx="4267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/>
              <a:t>又称正向偏置，简称正偏。</a:t>
            </a:r>
            <a:endParaRPr lang="zh-CN" altLang="en-US" sz="2600" b="1"/>
          </a:p>
        </p:txBody>
      </p:sp>
      <p:grpSp>
        <p:nvGrpSpPr>
          <p:cNvPr id="555" name="Group 5"/>
          <p:cNvGrpSpPr/>
          <p:nvPr/>
        </p:nvGrpSpPr>
        <p:grpSpPr bwMode="auto">
          <a:xfrm>
            <a:off x="3048000" y="2895600"/>
            <a:ext cx="228600" cy="1905000"/>
            <a:chOff x="2352" y="1536"/>
            <a:chExt cx="144" cy="1200"/>
          </a:xfrm>
        </p:grpSpPr>
        <p:sp>
          <p:nvSpPr>
            <p:cNvPr id="556" name="Oval 6"/>
            <p:cNvSpPr>
              <a:spLocks noChangeArrowheads="1"/>
            </p:cNvSpPr>
            <p:nvPr/>
          </p:nvSpPr>
          <p:spPr bwMode="auto">
            <a:xfrm>
              <a:off x="2352" y="2640"/>
              <a:ext cx="96" cy="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557" name="Oval 7"/>
            <p:cNvSpPr>
              <a:spLocks noChangeArrowheads="1"/>
            </p:cNvSpPr>
            <p:nvPr/>
          </p:nvSpPr>
          <p:spPr bwMode="auto">
            <a:xfrm>
              <a:off x="2400" y="1536"/>
              <a:ext cx="96" cy="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558" name="Group 8"/>
          <p:cNvGrpSpPr/>
          <p:nvPr/>
        </p:nvGrpSpPr>
        <p:grpSpPr bwMode="auto">
          <a:xfrm>
            <a:off x="3162300" y="5410200"/>
            <a:ext cx="1708150" cy="457200"/>
            <a:chOff x="1992" y="3408"/>
            <a:chExt cx="1076" cy="288"/>
          </a:xfrm>
        </p:grpSpPr>
        <p:sp>
          <p:nvSpPr>
            <p:cNvPr id="559" name="Freeform 9"/>
            <p:cNvSpPr/>
            <p:nvPr/>
          </p:nvSpPr>
          <p:spPr bwMode="auto">
            <a:xfrm>
              <a:off x="2304" y="3424"/>
              <a:ext cx="464" cy="1"/>
            </a:xfrm>
            <a:custGeom>
              <a:avLst/>
              <a:gdLst>
                <a:gd name="T0" fmla="*/ 0 w 464"/>
                <a:gd name="T1" fmla="*/ 0 h 1"/>
                <a:gd name="T2" fmla="*/ 464 w 46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4" h="1">
                  <a:moveTo>
                    <a:pt x="0" y="0"/>
                  </a:moveTo>
                  <a:lnTo>
                    <a:pt x="464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0" name="Text Box 10"/>
            <p:cNvSpPr txBox="1">
              <a:spLocks noChangeArrowheads="1"/>
            </p:cNvSpPr>
            <p:nvPr/>
          </p:nvSpPr>
          <p:spPr bwMode="auto">
            <a:xfrm>
              <a:off x="1992" y="3408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FF0000"/>
                  </a:solidFill>
                </a:rPr>
                <a:t>外电场方向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561" name="Group 11"/>
          <p:cNvGrpSpPr/>
          <p:nvPr/>
        </p:nvGrpSpPr>
        <p:grpSpPr bwMode="auto">
          <a:xfrm>
            <a:off x="3143250" y="4953000"/>
            <a:ext cx="1708150" cy="457200"/>
            <a:chOff x="1980" y="3120"/>
            <a:chExt cx="1076" cy="288"/>
          </a:xfrm>
        </p:grpSpPr>
        <p:sp>
          <p:nvSpPr>
            <p:cNvPr id="562" name="Text Box 12"/>
            <p:cNvSpPr txBox="1">
              <a:spLocks noChangeArrowheads="1"/>
            </p:cNvSpPr>
            <p:nvPr/>
          </p:nvSpPr>
          <p:spPr bwMode="auto">
            <a:xfrm>
              <a:off x="1980" y="3120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1"/>
                <a:t>内电场方向</a:t>
              </a:r>
              <a:endParaRPr lang="zh-CN" altLang="en-US"/>
            </a:p>
          </p:txBody>
        </p:sp>
        <p:sp>
          <p:nvSpPr>
            <p:cNvPr id="563" name="Line 13"/>
            <p:cNvSpPr>
              <a:spLocks noChangeShapeType="1"/>
            </p:cNvSpPr>
            <p:nvPr/>
          </p:nvSpPr>
          <p:spPr bwMode="auto">
            <a:xfrm flipH="1">
              <a:off x="2172" y="3120"/>
              <a:ext cx="67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4" name="Group 14"/>
          <p:cNvGrpSpPr/>
          <p:nvPr/>
        </p:nvGrpSpPr>
        <p:grpSpPr bwMode="auto">
          <a:xfrm>
            <a:off x="1295400" y="3429000"/>
            <a:ext cx="1905000" cy="685800"/>
            <a:chOff x="1248" y="1872"/>
            <a:chExt cx="1200" cy="432"/>
          </a:xfrm>
        </p:grpSpPr>
        <p:grpSp>
          <p:nvGrpSpPr>
            <p:cNvPr id="565" name="Group 15"/>
            <p:cNvGrpSpPr/>
            <p:nvPr/>
          </p:nvGrpSpPr>
          <p:grpSpPr bwMode="auto">
            <a:xfrm>
              <a:off x="1248" y="1872"/>
              <a:ext cx="576" cy="96"/>
              <a:chOff x="1248" y="1872"/>
              <a:chExt cx="576" cy="96"/>
            </a:xfrm>
          </p:grpSpPr>
          <p:sp>
            <p:nvSpPr>
              <p:cNvPr id="569" name="Oval 16"/>
              <p:cNvSpPr>
                <a:spLocks noChangeArrowheads="1"/>
              </p:cNvSpPr>
              <p:nvPr/>
            </p:nvSpPr>
            <p:spPr bwMode="auto">
              <a:xfrm>
                <a:off x="1248" y="187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0" name="Oval 17"/>
              <p:cNvSpPr>
                <a:spLocks noChangeArrowheads="1"/>
              </p:cNvSpPr>
              <p:nvPr/>
            </p:nvSpPr>
            <p:spPr bwMode="auto">
              <a:xfrm>
                <a:off x="1728" y="1872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28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71" name="Line 18"/>
              <p:cNvSpPr>
                <a:spLocks noChangeShapeType="1"/>
              </p:cNvSpPr>
              <p:nvPr/>
            </p:nvSpPr>
            <p:spPr bwMode="auto">
              <a:xfrm>
                <a:off x="1392" y="1920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66" name="Group 19"/>
            <p:cNvGrpSpPr/>
            <p:nvPr/>
          </p:nvGrpSpPr>
          <p:grpSpPr bwMode="auto">
            <a:xfrm>
              <a:off x="1968" y="1872"/>
              <a:ext cx="480" cy="432"/>
              <a:chOff x="1968" y="1872"/>
              <a:chExt cx="480" cy="432"/>
            </a:xfrm>
          </p:grpSpPr>
          <p:sp>
            <p:nvSpPr>
              <p:cNvPr id="567" name="Oval 20"/>
              <p:cNvSpPr>
                <a:spLocks noChangeArrowheads="1"/>
              </p:cNvSpPr>
              <p:nvPr/>
            </p:nvSpPr>
            <p:spPr bwMode="auto">
              <a:xfrm>
                <a:off x="2352" y="1872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28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68" name="Oval 21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144" cy="14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2800" b="1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572" name="Group 22"/>
          <p:cNvGrpSpPr/>
          <p:nvPr/>
        </p:nvGrpSpPr>
        <p:grpSpPr bwMode="auto">
          <a:xfrm>
            <a:off x="2667000" y="2819400"/>
            <a:ext cx="2590800" cy="2057400"/>
            <a:chOff x="2160" y="1488"/>
            <a:chExt cx="1632" cy="1296"/>
          </a:xfrm>
        </p:grpSpPr>
        <p:sp>
          <p:nvSpPr>
            <p:cNvPr id="573" name="Line 23"/>
            <p:cNvSpPr>
              <a:spLocks noChangeShapeType="1"/>
            </p:cNvSpPr>
            <p:nvPr/>
          </p:nvSpPr>
          <p:spPr bwMode="auto">
            <a:xfrm>
              <a:off x="2160" y="1488"/>
              <a:ext cx="0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" name="Line 24"/>
            <p:cNvSpPr>
              <a:spLocks noChangeShapeType="1"/>
            </p:cNvSpPr>
            <p:nvPr/>
          </p:nvSpPr>
          <p:spPr bwMode="auto">
            <a:xfrm>
              <a:off x="3792" y="1488"/>
              <a:ext cx="0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5" name="Group 25"/>
          <p:cNvGrpSpPr/>
          <p:nvPr/>
        </p:nvGrpSpPr>
        <p:grpSpPr bwMode="auto">
          <a:xfrm>
            <a:off x="4724400" y="3352800"/>
            <a:ext cx="2651125" cy="228600"/>
            <a:chOff x="3408" y="1824"/>
            <a:chExt cx="1670" cy="144"/>
          </a:xfrm>
        </p:grpSpPr>
        <p:grpSp>
          <p:nvGrpSpPr>
            <p:cNvPr id="576" name="Group 26"/>
            <p:cNvGrpSpPr/>
            <p:nvPr/>
          </p:nvGrpSpPr>
          <p:grpSpPr bwMode="auto">
            <a:xfrm>
              <a:off x="4790" y="1826"/>
              <a:ext cx="288" cy="96"/>
              <a:chOff x="4944" y="1536"/>
              <a:chExt cx="288" cy="96"/>
            </a:xfrm>
          </p:grpSpPr>
          <p:sp>
            <p:nvSpPr>
              <p:cNvPr id="580" name="Oval 27"/>
              <p:cNvSpPr>
                <a:spLocks noChangeArrowheads="1"/>
              </p:cNvSpPr>
              <p:nvPr/>
            </p:nvSpPr>
            <p:spPr bwMode="auto">
              <a:xfrm>
                <a:off x="5136" y="153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1" name="Line 28"/>
              <p:cNvSpPr>
                <a:spLocks noChangeShapeType="1"/>
              </p:cNvSpPr>
              <p:nvPr/>
            </p:nvSpPr>
            <p:spPr bwMode="auto">
              <a:xfrm flipH="1">
                <a:off x="4944" y="1584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77" name="Oval 29"/>
            <p:cNvSpPr>
              <a:spLocks noChangeArrowheads="1"/>
            </p:cNvSpPr>
            <p:nvPr/>
          </p:nvSpPr>
          <p:spPr bwMode="auto">
            <a:xfrm>
              <a:off x="4560" y="1824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8" name="Oval 30"/>
            <p:cNvSpPr>
              <a:spLocks noChangeArrowheads="1"/>
            </p:cNvSpPr>
            <p:nvPr/>
          </p:nvSpPr>
          <p:spPr bwMode="auto">
            <a:xfrm>
              <a:off x="3408" y="1872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9" name="Oval 31"/>
            <p:cNvSpPr>
              <a:spLocks noChangeArrowheads="1"/>
            </p:cNvSpPr>
            <p:nvPr/>
          </p:nvSpPr>
          <p:spPr bwMode="auto">
            <a:xfrm>
              <a:off x="3888" y="1872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82" name="Group 32"/>
          <p:cNvGrpSpPr/>
          <p:nvPr/>
        </p:nvGrpSpPr>
        <p:grpSpPr bwMode="auto">
          <a:xfrm>
            <a:off x="2667000" y="2270125"/>
            <a:ext cx="2590800" cy="2606675"/>
            <a:chOff x="2112" y="1142"/>
            <a:chExt cx="1632" cy="1642"/>
          </a:xfrm>
        </p:grpSpPr>
        <p:sp>
          <p:nvSpPr>
            <p:cNvPr id="583" name="Line 33"/>
            <p:cNvSpPr>
              <a:spLocks noChangeShapeType="1"/>
            </p:cNvSpPr>
            <p:nvPr/>
          </p:nvSpPr>
          <p:spPr bwMode="auto">
            <a:xfrm>
              <a:off x="2544" y="1296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" name="Line 34"/>
            <p:cNvSpPr>
              <a:spLocks noChangeShapeType="1"/>
            </p:cNvSpPr>
            <p:nvPr/>
          </p:nvSpPr>
          <p:spPr bwMode="auto">
            <a:xfrm>
              <a:off x="3360" y="1296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" name="Line 35"/>
            <p:cNvSpPr>
              <a:spLocks noChangeShapeType="1"/>
            </p:cNvSpPr>
            <p:nvPr/>
          </p:nvSpPr>
          <p:spPr bwMode="auto">
            <a:xfrm>
              <a:off x="2592" y="1392"/>
              <a:ext cx="768" cy="0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6" name="Line 36"/>
            <p:cNvSpPr>
              <a:spLocks noChangeShapeType="1"/>
            </p:cNvSpPr>
            <p:nvPr/>
          </p:nvSpPr>
          <p:spPr bwMode="auto">
            <a:xfrm>
              <a:off x="2112" y="1488"/>
              <a:ext cx="0" cy="129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7" name="Line 37"/>
            <p:cNvSpPr>
              <a:spLocks noChangeShapeType="1"/>
            </p:cNvSpPr>
            <p:nvPr/>
          </p:nvSpPr>
          <p:spPr bwMode="auto">
            <a:xfrm>
              <a:off x="3744" y="1488"/>
              <a:ext cx="0" cy="124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Text Box 38"/>
            <p:cNvSpPr txBox="1">
              <a:spLocks noChangeArrowheads="1"/>
            </p:cNvSpPr>
            <p:nvPr/>
          </p:nvSpPr>
          <p:spPr bwMode="auto">
            <a:xfrm>
              <a:off x="2496" y="1142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9900FF"/>
                  </a:solidFill>
                </a:rPr>
                <a:t>　耗尽层</a:t>
              </a:r>
              <a:endParaRPr lang="zh-CN" altLang="en-US" sz="1800" b="1">
                <a:solidFill>
                  <a:srgbClr val="9900FF"/>
                </a:solidFill>
              </a:endParaRPr>
            </a:p>
          </p:txBody>
        </p:sp>
      </p:grpSp>
      <p:grpSp>
        <p:nvGrpSpPr>
          <p:cNvPr id="589" name="Group 39"/>
          <p:cNvGrpSpPr/>
          <p:nvPr/>
        </p:nvGrpSpPr>
        <p:grpSpPr bwMode="auto">
          <a:xfrm>
            <a:off x="4724400" y="2895600"/>
            <a:ext cx="609600" cy="1828800"/>
            <a:chOff x="3408" y="1536"/>
            <a:chExt cx="384" cy="1152"/>
          </a:xfrm>
        </p:grpSpPr>
        <p:sp>
          <p:nvSpPr>
            <p:cNvPr id="590" name="Oval 40"/>
            <p:cNvSpPr>
              <a:spLocks noChangeArrowheads="1"/>
            </p:cNvSpPr>
            <p:nvPr/>
          </p:nvSpPr>
          <p:spPr bwMode="auto">
            <a:xfrm>
              <a:off x="3408" y="1536"/>
              <a:ext cx="96" cy="96"/>
            </a:xfrm>
            <a:prstGeom prst="ellipse">
              <a:avLst/>
            </a:prstGeom>
            <a:solidFill>
              <a:srgbClr val="333333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591" name="Oval 41"/>
            <p:cNvSpPr>
              <a:spLocks noChangeArrowheads="1"/>
            </p:cNvSpPr>
            <p:nvPr/>
          </p:nvSpPr>
          <p:spPr bwMode="auto">
            <a:xfrm>
              <a:off x="3696" y="2592"/>
              <a:ext cx="96" cy="96"/>
            </a:xfrm>
            <a:prstGeom prst="ellipse">
              <a:avLst/>
            </a:prstGeom>
            <a:solidFill>
              <a:srgbClr val="333333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592" name="Group 42"/>
          <p:cNvGrpSpPr/>
          <p:nvPr/>
        </p:nvGrpSpPr>
        <p:grpSpPr bwMode="auto">
          <a:xfrm>
            <a:off x="457200" y="3429000"/>
            <a:ext cx="457200" cy="152400"/>
            <a:chOff x="624" y="1872"/>
            <a:chExt cx="288" cy="96"/>
          </a:xfrm>
        </p:grpSpPr>
        <p:sp>
          <p:nvSpPr>
            <p:cNvPr id="593" name="Oval 43"/>
            <p:cNvSpPr>
              <a:spLocks noChangeArrowheads="1"/>
            </p:cNvSpPr>
            <p:nvPr/>
          </p:nvSpPr>
          <p:spPr bwMode="auto">
            <a:xfrm>
              <a:off x="816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" name="Line 44"/>
            <p:cNvSpPr>
              <a:spLocks noChangeShapeType="1"/>
            </p:cNvSpPr>
            <p:nvPr/>
          </p:nvSpPr>
          <p:spPr bwMode="auto">
            <a:xfrm flipH="1">
              <a:off x="624" y="1920"/>
              <a:ext cx="19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95" name="Group 45"/>
          <p:cNvGrpSpPr/>
          <p:nvPr/>
        </p:nvGrpSpPr>
        <p:grpSpPr bwMode="auto">
          <a:xfrm>
            <a:off x="457200" y="3733800"/>
            <a:ext cx="7086600" cy="2871788"/>
            <a:chOff x="720" y="2064"/>
            <a:chExt cx="4464" cy="1809"/>
          </a:xfrm>
        </p:grpSpPr>
        <p:grpSp>
          <p:nvGrpSpPr>
            <p:cNvPr id="596" name="Group 46"/>
            <p:cNvGrpSpPr/>
            <p:nvPr/>
          </p:nvGrpSpPr>
          <p:grpSpPr bwMode="auto">
            <a:xfrm>
              <a:off x="1776" y="3288"/>
              <a:ext cx="720" cy="585"/>
              <a:chOff x="2544" y="3351"/>
              <a:chExt cx="720" cy="585"/>
            </a:xfrm>
          </p:grpSpPr>
          <p:sp>
            <p:nvSpPr>
              <p:cNvPr id="605" name="Line 47"/>
              <p:cNvSpPr>
                <a:spLocks noChangeShapeType="1"/>
              </p:cNvSpPr>
              <p:nvPr/>
            </p:nvSpPr>
            <p:spPr bwMode="auto">
              <a:xfrm>
                <a:off x="3120" y="364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6" name="Line 48"/>
              <p:cNvSpPr>
                <a:spLocks noChangeShapeType="1"/>
              </p:cNvSpPr>
              <p:nvPr/>
            </p:nvSpPr>
            <p:spPr bwMode="auto">
              <a:xfrm>
                <a:off x="2976" y="355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7" name="Line 49"/>
              <p:cNvSpPr>
                <a:spLocks noChangeShapeType="1"/>
              </p:cNvSpPr>
              <p:nvPr/>
            </p:nvSpPr>
            <p:spPr bwMode="auto">
              <a:xfrm>
                <a:off x="2832" y="364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8" name="Line 50"/>
              <p:cNvSpPr>
                <a:spLocks noChangeShapeType="1"/>
              </p:cNvSpPr>
              <p:nvPr/>
            </p:nvSpPr>
            <p:spPr bwMode="auto">
              <a:xfrm>
                <a:off x="2688" y="355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9" name="Line 51"/>
              <p:cNvSpPr>
                <a:spLocks noChangeShapeType="1"/>
              </p:cNvSpPr>
              <p:nvPr/>
            </p:nvSpPr>
            <p:spPr bwMode="auto">
              <a:xfrm flipV="1">
                <a:off x="2544" y="3600"/>
                <a:ext cx="72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0" name="Text Box 52"/>
              <p:cNvSpPr txBox="1">
                <a:spLocks noChangeArrowheads="1"/>
              </p:cNvSpPr>
              <p:nvPr/>
            </p:nvSpPr>
            <p:spPr bwMode="auto">
              <a:xfrm>
                <a:off x="2823" y="3351"/>
                <a:ext cx="2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b="1" i="1"/>
                  <a:t>V</a:t>
                </a:r>
                <a:endParaRPr lang="en-US" altLang="zh-CN" sz="1600"/>
              </a:p>
            </p:txBody>
          </p:sp>
        </p:grpSp>
        <p:sp>
          <p:nvSpPr>
            <p:cNvPr id="597" name="Line 53"/>
            <p:cNvSpPr>
              <a:spLocks noChangeShapeType="1"/>
            </p:cNvSpPr>
            <p:nvPr/>
          </p:nvSpPr>
          <p:spPr bwMode="auto">
            <a:xfrm flipV="1">
              <a:off x="5184" y="2064"/>
              <a:ext cx="0" cy="16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8" name="Line 54"/>
            <p:cNvSpPr>
              <a:spLocks noChangeShapeType="1"/>
            </p:cNvSpPr>
            <p:nvPr/>
          </p:nvSpPr>
          <p:spPr bwMode="auto">
            <a:xfrm flipH="1">
              <a:off x="4800" y="2064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9" name="Line 55"/>
            <p:cNvSpPr>
              <a:spLocks noChangeShapeType="1"/>
            </p:cNvSpPr>
            <p:nvPr/>
          </p:nvSpPr>
          <p:spPr bwMode="auto">
            <a:xfrm flipH="1">
              <a:off x="720" y="2064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0" name="Line 56"/>
            <p:cNvSpPr>
              <a:spLocks noChangeShapeType="1"/>
            </p:cNvSpPr>
            <p:nvPr/>
          </p:nvSpPr>
          <p:spPr bwMode="auto">
            <a:xfrm>
              <a:off x="720" y="2064"/>
              <a:ext cx="0" cy="16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1" name="Line 57"/>
            <p:cNvSpPr>
              <a:spLocks noChangeShapeType="1"/>
            </p:cNvSpPr>
            <p:nvPr/>
          </p:nvSpPr>
          <p:spPr bwMode="auto">
            <a:xfrm>
              <a:off x="720" y="3674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2" name="Line 58"/>
            <p:cNvSpPr>
              <a:spLocks noChangeShapeType="1"/>
            </p:cNvSpPr>
            <p:nvPr/>
          </p:nvSpPr>
          <p:spPr bwMode="auto">
            <a:xfrm>
              <a:off x="2352" y="3675"/>
              <a:ext cx="2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3" name="Rectangle 59"/>
            <p:cNvSpPr>
              <a:spLocks noChangeArrowheads="1"/>
            </p:cNvSpPr>
            <p:nvPr/>
          </p:nvSpPr>
          <p:spPr bwMode="auto">
            <a:xfrm rot="5400000">
              <a:off x="3312" y="3456"/>
              <a:ext cx="144" cy="43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" name="Text Box 60"/>
            <p:cNvSpPr txBox="1">
              <a:spLocks noChangeArrowheads="1"/>
            </p:cNvSpPr>
            <p:nvPr/>
          </p:nvSpPr>
          <p:spPr bwMode="auto">
            <a:xfrm>
              <a:off x="3212" y="336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/>
                <a:t>R</a:t>
              </a:r>
              <a:endParaRPr lang="en-US" altLang="zh-CN" sz="1800"/>
            </a:p>
          </p:txBody>
        </p:sp>
      </p:grpSp>
      <p:grpSp>
        <p:nvGrpSpPr>
          <p:cNvPr id="611" name="Group 61"/>
          <p:cNvGrpSpPr/>
          <p:nvPr/>
        </p:nvGrpSpPr>
        <p:grpSpPr bwMode="auto">
          <a:xfrm>
            <a:off x="609600" y="4267200"/>
            <a:ext cx="381000" cy="1066800"/>
            <a:chOff x="553" y="2688"/>
            <a:chExt cx="240" cy="672"/>
          </a:xfrm>
        </p:grpSpPr>
        <p:sp>
          <p:nvSpPr>
            <p:cNvPr id="612" name="Line 62"/>
            <p:cNvSpPr>
              <a:spLocks noChangeShapeType="1"/>
            </p:cNvSpPr>
            <p:nvPr/>
          </p:nvSpPr>
          <p:spPr bwMode="auto">
            <a:xfrm flipV="1">
              <a:off x="553" y="2688"/>
              <a:ext cx="0" cy="6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3" name="Text Box 63"/>
            <p:cNvSpPr txBox="1">
              <a:spLocks noChangeArrowheads="1"/>
            </p:cNvSpPr>
            <p:nvPr/>
          </p:nvSpPr>
          <p:spPr bwMode="auto">
            <a:xfrm>
              <a:off x="602" y="2929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solidFill>
                    <a:srgbClr val="FF0000"/>
                  </a:solidFill>
                  <a:ea typeface="方正琥珀繁体" pitchFamily="2" charset="-122"/>
                </a:rPr>
                <a:t>I</a:t>
              </a:r>
              <a:endParaRPr lang="en-US" altLang="zh-CN" b="1" i="1">
                <a:solidFill>
                  <a:srgbClr val="FF0000"/>
                </a:solidFill>
                <a:ea typeface="方正琥珀繁体" pitchFamily="2" charset="-122"/>
              </a:endParaRPr>
            </a:p>
          </p:txBody>
        </p:sp>
      </p:grpSp>
      <p:grpSp>
        <p:nvGrpSpPr>
          <p:cNvPr id="614" name="Group 64"/>
          <p:cNvGrpSpPr/>
          <p:nvPr/>
        </p:nvGrpSpPr>
        <p:grpSpPr bwMode="auto">
          <a:xfrm>
            <a:off x="5105400" y="898525"/>
            <a:ext cx="3962400" cy="1539875"/>
            <a:chOff x="3264" y="614"/>
            <a:chExt cx="2496" cy="970"/>
          </a:xfrm>
        </p:grpSpPr>
        <p:sp>
          <p:nvSpPr>
            <p:cNvPr id="615" name="AutoShape 65"/>
            <p:cNvSpPr>
              <a:spLocks noChangeArrowheads="1"/>
            </p:cNvSpPr>
            <p:nvPr/>
          </p:nvSpPr>
          <p:spPr bwMode="auto">
            <a:xfrm>
              <a:off x="3264" y="614"/>
              <a:ext cx="2496" cy="970"/>
            </a:xfrm>
            <a:prstGeom prst="cloudCallout">
              <a:avLst>
                <a:gd name="adj1" fmla="val -29358"/>
                <a:gd name="adj2" fmla="val 73711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2800" b="1"/>
            </a:p>
          </p:txBody>
        </p:sp>
        <p:sp>
          <p:nvSpPr>
            <p:cNvPr id="616" name="Text Box 66"/>
            <p:cNvSpPr txBox="1">
              <a:spLocks noChangeArrowheads="1"/>
            </p:cNvSpPr>
            <p:nvPr/>
          </p:nvSpPr>
          <p:spPr bwMode="auto">
            <a:xfrm>
              <a:off x="3472" y="896"/>
              <a:ext cx="2189" cy="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</a:rPr>
                <a:t>空间电荷区变窄，有利于扩散运动，电路中有较大的正向电流。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617" name="Text Box 67"/>
          <p:cNvSpPr txBox="1">
            <a:spLocks noChangeArrowheads="1"/>
          </p:cNvSpPr>
          <p:nvPr/>
        </p:nvSpPr>
        <p:spPr bwMode="auto">
          <a:xfrm>
            <a:off x="7391400" y="58674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图 1.1.6</a:t>
            </a:r>
            <a:endParaRPr lang="zh-CN" altLang="en-US" b="1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grpSp>
        <p:nvGrpSpPr>
          <p:cNvPr id="618" name="Group 68"/>
          <p:cNvGrpSpPr/>
          <p:nvPr/>
        </p:nvGrpSpPr>
        <p:grpSpPr bwMode="auto">
          <a:xfrm>
            <a:off x="1066800" y="2286000"/>
            <a:ext cx="5867400" cy="2578100"/>
            <a:chOff x="672" y="1440"/>
            <a:chExt cx="3696" cy="1624"/>
          </a:xfrm>
        </p:grpSpPr>
        <p:grpSp>
          <p:nvGrpSpPr>
            <p:cNvPr id="619" name="Group 69"/>
            <p:cNvGrpSpPr/>
            <p:nvPr/>
          </p:nvGrpSpPr>
          <p:grpSpPr bwMode="auto">
            <a:xfrm>
              <a:off x="672" y="1440"/>
              <a:ext cx="3696" cy="1623"/>
              <a:chOff x="1104" y="1152"/>
              <a:chExt cx="3696" cy="1623"/>
            </a:xfrm>
          </p:grpSpPr>
          <p:grpSp>
            <p:nvGrpSpPr>
              <p:cNvPr id="621" name="Group 70"/>
              <p:cNvGrpSpPr/>
              <p:nvPr/>
            </p:nvGrpSpPr>
            <p:grpSpPr bwMode="auto">
              <a:xfrm>
                <a:off x="1296" y="1575"/>
                <a:ext cx="288" cy="288"/>
                <a:chOff x="1968" y="2592"/>
                <a:chExt cx="288" cy="288"/>
              </a:xfrm>
            </p:grpSpPr>
            <p:sp>
              <p:nvSpPr>
                <p:cNvPr id="740" name="Oval 71"/>
                <p:cNvSpPr>
                  <a:spLocks noChangeArrowheads="1"/>
                </p:cNvSpPr>
                <p:nvPr/>
              </p:nvSpPr>
              <p:spPr bwMode="auto">
                <a:xfrm>
                  <a:off x="1968" y="2592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1" name="Line 72"/>
                <p:cNvSpPr>
                  <a:spLocks noChangeShapeType="1"/>
                </p:cNvSpPr>
                <p:nvPr/>
              </p:nvSpPr>
              <p:spPr bwMode="auto">
                <a:xfrm>
                  <a:off x="2016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2" name="Group 73"/>
              <p:cNvGrpSpPr/>
              <p:nvPr/>
            </p:nvGrpSpPr>
            <p:grpSpPr bwMode="auto">
              <a:xfrm>
                <a:off x="1728" y="1575"/>
                <a:ext cx="288" cy="288"/>
                <a:chOff x="2496" y="2784"/>
                <a:chExt cx="288" cy="288"/>
              </a:xfrm>
            </p:grpSpPr>
            <p:sp>
              <p:nvSpPr>
                <p:cNvPr id="738" name="Oval 74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9" name="Line 75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3" name="Group 76"/>
              <p:cNvGrpSpPr/>
              <p:nvPr/>
            </p:nvGrpSpPr>
            <p:grpSpPr bwMode="auto">
              <a:xfrm>
                <a:off x="1296" y="1959"/>
                <a:ext cx="288" cy="288"/>
                <a:chOff x="2160" y="2928"/>
                <a:chExt cx="288" cy="288"/>
              </a:xfrm>
            </p:grpSpPr>
            <p:sp>
              <p:nvSpPr>
                <p:cNvPr id="736" name="Oval 77"/>
                <p:cNvSpPr>
                  <a:spLocks noChangeArrowheads="1"/>
                </p:cNvSpPr>
                <p:nvPr/>
              </p:nvSpPr>
              <p:spPr bwMode="auto">
                <a:xfrm>
                  <a:off x="2160" y="2928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7" name="Line 78"/>
                <p:cNvSpPr>
                  <a:spLocks noChangeShapeType="1"/>
                </p:cNvSpPr>
                <p:nvPr/>
              </p:nvSpPr>
              <p:spPr bwMode="auto">
                <a:xfrm>
                  <a:off x="2208" y="3072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4" name="Group 79"/>
              <p:cNvGrpSpPr/>
              <p:nvPr/>
            </p:nvGrpSpPr>
            <p:grpSpPr bwMode="auto">
              <a:xfrm>
                <a:off x="1728" y="1959"/>
                <a:ext cx="288" cy="288"/>
                <a:chOff x="2016" y="3456"/>
                <a:chExt cx="288" cy="288"/>
              </a:xfrm>
            </p:grpSpPr>
            <p:sp>
              <p:nvSpPr>
                <p:cNvPr id="734" name="Oval 80"/>
                <p:cNvSpPr>
                  <a:spLocks noChangeArrowheads="1"/>
                </p:cNvSpPr>
                <p:nvPr/>
              </p:nvSpPr>
              <p:spPr bwMode="auto">
                <a:xfrm>
                  <a:off x="2016" y="3456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5" name="Line 81"/>
                <p:cNvSpPr>
                  <a:spLocks noChangeShapeType="1"/>
                </p:cNvSpPr>
                <p:nvPr/>
              </p:nvSpPr>
              <p:spPr bwMode="auto">
                <a:xfrm>
                  <a:off x="2064" y="3600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25" name="Oval 82"/>
              <p:cNvSpPr>
                <a:spLocks noChangeArrowheads="1"/>
              </p:cNvSpPr>
              <p:nvPr/>
            </p:nvSpPr>
            <p:spPr bwMode="auto">
              <a:xfrm>
                <a:off x="1584" y="1719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6" name="Oval 83"/>
              <p:cNvSpPr>
                <a:spLocks noChangeArrowheads="1"/>
              </p:cNvSpPr>
              <p:nvPr/>
            </p:nvSpPr>
            <p:spPr bwMode="auto">
              <a:xfrm>
                <a:off x="2016" y="2199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7" name="Oval 84"/>
              <p:cNvSpPr>
                <a:spLocks noChangeArrowheads="1"/>
              </p:cNvSpPr>
              <p:nvPr/>
            </p:nvSpPr>
            <p:spPr bwMode="auto">
              <a:xfrm>
                <a:off x="1632" y="2391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" name="Oval 85"/>
              <p:cNvSpPr>
                <a:spLocks noChangeArrowheads="1"/>
              </p:cNvSpPr>
              <p:nvPr/>
            </p:nvSpPr>
            <p:spPr bwMode="auto">
              <a:xfrm>
                <a:off x="1248" y="2583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9" name="Oval 86"/>
              <p:cNvSpPr>
                <a:spLocks noChangeArrowheads="1"/>
              </p:cNvSpPr>
              <p:nvPr/>
            </p:nvSpPr>
            <p:spPr bwMode="auto">
              <a:xfrm>
                <a:off x="1968" y="1527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30" name="Group 87"/>
              <p:cNvGrpSpPr/>
              <p:nvPr/>
            </p:nvGrpSpPr>
            <p:grpSpPr bwMode="auto">
              <a:xfrm>
                <a:off x="4320" y="1575"/>
                <a:ext cx="288" cy="288"/>
                <a:chOff x="3024" y="2592"/>
                <a:chExt cx="288" cy="288"/>
              </a:xfrm>
            </p:grpSpPr>
            <p:grpSp>
              <p:nvGrpSpPr>
                <p:cNvPr id="730" name="Group 88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732" name="Oval 89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3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31" name="Line 91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31" name="Oval 92"/>
              <p:cNvSpPr>
                <a:spLocks noChangeArrowheads="1"/>
              </p:cNvSpPr>
              <p:nvPr/>
            </p:nvSpPr>
            <p:spPr bwMode="auto">
              <a:xfrm>
                <a:off x="3322" y="237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66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9" name="Oval 95"/>
              <p:cNvSpPr>
                <a:spLocks noChangeArrowheads="1"/>
              </p:cNvSpPr>
              <p:nvPr/>
            </p:nvSpPr>
            <p:spPr bwMode="auto">
              <a:xfrm>
                <a:off x="3322" y="237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FFFF"/>
                </a:solidFill>
                <a:rou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3" name="Oval 96"/>
              <p:cNvSpPr>
                <a:spLocks noChangeArrowheads="1"/>
              </p:cNvSpPr>
              <p:nvPr/>
            </p:nvSpPr>
            <p:spPr bwMode="auto">
              <a:xfrm>
                <a:off x="3840" y="1527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4" name="Oval 97"/>
              <p:cNvSpPr>
                <a:spLocks noChangeArrowheads="1"/>
              </p:cNvSpPr>
              <p:nvPr/>
            </p:nvSpPr>
            <p:spPr bwMode="auto">
              <a:xfrm>
                <a:off x="4464" y="1479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" name="Oval 98"/>
              <p:cNvSpPr>
                <a:spLocks noChangeArrowheads="1"/>
              </p:cNvSpPr>
              <p:nvPr/>
            </p:nvSpPr>
            <p:spPr bwMode="auto">
              <a:xfrm>
                <a:off x="4224" y="2535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6" name="Oval 99"/>
              <p:cNvSpPr>
                <a:spLocks noChangeArrowheads="1"/>
              </p:cNvSpPr>
              <p:nvPr/>
            </p:nvSpPr>
            <p:spPr bwMode="auto">
              <a:xfrm>
                <a:off x="4128" y="2295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" name="Oval 100"/>
              <p:cNvSpPr>
                <a:spLocks noChangeArrowheads="1"/>
              </p:cNvSpPr>
              <p:nvPr/>
            </p:nvSpPr>
            <p:spPr bwMode="auto">
              <a:xfrm>
                <a:off x="388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38" name="Group 101"/>
              <p:cNvGrpSpPr/>
              <p:nvPr/>
            </p:nvGrpSpPr>
            <p:grpSpPr bwMode="auto">
              <a:xfrm>
                <a:off x="3888" y="1575"/>
                <a:ext cx="288" cy="288"/>
                <a:chOff x="3024" y="2592"/>
                <a:chExt cx="288" cy="288"/>
              </a:xfrm>
            </p:grpSpPr>
            <p:grpSp>
              <p:nvGrpSpPr>
                <p:cNvPr id="724" name="Group 102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726" name="Oval 103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7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25" name="Line 105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9" name="Group 106"/>
              <p:cNvGrpSpPr/>
              <p:nvPr/>
            </p:nvGrpSpPr>
            <p:grpSpPr bwMode="auto">
              <a:xfrm>
                <a:off x="3888" y="1959"/>
                <a:ext cx="288" cy="288"/>
                <a:chOff x="3024" y="2592"/>
                <a:chExt cx="288" cy="288"/>
              </a:xfrm>
            </p:grpSpPr>
            <p:grpSp>
              <p:nvGrpSpPr>
                <p:cNvPr id="720" name="Group 107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722" name="Oval 108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3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21" name="Line 110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0" name="Group 111"/>
              <p:cNvGrpSpPr/>
              <p:nvPr/>
            </p:nvGrpSpPr>
            <p:grpSpPr bwMode="auto">
              <a:xfrm>
                <a:off x="4320" y="1959"/>
                <a:ext cx="288" cy="288"/>
                <a:chOff x="3024" y="2592"/>
                <a:chExt cx="288" cy="288"/>
              </a:xfrm>
            </p:grpSpPr>
            <p:grpSp>
              <p:nvGrpSpPr>
                <p:cNvPr id="716" name="Group 112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718" name="Oval 113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9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17" name="Line 115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1" name="Group 116"/>
              <p:cNvGrpSpPr/>
              <p:nvPr/>
            </p:nvGrpSpPr>
            <p:grpSpPr bwMode="auto">
              <a:xfrm>
                <a:off x="3888" y="2343"/>
                <a:ext cx="288" cy="288"/>
                <a:chOff x="3024" y="2592"/>
                <a:chExt cx="288" cy="288"/>
              </a:xfrm>
            </p:grpSpPr>
            <p:grpSp>
              <p:nvGrpSpPr>
                <p:cNvPr id="712" name="Group 117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714" name="Oval 118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5" name="Line 119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13" name="Line 120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2" name="Group 121"/>
              <p:cNvGrpSpPr/>
              <p:nvPr/>
            </p:nvGrpSpPr>
            <p:grpSpPr bwMode="auto">
              <a:xfrm>
                <a:off x="4320" y="2343"/>
                <a:ext cx="288" cy="288"/>
                <a:chOff x="3024" y="2592"/>
                <a:chExt cx="288" cy="288"/>
              </a:xfrm>
            </p:grpSpPr>
            <p:grpSp>
              <p:nvGrpSpPr>
                <p:cNvPr id="708" name="Group 122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710" name="Oval 123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1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09" name="Line 125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3" name="Group 126"/>
              <p:cNvGrpSpPr/>
              <p:nvPr/>
            </p:nvGrpSpPr>
            <p:grpSpPr bwMode="auto">
              <a:xfrm>
                <a:off x="1296" y="2343"/>
                <a:ext cx="288" cy="288"/>
                <a:chOff x="1968" y="2592"/>
                <a:chExt cx="288" cy="288"/>
              </a:xfrm>
            </p:grpSpPr>
            <p:sp>
              <p:nvSpPr>
                <p:cNvPr id="706" name="Oval 127"/>
                <p:cNvSpPr>
                  <a:spLocks noChangeArrowheads="1"/>
                </p:cNvSpPr>
                <p:nvPr/>
              </p:nvSpPr>
              <p:spPr bwMode="auto">
                <a:xfrm>
                  <a:off x="1968" y="2592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7" name="Line 128"/>
                <p:cNvSpPr>
                  <a:spLocks noChangeShapeType="1"/>
                </p:cNvSpPr>
                <p:nvPr/>
              </p:nvSpPr>
              <p:spPr bwMode="auto">
                <a:xfrm>
                  <a:off x="2016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4" name="Group 129"/>
              <p:cNvGrpSpPr/>
              <p:nvPr/>
            </p:nvGrpSpPr>
            <p:grpSpPr bwMode="auto">
              <a:xfrm>
                <a:off x="1728" y="2343"/>
                <a:ext cx="288" cy="288"/>
                <a:chOff x="2496" y="2784"/>
                <a:chExt cx="288" cy="288"/>
              </a:xfrm>
            </p:grpSpPr>
            <p:sp>
              <p:nvSpPr>
                <p:cNvPr id="704" name="Oval 130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5" name="Line 131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45" name="Rectangle 132"/>
              <p:cNvSpPr>
                <a:spLocks noChangeArrowheads="1"/>
              </p:cNvSpPr>
              <p:nvPr/>
            </p:nvSpPr>
            <p:spPr bwMode="auto">
              <a:xfrm>
                <a:off x="1152" y="1479"/>
                <a:ext cx="3600" cy="129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" name="Text Box 133"/>
              <p:cNvSpPr txBox="1">
                <a:spLocks noChangeArrowheads="1"/>
              </p:cNvSpPr>
              <p:nvPr/>
            </p:nvSpPr>
            <p:spPr bwMode="auto">
              <a:xfrm>
                <a:off x="1776" y="1191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/>
                  <a:t>P</a:t>
                </a:r>
                <a:endParaRPr lang="en-US" altLang="zh-CN" sz="2800" b="1"/>
              </a:p>
            </p:txBody>
          </p:sp>
          <p:sp>
            <p:nvSpPr>
              <p:cNvPr id="647" name="Text Box 134"/>
              <p:cNvSpPr txBox="1">
                <a:spLocks noChangeArrowheads="1"/>
              </p:cNvSpPr>
              <p:nvPr/>
            </p:nvSpPr>
            <p:spPr bwMode="auto">
              <a:xfrm>
                <a:off x="3888" y="1152"/>
                <a:ext cx="4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/>
                  <a:t>N</a:t>
                </a:r>
                <a:endParaRPr lang="en-US" altLang="zh-CN" sz="2800" b="1"/>
              </a:p>
            </p:txBody>
          </p:sp>
          <p:sp>
            <p:nvSpPr>
              <p:cNvPr id="648" name="Oval 135"/>
              <p:cNvSpPr>
                <a:spLocks noChangeArrowheads="1"/>
              </p:cNvSpPr>
              <p:nvPr/>
            </p:nvSpPr>
            <p:spPr bwMode="auto">
              <a:xfrm>
                <a:off x="4560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49" name="Group 136"/>
              <p:cNvGrpSpPr/>
              <p:nvPr/>
            </p:nvGrpSpPr>
            <p:grpSpPr bwMode="auto">
              <a:xfrm>
                <a:off x="2592" y="1584"/>
                <a:ext cx="288" cy="288"/>
                <a:chOff x="2496" y="2784"/>
                <a:chExt cx="288" cy="288"/>
              </a:xfrm>
            </p:grpSpPr>
            <p:sp>
              <p:nvSpPr>
                <p:cNvPr id="702" name="Oval 137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3" name="Line 138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0" name="Group 139"/>
              <p:cNvGrpSpPr/>
              <p:nvPr/>
            </p:nvGrpSpPr>
            <p:grpSpPr bwMode="auto">
              <a:xfrm>
                <a:off x="2160" y="1584"/>
                <a:ext cx="288" cy="288"/>
                <a:chOff x="2496" y="2784"/>
                <a:chExt cx="288" cy="288"/>
              </a:xfrm>
            </p:grpSpPr>
            <p:sp>
              <p:nvSpPr>
                <p:cNvPr id="700" name="Oval 140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1" name="Line 141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1" name="Group 142"/>
              <p:cNvGrpSpPr/>
              <p:nvPr/>
            </p:nvGrpSpPr>
            <p:grpSpPr bwMode="auto">
              <a:xfrm>
                <a:off x="2160" y="1968"/>
                <a:ext cx="288" cy="288"/>
                <a:chOff x="2496" y="2784"/>
                <a:chExt cx="288" cy="288"/>
              </a:xfrm>
            </p:grpSpPr>
            <p:sp>
              <p:nvSpPr>
                <p:cNvPr id="698" name="Oval 143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9" name="Line 144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2" name="Group 145"/>
              <p:cNvGrpSpPr/>
              <p:nvPr/>
            </p:nvGrpSpPr>
            <p:grpSpPr bwMode="auto">
              <a:xfrm>
                <a:off x="2592" y="1959"/>
                <a:ext cx="288" cy="288"/>
                <a:chOff x="2496" y="2784"/>
                <a:chExt cx="288" cy="288"/>
              </a:xfrm>
            </p:grpSpPr>
            <p:sp>
              <p:nvSpPr>
                <p:cNvPr id="696" name="Oval 146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7" name="Line 147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3" name="Group 148"/>
              <p:cNvGrpSpPr/>
              <p:nvPr/>
            </p:nvGrpSpPr>
            <p:grpSpPr bwMode="auto">
              <a:xfrm>
                <a:off x="2160" y="2352"/>
                <a:ext cx="288" cy="288"/>
                <a:chOff x="2496" y="2784"/>
                <a:chExt cx="288" cy="288"/>
              </a:xfrm>
            </p:grpSpPr>
            <p:sp>
              <p:nvSpPr>
                <p:cNvPr id="694" name="Oval 149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5" name="Line 150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4" name="Group 151"/>
              <p:cNvGrpSpPr/>
              <p:nvPr/>
            </p:nvGrpSpPr>
            <p:grpSpPr bwMode="auto">
              <a:xfrm>
                <a:off x="2592" y="2352"/>
                <a:ext cx="288" cy="288"/>
                <a:chOff x="2496" y="2784"/>
                <a:chExt cx="288" cy="288"/>
              </a:xfrm>
            </p:grpSpPr>
            <p:sp>
              <p:nvSpPr>
                <p:cNvPr id="692" name="Oval 152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3" name="Line 153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5" name="Group 154"/>
              <p:cNvGrpSpPr/>
              <p:nvPr/>
            </p:nvGrpSpPr>
            <p:grpSpPr bwMode="auto">
              <a:xfrm>
                <a:off x="3024" y="1584"/>
                <a:ext cx="288" cy="288"/>
                <a:chOff x="3024" y="2592"/>
                <a:chExt cx="288" cy="288"/>
              </a:xfrm>
            </p:grpSpPr>
            <p:grpSp>
              <p:nvGrpSpPr>
                <p:cNvPr id="688" name="Group 155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690" name="Oval 156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1" name="Line 15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89" name="Line 158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6" name="Group 159"/>
              <p:cNvGrpSpPr/>
              <p:nvPr/>
            </p:nvGrpSpPr>
            <p:grpSpPr bwMode="auto">
              <a:xfrm>
                <a:off x="3456" y="1584"/>
                <a:ext cx="288" cy="288"/>
                <a:chOff x="3024" y="2592"/>
                <a:chExt cx="288" cy="288"/>
              </a:xfrm>
            </p:grpSpPr>
            <p:grpSp>
              <p:nvGrpSpPr>
                <p:cNvPr id="684" name="Group 160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686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7" name="Line 16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85" name="Line 163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7" name="Group 164"/>
              <p:cNvGrpSpPr/>
              <p:nvPr/>
            </p:nvGrpSpPr>
            <p:grpSpPr bwMode="auto">
              <a:xfrm>
                <a:off x="3024" y="1968"/>
                <a:ext cx="288" cy="288"/>
                <a:chOff x="3024" y="2592"/>
                <a:chExt cx="288" cy="288"/>
              </a:xfrm>
            </p:grpSpPr>
            <p:grpSp>
              <p:nvGrpSpPr>
                <p:cNvPr id="680" name="Group 165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682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3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81" name="Line 168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8" name="Group 169"/>
              <p:cNvGrpSpPr/>
              <p:nvPr/>
            </p:nvGrpSpPr>
            <p:grpSpPr bwMode="auto">
              <a:xfrm>
                <a:off x="3456" y="1968"/>
                <a:ext cx="288" cy="288"/>
                <a:chOff x="3024" y="2592"/>
                <a:chExt cx="288" cy="288"/>
              </a:xfrm>
            </p:grpSpPr>
            <p:grpSp>
              <p:nvGrpSpPr>
                <p:cNvPr id="676" name="Group 170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678" name="Oval 171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9" name="Line 17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77" name="Line 173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9" name="Group 174"/>
              <p:cNvGrpSpPr/>
              <p:nvPr/>
            </p:nvGrpSpPr>
            <p:grpSpPr bwMode="auto">
              <a:xfrm>
                <a:off x="3456" y="2352"/>
                <a:ext cx="288" cy="288"/>
                <a:chOff x="3024" y="2592"/>
                <a:chExt cx="288" cy="288"/>
              </a:xfrm>
            </p:grpSpPr>
            <p:grpSp>
              <p:nvGrpSpPr>
                <p:cNvPr id="672" name="Group 175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674" name="Oval 176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5" name="Line 17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73" name="Line 178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0" name="Group 179"/>
              <p:cNvGrpSpPr/>
              <p:nvPr/>
            </p:nvGrpSpPr>
            <p:grpSpPr bwMode="auto">
              <a:xfrm>
                <a:off x="3024" y="2352"/>
                <a:ext cx="288" cy="288"/>
                <a:chOff x="3024" y="2592"/>
                <a:chExt cx="288" cy="288"/>
              </a:xfrm>
            </p:grpSpPr>
            <p:grpSp>
              <p:nvGrpSpPr>
                <p:cNvPr id="668" name="Group 180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670" name="Oval 181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1" name="Line 18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69" name="Line 183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1" name="Group 184"/>
              <p:cNvGrpSpPr/>
              <p:nvPr/>
            </p:nvGrpSpPr>
            <p:grpSpPr bwMode="auto">
              <a:xfrm>
                <a:off x="4752" y="1968"/>
                <a:ext cx="48" cy="240"/>
                <a:chOff x="4992" y="2208"/>
                <a:chExt cx="48" cy="240"/>
              </a:xfrm>
            </p:grpSpPr>
            <p:sp>
              <p:nvSpPr>
                <p:cNvPr id="666" name="Line 185"/>
                <p:cNvSpPr>
                  <a:spLocks noChangeShapeType="1"/>
                </p:cNvSpPr>
                <p:nvPr/>
              </p:nvSpPr>
              <p:spPr bwMode="auto">
                <a:xfrm>
                  <a:off x="5040" y="2208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7" name="Line 186"/>
                <p:cNvSpPr>
                  <a:spLocks noChangeShapeType="1"/>
                </p:cNvSpPr>
                <p:nvPr/>
              </p:nvSpPr>
              <p:spPr bwMode="auto">
                <a:xfrm>
                  <a:off x="4992" y="2208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2" name="Group 187"/>
              <p:cNvGrpSpPr/>
              <p:nvPr/>
            </p:nvGrpSpPr>
            <p:grpSpPr bwMode="auto">
              <a:xfrm>
                <a:off x="1104" y="1968"/>
                <a:ext cx="48" cy="240"/>
                <a:chOff x="1344" y="2256"/>
                <a:chExt cx="48" cy="240"/>
              </a:xfrm>
            </p:grpSpPr>
            <p:sp>
              <p:nvSpPr>
                <p:cNvPr id="664" name="Line 188"/>
                <p:cNvSpPr>
                  <a:spLocks noChangeShapeType="1"/>
                </p:cNvSpPr>
                <p:nvPr/>
              </p:nvSpPr>
              <p:spPr bwMode="auto">
                <a:xfrm>
                  <a:off x="1344" y="2256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5" name="Line 189"/>
                <p:cNvSpPr>
                  <a:spLocks noChangeShapeType="1"/>
                </p:cNvSpPr>
                <p:nvPr/>
              </p:nvSpPr>
              <p:spPr bwMode="auto">
                <a:xfrm>
                  <a:off x="1392" y="2256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63" name="Oval 190"/>
              <p:cNvSpPr>
                <a:spLocks noChangeArrowheads="1"/>
              </p:cNvSpPr>
              <p:nvPr/>
            </p:nvSpPr>
            <p:spPr bwMode="auto">
              <a:xfrm>
                <a:off x="1248" y="1872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2800"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620" name="Line 191"/>
            <p:cNvSpPr>
              <a:spLocks noChangeShapeType="1"/>
            </p:cNvSpPr>
            <p:nvPr/>
          </p:nvSpPr>
          <p:spPr bwMode="auto">
            <a:xfrm>
              <a:off x="2512" y="1768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552" name="Text Box 2"/>
          <p:cNvSpPr txBox="1">
            <a:spLocks noChangeArrowheads="1"/>
          </p:cNvSpPr>
          <p:nvPr/>
        </p:nvSpPr>
        <p:spPr bwMode="auto">
          <a:xfrm>
            <a:off x="2478597" y="508000"/>
            <a:ext cx="4800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 </a:t>
            </a:r>
            <a:r>
              <a:rPr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PN </a:t>
            </a:r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结的单向导电性</a:t>
            </a:r>
            <a:endParaRPr lang="zh-CN" altLang="en-US" sz="32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93" name="Group 2"/>
          <p:cNvGrpSpPr/>
          <p:nvPr/>
        </p:nvGrpSpPr>
        <p:grpSpPr bwMode="auto">
          <a:xfrm>
            <a:off x="2478597" y="1087437"/>
            <a:ext cx="4114800" cy="2606675"/>
            <a:chOff x="1584" y="864"/>
            <a:chExt cx="2592" cy="1642"/>
          </a:xfrm>
        </p:grpSpPr>
        <p:sp>
          <p:nvSpPr>
            <p:cNvPr id="194" name="Line 3"/>
            <p:cNvSpPr>
              <a:spLocks noChangeShapeType="1"/>
            </p:cNvSpPr>
            <p:nvPr/>
          </p:nvSpPr>
          <p:spPr bwMode="auto">
            <a:xfrm>
              <a:off x="1584" y="912"/>
              <a:ext cx="0" cy="15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4"/>
            <p:cNvSpPr>
              <a:spLocks noChangeShapeType="1"/>
            </p:cNvSpPr>
            <p:nvPr/>
          </p:nvSpPr>
          <p:spPr bwMode="auto">
            <a:xfrm>
              <a:off x="4176" y="912"/>
              <a:ext cx="0" cy="15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Text Box 5"/>
            <p:cNvSpPr txBox="1">
              <a:spLocks noChangeArrowheads="1"/>
            </p:cNvSpPr>
            <p:nvPr/>
          </p:nvSpPr>
          <p:spPr bwMode="auto">
            <a:xfrm>
              <a:off x="2352" y="864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</a:rPr>
                <a:t>　耗尽层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197" name="Line 6"/>
            <p:cNvSpPr>
              <a:spLocks noChangeShapeType="1"/>
            </p:cNvSpPr>
            <p:nvPr/>
          </p:nvSpPr>
          <p:spPr bwMode="auto">
            <a:xfrm>
              <a:off x="3360" y="1056"/>
              <a:ext cx="81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7"/>
            <p:cNvSpPr>
              <a:spLocks noChangeShapeType="1"/>
            </p:cNvSpPr>
            <p:nvPr/>
          </p:nvSpPr>
          <p:spPr bwMode="auto">
            <a:xfrm rot="-10800000">
              <a:off x="1584" y="1056"/>
              <a:ext cx="816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9" name="Text Box 8"/>
          <p:cNvSpPr txBox="1">
            <a:spLocks noChangeArrowheads="1"/>
          </p:cNvSpPr>
          <p:nvPr/>
        </p:nvSpPr>
        <p:spPr bwMode="auto">
          <a:xfrm>
            <a:off x="2249997" y="5430837"/>
            <a:ext cx="495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图 1.1.7　</a:t>
            </a:r>
            <a:r>
              <a:rPr lang="en-US" altLang="zh-CN" b="1">
                <a:solidFill>
                  <a:srgbClr val="FF00FF"/>
                </a:solidFill>
                <a:ea typeface="黑体" panose="02010609060101010101" pitchFamily="49" charset="-122"/>
              </a:rPr>
              <a:t>PN </a:t>
            </a: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结加反相电压时截止 </a:t>
            </a:r>
            <a:endParaRPr lang="zh-CN" altLang="en-US" b="1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sp>
        <p:nvSpPr>
          <p:cNvPr id="200" name="Text Box 9"/>
          <p:cNvSpPr txBox="1">
            <a:spLocks noChangeArrowheads="1"/>
          </p:cNvSpPr>
          <p:nvPr/>
        </p:nvSpPr>
        <p:spPr bwMode="auto">
          <a:xfrm>
            <a:off x="497397" y="5811837"/>
            <a:ext cx="8382000" cy="965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600" b="1">
                <a:solidFill>
                  <a:srgbClr val="0000FF"/>
                </a:solidFill>
              </a:rPr>
              <a:t>　　反向电流又称</a:t>
            </a:r>
            <a:r>
              <a:rPr lang="zh-CN" altLang="en-US" sz="2600" b="1">
                <a:solidFill>
                  <a:srgbClr val="FF0000"/>
                </a:solidFill>
              </a:rPr>
              <a:t>反向饱和电流</a:t>
            </a:r>
            <a:r>
              <a:rPr lang="zh-CN" altLang="en-US" sz="2600" b="1"/>
              <a:t>。</a:t>
            </a:r>
            <a:r>
              <a:rPr lang="zh-CN" altLang="en-US" sz="2600" b="1">
                <a:solidFill>
                  <a:srgbClr val="0000FF"/>
                </a:solidFill>
              </a:rPr>
              <a:t>对温度十分敏感</a:t>
            </a:r>
            <a:r>
              <a:rPr lang="zh-CN" altLang="en-US" sz="2600" b="1"/>
              <a:t>，</a:t>
            </a:r>
            <a:endParaRPr lang="zh-CN" altLang="en-US" sz="2600" b="1"/>
          </a:p>
          <a:p>
            <a:pPr algn="just">
              <a:lnSpc>
                <a:spcPct val="110000"/>
              </a:lnSpc>
            </a:pPr>
            <a:r>
              <a:rPr lang="zh-CN" altLang="en-US" sz="2600" b="1"/>
              <a:t>　　</a:t>
            </a:r>
            <a:r>
              <a:rPr lang="zh-CN" altLang="en-US" sz="2600" b="1">
                <a:solidFill>
                  <a:srgbClr val="0000FF"/>
                </a:solidFill>
              </a:rPr>
              <a:t>随着温度升高， </a:t>
            </a:r>
            <a:r>
              <a:rPr lang="en-US" altLang="zh-CN" sz="2600" b="1" i="1">
                <a:solidFill>
                  <a:srgbClr val="0000FF"/>
                </a:solidFill>
              </a:rPr>
              <a:t>I</a:t>
            </a:r>
            <a:r>
              <a:rPr lang="en-US" altLang="zh-CN" sz="2600" b="1" baseline="-25000">
                <a:solidFill>
                  <a:srgbClr val="0000FF"/>
                </a:solidFill>
              </a:rPr>
              <a:t>S </a:t>
            </a:r>
            <a:r>
              <a:rPr lang="zh-CN" altLang="en-US" sz="2600" b="1">
                <a:solidFill>
                  <a:srgbClr val="0000FF"/>
                </a:solidFill>
              </a:rPr>
              <a:t>将急剧增大</a:t>
            </a:r>
            <a:r>
              <a:rPr lang="zh-CN" altLang="en-US" sz="2600" b="1"/>
              <a:t>。</a:t>
            </a:r>
            <a:endParaRPr lang="zh-CN" altLang="en-US" sz="2600" b="1"/>
          </a:p>
        </p:txBody>
      </p:sp>
      <p:grpSp>
        <p:nvGrpSpPr>
          <p:cNvPr id="201" name="Group 10"/>
          <p:cNvGrpSpPr/>
          <p:nvPr/>
        </p:nvGrpSpPr>
        <p:grpSpPr bwMode="auto">
          <a:xfrm>
            <a:off x="1030797" y="1130300"/>
            <a:ext cx="7677150" cy="4313237"/>
            <a:chOff x="672" y="507"/>
            <a:chExt cx="4836" cy="2717"/>
          </a:xfrm>
        </p:grpSpPr>
        <p:grpSp>
          <p:nvGrpSpPr>
            <p:cNvPr id="202" name="Group 11"/>
            <p:cNvGrpSpPr/>
            <p:nvPr/>
          </p:nvGrpSpPr>
          <p:grpSpPr bwMode="auto">
            <a:xfrm>
              <a:off x="672" y="507"/>
              <a:ext cx="4836" cy="2717"/>
              <a:chOff x="672" y="499"/>
              <a:chExt cx="4836" cy="2717"/>
            </a:xfrm>
          </p:grpSpPr>
          <p:grpSp>
            <p:nvGrpSpPr>
              <p:cNvPr id="204" name="Group 12"/>
              <p:cNvGrpSpPr/>
              <p:nvPr/>
            </p:nvGrpSpPr>
            <p:grpSpPr bwMode="auto">
              <a:xfrm>
                <a:off x="1248" y="922"/>
                <a:ext cx="288" cy="288"/>
                <a:chOff x="1968" y="2592"/>
                <a:chExt cx="288" cy="288"/>
              </a:xfrm>
            </p:grpSpPr>
            <p:sp>
              <p:nvSpPr>
                <p:cNvPr id="338" name="Oval 13"/>
                <p:cNvSpPr>
                  <a:spLocks noChangeArrowheads="1"/>
                </p:cNvSpPr>
                <p:nvPr/>
              </p:nvSpPr>
              <p:spPr bwMode="auto">
                <a:xfrm>
                  <a:off x="1968" y="2592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9" name="Line 14"/>
                <p:cNvSpPr>
                  <a:spLocks noChangeShapeType="1"/>
                </p:cNvSpPr>
                <p:nvPr/>
              </p:nvSpPr>
              <p:spPr bwMode="auto">
                <a:xfrm>
                  <a:off x="2016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Group 15"/>
              <p:cNvGrpSpPr/>
              <p:nvPr/>
            </p:nvGrpSpPr>
            <p:grpSpPr bwMode="auto">
              <a:xfrm>
                <a:off x="1680" y="922"/>
                <a:ext cx="288" cy="288"/>
                <a:chOff x="2496" y="2784"/>
                <a:chExt cx="288" cy="288"/>
              </a:xfrm>
            </p:grpSpPr>
            <p:sp>
              <p:nvSpPr>
                <p:cNvPr id="336" name="Oval 16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7" name="Line 17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6" name="Group 18"/>
              <p:cNvGrpSpPr/>
              <p:nvPr/>
            </p:nvGrpSpPr>
            <p:grpSpPr bwMode="auto">
              <a:xfrm>
                <a:off x="1248" y="1306"/>
                <a:ext cx="288" cy="288"/>
                <a:chOff x="2160" y="2928"/>
                <a:chExt cx="288" cy="288"/>
              </a:xfrm>
            </p:grpSpPr>
            <p:sp>
              <p:nvSpPr>
                <p:cNvPr id="334" name="Oval 19"/>
                <p:cNvSpPr>
                  <a:spLocks noChangeArrowheads="1"/>
                </p:cNvSpPr>
                <p:nvPr/>
              </p:nvSpPr>
              <p:spPr bwMode="auto">
                <a:xfrm>
                  <a:off x="2160" y="2928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5" name="Line 20"/>
                <p:cNvSpPr>
                  <a:spLocks noChangeShapeType="1"/>
                </p:cNvSpPr>
                <p:nvPr/>
              </p:nvSpPr>
              <p:spPr bwMode="auto">
                <a:xfrm>
                  <a:off x="2208" y="3072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7" name="Group 21"/>
              <p:cNvGrpSpPr/>
              <p:nvPr/>
            </p:nvGrpSpPr>
            <p:grpSpPr bwMode="auto">
              <a:xfrm>
                <a:off x="1680" y="1306"/>
                <a:ext cx="288" cy="288"/>
                <a:chOff x="2016" y="3456"/>
                <a:chExt cx="288" cy="288"/>
              </a:xfrm>
            </p:grpSpPr>
            <p:sp>
              <p:nvSpPr>
                <p:cNvPr id="332" name="Oval 22"/>
                <p:cNvSpPr>
                  <a:spLocks noChangeArrowheads="1"/>
                </p:cNvSpPr>
                <p:nvPr/>
              </p:nvSpPr>
              <p:spPr bwMode="auto">
                <a:xfrm>
                  <a:off x="2016" y="3456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3" name="Line 23"/>
                <p:cNvSpPr>
                  <a:spLocks noChangeShapeType="1"/>
                </p:cNvSpPr>
                <p:nvPr/>
              </p:nvSpPr>
              <p:spPr bwMode="auto">
                <a:xfrm>
                  <a:off x="2064" y="3600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8" name="Oval 24"/>
              <p:cNvSpPr>
                <a:spLocks noChangeArrowheads="1"/>
              </p:cNvSpPr>
              <p:nvPr/>
            </p:nvSpPr>
            <p:spPr bwMode="auto">
              <a:xfrm>
                <a:off x="1488" y="873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" name="Oval 25"/>
              <p:cNvSpPr>
                <a:spLocks noChangeArrowheads="1"/>
              </p:cNvSpPr>
              <p:nvPr/>
            </p:nvSpPr>
            <p:spPr bwMode="auto">
              <a:xfrm>
                <a:off x="1200" y="193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10" name="Group 26"/>
              <p:cNvGrpSpPr/>
              <p:nvPr/>
            </p:nvGrpSpPr>
            <p:grpSpPr bwMode="auto">
              <a:xfrm>
                <a:off x="4272" y="922"/>
                <a:ext cx="288" cy="288"/>
                <a:chOff x="3024" y="2592"/>
                <a:chExt cx="288" cy="288"/>
              </a:xfrm>
            </p:grpSpPr>
            <p:grpSp>
              <p:nvGrpSpPr>
                <p:cNvPr id="328" name="Group 27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30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9" name="Line 30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1" name="Oval 31"/>
              <p:cNvSpPr>
                <a:spLocks noChangeArrowheads="1"/>
              </p:cNvSpPr>
              <p:nvPr/>
            </p:nvSpPr>
            <p:spPr bwMode="auto">
              <a:xfrm>
                <a:off x="3274" y="1719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66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12" name="Group 32"/>
              <p:cNvGrpSpPr/>
              <p:nvPr/>
            </p:nvGrpSpPr>
            <p:grpSpPr bwMode="auto">
              <a:xfrm>
                <a:off x="3274" y="1239"/>
                <a:ext cx="96" cy="576"/>
                <a:chOff x="4944" y="720"/>
                <a:chExt cx="96" cy="576"/>
              </a:xfrm>
            </p:grpSpPr>
            <p:sp>
              <p:nvSpPr>
                <p:cNvPr id="326" name="Oval 33"/>
                <p:cNvSpPr>
                  <a:spLocks noChangeArrowheads="1"/>
                </p:cNvSpPr>
                <p:nvPr/>
              </p:nvSpPr>
              <p:spPr bwMode="auto">
                <a:xfrm>
                  <a:off x="4944" y="72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FFFFFF"/>
                  </a:solidFill>
                  <a:round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7" name="Oval 34"/>
                <p:cNvSpPr>
                  <a:spLocks noChangeArrowheads="1"/>
                </p:cNvSpPr>
                <p:nvPr/>
              </p:nvSpPr>
              <p:spPr bwMode="auto">
                <a:xfrm>
                  <a:off x="4944" y="120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FFFFFF"/>
                  </a:solidFill>
                  <a:round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3" name="Oval 35"/>
              <p:cNvSpPr>
                <a:spLocks noChangeArrowheads="1"/>
              </p:cNvSpPr>
              <p:nvPr/>
            </p:nvSpPr>
            <p:spPr bwMode="auto">
              <a:xfrm>
                <a:off x="4416" y="82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4" name="Oval 36"/>
              <p:cNvSpPr>
                <a:spLocks noChangeArrowheads="1"/>
              </p:cNvSpPr>
              <p:nvPr/>
            </p:nvSpPr>
            <p:spPr bwMode="auto">
              <a:xfrm>
                <a:off x="4224" y="1929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15" name="Group 37"/>
              <p:cNvGrpSpPr/>
              <p:nvPr/>
            </p:nvGrpSpPr>
            <p:grpSpPr bwMode="auto">
              <a:xfrm>
                <a:off x="3840" y="922"/>
                <a:ext cx="288" cy="288"/>
                <a:chOff x="3024" y="2592"/>
                <a:chExt cx="288" cy="288"/>
              </a:xfrm>
            </p:grpSpPr>
            <p:grpSp>
              <p:nvGrpSpPr>
                <p:cNvPr id="322" name="Group 38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24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3" name="Line 41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6" name="Group 42"/>
              <p:cNvGrpSpPr/>
              <p:nvPr/>
            </p:nvGrpSpPr>
            <p:grpSpPr bwMode="auto">
              <a:xfrm>
                <a:off x="3840" y="1306"/>
                <a:ext cx="288" cy="288"/>
                <a:chOff x="3024" y="2592"/>
                <a:chExt cx="288" cy="288"/>
              </a:xfrm>
            </p:grpSpPr>
            <p:grpSp>
              <p:nvGrpSpPr>
                <p:cNvPr id="318" name="Group 43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20" name="Oval 44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9" name="Line 46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7" name="Group 47"/>
              <p:cNvGrpSpPr/>
              <p:nvPr/>
            </p:nvGrpSpPr>
            <p:grpSpPr bwMode="auto">
              <a:xfrm>
                <a:off x="4272" y="1306"/>
                <a:ext cx="288" cy="288"/>
                <a:chOff x="3024" y="2592"/>
                <a:chExt cx="288" cy="288"/>
              </a:xfrm>
            </p:grpSpPr>
            <p:grpSp>
              <p:nvGrpSpPr>
                <p:cNvPr id="314" name="Group 48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16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5" name="Line 51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8" name="Group 52"/>
              <p:cNvGrpSpPr/>
              <p:nvPr/>
            </p:nvGrpSpPr>
            <p:grpSpPr bwMode="auto">
              <a:xfrm>
                <a:off x="3840" y="1690"/>
                <a:ext cx="288" cy="288"/>
                <a:chOff x="3024" y="2592"/>
                <a:chExt cx="288" cy="288"/>
              </a:xfrm>
            </p:grpSpPr>
            <p:grpSp>
              <p:nvGrpSpPr>
                <p:cNvPr id="310" name="Group 53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12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3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1" name="Line 56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9" name="Group 57"/>
              <p:cNvGrpSpPr/>
              <p:nvPr/>
            </p:nvGrpSpPr>
            <p:grpSpPr bwMode="auto">
              <a:xfrm>
                <a:off x="4272" y="1690"/>
                <a:ext cx="288" cy="288"/>
                <a:chOff x="3024" y="2592"/>
                <a:chExt cx="288" cy="288"/>
              </a:xfrm>
            </p:grpSpPr>
            <p:grpSp>
              <p:nvGrpSpPr>
                <p:cNvPr id="306" name="Group 58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308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9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7" name="Line 61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0" name="Group 62"/>
              <p:cNvGrpSpPr/>
              <p:nvPr/>
            </p:nvGrpSpPr>
            <p:grpSpPr bwMode="auto">
              <a:xfrm>
                <a:off x="1248" y="1690"/>
                <a:ext cx="288" cy="288"/>
                <a:chOff x="1968" y="2592"/>
                <a:chExt cx="288" cy="288"/>
              </a:xfrm>
            </p:grpSpPr>
            <p:sp>
              <p:nvSpPr>
                <p:cNvPr id="304" name="Oval 63"/>
                <p:cNvSpPr>
                  <a:spLocks noChangeArrowheads="1"/>
                </p:cNvSpPr>
                <p:nvPr/>
              </p:nvSpPr>
              <p:spPr bwMode="auto">
                <a:xfrm>
                  <a:off x="1968" y="2592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5" name="Line 64"/>
                <p:cNvSpPr>
                  <a:spLocks noChangeShapeType="1"/>
                </p:cNvSpPr>
                <p:nvPr/>
              </p:nvSpPr>
              <p:spPr bwMode="auto">
                <a:xfrm>
                  <a:off x="2016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1" name="Group 65"/>
              <p:cNvGrpSpPr/>
              <p:nvPr/>
            </p:nvGrpSpPr>
            <p:grpSpPr bwMode="auto">
              <a:xfrm>
                <a:off x="1680" y="1690"/>
                <a:ext cx="288" cy="288"/>
                <a:chOff x="2496" y="2784"/>
                <a:chExt cx="288" cy="288"/>
              </a:xfrm>
            </p:grpSpPr>
            <p:sp>
              <p:nvSpPr>
                <p:cNvPr id="302" name="Oval 66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3" name="Line 67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2" name="Rectangle 68"/>
              <p:cNvSpPr>
                <a:spLocks noChangeArrowheads="1"/>
              </p:cNvSpPr>
              <p:nvPr/>
            </p:nvSpPr>
            <p:spPr bwMode="auto">
              <a:xfrm>
                <a:off x="1104" y="826"/>
                <a:ext cx="3600" cy="129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" name="Text Box 69"/>
              <p:cNvSpPr txBox="1">
                <a:spLocks noChangeArrowheads="1"/>
              </p:cNvSpPr>
              <p:nvPr/>
            </p:nvSpPr>
            <p:spPr bwMode="auto">
              <a:xfrm>
                <a:off x="1248" y="537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/>
                  <a:t>P</a:t>
                </a:r>
                <a:endParaRPr lang="en-US" altLang="zh-CN" sz="2800" b="1"/>
              </a:p>
            </p:txBody>
          </p:sp>
          <p:sp>
            <p:nvSpPr>
              <p:cNvPr id="224" name="Text Box 70"/>
              <p:cNvSpPr txBox="1">
                <a:spLocks noChangeArrowheads="1"/>
              </p:cNvSpPr>
              <p:nvPr/>
            </p:nvSpPr>
            <p:spPr bwMode="auto">
              <a:xfrm>
                <a:off x="4272" y="499"/>
                <a:ext cx="4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/>
                  <a:t>N</a:t>
                </a:r>
                <a:endParaRPr lang="en-US" altLang="zh-CN" sz="2800" b="1"/>
              </a:p>
            </p:txBody>
          </p:sp>
          <p:sp>
            <p:nvSpPr>
              <p:cNvPr id="225" name="Oval 71"/>
              <p:cNvSpPr>
                <a:spLocks noChangeArrowheads="1"/>
              </p:cNvSpPr>
              <p:nvPr/>
            </p:nvSpPr>
            <p:spPr bwMode="auto">
              <a:xfrm>
                <a:off x="4512" y="1171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26" name="Group 72"/>
              <p:cNvGrpSpPr/>
              <p:nvPr/>
            </p:nvGrpSpPr>
            <p:grpSpPr bwMode="auto">
              <a:xfrm>
                <a:off x="2544" y="931"/>
                <a:ext cx="288" cy="288"/>
                <a:chOff x="2496" y="2784"/>
                <a:chExt cx="288" cy="288"/>
              </a:xfrm>
            </p:grpSpPr>
            <p:sp>
              <p:nvSpPr>
                <p:cNvPr id="300" name="Oval 73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1" name="Line 74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" name="Group 75"/>
              <p:cNvGrpSpPr/>
              <p:nvPr/>
            </p:nvGrpSpPr>
            <p:grpSpPr bwMode="auto">
              <a:xfrm>
                <a:off x="2112" y="931"/>
                <a:ext cx="288" cy="288"/>
                <a:chOff x="2496" y="2784"/>
                <a:chExt cx="288" cy="288"/>
              </a:xfrm>
            </p:grpSpPr>
            <p:sp>
              <p:nvSpPr>
                <p:cNvPr id="298" name="Oval 76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" name="Line 77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8" name="Group 78"/>
              <p:cNvGrpSpPr/>
              <p:nvPr/>
            </p:nvGrpSpPr>
            <p:grpSpPr bwMode="auto">
              <a:xfrm>
                <a:off x="2112" y="1315"/>
                <a:ext cx="288" cy="288"/>
                <a:chOff x="2496" y="2784"/>
                <a:chExt cx="288" cy="288"/>
              </a:xfrm>
            </p:grpSpPr>
            <p:sp>
              <p:nvSpPr>
                <p:cNvPr id="296" name="Oval 79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" name="Line 80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9" name="Group 81"/>
              <p:cNvGrpSpPr/>
              <p:nvPr/>
            </p:nvGrpSpPr>
            <p:grpSpPr bwMode="auto">
              <a:xfrm>
                <a:off x="2544" y="1306"/>
                <a:ext cx="288" cy="288"/>
                <a:chOff x="2496" y="2784"/>
                <a:chExt cx="288" cy="288"/>
              </a:xfrm>
            </p:grpSpPr>
            <p:sp>
              <p:nvSpPr>
                <p:cNvPr id="294" name="Oval 82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5" name="Line 83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0" name="Group 84"/>
              <p:cNvGrpSpPr/>
              <p:nvPr/>
            </p:nvGrpSpPr>
            <p:grpSpPr bwMode="auto">
              <a:xfrm>
                <a:off x="2112" y="1699"/>
                <a:ext cx="288" cy="288"/>
                <a:chOff x="2496" y="2784"/>
                <a:chExt cx="288" cy="288"/>
              </a:xfrm>
            </p:grpSpPr>
            <p:sp>
              <p:nvSpPr>
                <p:cNvPr id="292" name="Oval 85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3" name="Line 86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1" name="Group 87"/>
              <p:cNvGrpSpPr/>
              <p:nvPr/>
            </p:nvGrpSpPr>
            <p:grpSpPr bwMode="auto">
              <a:xfrm>
                <a:off x="2544" y="1699"/>
                <a:ext cx="288" cy="288"/>
                <a:chOff x="2496" y="2784"/>
                <a:chExt cx="288" cy="288"/>
              </a:xfrm>
            </p:grpSpPr>
            <p:sp>
              <p:nvSpPr>
                <p:cNvPr id="290" name="Oval 88"/>
                <p:cNvSpPr>
                  <a:spLocks noChangeArrowheads="1"/>
                </p:cNvSpPr>
                <p:nvPr/>
              </p:nvSpPr>
              <p:spPr bwMode="auto">
                <a:xfrm>
                  <a:off x="2496" y="2784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99FF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1" name="Line 89"/>
                <p:cNvSpPr>
                  <a:spLocks noChangeShapeType="1"/>
                </p:cNvSpPr>
                <p:nvPr/>
              </p:nvSpPr>
              <p:spPr bwMode="auto">
                <a:xfrm>
                  <a:off x="2544" y="292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99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2" name="Group 90"/>
              <p:cNvGrpSpPr/>
              <p:nvPr/>
            </p:nvGrpSpPr>
            <p:grpSpPr bwMode="auto">
              <a:xfrm>
                <a:off x="2976" y="931"/>
                <a:ext cx="288" cy="288"/>
                <a:chOff x="3024" y="2592"/>
                <a:chExt cx="288" cy="288"/>
              </a:xfrm>
            </p:grpSpPr>
            <p:grpSp>
              <p:nvGrpSpPr>
                <p:cNvPr id="286" name="Group 91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288" name="Oval 92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9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87" name="Line 94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3" name="Group 95"/>
              <p:cNvGrpSpPr/>
              <p:nvPr/>
            </p:nvGrpSpPr>
            <p:grpSpPr bwMode="auto">
              <a:xfrm>
                <a:off x="3408" y="931"/>
                <a:ext cx="288" cy="288"/>
                <a:chOff x="3024" y="2592"/>
                <a:chExt cx="288" cy="288"/>
              </a:xfrm>
            </p:grpSpPr>
            <p:grpSp>
              <p:nvGrpSpPr>
                <p:cNvPr id="282" name="Group 96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284" name="Oval 97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5" name="Line 98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83" name="Line 99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4" name="Group 100"/>
              <p:cNvGrpSpPr/>
              <p:nvPr/>
            </p:nvGrpSpPr>
            <p:grpSpPr bwMode="auto">
              <a:xfrm>
                <a:off x="2976" y="1315"/>
                <a:ext cx="288" cy="288"/>
                <a:chOff x="3024" y="2592"/>
                <a:chExt cx="288" cy="288"/>
              </a:xfrm>
            </p:grpSpPr>
            <p:grpSp>
              <p:nvGrpSpPr>
                <p:cNvPr id="278" name="Group 101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280" name="Oval 102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1" name="Line 10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9" name="Line 104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" name="Group 105"/>
              <p:cNvGrpSpPr/>
              <p:nvPr/>
            </p:nvGrpSpPr>
            <p:grpSpPr bwMode="auto">
              <a:xfrm>
                <a:off x="3408" y="1315"/>
                <a:ext cx="288" cy="288"/>
                <a:chOff x="3024" y="2592"/>
                <a:chExt cx="288" cy="288"/>
              </a:xfrm>
            </p:grpSpPr>
            <p:grpSp>
              <p:nvGrpSpPr>
                <p:cNvPr id="274" name="Group 106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276" name="Oval 107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" name="Line 108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5" name="Line 109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" name="Group 110"/>
              <p:cNvGrpSpPr/>
              <p:nvPr/>
            </p:nvGrpSpPr>
            <p:grpSpPr bwMode="auto">
              <a:xfrm>
                <a:off x="3408" y="1699"/>
                <a:ext cx="288" cy="288"/>
                <a:chOff x="3024" y="2592"/>
                <a:chExt cx="288" cy="288"/>
              </a:xfrm>
            </p:grpSpPr>
            <p:grpSp>
              <p:nvGrpSpPr>
                <p:cNvPr id="270" name="Group 111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272" name="Oval 112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3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1" name="Line 114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7" name="Group 115"/>
              <p:cNvGrpSpPr/>
              <p:nvPr/>
            </p:nvGrpSpPr>
            <p:grpSpPr bwMode="auto">
              <a:xfrm>
                <a:off x="2976" y="1699"/>
                <a:ext cx="288" cy="288"/>
                <a:chOff x="3024" y="2592"/>
                <a:chExt cx="288" cy="288"/>
              </a:xfrm>
            </p:grpSpPr>
            <p:grpSp>
              <p:nvGrpSpPr>
                <p:cNvPr id="266" name="Group 116"/>
                <p:cNvGrpSpPr/>
                <p:nvPr/>
              </p:nvGrpSpPr>
              <p:grpSpPr bwMode="auto">
                <a:xfrm>
                  <a:off x="3024" y="2592"/>
                  <a:ext cx="288" cy="288"/>
                  <a:chOff x="3024" y="2592"/>
                  <a:chExt cx="288" cy="288"/>
                </a:xfrm>
              </p:grpSpPr>
              <p:sp>
                <p:nvSpPr>
                  <p:cNvPr id="268" name="Oval 117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592"/>
                    <a:ext cx="288" cy="28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66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9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64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67" name="Line 119"/>
                <p:cNvSpPr>
                  <a:spLocks noChangeShapeType="1"/>
                </p:cNvSpPr>
                <p:nvPr/>
              </p:nvSpPr>
              <p:spPr bwMode="auto">
                <a:xfrm>
                  <a:off x="3072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8" name="Group 120"/>
              <p:cNvGrpSpPr/>
              <p:nvPr/>
            </p:nvGrpSpPr>
            <p:grpSpPr bwMode="auto">
              <a:xfrm>
                <a:off x="4704" y="1315"/>
                <a:ext cx="48" cy="240"/>
                <a:chOff x="4992" y="2208"/>
                <a:chExt cx="48" cy="240"/>
              </a:xfrm>
            </p:grpSpPr>
            <p:sp>
              <p:nvSpPr>
                <p:cNvPr id="264" name="Line 121"/>
                <p:cNvSpPr>
                  <a:spLocks noChangeShapeType="1"/>
                </p:cNvSpPr>
                <p:nvPr/>
              </p:nvSpPr>
              <p:spPr bwMode="auto">
                <a:xfrm>
                  <a:off x="5040" y="2208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5" name="Line 122"/>
                <p:cNvSpPr>
                  <a:spLocks noChangeShapeType="1"/>
                </p:cNvSpPr>
                <p:nvPr/>
              </p:nvSpPr>
              <p:spPr bwMode="auto">
                <a:xfrm>
                  <a:off x="4992" y="2208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" name="Group 123"/>
              <p:cNvGrpSpPr/>
              <p:nvPr/>
            </p:nvGrpSpPr>
            <p:grpSpPr bwMode="auto">
              <a:xfrm>
                <a:off x="1056" y="1315"/>
                <a:ext cx="48" cy="240"/>
                <a:chOff x="1344" y="2256"/>
                <a:chExt cx="48" cy="240"/>
              </a:xfrm>
            </p:grpSpPr>
            <p:sp>
              <p:nvSpPr>
                <p:cNvPr id="262" name="Line 124"/>
                <p:cNvSpPr>
                  <a:spLocks noChangeShapeType="1"/>
                </p:cNvSpPr>
                <p:nvPr/>
              </p:nvSpPr>
              <p:spPr bwMode="auto">
                <a:xfrm>
                  <a:off x="1344" y="2256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3" name="Line 125"/>
                <p:cNvSpPr>
                  <a:spLocks noChangeShapeType="1"/>
                </p:cNvSpPr>
                <p:nvPr/>
              </p:nvSpPr>
              <p:spPr bwMode="auto">
                <a:xfrm>
                  <a:off x="1392" y="2256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0" name="Oval 126"/>
              <p:cNvSpPr>
                <a:spLocks noChangeArrowheads="1"/>
              </p:cNvSpPr>
              <p:nvPr/>
            </p:nvSpPr>
            <p:spPr bwMode="auto">
              <a:xfrm>
                <a:off x="1200" y="1219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28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41" name="Freeform 127"/>
              <p:cNvSpPr/>
              <p:nvPr/>
            </p:nvSpPr>
            <p:spPr bwMode="auto">
              <a:xfrm>
                <a:off x="2688" y="2496"/>
                <a:ext cx="467" cy="1"/>
              </a:xfrm>
              <a:custGeom>
                <a:avLst/>
                <a:gdLst>
                  <a:gd name="T0" fmla="*/ 467 w 467"/>
                  <a:gd name="T1" fmla="*/ 0 h 1"/>
                  <a:gd name="T2" fmla="*/ 0 w 46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67" h="1">
                    <a:moveTo>
                      <a:pt x="467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" name="Text Box 128"/>
              <p:cNvSpPr txBox="1">
                <a:spLocks noChangeArrowheads="1"/>
              </p:cNvSpPr>
              <p:nvPr/>
            </p:nvSpPr>
            <p:spPr bwMode="auto">
              <a:xfrm>
                <a:off x="2352" y="2457"/>
                <a:ext cx="10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rgbClr val="FF0000"/>
                    </a:solidFill>
                  </a:rPr>
                  <a:t>外电场方向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43" name="Group 129"/>
              <p:cNvGrpSpPr/>
              <p:nvPr/>
            </p:nvGrpSpPr>
            <p:grpSpPr bwMode="auto">
              <a:xfrm>
                <a:off x="2342" y="2160"/>
                <a:ext cx="1076" cy="288"/>
                <a:chOff x="4128" y="3936"/>
                <a:chExt cx="1076" cy="288"/>
              </a:xfrm>
            </p:grpSpPr>
            <p:sp>
              <p:nvSpPr>
                <p:cNvPr id="260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4128" y="3936"/>
                  <a:ext cx="107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zh-CN" altLang="en-US" b="1"/>
                    <a:t>内电场方向</a:t>
                  </a:r>
                  <a:endParaRPr lang="zh-CN" altLang="en-US"/>
                </a:p>
              </p:txBody>
            </p:sp>
            <p:sp>
              <p:nvSpPr>
                <p:cNvPr id="261" name="Line 131"/>
                <p:cNvSpPr>
                  <a:spLocks noChangeShapeType="1"/>
                </p:cNvSpPr>
                <p:nvPr/>
              </p:nvSpPr>
              <p:spPr bwMode="auto">
                <a:xfrm flipH="1">
                  <a:off x="4320" y="3936"/>
                  <a:ext cx="67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4" name="Line 132"/>
              <p:cNvSpPr>
                <a:spLocks noChangeShapeType="1"/>
              </p:cNvSpPr>
              <p:nvPr/>
            </p:nvSpPr>
            <p:spPr bwMode="auto">
              <a:xfrm rot="-10800000">
                <a:off x="1871" y="292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" name="Line 133"/>
              <p:cNvSpPr>
                <a:spLocks noChangeShapeType="1"/>
              </p:cNvSpPr>
              <p:nvPr/>
            </p:nvSpPr>
            <p:spPr bwMode="auto">
              <a:xfrm rot="-10800000">
                <a:off x="2015" y="28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" name="Line 134"/>
              <p:cNvSpPr>
                <a:spLocks noChangeShapeType="1"/>
              </p:cNvSpPr>
              <p:nvPr/>
            </p:nvSpPr>
            <p:spPr bwMode="auto">
              <a:xfrm rot="-10800000">
                <a:off x="2159" y="292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7" name="Line 135"/>
              <p:cNvSpPr>
                <a:spLocks noChangeShapeType="1"/>
              </p:cNvSpPr>
              <p:nvPr/>
            </p:nvSpPr>
            <p:spPr bwMode="auto">
              <a:xfrm rot="-10800000">
                <a:off x="2303" y="28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8" name="Text Box 136"/>
              <p:cNvSpPr txBox="1">
                <a:spLocks noChangeArrowheads="1"/>
              </p:cNvSpPr>
              <p:nvPr/>
            </p:nvSpPr>
            <p:spPr bwMode="auto">
              <a:xfrm rot="-21600000">
                <a:off x="2352" y="2745"/>
                <a:ext cx="2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b="1" i="1"/>
                  <a:t>V</a:t>
                </a:r>
                <a:endParaRPr lang="en-US" altLang="zh-CN" sz="1600"/>
              </a:p>
            </p:txBody>
          </p:sp>
          <p:sp>
            <p:nvSpPr>
              <p:cNvPr id="249" name="Line 137"/>
              <p:cNvSpPr>
                <a:spLocks noChangeShapeType="1"/>
              </p:cNvSpPr>
              <p:nvPr/>
            </p:nvSpPr>
            <p:spPr bwMode="auto">
              <a:xfrm flipV="1">
                <a:off x="5136" y="1411"/>
                <a:ext cx="0" cy="161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" name="Line 138"/>
              <p:cNvSpPr>
                <a:spLocks noChangeShapeType="1"/>
              </p:cNvSpPr>
              <p:nvPr/>
            </p:nvSpPr>
            <p:spPr bwMode="auto">
              <a:xfrm flipH="1">
                <a:off x="4752" y="1411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" name="Line 139"/>
              <p:cNvSpPr>
                <a:spLocks noChangeShapeType="1"/>
              </p:cNvSpPr>
              <p:nvPr/>
            </p:nvSpPr>
            <p:spPr bwMode="auto">
              <a:xfrm flipH="1">
                <a:off x="672" y="1411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2" name="Line 140"/>
              <p:cNvSpPr>
                <a:spLocks noChangeShapeType="1"/>
              </p:cNvSpPr>
              <p:nvPr/>
            </p:nvSpPr>
            <p:spPr bwMode="auto">
              <a:xfrm>
                <a:off x="672" y="1411"/>
                <a:ext cx="0" cy="161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3" name="Line 141"/>
              <p:cNvSpPr>
                <a:spLocks noChangeShapeType="1"/>
              </p:cNvSpPr>
              <p:nvPr/>
            </p:nvSpPr>
            <p:spPr bwMode="auto">
              <a:xfrm>
                <a:off x="672" y="3021"/>
                <a:ext cx="1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4" name="Line 142"/>
              <p:cNvSpPr>
                <a:spLocks noChangeShapeType="1"/>
              </p:cNvSpPr>
              <p:nvPr/>
            </p:nvSpPr>
            <p:spPr bwMode="auto">
              <a:xfrm>
                <a:off x="2304" y="3022"/>
                <a:ext cx="28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5" name="Rectangle 143"/>
              <p:cNvSpPr>
                <a:spLocks noChangeArrowheads="1"/>
              </p:cNvSpPr>
              <p:nvPr/>
            </p:nvSpPr>
            <p:spPr bwMode="auto">
              <a:xfrm rot="5400000">
                <a:off x="3264" y="2803"/>
                <a:ext cx="144" cy="43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" name="Text Box 144"/>
              <p:cNvSpPr txBox="1">
                <a:spLocks noChangeArrowheads="1"/>
              </p:cNvSpPr>
              <p:nvPr/>
            </p:nvSpPr>
            <p:spPr bwMode="auto">
              <a:xfrm>
                <a:off x="3164" y="2707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/>
                  <a:t>R</a:t>
                </a:r>
                <a:endParaRPr lang="en-US" altLang="zh-CN" sz="1800"/>
              </a:p>
            </p:txBody>
          </p:sp>
          <p:grpSp>
            <p:nvGrpSpPr>
              <p:cNvPr id="257" name="Group 145"/>
              <p:cNvGrpSpPr/>
              <p:nvPr/>
            </p:nvGrpSpPr>
            <p:grpSpPr bwMode="auto">
              <a:xfrm>
                <a:off x="5232" y="1497"/>
                <a:ext cx="276" cy="672"/>
                <a:chOff x="553" y="2688"/>
                <a:chExt cx="276" cy="672"/>
              </a:xfrm>
            </p:grpSpPr>
            <p:sp>
              <p:nvSpPr>
                <p:cNvPr id="258" name="Line 146"/>
                <p:cNvSpPr>
                  <a:spLocks noChangeShapeType="1"/>
                </p:cNvSpPr>
                <p:nvPr/>
              </p:nvSpPr>
              <p:spPr bwMode="auto">
                <a:xfrm flipV="1">
                  <a:off x="553" y="2688"/>
                  <a:ext cx="0" cy="67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stealth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9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567" y="2929"/>
                  <a:ext cx="26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1" i="1">
                      <a:solidFill>
                        <a:srgbClr val="FF0000"/>
                      </a:solidFill>
                      <a:ea typeface="方正琥珀繁体" pitchFamily="2" charset="-122"/>
                    </a:rPr>
                    <a:t>I</a:t>
                  </a:r>
                  <a:r>
                    <a:rPr lang="en-US" altLang="zh-CN" b="1" baseline="-25000">
                      <a:solidFill>
                        <a:srgbClr val="FF0000"/>
                      </a:solidFill>
                      <a:ea typeface="方正琥珀繁体" pitchFamily="2" charset="-122"/>
                    </a:rPr>
                    <a:t>S</a:t>
                  </a:r>
                  <a:endParaRPr lang="en-US" altLang="zh-CN" b="1" baseline="-25000">
                    <a:solidFill>
                      <a:srgbClr val="FF0000"/>
                    </a:solidFill>
                    <a:ea typeface="方正琥珀繁体" pitchFamily="2" charset="-122"/>
                  </a:endParaRPr>
                </a:p>
              </p:txBody>
            </p:sp>
          </p:grpSp>
        </p:grpSp>
        <p:sp>
          <p:nvSpPr>
            <p:cNvPr id="203" name="Line 148"/>
            <p:cNvSpPr>
              <a:spLocks noChangeShapeType="1"/>
            </p:cNvSpPr>
            <p:nvPr/>
          </p:nvSpPr>
          <p:spPr bwMode="auto">
            <a:xfrm>
              <a:off x="2880" y="832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utoUpdateAnimBg="0"/>
      <p:bldP spid="200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151" name="Text Box 2"/>
          <p:cNvSpPr txBox="1">
            <a:spLocks noChangeArrowheads="1"/>
          </p:cNvSpPr>
          <p:nvPr/>
        </p:nvSpPr>
        <p:spPr bwMode="auto">
          <a:xfrm>
            <a:off x="2969096" y="427037"/>
            <a:ext cx="426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 smtClean="0">
                <a:solidFill>
                  <a:schemeClr val="accent2"/>
                </a:solidFill>
              </a:rPr>
              <a:t>三、</a:t>
            </a:r>
            <a:r>
              <a:rPr lang="en-US" altLang="zh-CN" sz="3200" b="1" dirty="0">
                <a:solidFill>
                  <a:schemeClr val="accent2"/>
                </a:solidFill>
              </a:rPr>
              <a:t>PN</a:t>
            </a:r>
            <a:r>
              <a:rPr lang="zh-CN" altLang="en-US" sz="3200" b="1" dirty="0">
                <a:solidFill>
                  <a:schemeClr val="accent2"/>
                </a:solidFill>
              </a:rPr>
              <a:t>结的伏安特性</a:t>
            </a:r>
            <a:endParaRPr lang="zh-CN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152" name="Text Box 3"/>
          <p:cNvSpPr txBox="1">
            <a:spLocks noChangeArrowheads="1"/>
          </p:cNvSpPr>
          <p:nvPr/>
        </p:nvSpPr>
        <p:spPr bwMode="auto">
          <a:xfrm>
            <a:off x="1979712" y="1556792"/>
            <a:ext cx="5638800" cy="56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b="1"/>
              <a:t>　　</a:t>
            </a:r>
            <a:r>
              <a:rPr lang="en-US" altLang="zh-CN" sz="2600" b="1" i="1"/>
              <a:t>i</a:t>
            </a:r>
            <a:r>
              <a:rPr lang="en-US" altLang="zh-CN" sz="2600" b="1"/>
              <a:t> = </a:t>
            </a:r>
            <a:r>
              <a:rPr lang="en-US" altLang="zh-CN" sz="2600" b="1" i="1"/>
              <a:t>f</a:t>
            </a:r>
            <a:r>
              <a:rPr lang="en-US" altLang="zh-CN" sz="2600" b="1"/>
              <a:t> </a:t>
            </a:r>
            <a:r>
              <a:rPr lang="en-US" altLang="zh-CN" sz="2600" b="1">
                <a:latin typeface="宋体" panose="02010600030101010101" pitchFamily="2" charset="-122"/>
              </a:rPr>
              <a:t>(</a:t>
            </a:r>
            <a:r>
              <a:rPr lang="en-US" altLang="zh-CN" sz="2600" b="1" i="1"/>
              <a:t>u</a:t>
            </a:r>
            <a:r>
              <a:rPr lang="en-US" altLang="zh-CN" sz="2600" b="1"/>
              <a:t> </a:t>
            </a:r>
            <a:r>
              <a:rPr lang="en-US" altLang="zh-CN" sz="2600" b="1">
                <a:latin typeface="宋体" panose="02010600030101010101" pitchFamily="2" charset="-122"/>
              </a:rPr>
              <a:t>)</a:t>
            </a:r>
            <a:r>
              <a:rPr lang="zh-CN" altLang="en-US" sz="2600" b="1"/>
              <a:t>之间的关系曲线。</a:t>
            </a:r>
            <a:endParaRPr lang="zh-CN" altLang="en-US" sz="2600" b="1"/>
          </a:p>
        </p:txBody>
      </p:sp>
      <p:grpSp>
        <p:nvGrpSpPr>
          <p:cNvPr id="153" name="Group 4"/>
          <p:cNvGrpSpPr/>
          <p:nvPr/>
        </p:nvGrpSpPr>
        <p:grpSpPr bwMode="auto">
          <a:xfrm>
            <a:off x="2902050" y="4226967"/>
            <a:ext cx="1282700" cy="165100"/>
            <a:chOff x="821" y="2546"/>
            <a:chExt cx="808" cy="104"/>
          </a:xfrm>
        </p:grpSpPr>
        <p:sp>
          <p:nvSpPr>
            <p:cNvPr id="154" name="Line 5"/>
            <p:cNvSpPr>
              <a:spLocks noChangeShapeType="1"/>
            </p:cNvSpPr>
            <p:nvPr/>
          </p:nvSpPr>
          <p:spPr bwMode="auto">
            <a:xfrm>
              <a:off x="821" y="2650"/>
              <a:ext cx="57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Freeform 6"/>
            <p:cNvSpPr/>
            <p:nvPr/>
          </p:nvSpPr>
          <p:spPr bwMode="auto">
            <a:xfrm>
              <a:off x="1397" y="2546"/>
              <a:ext cx="232" cy="104"/>
            </a:xfrm>
            <a:custGeom>
              <a:avLst/>
              <a:gdLst>
                <a:gd name="T0" fmla="*/ 0 w 417"/>
                <a:gd name="T1" fmla="*/ 332 h 332"/>
                <a:gd name="T2" fmla="*/ 184 w 417"/>
                <a:gd name="T3" fmla="*/ 276 h 332"/>
                <a:gd name="T4" fmla="*/ 256 w 417"/>
                <a:gd name="T5" fmla="*/ 236 h 332"/>
                <a:gd name="T6" fmla="*/ 272 w 417"/>
                <a:gd name="T7" fmla="*/ 212 h 332"/>
                <a:gd name="T8" fmla="*/ 296 w 417"/>
                <a:gd name="T9" fmla="*/ 196 h 332"/>
                <a:gd name="T10" fmla="*/ 352 w 417"/>
                <a:gd name="T11" fmla="*/ 132 h 332"/>
                <a:gd name="T12" fmla="*/ 384 w 417"/>
                <a:gd name="T13" fmla="*/ 60 h 332"/>
                <a:gd name="T14" fmla="*/ 416 w 417"/>
                <a:gd name="T15" fmla="*/ 4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7" h="332">
                  <a:moveTo>
                    <a:pt x="0" y="332"/>
                  </a:moveTo>
                  <a:cubicBezTo>
                    <a:pt x="42" y="321"/>
                    <a:pt x="149" y="299"/>
                    <a:pt x="184" y="276"/>
                  </a:cubicBezTo>
                  <a:cubicBezTo>
                    <a:pt x="239" y="239"/>
                    <a:pt x="214" y="250"/>
                    <a:pt x="256" y="236"/>
                  </a:cubicBezTo>
                  <a:cubicBezTo>
                    <a:pt x="261" y="228"/>
                    <a:pt x="265" y="219"/>
                    <a:pt x="272" y="212"/>
                  </a:cubicBezTo>
                  <a:cubicBezTo>
                    <a:pt x="279" y="205"/>
                    <a:pt x="290" y="203"/>
                    <a:pt x="296" y="196"/>
                  </a:cubicBezTo>
                  <a:cubicBezTo>
                    <a:pt x="361" y="121"/>
                    <a:pt x="298" y="168"/>
                    <a:pt x="352" y="132"/>
                  </a:cubicBezTo>
                  <a:cubicBezTo>
                    <a:pt x="360" y="108"/>
                    <a:pt x="372" y="82"/>
                    <a:pt x="384" y="60"/>
                  </a:cubicBezTo>
                  <a:cubicBezTo>
                    <a:pt x="417" y="0"/>
                    <a:pt x="416" y="33"/>
                    <a:pt x="416" y="4"/>
                  </a:cubicBezTo>
                </a:path>
              </a:pathLst>
            </a:custGeom>
            <a:noFill/>
            <a:ln w="38100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6" name="Group 7"/>
          <p:cNvGrpSpPr/>
          <p:nvPr/>
        </p:nvGrpSpPr>
        <p:grpSpPr bwMode="auto">
          <a:xfrm>
            <a:off x="2597250" y="4392067"/>
            <a:ext cx="304800" cy="1371600"/>
            <a:chOff x="672" y="2016"/>
            <a:chExt cx="192" cy="864"/>
          </a:xfrm>
        </p:grpSpPr>
        <p:sp>
          <p:nvSpPr>
            <p:cNvPr id="157" name="Freeform 8"/>
            <p:cNvSpPr/>
            <p:nvPr/>
          </p:nvSpPr>
          <p:spPr bwMode="auto">
            <a:xfrm>
              <a:off x="768" y="2016"/>
              <a:ext cx="96" cy="192"/>
            </a:xfrm>
            <a:custGeom>
              <a:avLst/>
              <a:gdLst>
                <a:gd name="T0" fmla="*/ 96 w 96"/>
                <a:gd name="T1" fmla="*/ 0 h 192"/>
                <a:gd name="T2" fmla="*/ 48 w 96"/>
                <a:gd name="T3" fmla="*/ 48 h 192"/>
                <a:gd name="T4" fmla="*/ 0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96" y="0"/>
                  </a:moveTo>
                  <a:cubicBezTo>
                    <a:pt x="80" y="8"/>
                    <a:pt x="64" y="16"/>
                    <a:pt x="48" y="48"/>
                  </a:cubicBezTo>
                  <a:cubicBezTo>
                    <a:pt x="32" y="80"/>
                    <a:pt x="16" y="136"/>
                    <a:pt x="0" y="192"/>
                  </a:cubicBezTo>
                </a:path>
              </a:pathLst>
            </a:custGeom>
            <a:noFill/>
            <a:ln w="38100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9"/>
            <p:cNvSpPr>
              <a:spLocks noChangeShapeType="1"/>
            </p:cNvSpPr>
            <p:nvPr/>
          </p:nvSpPr>
          <p:spPr bwMode="auto">
            <a:xfrm flipH="1">
              <a:off x="672" y="2208"/>
              <a:ext cx="96" cy="6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9" name="Group 10"/>
          <p:cNvGrpSpPr/>
          <p:nvPr/>
        </p:nvGrpSpPr>
        <p:grpSpPr bwMode="auto">
          <a:xfrm>
            <a:off x="2551212" y="2274342"/>
            <a:ext cx="3446463" cy="3732213"/>
            <a:chOff x="600" y="1316"/>
            <a:chExt cx="2171" cy="2351"/>
          </a:xfrm>
        </p:grpSpPr>
        <p:sp>
          <p:nvSpPr>
            <p:cNvPr id="160" name="Line 11"/>
            <p:cNvSpPr>
              <a:spLocks noChangeShapeType="1"/>
            </p:cNvSpPr>
            <p:nvPr/>
          </p:nvSpPr>
          <p:spPr bwMode="auto">
            <a:xfrm>
              <a:off x="716" y="2564"/>
              <a:ext cx="1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Line 12"/>
            <p:cNvSpPr>
              <a:spLocks noChangeShapeType="1"/>
            </p:cNvSpPr>
            <p:nvPr/>
          </p:nvSpPr>
          <p:spPr bwMode="auto">
            <a:xfrm flipV="1">
              <a:off x="1627" y="1507"/>
              <a:ext cx="0" cy="2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lg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Line 13"/>
            <p:cNvSpPr>
              <a:spLocks noChangeShapeType="1"/>
            </p:cNvSpPr>
            <p:nvPr/>
          </p:nvSpPr>
          <p:spPr bwMode="auto">
            <a:xfrm>
              <a:off x="1580" y="227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Line 14"/>
            <p:cNvSpPr>
              <a:spLocks noChangeShapeType="1"/>
            </p:cNvSpPr>
            <p:nvPr/>
          </p:nvSpPr>
          <p:spPr bwMode="auto">
            <a:xfrm>
              <a:off x="1580" y="203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15"/>
            <p:cNvSpPr>
              <a:spLocks noChangeShapeType="1"/>
            </p:cNvSpPr>
            <p:nvPr/>
          </p:nvSpPr>
          <p:spPr bwMode="auto">
            <a:xfrm>
              <a:off x="1580" y="179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Line 16"/>
            <p:cNvSpPr>
              <a:spLocks noChangeShapeType="1"/>
            </p:cNvSpPr>
            <p:nvPr/>
          </p:nvSpPr>
          <p:spPr bwMode="auto">
            <a:xfrm>
              <a:off x="1628" y="290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Line 17"/>
            <p:cNvSpPr>
              <a:spLocks noChangeShapeType="1"/>
            </p:cNvSpPr>
            <p:nvPr/>
          </p:nvSpPr>
          <p:spPr bwMode="auto">
            <a:xfrm>
              <a:off x="1628" y="323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Line 18"/>
            <p:cNvSpPr>
              <a:spLocks noChangeShapeType="1"/>
            </p:cNvSpPr>
            <p:nvPr/>
          </p:nvSpPr>
          <p:spPr bwMode="auto">
            <a:xfrm>
              <a:off x="1916" y="256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" name="Line 19"/>
            <p:cNvSpPr>
              <a:spLocks noChangeShapeType="1"/>
            </p:cNvSpPr>
            <p:nvPr/>
          </p:nvSpPr>
          <p:spPr bwMode="auto">
            <a:xfrm>
              <a:off x="2204" y="256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" name="Line 20"/>
            <p:cNvSpPr>
              <a:spLocks noChangeShapeType="1"/>
            </p:cNvSpPr>
            <p:nvPr/>
          </p:nvSpPr>
          <p:spPr bwMode="auto">
            <a:xfrm>
              <a:off x="1196" y="256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Line 21"/>
            <p:cNvSpPr>
              <a:spLocks noChangeShapeType="1"/>
            </p:cNvSpPr>
            <p:nvPr/>
          </p:nvSpPr>
          <p:spPr bwMode="auto">
            <a:xfrm>
              <a:off x="764" y="256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" name="Text Box 22"/>
            <p:cNvSpPr txBox="1">
              <a:spLocks noChangeArrowheads="1"/>
            </p:cNvSpPr>
            <p:nvPr/>
          </p:nvSpPr>
          <p:spPr bwMode="auto">
            <a:xfrm>
              <a:off x="1354" y="1681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60</a:t>
              </a:r>
              <a:endParaRPr lang="zh-CN" altLang="en-US" sz="1800" b="1"/>
            </a:p>
          </p:txBody>
        </p:sp>
        <p:sp>
          <p:nvSpPr>
            <p:cNvPr id="172" name="Text Box 23"/>
            <p:cNvSpPr txBox="1">
              <a:spLocks noChangeArrowheads="1"/>
            </p:cNvSpPr>
            <p:nvPr/>
          </p:nvSpPr>
          <p:spPr bwMode="auto">
            <a:xfrm>
              <a:off x="1354" y="1921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40</a:t>
              </a:r>
              <a:endParaRPr lang="zh-CN" altLang="en-US" sz="1800" b="1"/>
            </a:p>
          </p:txBody>
        </p:sp>
        <p:sp>
          <p:nvSpPr>
            <p:cNvPr id="173" name="Text Box 24"/>
            <p:cNvSpPr txBox="1">
              <a:spLocks noChangeArrowheads="1"/>
            </p:cNvSpPr>
            <p:nvPr/>
          </p:nvSpPr>
          <p:spPr bwMode="auto">
            <a:xfrm>
              <a:off x="1354" y="2161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20</a:t>
              </a:r>
              <a:endParaRPr lang="zh-CN" altLang="en-US" sz="1800" b="1"/>
            </a:p>
          </p:txBody>
        </p:sp>
        <p:sp>
          <p:nvSpPr>
            <p:cNvPr id="174" name="Text Box 25"/>
            <p:cNvSpPr txBox="1">
              <a:spLocks noChangeArrowheads="1"/>
            </p:cNvSpPr>
            <p:nvPr/>
          </p:nvSpPr>
          <p:spPr bwMode="auto">
            <a:xfrm>
              <a:off x="1104" y="2743"/>
              <a:ext cx="5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– 0.002</a:t>
              </a:r>
              <a:endParaRPr lang="zh-CN" altLang="en-US" sz="1800" b="1"/>
            </a:p>
          </p:txBody>
        </p:sp>
        <p:sp>
          <p:nvSpPr>
            <p:cNvPr id="175" name="Text Box 26"/>
            <p:cNvSpPr txBox="1">
              <a:spLocks noChangeArrowheads="1"/>
            </p:cNvSpPr>
            <p:nvPr/>
          </p:nvSpPr>
          <p:spPr bwMode="auto">
            <a:xfrm>
              <a:off x="1104" y="3121"/>
              <a:ext cx="5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– 0.004</a:t>
              </a:r>
              <a:endParaRPr lang="zh-CN" altLang="en-US" sz="1800" b="1"/>
            </a:p>
          </p:txBody>
        </p:sp>
        <p:sp>
          <p:nvSpPr>
            <p:cNvPr id="176" name="Text Box 27"/>
            <p:cNvSpPr txBox="1">
              <a:spLocks noChangeArrowheads="1"/>
            </p:cNvSpPr>
            <p:nvPr/>
          </p:nvSpPr>
          <p:spPr bwMode="auto">
            <a:xfrm>
              <a:off x="1582" y="254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0</a:t>
              </a:r>
              <a:endParaRPr lang="zh-CN" altLang="en-US" sz="1800" b="1"/>
            </a:p>
          </p:txBody>
        </p:sp>
        <p:sp>
          <p:nvSpPr>
            <p:cNvPr id="177" name="Text Box 28"/>
            <p:cNvSpPr txBox="1">
              <a:spLocks noChangeArrowheads="1"/>
            </p:cNvSpPr>
            <p:nvPr/>
          </p:nvSpPr>
          <p:spPr bwMode="auto">
            <a:xfrm>
              <a:off x="1790" y="2536"/>
              <a:ext cx="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0.5</a:t>
              </a:r>
              <a:endParaRPr lang="zh-CN" altLang="en-US" sz="1800" b="1"/>
            </a:p>
          </p:txBody>
        </p:sp>
        <p:sp>
          <p:nvSpPr>
            <p:cNvPr id="178" name="Text Box 29"/>
            <p:cNvSpPr txBox="1">
              <a:spLocks noChangeArrowheads="1"/>
            </p:cNvSpPr>
            <p:nvPr/>
          </p:nvSpPr>
          <p:spPr bwMode="auto">
            <a:xfrm>
              <a:off x="2056" y="2546"/>
              <a:ext cx="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1.0</a:t>
              </a:r>
              <a:endParaRPr lang="zh-CN" altLang="en-US" sz="1800" b="1"/>
            </a:p>
          </p:txBody>
        </p:sp>
        <p:sp>
          <p:nvSpPr>
            <p:cNvPr id="179" name="Text Box 30"/>
            <p:cNvSpPr txBox="1">
              <a:spLocks noChangeArrowheads="1"/>
            </p:cNvSpPr>
            <p:nvPr/>
          </p:nvSpPr>
          <p:spPr bwMode="auto">
            <a:xfrm>
              <a:off x="1030" y="2353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–25</a:t>
              </a:r>
              <a:endParaRPr lang="zh-CN" altLang="en-US" sz="1800" b="1"/>
            </a:p>
          </p:txBody>
        </p:sp>
        <p:sp>
          <p:nvSpPr>
            <p:cNvPr id="180" name="Text Box 31"/>
            <p:cNvSpPr txBox="1">
              <a:spLocks noChangeArrowheads="1"/>
            </p:cNvSpPr>
            <p:nvPr/>
          </p:nvSpPr>
          <p:spPr bwMode="auto">
            <a:xfrm>
              <a:off x="600" y="2343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 b="1"/>
                <a:t>–50</a:t>
              </a:r>
              <a:endParaRPr lang="zh-CN" altLang="en-US" sz="1800" b="1"/>
            </a:p>
          </p:txBody>
        </p:sp>
        <p:sp>
          <p:nvSpPr>
            <p:cNvPr id="181" name="Text Box 32"/>
            <p:cNvSpPr txBox="1">
              <a:spLocks noChangeArrowheads="1"/>
            </p:cNvSpPr>
            <p:nvPr/>
          </p:nvSpPr>
          <p:spPr bwMode="auto">
            <a:xfrm>
              <a:off x="1442" y="1316"/>
              <a:ext cx="4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/>
                <a:t>i</a:t>
              </a:r>
              <a:r>
                <a:rPr lang="en-US" altLang="zh-CN" sz="2000" b="1"/>
                <a:t>/ mA</a:t>
              </a:r>
              <a:endParaRPr lang="en-US" altLang="zh-CN" sz="1200" b="1"/>
            </a:p>
          </p:txBody>
        </p:sp>
        <p:sp>
          <p:nvSpPr>
            <p:cNvPr id="182" name="Text Box 33"/>
            <p:cNvSpPr txBox="1">
              <a:spLocks noChangeArrowheads="1"/>
            </p:cNvSpPr>
            <p:nvPr/>
          </p:nvSpPr>
          <p:spPr bwMode="auto">
            <a:xfrm>
              <a:off x="2326" y="2593"/>
              <a:ext cx="4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/>
                <a:t>u</a:t>
              </a:r>
              <a:r>
                <a:rPr lang="en-US" altLang="zh-CN" sz="2000" b="1"/>
                <a:t> / V</a:t>
              </a:r>
              <a:endParaRPr lang="en-US" altLang="zh-CN" sz="1200" b="1"/>
            </a:p>
          </p:txBody>
        </p:sp>
        <p:sp>
          <p:nvSpPr>
            <p:cNvPr id="183" name="Line 34"/>
            <p:cNvSpPr>
              <a:spLocks noChangeShapeType="1"/>
            </p:cNvSpPr>
            <p:nvPr/>
          </p:nvSpPr>
          <p:spPr bwMode="auto">
            <a:xfrm>
              <a:off x="2012" y="256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4" name="Line 35"/>
          <p:cNvSpPr>
            <a:spLocks noChangeShapeType="1"/>
          </p:cNvSpPr>
          <p:nvPr/>
        </p:nvSpPr>
        <p:spPr bwMode="auto">
          <a:xfrm>
            <a:off x="4807050" y="4239667"/>
            <a:ext cx="0" cy="6096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" name="Line 36"/>
          <p:cNvSpPr>
            <a:spLocks noChangeShapeType="1"/>
          </p:cNvSpPr>
          <p:nvPr/>
        </p:nvSpPr>
        <p:spPr bwMode="auto">
          <a:xfrm>
            <a:off x="4197450" y="4620667"/>
            <a:ext cx="6080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sm" len="lg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" name="Text Box 37"/>
          <p:cNvSpPr txBox="1">
            <a:spLocks noChangeArrowheads="1"/>
          </p:cNvSpPr>
          <p:nvPr/>
        </p:nvSpPr>
        <p:spPr bwMode="auto">
          <a:xfrm>
            <a:off x="5027712" y="3096667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正向特性</a:t>
            </a:r>
            <a:endParaRPr lang="zh-CN" altLang="en-US" b="1"/>
          </a:p>
        </p:txBody>
      </p:sp>
      <p:grpSp>
        <p:nvGrpSpPr>
          <p:cNvPr id="187" name="Group 38"/>
          <p:cNvGrpSpPr/>
          <p:nvPr/>
        </p:nvGrpSpPr>
        <p:grpSpPr bwMode="auto">
          <a:xfrm>
            <a:off x="4197450" y="2715667"/>
            <a:ext cx="990600" cy="1524000"/>
            <a:chOff x="1680" y="960"/>
            <a:chExt cx="624" cy="960"/>
          </a:xfrm>
        </p:grpSpPr>
        <p:sp>
          <p:nvSpPr>
            <p:cNvPr id="188" name="Freeform 39"/>
            <p:cNvSpPr/>
            <p:nvPr/>
          </p:nvSpPr>
          <p:spPr bwMode="auto">
            <a:xfrm>
              <a:off x="2016" y="960"/>
              <a:ext cx="288" cy="960"/>
            </a:xfrm>
            <a:custGeom>
              <a:avLst/>
              <a:gdLst>
                <a:gd name="T0" fmla="*/ 0 w 312"/>
                <a:gd name="T1" fmla="*/ 1048 h 1056"/>
                <a:gd name="T2" fmla="*/ 144 w 312"/>
                <a:gd name="T3" fmla="*/ 904 h 1056"/>
                <a:gd name="T4" fmla="*/ 288 w 312"/>
                <a:gd name="T5" fmla="*/ 136 h 1056"/>
                <a:gd name="T6" fmla="*/ 288 w 312"/>
                <a:gd name="T7" fmla="*/ 88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1056">
                  <a:moveTo>
                    <a:pt x="0" y="1048"/>
                  </a:moveTo>
                  <a:cubicBezTo>
                    <a:pt x="48" y="1052"/>
                    <a:pt x="96" y="1056"/>
                    <a:pt x="144" y="904"/>
                  </a:cubicBezTo>
                  <a:cubicBezTo>
                    <a:pt x="192" y="752"/>
                    <a:pt x="264" y="272"/>
                    <a:pt x="288" y="136"/>
                  </a:cubicBezTo>
                  <a:cubicBezTo>
                    <a:pt x="312" y="0"/>
                    <a:pt x="300" y="44"/>
                    <a:pt x="288" y="88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Line 40"/>
            <p:cNvSpPr>
              <a:spLocks noChangeShapeType="1"/>
            </p:cNvSpPr>
            <p:nvPr/>
          </p:nvSpPr>
          <p:spPr bwMode="auto">
            <a:xfrm>
              <a:off x="1680" y="1920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0" name="Group 41"/>
          <p:cNvGrpSpPr/>
          <p:nvPr/>
        </p:nvGrpSpPr>
        <p:grpSpPr bwMode="auto">
          <a:xfrm>
            <a:off x="4426050" y="5230267"/>
            <a:ext cx="1314450" cy="457200"/>
            <a:chOff x="1899" y="2832"/>
            <a:chExt cx="828" cy="288"/>
          </a:xfrm>
        </p:grpSpPr>
        <p:sp>
          <p:nvSpPr>
            <p:cNvPr id="191" name="AutoShape 42"/>
            <p:cNvSpPr>
              <a:spLocks noChangeArrowheads="1"/>
            </p:cNvSpPr>
            <p:nvPr/>
          </p:nvSpPr>
          <p:spPr bwMode="auto">
            <a:xfrm flipV="1">
              <a:off x="1968" y="2832"/>
              <a:ext cx="720" cy="288"/>
            </a:xfrm>
            <a:prstGeom prst="wedgeRoundRectCallout">
              <a:avLst>
                <a:gd name="adj1" fmla="val -39727"/>
                <a:gd name="adj2" fmla="val 160069"/>
                <a:gd name="adj3" fmla="val 16667"/>
              </a:avLst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192" name="Text Box 43"/>
            <p:cNvSpPr txBox="1">
              <a:spLocks noChangeArrowheads="1"/>
            </p:cNvSpPr>
            <p:nvPr/>
          </p:nvSpPr>
          <p:spPr bwMode="auto">
            <a:xfrm>
              <a:off x="1899" y="2832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FF0000"/>
                  </a:solidFill>
                </a:rPr>
                <a:t>死区电压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340" name="Group 44"/>
          <p:cNvGrpSpPr/>
          <p:nvPr/>
        </p:nvGrpSpPr>
        <p:grpSpPr bwMode="auto">
          <a:xfrm>
            <a:off x="2597250" y="4468267"/>
            <a:ext cx="1619250" cy="928688"/>
            <a:chOff x="652" y="2123"/>
            <a:chExt cx="1020" cy="585"/>
          </a:xfrm>
        </p:grpSpPr>
        <p:sp>
          <p:nvSpPr>
            <p:cNvPr id="341" name="Text Box 45"/>
            <p:cNvSpPr txBox="1">
              <a:spLocks noChangeArrowheads="1"/>
            </p:cNvSpPr>
            <p:nvPr/>
          </p:nvSpPr>
          <p:spPr bwMode="auto">
            <a:xfrm>
              <a:off x="652" y="2266"/>
              <a:ext cx="88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FF0000"/>
                  </a:solidFill>
                </a:rPr>
                <a:t>击穿电压</a:t>
              </a:r>
              <a:endParaRPr lang="zh-CN" altLang="en-US" sz="2000" b="1">
                <a:solidFill>
                  <a:srgbClr val="FF0000"/>
                </a:solidFill>
              </a:endParaRPr>
            </a:p>
            <a:p>
              <a:pPr algn="ctr"/>
              <a:r>
                <a:rPr lang="en-US" altLang="zh-CN" sz="2000" b="1" i="1">
                  <a:solidFill>
                    <a:srgbClr val="FF0000"/>
                  </a:solidFill>
                </a:rPr>
                <a:t>U</a:t>
              </a:r>
              <a:r>
                <a:rPr lang="en-US" altLang="zh-CN" sz="2000" b="1" baseline="-25000">
                  <a:solidFill>
                    <a:srgbClr val="FF0000"/>
                  </a:solidFill>
                </a:rPr>
                <a:t>(BR)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42" name="Line 46"/>
            <p:cNvSpPr>
              <a:spLocks noChangeShapeType="1"/>
            </p:cNvSpPr>
            <p:nvPr/>
          </p:nvSpPr>
          <p:spPr bwMode="auto">
            <a:xfrm>
              <a:off x="816" y="2123"/>
              <a:ext cx="8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sm" len="lg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3" name="Text Box 47"/>
          <p:cNvSpPr txBox="1">
            <a:spLocks noChangeArrowheads="1"/>
          </p:cNvSpPr>
          <p:nvPr/>
        </p:nvSpPr>
        <p:spPr bwMode="auto">
          <a:xfrm>
            <a:off x="2055912" y="4484142"/>
            <a:ext cx="549275" cy="13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反向特性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44" name="Text Box 48"/>
          <p:cNvSpPr txBox="1">
            <a:spLocks noChangeArrowheads="1"/>
          </p:cNvSpPr>
          <p:nvPr/>
        </p:nvSpPr>
        <p:spPr bwMode="auto">
          <a:xfrm>
            <a:off x="1979712" y="6052592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图 1.1.10　</a:t>
            </a:r>
            <a:r>
              <a:rPr lang="en-US" altLang="zh-CN" b="1">
                <a:solidFill>
                  <a:srgbClr val="FF00FF"/>
                </a:solidFill>
                <a:ea typeface="黑体" panose="02010609060101010101" pitchFamily="49" charset="-122"/>
              </a:rPr>
              <a:t>PN</a:t>
            </a: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结的伏安特性</a:t>
            </a:r>
            <a:endParaRPr lang="zh-CN" altLang="en-US" b="1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37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utoUpdateAnimBg="0"/>
      <p:bldP spid="34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50" name="Text Box 2"/>
          <p:cNvSpPr txBox="1">
            <a:spLocks noChangeArrowheads="1"/>
          </p:cNvSpPr>
          <p:nvPr/>
        </p:nvSpPr>
        <p:spPr bwMode="auto">
          <a:xfrm>
            <a:off x="2145135" y="349250"/>
            <a:ext cx="670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ea typeface="黑体" panose="02010609060101010101" pitchFamily="49" charset="-122"/>
              </a:rPr>
              <a:t>1.3　</a:t>
            </a:r>
            <a:r>
              <a:rPr lang="zh-CN" altLang="en-US" sz="3600" b="1" dirty="0" smtClean="0">
                <a:solidFill>
                  <a:srgbClr val="0000FF"/>
                </a:solidFill>
                <a:ea typeface="黑体" panose="02010609060101010101" pitchFamily="49" charset="-122"/>
              </a:rPr>
              <a:t>三极管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609600" y="1371600"/>
            <a:ext cx="8153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600" b="1" dirty="0">
                <a:solidFill>
                  <a:srgbClr val="FF3300"/>
                </a:solidFill>
              </a:rPr>
              <a:t>　又称半导体三极管、晶体三极管，或简称晶体管。</a:t>
            </a:r>
            <a:endParaRPr lang="zh-CN" altLang="en-US" sz="2600" b="1" dirty="0">
              <a:solidFill>
                <a:srgbClr val="FF3300"/>
              </a:solidFill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1828800" y="1828800"/>
            <a:ext cx="4724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600" b="1">
                <a:solidFill>
                  <a:srgbClr val="CC00FF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600" b="1">
                <a:solidFill>
                  <a:srgbClr val="CC00FF"/>
                </a:solidFill>
              </a:rPr>
              <a:t>Bipolar Junction Transistor</a:t>
            </a:r>
            <a:r>
              <a:rPr lang="en-US" altLang="zh-CN" sz="2600" b="1">
                <a:solidFill>
                  <a:srgbClr val="CC00FF"/>
                </a:solidFill>
                <a:latin typeface="宋体" panose="02010600030101010101" pitchFamily="2" charset="-122"/>
              </a:rPr>
              <a:t>)</a:t>
            </a:r>
            <a:endParaRPr lang="en-US" altLang="zh-CN" sz="2600" b="1">
              <a:solidFill>
                <a:srgbClr val="CC00FF"/>
              </a:solidFill>
              <a:latin typeface="宋体" panose="02010600030101010101" pitchFamily="2" charset="-122"/>
            </a:endParaRPr>
          </a:p>
        </p:txBody>
      </p:sp>
      <p:sp>
        <p:nvSpPr>
          <p:cNvPr id="53" name="Text Box 5"/>
          <p:cNvSpPr txBox="1">
            <a:spLocks noChangeArrowheads="1"/>
          </p:cNvSpPr>
          <p:nvPr/>
        </p:nvSpPr>
        <p:spPr bwMode="auto">
          <a:xfrm>
            <a:off x="609600" y="2286000"/>
            <a:ext cx="5105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600" b="1"/>
              <a:t>三极管的外形如下图所示。</a:t>
            </a:r>
            <a:endParaRPr lang="zh-CN" altLang="en-US" sz="2600" b="1"/>
          </a:p>
        </p:txBody>
      </p:sp>
      <p:sp>
        <p:nvSpPr>
          <p:cNvPr id="54" name="Text Box 6"/>
          <p:cNvSpPr txBox="1">
            <a:spLocks noChangeArrowheads="1"/>
          </p:cNvSpPr>
          <p:nvPr/>
        </p:nvSpPr>
        <p:spPr bwMode="auto">
          <a:xfrm>
            <a:off x="533400" y="5334000"/>
            <a:ext cx="8305800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600" b="1"/>
              <a:t>　　三极管有两种类型：</a:t>
            </a:r>
            <a:r>
              <a:rPr lang="en-US" altLang="zh-CN" sz="2600" b="1">
                <a:solidFill>
                  <a:srgbClr val="CC00FF"/>
                </a:solidFill>
              </a:rPr>
              <a:t>NPN </a:t>
            </a:r>
            <a:r>
              <a:rPr lang="zh-CN" altLang="en-US" sz="2600" b="1"/>
              <a:t>型和 </a:t>
            </a:r>
            <a:r>
              <a:rPr lang="en-US" altLang="zh-CN" sz="2600" b="1">
                <a:solidFill>
                  <a:srgbClr val="CC00FF"/>
                </a:solidFill>
              </a:rPr>
              <a:t>PNP </a:t>
            </a:r>
            <a:r>
              <a:rPr lang="zh-CN" altLang="en-US" sz="2600" b="1"/>
              <a:t>型。</a:t>
            </a:r>
            <a:endParaRPr lang="zh-CN" altLang="en-US" sz="2600" b="1"/>
          </a:p>
          <a:p>
            <a:pPr algn="just">
              <a:spcBef>
                <a:spcPct val="50000"/>
              </a:spcBef>
            </a:pPr>
            <a:r>
              <a:rPr lang="zh-CN" altLang="en-US" sz="2600" b="1"/>
              <a:t>　　</a:t>
            </a:r>
            <a:r>
              <a:rPr lang="zh-CN" altLang="en-US" sz="2600" b="1">
                <a:solidFill>
                  <a:srgbClr val="CC00FF"/>
                </a:solidFill>
              </a:rPr>
              <a:t>主要以 </a:t>
            </a:r>
            <a:r>
              <a:rPr lang="en-US" altLang="zh-CN" sz="2600" b="1">
                <a:solidFill>
                  <a:srgbClr val="CC00FF"/>
                </a:solidFill>
              </a:rPr>
              <a:t>NPN </a:t>
            </a:r>
            <a:r>
              <a:rPr lang="zh-CN" altLang="en-US" sz="2600" b="1">
                <a:solidFill>
                  <a:srgbClr val="CC00FF"/>
                </a:solidFill>
              </a:rPr>
              <a:t>型为例进行讨论。</a:t>
            </a:r>
            <a:endParaRPr lang="zh-CN" altLang="en-US" sz="2600" b="1">
              <a:solidFill>
                <a:srgbClr val="CC00FF"/>
              </a:solidFill>
            </a:endParaRPr>
          </a:p>
        </p:txBody>
      </p:sp>
      <p:pic>
        <p:nvPicPr>
          <p:cNvPr id="55" name="Picture 7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1" t="26176" r="6281" b="22783"/>
          <a:stretch>
            <a:fillRect/>
          </a:stretch>
        </p:blipFill>
        <p:spPr bwMode="auto">
          <a:xfrm>
            <a:off x="1447800" y="2819400"/>
            <a:ext cx="4572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 Box 8"/>
          <p:cNvSpPr txBox="1">
            <a:spLocks noChangeArrowheads="1"/>
          </p:cNvSpPr>
          <p:nvPr/>
        </p:nvSpPr>
        <p:spPr bwMode="auto">
          <a:xfrm>
            <a:off x="1600200" y="49530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00FF"/>
                </a:solidFill>
                <a:ea typeface="黑体" panose="02010609060101010101" pitchFamily="49" charset="-122"/>
              </a:rPr>
              <a:t>图 1.3.1　三极管的外形</a:t>
            </a:r>
            <a:endParaRPr lang="zh-CN" altLang="en-US" b="1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sp>
        <p:nvSpPr>
          <p:cNvPr id="57" name="Text Box 9"/>
          <p:cNvSpPr txBox="1">
            <a:spLocks noChangeArrowheads="1"/>
          </p:cNvSpPr>
          <p:nvPr/>
        </p:nvSpPr>
        <p:spPr bwMode="auto">
          <a:xfrm>
            <a:off x="6172200" y="2819400"/>
            <a:ext cx="2743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X：</a:t>
            </a:r>
            <a:r>
              <a:rPr lang="zh-CN" altLang="en-US" b="1"/>
              <a:t>低频小功率管</a:t>
            </a:r>
            <a:endParaRPr lang="zh-CN" altLang="en-US" b="1"/>
          </a:p>
          <a:p>
            <a:pPr>
              <a:spcBef>
                <a:spcPct val="50000"/>
              </a:spcBef>
            </a:pPr>
            <a:r>
              <a:rPr lang="en-US" altLang="zh-CN" b="1"/>
              <a:t>D：</a:t>
            </a:r>
            <a:r>
              <a:rPr lang="zh-CN" altLang="en-US" b="1"/>
              <a:t>低频大功率管</a:t>
            </a:r>
            <a:endParaRPr lang="zh-CN" altLang="en-US" b="1"/>
          </a:p>
        </p:txBody>
      </p:sp>
      <p:sp>
        <p:nvSpPr>
          <p:cNvPr id="58" name="Rectangle 10"/>
          <p:cNvSpPr>
            <a:spLocks noChangeArrowheads="1"/>
          </p:cNvSpPr>
          <p:nvPr/>
        </p:nvSpPr>
        <p:spPr bwMode="auto">
          <a:xfrm>
            <a:off x="6172200" y="3886200"/>
            <a:ext cx="2743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A50021"/>
                </a:solidFill>
              </a:rPr>
              <a:t>G：</a:t>
            </a:r>
            <a:r>
              <a:rPr lang="zh-CN" altLang="en-US" b="1">
                <a:solidFill>
                  <a:srgbClr val="A50021"/>
                </a:solidFill>
              </a:rPr>
              <a:t>高频小功率管</a:t>
            </a:r>
            <a:endParaRPr lang="zh-CN" altLang="en-US" b="1">
              <a:solidFill>
                <a:srgbClr val="A50021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A50021"/>
                </a:solidFill>
              </a:rPr>
              <a:t>A：</a:t>
            </a:r>
            <a:r>
              <a:rPr lang="zh-CN" altLang="en-US" b="1">
                <a:solidFill>
                  <a:srgbClr val="A50021"/>
                </a:solidFill>
              </a:rPr>
              <a:t>高频大功率管</a:t>
            </a:r>
            <a:endParaRPr lang="zh-CN" altLang="en-US" b="1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627784" y="476672"/>
            <a:ext cx="5410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1.3.1　晶体管的结构及类型</a:t>
            </a:r>
            <a:endParaRPr lang="zh-CN" altLang="en-US" sz="32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937221" y="6214192"/>
            <a:ext cx="59229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FF"/>
                </a:solidFill>
                <a:ea typeface="黑体" panose="02010609060101010101" pitchFamily="49" charset="-122"/>
              </a:rPr>
              <a:t>图 1.3</a:t>
            </a:r>
            <a:r>
              <a:rPr lang="zh-CN" altLang="en-US" b="1" dirty="0" smtClean="0">
                <a:solidFill>
                  <a:srgbClr val="FF00FF"/>
                </a:solidFill>
                <a:ea typeface="黑体" panose="02010609060101010101" pitchFamily="49" charset="-122"/>
              </a:rPr>
              <a:t>.</a:t>
            </a:r>
            <a:r>
              <a:rPr lang="en-US" altLang="zh-CN" b="1" dirty="0" smtClean="0">
                <a:solidFill>
                  <a:srgbClr val="FF00FF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rgbClr val="FF00FF"/>
                </a:solidFill>
                <a:ea typeface="黑体" panose="02010609060101010101" pitchFamily="49" charset="-122"/>
              </a:rPr>
              <a:t>　</a:t>
            </a:r>
            <a:r>
              <a:rPr lang="zh-CN" altLang="en-US" b="1" dirty="0">
                <a:solidFill>
                  <a:srgbClr val="FF00FF"/>
                </a:solidFill>
                <a:ea typeface="黑体" panose="02010609060101010101" pitchFamily="49" charset="-122"/>
              </a:rPr>
              <a:t>三极管结构示意图和符号　　</a:t>
            </a:r>
            <a:r>
              <a:rPr lang="en-US" altLang="zh-CN" sz="2200" b="1" dirty="0">
                <a:solidFill>
                  <a:srgbClr val="0000FF"/>
                </a:solidFill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</a:rPr>
              <a:t>）</a:t>
            </a:r>
            <a:r>
              <a:rPr lang="en-US" altLang="zh-CN" sz="2200" b="1" dirty="0">
                <a:solidFill>
                  <a:srgbClr val="0000FF"/>
                </a:solidFill>
              </a:rPr>
              <a:t>N</a:t>
            </a:r>
            <a:r>
              <a:rPr lang="en-US" altLang="zh-CN" sz="2200" b="1" dirty="0" smtClean="0">
                <a:solidFill>
                  <a:srgbClr val="0000FF"/>
                </a:solidFill>
              </a:rPr>
              <a:t>PN </a:t>
            </a:r>
            <a:r>
              <a:rPr lang="zh-CN" altLang="en-US" sz="2200" b="1" dirty="0">
                <a:solidFill>
                  <a:srgbClr val="0000FF"/>
                </a:solidFill>
              </a:rPr>
              <a:t>型</a:t>
            </a:r>
            <a:endParaRPr lang="zh-CN" altLang="en-US" sz="22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pSp>
        <p:nvGrpSpPr>
          <p:cNvPr id="14" name="Group 3"/>
          <p:cNvGrpSpPr/>
          <p:nvPr/>
        </p:nvGrpSpPr>
        <p:grpSpPr bwMode="auto">
          <a:xfrm>
            <a:off x="6704484" y="2439441"/>
            <a:ext cx="1752600" cy="3081337"/>
            <a:chOff x="4224" y="1728"/>
            <a:chExt cx="1104" cy="1941"/>
          </a:xfrm>
        </p:grpSpPr>
        <p:sp>
          <p:nvSpPr>
            <p:cNvPr id="15" name="Text Box 4"/>
            <p:cNvSpPr txBox="1">
              <a:spLocks noChangeArrowheads="1"/>
            </p:cNvSpPr>
            <p:nvPr/>
          </p:nvSpPr>
          <p:spPr bwMode="auto">
            <a:xfrm>
              <a:off x="5081" y="3017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FF3300"/>
                  </a:solidFill>
                </a:rPr>
                <a:t>e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4988" y="172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FF3300"/>
                  </a:solidFill>
                </a:rPr>
                <a:t>c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4224" y="254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FF3300"/>
                  </a:solidFill>
                </a:rPr>
                <a:t>b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18" name="Oval 7"/>
            <p:cNvSpPr>
              <a:spLocks noChangeArrowheads="1"/>
            </p:cNvSpPr>
            <p:nvPr/>
          </p:nvSpPr>
          <p:spPr bwMode="auto">
            <a:xfrm>
              <a:off x="4244" y="245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4628" y="2294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 flipV="1">
              <a:off x="4628" y="2306"/>
              <a:ext cx="33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>
              <a:off x="4628" y="2546"/>
              <a:ext cx="33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 flipH="1">
              <a:off x="4340" y="249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 flipV="1">
              <a:off x="4964" y="1922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13"/>
            <p:cNvSpPr>
              <a:spLocks noChangeShapeType="1"/>
            </p:cNvSpPr>
            <p:nvPr/>
          </p:nvSpPr>
          <p:spPr bwMode="auto">
            <a:xfrm>
              <a:off x="4952" y="267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14"/>
            <p:cNvSpPr>
              <a:spLocks noChangeArrowheads="1"/>
            </p:cNvSpPr>
            <p:nvPr/>
          </p:nvSpPr>
          <p:spPr bwMode="auto">
            <a:xfrm>
              <a:off x="4916" y="1826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4916" y="3122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16"/>
            <p:cNvSpPr txBox="1">
              <a:spLocks noChangeArrowheads="1"/>
            </p:cNvSpPr>
            <p:nvPr/>
          </p:nvSpPr>
          <p:spPr bwMode="auto">
            <a:xfrm>
              <a:off x="4478" y="3381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1"/>
                <a:t>符号</a:t>
              </a:r>
              <a:endParaRPr lang="zh-CN" altLang="en-US" b="1"/>
            </a:p>
          </p:txBody>
        </p:sp>
      </p:grp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5332884" y="1845716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/>
              <a:t>集电区</a:t>
            </a:r>
            <a:endParaRPr lang="zh-CN" altLang="en-US" sz="1800" b="1"/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5296372" y="2591841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集电结</a:t>
            </a:r>
            <a:endParaRPr lang="zh-CN" altLang="en-US"/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5518622" y="3233191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/>
              <a:t>基区</a:t>
            </a:r>
            <a:endParaRPr lang="zh-CN" altLang="en-US" b="1"/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5218584" y="3811041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发射结</a:t>
            </a:r>
            <a:endParaRPr lang="zh-CN" altLang="en-US" b="1"/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5294784" y="4649241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/>
              <a:t>发射区</a:t>
            </a:r>
            <a:endParaRPr lang="zh-CN" altLang="en-US" b="1"/>
          </a:p>
        </p:txBody>
      </p:sp>
      <p:sp>
        <p:nvSpPr>
          <p:cNvPr id="33" name="Line 22"/>
          <p:cNvSpPr>
            <a:spLocks noChangeShapeType="1"/>
          </p:cNvSpPr>
          <p:nvPr/>
        </p:nvSpPr>
        <p:spPr bwMode="auto">
          <a:xfrm flipV="1">
            <a:off x="4434359" y="2148928"/>
            <a:ext cx="898525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23"/>
          <p:cNvSpPr>
            <a:spLocks noChangeShapeType="1"/>
          </p:cNvSpPr>
          <p:nvPr/>
        </p:nvSpPr>
        <p:spPr bwMode="auto">
          <a:xfrm flipV="1">
            <a:off x="4358159" y="2910928"/>
            <a:ext cx="974725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 flipV="1">
            <a:off x="4358159" y="3506241"/>
            <a:ext cx="1087438" cy="106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4358159" y="3841203"/>
            <a:ext cx="898525" cy="136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4358159" y="4222203"/>
            <a:ext cx="1050925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3624734" y="1144041"/>
            <a:ext cx="131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>
                <a:solidFill>
                  <a:srgbClr val="3333FF"/>
                </a:solidFill>
              </a:rPr>
              <a:t>集电极 </a:t>
            </a:r>
            <a:r>
              <a:rPr lang="en-US" altLang="zh-CN" b="1">
                <a:solidFill>
                  <a:srgbClr val="3333FF"/>
                </a:solidFill>
              </a:rPr>
              <a:t>c</a:t>
            </a:r>
            <a:endParaRPr lang="en-US" altLang="zh-CN"/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1464147" y="2896641"/>
            <a:ext cx="1039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>
                <a:solidFill>
                  <a:srgbClr val="3333FF"/>
                </a:solidFill>
              </a:rPr>
              <a:t>基极 </a:t>
            </a:r>
            <a:r>
              <a:rPr lang="en-US" altLang="zh-CN" b="1">
                <a:solidFill>
                  <a:srgbClr val="3333FF"/>
                </a:solidFill>
              </a:rPr>
              <a:t>b</a:t>
            </a:r>
            <a:endParaRPr lang="en-US" altLang="zh-CN"/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3689822" y="5716041"/>
            <a:ext cx="131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>
                <a:solidFill>
                  <a:srgbClr val="3333FF"/>
                </a:solidFill>
              </a:rPr>
              <a:t>发射极 </a:t>
            </a:r>
            <a:r>
              <a:rPr lang="en-US" altLang="zh-CN" b="1">
                <a:solidFill>
                  <a:srgbClr val="3333FF"/>
                </a:solidFill>
              </a:rPr>
              <a:t>e</a:t>
            </a:r>
            <a:endParaRPr lang="en-US" altLang="zh-CN" sz="1800" b="1"/>
          </a:p>
        </p:txBody>
      </p:sp>
      <p:grpSp>
        <p:nvGrpSpPr>
          <p:cNvPr id="41" name="Group 30"/>
          <p:cNvGrpSpPr/>
          <p:nvPr/>
        </p:nvGrpSpPr>
        <p:grpSpPr bwMode="auto">
          <a:xfrm>
            <a:off x="1843559" y="1402803"/>
            <a:ext cx="2667000" cy="4648200"/>
            <a:chOff x="1162" y="682"/>
            <a:chExt cx="1680" cy="2928"/>
          </a:xfrm>
        </p:grpSpPr>
        <p:sp>
          <p:nvSpPr>
            <p:cNvPr id="42" name="Rectangle 31"/>
            <p:cNvSpPr>
              <a:spLocks noChangeArrowheads="1"/>
            </p:cNvSpPr>
            <p:nvPr/>
          </p:nvSpPr>
          <p:spPr bwMode="auto">
            <a:xfrm>
              <a:off x="1680" y="1104"/>
              <a:ext cx="1152" cy="1920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1690" y="1786"/>
              <a:ext cx="115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>
              <a:off x="1690" y="2218"/>
              <a:ext cx="115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V="1">
              <a:off x="2286" y="759"/>
              <a:ext cx="1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272" y="3034"/>
              <a:ext cx="1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 flipH="1">
              <a:off x="1258" y="1978"/>
              <a:ext cx="432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>
              <a:off x="1690" y="1738"/>
              <a:ext cx="1152" cy="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1690" y="2170"/>
              <a:ext cx="1152" cy="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39"/>
            <p:cNvSpPr>
              <a:spLocks noChangeShapeType="1"/>
            </p:cNvSpPr>
            <p:nvPr/>
          </p:nvSpPr>
          <p:spPr bwMode="auto">
            <a:xfrm>
              <a:off x="1690" y="2266"/>
              <a:ext cx="1152" cy="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>
              <a:off x="1690" y="1834"/>
              <a:ext cx="1152" cy="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Oval 41"/>
            <p:cNvSpPr>
              <a:spLocks noChangeArrowheads="1"/>
            </p:cNvSpPr>
            <p:nvPr/>
          </p:nvSpPr>
          <p:spPr bwMode="auto">
            <a:xfrm>
              <a:off x="1162" y="193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Oval 42"/>
            <p:cNvSpPr>
              <a:spLocks noChangeArrowheads="1"/>
            </p:cNvSpPr>
            <p:nvPr/>
          </p:nvSpPr>
          <p:spPr bwMode="auto">
            <a:xfrm>
              <a:off x="2248" y="682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Oval 43"/>
            <p:cNvSpPr>
              <a:spLocks noChangeArrowheads="1"/>
            </p:cNvSpPr>
            <p:nvPr/>
          </p:nvSpPr>
          <p:spPr bwMode="auto">
            <a:xfrm>
              <a:off x="2224" y="3514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Text Box 44"/>
            <p:cNvSpPr txBox="1">
              <a:spLocks noChangeArrowheads="1"/>
            </p:cNvSpPr>
            <p:nvPr/>
          </p:nvSpPr>
          <p:spPr bwMode="auto">
            <a:xfrm>
              <a:off x="2136" y="1298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</a:rPr>
                <a:t>N</a:t>
              </a:r>
              <a:endParaRPr lang="en-US" altLang="zh-CN" sz="2800" b="1"/>
            </a:p>
          </p:txBody>
        </p:sp>
        <p:sp>
          <p:nvSpPr>
            <p:cNvPr id="65" name="Text Box 45"/>
            <p:cNvSpPr txBox="1">
              <a:spLocks noChangeArrowheads="1"/>
            </p:cNvSpPr>
            <p:nvPr/>
          </p:nvSpPr>
          <p:spPr bwMode="auto">
            <a:xfrm>
              <a:off x="2136" y="2402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</a:rPr>
                <a:t>N</a:t>
              </a:r>
              <a:endParaRPr lang="en-US" altLang="zh-CN" sz="1600"/>
            </a:p>
          </p:txBody>
        </p:sp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1680" y="1776"/>
              <a:ext cx="115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Text Box 47"/>
            <p:cNvSpPr txBox="1">
              <a:spLocks noChangeArrowheads="1"/>
            </p:cNvSpPr>
            <p:nvPr/>
          </p:nvSpPr>
          <p:spPr bwMode="auto">
            <a:xfrm>
              <a:off x="2154" y="1824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</a:rPr>
                <a:t>P</a:t>
              </a:r>
              <a:endParaRPr lang="en-US" altLang="zh-CN" b="1"/>
            </a:p>
          </p:txBody>
        </p:sp>
        <p:sp>
          <p:nvSpPr>
            <p:cNvPr id="68" name="Line 48"/>
            <p:cNvSpPr>
              <a:spLocks noChangeShapeType="1"/>
            </p:cNvSpPr>
            <p:nvPr/>
          </p:nvSpPr>
          <p:spPr bwMode="auto">
            <a:xfrm>
              <a:off x="1680" y="1824"/>
              <a:ext cx="11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49"/>
            <p:cNvSpPr>
              <a:spLocks noChangeShapeType="1"/>
            </p:cNvSpPr>
            <p:nvPr/>
          </p:nvSpPr>
          <p:spPr bwMode="auto">
            <a:xfrm>
              <a:off x="1680" y="2160"/>
              <a:ext cx="11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627784" y="476672"/>
            <a:ext cx="5410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1.3.1　晶体管的结构及类型</a:t>
            </a:r>
            <a:endParaRPr lang="zh-CN" altLang="en-US" sz="32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52" name="Text Box 2"/>
          <p:cNvSpPr txBox="1">
            <a:spLocks noChangeArrowheads="1"/>
          </p:cNvSpPr>
          <p:nvPr/>
        </p:nvSpPr>
        <p:spPr bwMode="auto">
          <a:xfrm>
            <a:off x="5218411" y="1887611"/>
            <a:ext cx="2205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/>
              <a:t>集电区</a:t>
            </a:r>
            <a:endParaRPr lang="zh-CN" altLang="en-US" b="1"/>
          </a:p>
        </p:txBody>
      </p:sp>
      <p:sp>
        <p:nvSpPr>
          <p:cNvPr id="53" name="Text Box 3"/>
          <p:cNvSpPr txBox="1">
            <a:spLocks noChangeArrowheads="1"/>
          </p:cNvSpPr>
          <p:nvPr/>
        </p:nvSpPr>
        <p:spPr bwMode="auto">
          <a:xfrm>
            <a:off x="5216823" y="2679773"/>
            <a:ext cx="2054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集电结</a:t>
            </a:r>
            <a:endParaRPr lang="zh-CN" altLang="en-US" sz="1600" b="1"/>
          </a:p>
        </p:txBody>
      </p:sp>
      <p:sp>
        <p:nvSpPr>
          <p:cNvPr id="54" name="Text Box 4"/>
          <p:cNvSpPr txBox="1">
            <a:spLocks noChangeArrowheads="1"/>
          </p:cNvSpPr>
          <p:nvPr/>
        </p:nvSpPr>
        <p:spPr bwMode="auto">
          <a:xfrm>
            <a:off x="5293023" y="3321123"/>
            <a:ext cx="152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/>
              <a:t>基区</a:t>
            </a:r>
            <a:endParaRPr lang="zh-CN" altLang="en-US"/>
          </a:p>
        </p:txBody>
      </p:sp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5213648" y="4051373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发射结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56" name="Text Box 6"/>
          <p:cNvSpPr txBox="1">
            <a:spLocks noChangeArrowheads="1"/>
          </p:cNvSpPr>
          <p:nvPr/>
        </p:nvSpPr>
        <p:spPr bwMode="auto">
          <a:xfrm>
            <a:off x="5213648" y="4859411"/>
            <a:ext cx="1979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/>
              <a:t>发射区</a:t>
            </a:r>
            <a:endParaRPr lang="zh-CN" altLang="en-US" sz="1600" b="1"/>
          </a:p>
        </p:txBody>
      </p:sp>
      <p:sp>
        <p:nvSpPr>
          <p:cNvPr id="57" name="Line 7"/>
          <p:cNvSpPr>
            <a:spLocks noChangeShapeType="1"/>
          </p:cNvSpPr>
          <p:nvPr/>
        </p:nvSpPr>
        <p:spPr bwMode="auto">
          <a:xfrm flipV="1">
            <a:off x="4000798" y="2222573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8"/>
          <p:cNvSpPr>
            <a:spLocks noChangeShapeType="1"/>
          </p:cNvSpPr>
          <p:nvPr/>
        </p:nvSpPr>
        <p:spPr bwMode="auto">
          <a:xfrm flipV="1">
            <a:off x="4000798" y="3136973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9"/>
          <p:cNvSpPr>
            <a:spLocks noChangeShapeType="1"/>
          </p:cNvSpPr>
          <p:nvPr/>
        </p:nvSpPr>
        <p:spPr bwMode="auto">
          <a:xfrm>
            <a:off x="4000798" y="351797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10"/>
          <p:cNvSpPr>
            <a:spLocks noChangeShapeType="1"/>
          </p:cNvSpPr>
          <p:nvPr/>
        </p:nvSpPr>
        <p:spPr bwMode="auto">
          <a:xfrm>
            <a:off x="4076998" y="4051373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11"/>
          <p:cNvSpPr>
            <a:spLocks noChangeShapeType="1"/>
          </p:cNvSpPr>
          <p:nvPr/>
        </p:nvSpPr>
        <p:spPr bwMode="auto">
          <a:xfrm>
            <a:off x="4076998" y="4813373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Text Box 12"/>
          <p:cNvSpPr txBox="1">
            <a:spLocks noChangeArrowheads="1"/>
          </p:cNvSpPr>
          <p:nvPr/>
        </p:nvSpPr>
        <p:spPr bwMode="auto">
          <a:xfrm>
            <a:off x="3224511" y="1354211"/>
            <a:ext cx="1912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集电极 </a:t>
            </a:r>
            <a:r>
              <a:rPr lang="en-US" altLang="zh-CN" b="1">
                <a:solidFill>
                  <a:srgbClr val="0000FF"/>
                </a:solidFill>
              </a:rPr>
              <a:t>c</a:t>
            </a:r>
            <a:endParaRPr lang="en-US" altLang="zh-CN" b="1">
              <a:solidFill>
                <a:srgbClr val="0000FF"/>
              </a:solidFill>
            </a:endParaRPr>
          </a:p>
        </p:txBody>
      </p: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3308648" y="5499173"/>
            <a:ext cx="159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发射极 </a:t>
            </a:r>
            <a:r>
              <a:rPr lang="en-US" altLang="zh-CN" b="1">
                <a:solidFill>
                  <a:srgbClr val="0000FF"/>
                </a:solidFill>
              </a:rPr>
              <a:t>e</a:t>
            </a:r>
            <a:endParaRPr lang="en-US" altLang="zh-CN"/>
          </a:p>
        </p:txBody>
      </p:sp>
      <p:sp>
        <p:nvSpPr>
          <p:cNvPr id="75" name="Text Box 14"/>
          <p:cNvSpPr txBox="1">
            <a:spLocks noChangeArrowheads="1"/>
          </p:cNvSpPr>
          <p:nvPr/>
        </p:nvSpPr>
        <p:spPr bwMode="auto">
          <a:xfrm>
            <a:off x="938511" y="3106811"/>
            <a:ext cx="1531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基极 </a:t>
            </a:r>
            <a:r>
              <a:rPr lang="en-US" altLang="zh-CN" b="1">
                <a:solidFill>
                  <a:srgbClr val="0000FF"/>
                </a:solidFill>
              </a:rPr>
              <a:t>b</a:t>
            </a:r>
            <a:endParaRPr lang="en-US" altLang="zh-CN" sz="1600" b="1"/>
          </a:p>
        </p:txBody>
      </p:sp>
      <p:grpSp>
        <p:nvGrpSpPr>
          <p:cNvPr id="76" name="Group 15"/>
          <p:cNvGrpSpPr/>
          <p:nvPr/>
        </p:nvGrpSpPr>
        <p:grpSpPr bwMode="auto">
          <a:xfrm>
            <a:off x="6753523" y="2709936"/>
            <a:ext cx="2155825" cy="3368675"/>
            <a:chOff x="322" y="1680"/>
            <a:chExt cx="1358" cy="2122"/>
          </a:xfrm>
        </p:grpSpPr>
        <p:sp>
          <p:nvSpPr>
            <p:cNvPr id="77" name="Line 16"/>
            <p:cNvSpPr>
              <a:spLocks noChangeShapeType="1"/>
            </p:cNvSpPr>
            <p:nvPr/>
          </p:nvSpPr>
          <p:spPr bwMode="auto">
            <a:xfrm>
              <a:off x="864" y="2304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17"/>
            <p:cNvSpPr>
              <a:spLocks noChangeShapeType="1"/>
            </p:cNvSpPr>
            <p:nvPr/>
          </p:nvSpPr>
          <p:spPr bwMode="auto">
            <a:xfrm flipV="1">
              <a:off x="864" y="2304"/>
              <a:ext cx="288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18"/>
            <p:cNvSpPr>
              <a:spLocks noChangeShapeType="1"/>
            </p:cNvSpPr>
            <p:nvPr/>
          </p:nvSpPr>
          <p:spPr bwMode="auto">
            <a:xfrm rot="-290322" flipH="1" flipV="1">
              <a:off x="863" y="2495"/>
              <a:ext cx="289" cy="2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19"/>
            <p:cNvSpPr>
              <a:spLocks noChangeShapeType="1"/>
            </p:cNvSpPr>
            <p:nvPr/>
          </p:nvSpPr>
          <p:spPr bwMode="auto">
            <a:xfrm flipV="1">
              <a:off x="1152" y="187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20"/>
            <p:cNvSpPr>
              <a:spLocks noChangeShapeType="1"/>
            </p:cNvSpPr>
            <p:nvPr/>
          </p:nvSpPr>
          <p:spPr bwMode="auto">
            <a:xfrm>
              <a:off x="1152" y="2736"/>
              <a:ext cx="0" cy="3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21"/>
            <p:cNvSpPr>
              <a:spLocks noChangeShapeType="1"/>
            </p:cNvSpPr>
            <p:nvPr/>
          </p:nvSpPr>
          <p:spPr bwMode="auto">
            <a:xfrm flipH="1">
              <a:off x="480" y="2496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22"/>
            <p:cNvSpPr txBox="1">
              <a:spLocks noChangeArrowheads="1"/>
            </p:cNvSpPr>
            <p:nvPr/>
          </p:nvSpPr>
          <p:spPr bwMode="auto">
            <a:xfrm>
              <a:off x="838" y="3590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/>
                <a:t>　</a:t>
              </a:r>
              <a:endParaRPr lang="zh-CN" altLang="en-US" sz="1600"/>
            </a:p>
          </p:txBody>
        </p:sp>
        <p:sp>
          <p:nvSpPr>
            <p:cNvPr id="84" name="Text Box 23"/>
            <p:cNvSpPr txBox="1">
              <a:spLocks noChangeArrowheads="1"/>
            </p:cNvSpPr>
            <p:nvPr/>
          </p:nvSpPr>
          <p:spPr bwMode="auto">
            <a:xfrm>
              <a:off x="1152" y="1680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600"/>
                <a:t>　</a:t>
              </a:r>
              <a:endParaRPr lang="zh-CN" altLang="en-US" sz="1600"/>
            </a:p>
          </p:txBody>
        </p:sp>
        <p:sp>
          <p:nvSpPr>
            <p:cNvPr id="85" name="Text Box 24"/>
            <p:cNvSpPr txBox="1">
              <a:spLocks noChangeArrowheads="1"/>
            </p:cNvSpPr>
            <p:nvPr/>
          </p:nvSpPr>
          <p:spPr bwMode="auto">
            <a:xfrm>
              <a:off x="1104" y="1709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0000FF"/>
                  </a:solidFill>
                </a:rPr>
                <a:t>c</a:t>
              </a:r>
              <a:endParaRPr lang="en-US" altLang="zh-CN" b="1"/>
            </a:p>
          </p:txBody>
        </p:sp>
        <p:sp>
          <p:nvSpPr>
            <p:cNvPr id="86" name="Text Box 25"/>
            <p:cNvSpPr txBox="1">
              <a:spLocks noChangeArrowheads="1"/>
            </p:cNvSpPr>
            <p:nvPr/>
          </p:nvSpPr>
          <p:spPr bwMode="auto">
            <a:xfrm>
              <a:off x="322" y="2545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>
                <a:solidFill>
                  <a:srgbClr val="0000FF"/>
                </a:solidFill>
              </a:endParaRPr>
            </a:p>
          </p:txBody>
        </p:sp>
        <p:sp>
          <p:nvSpPr>
            <p:cNvPr id="87" name="Text Box 26"/>
            <p:cNvSpPr txBox="1">
              <a:spLocks noChangeArrowheads="1"/>
            </p:cNvSpPr>
            <p:nvPr/>
          </p:nvSpPr>
          <p:spPr bwMode="auto">
            <a:xfrm>
              <a:off x="1197" y="3025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0000FF"/>
                  </a:solidFill>
                </a:rPr>
                <a:t>e</a:t>
              </a:r>
              <a:endParaRPr lang="en-US" altLang="zh-CN" b="1"/>
            </a:p>
          </p:txBody>
        </p:sp>
        <p:sp>
          <p:nvSpPr>
            <p:cNvPr id="88" name="Oval 27"/>
            <p:cNvSpPr>
              <a:spLocks noChangeArrowheads="1"/>
            </p:cNvSpPr>
            <p:nvPr/>
          </p:nvSpPr>
          <p:spPr bwMode="auto">
            <a:xfrm>
              <a:off x="384" y="2448"/>
              <a:ext cx="96" cy="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Oval 28"/>
            <p:cNvSpPr>
              <a:spLocks noChangeArrowheads="1"/>
            </p:cNvSpPr>
            <p:nvPr/>
          </p:nvSpPr>
          <p:spPr bwMode="auto">
            <a:xfrm>
              <a:off x="1104" y="1824"/>
              <a:ext cx="96" cy="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Oval 29"/>
            <p:cNvSpPr>
              <a:spLocks noChangeArrowheads="1"/>
            </p:cNvSpPr>
            <p:nvPr/>
          </p:nvSpPr>
          <p:spPr bwMode="auto">
            <a:xfrm>
              <a:off x="1104" y="3120"/>
              <a:ext cx="96" cy="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Text Box 30"/>
            <p:cNvSpPr txBox="1">
              <a:spLocks noChangeArrowheads="1"/>
            </p:cNvSpPr>
            <p:nvPr/>
          </p:nvSpPr>
          <p:spPr bwMode="auto">
            <a:xfrm>
              <a:off x="1216" y="2339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zh-CN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92" name="Text Box 31"/>
            <p:cNvSpPr txBox="1">
              <a:spLocks noChangeArrowheads="1"/>
            </p:cNvSpPr>
            <p:nvPr/>
          </p:nvSpPr>
          <p:spPr bwMode="auto">
            <a:xfrm>
              <a:off x="768" y="3312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/>
                <a:t>符号</a:t>
              </a:r>
              <a:endParaRPr lang="zh-CN" altLang="en-US" b="1"/>
            </a:p>
          </p:txBody>
        </p:sp>
      </p:grpSp>
      <p:grpSp>
        <p:nvGrpSpPr>
          <p:cNvPr id="93" name="Group 32"/>
          <p:cNvGrpSpPr/>
          <p:nvPr/>
        </p:nvGrpSpPr>
        <p:grpSpPr bwMode="auto">
          <a:xfrm>
            <a:off x="1403648" y="1689173"/>
            <a:ext cx="6858000" cy="4881563"/>
            <a:chOff x="576" y="892"/>
            <a:chExt cx="4320" cy="3075"/>
          </a:xfrm>
        </p:grpSpPr>
        <p:grpSp>
          <p:nvGrpSpPr>
            <p:cNvPr id="94" name="Group 33"/>
            <p:cNvGrpSpPr/>
            <p:nvPr/>
          </p:nvGrpSpPr>
          <p:grpSpPr bwMode="auto">
            <a:xfrm>
              <a:off x="580" y="892"/>
              <a:ext cx="1680" cy="2544"/>
              <a:chOff x="580" y="892"/>
              <a:chExt cx="1680" cy="2544"/>
            </a:xfrm>
          </p:grpSpPr>
          <p:sp>
            <p:nvSpPr>
              <p:cNvPr id="96" name="Line 34"/>
              <p:cNvSpPr>
                <a:spLocks noChangeShapeType="1"/>
              </p:cNvSpPr>
              <p:nvPr/>
            </p:nvSpPr>
            <p:spPr bwMode="auto">
              <a:xfrm flipH="1">
                <a:off x="1696" y="3004"/>
                <a:ext cx="4" cy="4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Line 35"/>
              <p:cNvSpPr>
                <a:spLocks noChangeShapeType="1"/>
              </p:cNvSpPr>
              <p:nvPr/>
            </p:nvSpPr>
            <p:spPr bwMode="auto">
              <a:xfrm flipH="1">
                <a:off x="676" y="214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36"/>
              <p:cNvSpPr>
                <a:spLocks noChangeShapeType="1"/>
              </p:cNvSpPr>
              <p:nvPr/>
            </p:nvSpPr>
            <p:spPr bwMode="auto">
              <a:xfrm flipV="1">
                <a:off x="1716" y="940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Text Box 37"/>
              <p:cNvSpPr txBox="1">
                <a:spLocks noChangeArrowheads="1"/>
              </p:cNvSpPr>
              <p:nvPr/>
            </p:nvSpPr>
            <p:spPr bwMode="auto">
              <a:xfrm>
                <a:off x="1144" y="2122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>
                    <a:solidFill>
                      <a:srgbClr val="FF00FF"/>
                    </a:solidFill>
                  </a:rPr>
                  <a:t>N</a:t>
                </a:r>
                <a:endParaRPr lang="en-US" altLang="zh-CN" sz="2000">
                  <a:solidFill>
                    <a:srgbClr val="FF00FF"/>
                  </a:solidFill>
                </a:endParaRPr>
              </a:p>
            </p:txBody>
          </p:sp>
          <p:sp>
            <p:nvSpPr>
              <p:cNvPr id="100" name="Oval 38"/>
              <p:cNvSpPr>
                <a:spLocks noChangeArrowheads="1"/>
              </p:cNvSpPr>
              <p:nvPr/>
            </p:nvSpPr>
            <p:spPr bwMode="auto">
              <a:xfrm>
                <a:off x="1668" y="89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Oval 39"/>
              <p:cNvSpPr>
                <a:spLocks noChangeArrowheads="1"/>
              </p:cNvSpPr>
              <p:nvPr/>
            </p:nvSpPr>
            <p:spPr bwMode="auto">
              <a:xfrm>
                <a:off x="580" y="209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Oval 40"/>
              <p:cNvSpPr>
                <a:spLocks noChangeArrowheads="1"/>
              </p:cNvSpPr>
              <p:nvPr/>
            </p:nvSpPr>
            <p:spPr bwMode="auto">
              <a:xfrm>
                <a:off x="1652" y="334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Text Box 41"/>
              <p:cNvSpPr txBox="1">
                <a:spLocks noChangeArrowheads="1"/>
              </p:cNvSpPr>
              <p:nvPr/>
            </p:nvSpPr>
            <p:spPr bwMode="auto">
              <a:xfrm>
                <a:off x="1540" y="1468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800" b="1"/>
                  <a:t>N</a:t>
                </a:r>
                <a:endParaRPr lang="en-US" altLang="zh-CN" sz="1800" b="1"/>
              </a:p>
            </p:txBody>
          </p:sp>
          <p:sp>
            <p:nvSpPr>
              <p:cNvPr id="104" name="Rectangle 42"/>
              <p:cNvSpPr>
                <a:spLocks noChangeArrowheads="1"/>
              </p:cNvSpPr>
              <p:nvPr/>
            </p:nvSpPr>
            <p:spPr bwMode="auto">
              <a:xfrm>
                <a:off x="1108" y="1324"/>
                <a:ext cx="1152" cy="624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Rectangle 43"/>
              <p:cNvSpPr>
                <a:spLocks noChangeArrowheads="1"/>
              </p:cNvSpPr>
              <p:nvPr/>
            </p:nvSpPr>
            <p:spPr bwMode="auto">
              <a:xfrm>
                <a:off x="1108" y="2380"/>
                <a:ext cx="1152" cy="624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Rectangle 44"/>
              <p:cNvSpPr>
                <a:spLocks noChangeArrowheads="1"/>
              </p:cNvSpPr>
              <p:nvPr/>
            </p:nvSpPr>
            <p:spPr bwMode="auto">
              <a:xfrm>
                <a:off x="1108" y="1948"/>
                <a:ext cx="1152" cy="432"/>
              </a:xfrm>
              <a:prstGeom prst="rect">
                <a:avLst/>
              </a:prstGeom>
              <a:solidFill>
                <a:srgbClr val="99FFCC"/>
              </a:solidFill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Line 45"/>
              <p:cNvSpPr>
                <a:spLocks noChangeShapeType="1"/>
              </p:cNvSpPr>
              <p:nvPr/>
            </p:nvSpPr>
            <p:spPr bwMode="auto">
              <a:xfrm>
                <a:off x="1108" y="1852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auto">
              <a:xfrm>
                <a:off x="1108" y="1996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auto">
              <a:xfrm>
                <a:off x="1108" y="2428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auto">
              <a:xfrm>
                <a:off x="1108" y="2284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Text Box 49"/>
              <p:cNvSpPr txBox="1">
                <a:spLocks noChangeArrowheads="1"/>
              </p:cNvSpPr>
              <p:nvPr/>
            </p:nvSpPr>
            <p:spPr bwMode="auto">
              <a:xfrm>
                <a:off x="1595" y="1420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>
                    <a:ea typeface="方正琥珀繁体" pitchFamily="2" charset="-122"/>
                  </a:rPr>
                  <a:t>P</a:t>
                </a:r>
                <a:endParaRPr lang="en-US" altLang="zh-CN" sz="1800" b="1">
                  <a:ea typeface="方正琥珀繁体" pitchFamily="2" charset="-122"/>
                </a:endParaRPr>
              </a:p>
            </p:txBody>
          </p:sp>
          <p:sp>
            <p:nvSpPr>
              <p:cNvPr id="112" name="Text Box 50"/>
              <p:cNvSpPr txBox="1">
                <a:spLocks noChangeArrowheads="1"/>
              </p:cNvSpPr>
              <p:nvPr/>
            </p:nvSpPr>
            <p:spPr bwMode="auto">
              <a:xfrm>
                <a:off x="1588" y="2524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>
                    <a:ea typeface="方正琥珀繁体" pitchFamily="2" charset="-122"/>
                  </a:rPr>
                  <a:t>P</a:t>
                </a:r>
                <a:endParaRPr lang="en-US" altLang="zh-CN" sz="1800" b="1">
                  <a:ea typeface="方正琥珀繁体" pitchFamily="2" charset="-122"/>
                </a:endParaRPr>
              </a:p>
            </p:txBody>
          </p:sp>
          <p:sp>
            <p:nvSpPr>
              <p:cNvPr id="113" name="Text Box 51"/>
              <p:cNvSpPr txBox="1">
                <a:spLocks noChangeArrowheads="1"/>
              </p:cNvSpPr>
              <p:nvPr/>
            </p:nvSpPr>
            <p:spPr bwMode="auto">
              <a:xfrm>
                <a:off x="1573" y="199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>
                    <a:ea typeface="方正琥珀繁体" pitchFamily="2" charset="-122"/>
                  </a:rPr>
                  <a:t>N</a:t>
                </a:r>
                <a:endParaRPr lang="en-US" altLang="zh-CN" b="1">
                  <a:ea typeface="方正琥珀繁体" pitchFamily="2" charset="-122"/>
                </a:endParaRPr>
              </a:p>
            </p:txBody>
          </p:sp>
        </p:grpSp>
        <p:sp>
          <p:nvSpPr>
            <p:cNvPr id="95" name="Text Box 52"/>
            <p:cNvSpPr txBox="1">
              <a:spLocks noChangeArrowheads="1"/>
            </p:cNvSpPr>
            <p:nvPr/>
          </p:nvSpPr>
          <p:spPr bwMode="auto">
            <a:xfrm>
              <a:off x="576" y="3696"/>
              <a:ext cx="432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FF"/>
                  </a:solidFill>
                  <a:ea typeface="黑体" panose="02010609060101010101" pitchFamily="49" charset="-122"/>
                </a:rPr>
                <a:t>图 1.3</a:t>
              </a:r>
              <a:r>
                <a:rPr lang="zh-CN" altLang="en-US" b="1" dirty="0" smtClean="0">
                  <a:solidFill>
                    <a:srgbClr val="FF00FF"/>
                  </a:solidFill>
                  <a:ea typeface="黑体" panose="02010609060101010101" pitchFamily="49" charset="-122"/>
                </a:rPr>
                <a:t>.</a:t>
              </a:r>
              <a:r>
                <a:rPr lang="en-US" altLang="zh-CN" b="1" dirty="0" smtClean="0">
                  <a:solidFill>
                    <a:srgbClr val="FF00FF"/>
                  </a:solidFill>
                  <a:ea typeface="黑体" panose="02010609060101010101" pitchFamily="49" charset="-122"/>
                </a:rPr>
                <a:t>1</a:t>
              </a:r>
              <a:r>
                <a:rPr lang="zh-CN" altLang="en-US" b="1" dirty="0">
                  <a:solidFill>
                    <a:srgbClr val="FF00FF"/>
                  </a:solidFill>
                  <a:ea typeface="黑体" panose="02010609060101010101" pitchFamily="49" charset="-122"/>
                </a:rPr>
                <a:t>　三极管结构示意图和符号　</a:t>
              </a:r>
              <a:r>
                <a:rPr lang="zh-CN" altLang="en-US" sz="22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200" b="1" dirty="0">
                  <a:solidFill>
                    <a:srgbClr val="0000FF"/>
                  </a:solidFill>
                </a:rPr>
                <a:t>b</a:t>
              </a:r>
              <a:r>
                <a:rPr lang="en-US" altLang="zh-CN" sz="22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)</a:t>
              </a:r>
              <a:r>
                <a:rPr lang="en-US" altLang="zh-CN" sz="2200" b="1" dirty="0">
                  <a:solidFill>
                    <a:srgbClr val="0000FF"/>
                  </a:solidFill>
                </a:rPr>
                <a:t>PNP </a:t>
              </a:r>
              <a:r>
                <a:rPr lang="zh-CN" altLang="en-US" sz="2200" b="1" dirty="0">
                  <a:solidFill>
                    <a:srgbClr val="0000FF"/>
                  </a:solidFill>
                </a:rPr>
                <a:t>型</a:t>
              </a:r>
              <a:endParaRPr lang="zh-CN" altLang="en-US" sz="2200" b="1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2466181" y="528637"/>
            <a:ext cx="5715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43330" indent="-1243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4338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24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148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05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625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197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769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34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FF3300"/>
                </a:solidFill>
                <a:ea typeface="楷体_GB2312" pitchFamily="49" charset="-122"/>
              </a:rPr>
              <a:t>1.3.2　晶体管的电流放大作用</a:t>
            </a:r>
            <a:endParaRPr lang="zh-CN" altLang="en-US" sz="32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1066800" y="1295400"/>
            <a:ext cx="4953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600" b="1"/>
              <a:t>以 </a:t>
            </a:r>
            <a:r>
              <a:rPr lang="en-US" altLang="zh-CN" sz="2600" b="1"/>
              <a:t>NPN </a:t>
            </a:r>
            <a:r>
              <a:rPr lang="zh-CN" altLang="en-US" sz="2600" b="1"/>
              <a:t>型三极管为例讨论</a:t>
            </a:r>
            <a:endParaRPr lang="zh-CN" altLang="en-US" sz="2600" b="1"/>
          </a:p>
        </p:txBody>
      </p:sp>
      <p:grpSp>
        <p:nvGrpSpPr>
          <p:cNvPr id="61" name="Group 4"/>
          <p:cNvGrpSpPr/>
          <p:nvPr/>
        </p:nvGrpSpPr>
        <p:grpSpPr bwMode="auto">
          <a:xfrm>
            <a:off x="381000" y="1981200"/>
            <a:ext cx="2667000" cy="4572000"/>
            <a:chOff x="240" y="1248"/>
            <a:chExt cx="1680" cy="2880"/>
          </a:xfrm>
        </p:grpSpPr>
        <p:sp>
          <p:nvSpPr>
            <p:cNvPr id="62" name="Text Box 5"/>
            <p:cNvSpPr txBox="1">
              <a:spLocks noChangeArrowheads="1"/>
            </p:cNvSpPr>
            <p:nvPr/>
          </p:nvSpPr>
          <p:spPr bwMode="auto">
            <a:xfrm>
              <a:off x="1488" y="124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</a:rPr>
                <a:t>c</a:t>
              </a:r>
              <a:endParaRPr lang="en-US" altLang="zh-CN" sz="2800" b="1">
                <a:solidFill>
                  <a:srgbClr val="FF3300"/>
                </a:solidFill>
              </a:endParaRPr>
            </a:p>
          </p:txBody>
        </p:sp>
        <p:grpSp>
          <p:nvGrpSpPr>
            <p:cNvPr id="63" name="Group 6"/>
            <p:cNvGrpSpPr/>
            <p:nvPr/>
          </p:nvGrpSpPr>
          <p:grpSpPr bwMode="auto">
            <a:xfrm>
              <a:off x="240" y="1392"/>
              <a:ext cx="1680" cy="2736"/>
              <a:chOff x="240" y="1392"/>
              <a:chExt cx="1680" cy="2736"/>
            </a:xfrm>
          </p:grpSpPr>
          <p:grpSp>
            <p:nvGrpSpPr>
              <p:cNvPr id="64" name="Group 7"/>
              <p:cNvGrpSpPr/>
              <p:nvPr/>
            </p:nvGrpSpPr>
            <p:grpSpPr bwMode="auto">
              <a:xfrm>
                <a:off x="480" y="1392"/>
                <a:ext cx="1306" cy="2659"/>
                <a:chOff x="1018" y="1315"/>
                <a:chExt cx="1680" cy="2928"/>
              </a:xfrm>
            </p:grpSpPr>
            <p:sp>
              <p:nvSpPr>
                <p:cNvPr id="67" name="Rectangle 8"/>
                <p:cNvSpPr>
                  <a:spLocks noChangeArrowheads="1"/>
                </p:cNvSpPr>
                <p:nvPr/>
              </p:nvSpPr>
              <p:spPr bwMode="auto">
                <a:xfrm>
                  <a:off x="1536" y="1737"/>
                  <a:ext cx="1152" cy="1920"/>
                </a:xfrm>
                <a:prstGeom prst="rect">
                  <a:avLst/>
                </a:prstGeom>
                <a:solidFill>
                  <a:srgbClr val="CCFFFF"/>
                </a:solidFill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68" name="Line 9"/>
                <p:cNvSpPr>
                  <a:spLocks noChangeShapeType="1"/>
                </p:cNvSpPr>
                <p:nvPr/>
              </p:nvSpPr>
              <p:spPr bwMode="auto">
                <a:xfrm>
                  <a:off x="1546" y="2419"/>
                  <a:ext cx="1152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Line 10"/>
                <p:cNvSpPr>
                  <a:spLocks noChangeShapeType="1"/>
                </p:cNvSpPr>
                <p:nvPr/>
              </p:nvSpPr>
              <p:spPr bwMode="auto">
                <a:xfrm>
                  <a:off x="1546" y="2851"/>
                  <a:ext cx="1152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112" y="1392"/>
                  <a:ext cx="1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Line 12"/>
                <p:cNvSpPr>
                  <a:spLocks noChangeShapeType="1"/>
                </p:cNvSpPr>
                <p:nvPr/>
              </p:nvSpPr>
              <p:spPr bwMode="auto">
                <a:xfrm>
                  <a:off x="2170" y="3667"/>
                  <a:ext cx="1" cy="4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6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114" y="2611"/>
                  <a:ext cx="432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7" name="Line 14"/>
                <p:cNvSpPr>
                  <a:spLocks noChangeShapeType="1"/>
                </p:cNvSpPr>
                <p:nvPr/>
              </p:nvSpPr>
              <p:spPr bwMode="auto">
                <a:xfrm>
                  <a:off x="1546" y="2371"/>
                  <a:ext cx="1152" cy="1"/>
                </a:xfrm>
                <a:prstGeom prst="line">
                  <a:avLst/>
                </a:prstGeom>
                <a:noFill/>
                <a:ln w="28575">
                  <a:solidFill>
                    <a:srgbClr val="FF00FF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Line 15"/>
                <p:cNvSpPr>
                  <a:spLocks noChangeShapeType="1"/>
                </p:cNvSpPr>
                <p:nvPr/>
              </p:nvSpPr>
              <p:spPr bwMode="auto">
                <a:xfrm>
                  <a:off x="1546" y="2803"/>
                  <a:ext cx="1152" cy="1"/>
                </a:xfrm>
                <a:prstGeom prst="line">
                  <a:avLst/>
                </a:prstGeom>
                <a:noFill/>
                <a:ln w="28575">
                  <a:solidFill>
                    <a:srgbClr val="FF00FF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Line 16"/>
                <p:cNvSpPr>
                  <a:spLocks noChangeShapeType="1"/>
                </p:cNvSpPr>
                <p:nvPr/>
              </p:nvSpPr>
              <p:spPr bwMode="auto">
                <a:xfrm>
                  <a:off x="1546" y="2899"/>
                  <a:ext cx="1152" cy="1"/>
                </a:xfrm>
                <a:prstGeom prst="line">
                  <a:avLst/>
                </a:prstGeom>
                <a:noFill/>
                <a:ln w="28575">
                  <a:solidFill>
                    <a:srgbClr val="FF00FF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0" name="Line 17"/>
                <p:cNvSpPr>
                  <a:spLocks noChangeShapeType="1"/>
                </p:cNvSpPr>
                <p:nvPr/>
              </p:nvSpPr>
              <p:spPr bwMode="auto">
                <a:xfrm>
                  <a:off x="1546" y="2467"/>
                  <a:ext cx="1152" cy="1"/>
                </a:xfrm>
                <a:prstGeom prst="line">
                  <a:avLst/>
                </a:prstGeom>
                <a:noFill/>
                <a:ln w="28575">
                  <a:solidFill>
                    <a:srgbClr val="FF00FF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Oval 18"/>
                <p:cNvSpPr>
                  <a:spLocks noChangeArrowheads="1"/>
                </p:cNvSpPr>
                <p:nvPr/>
              </p:nvSpPr>
              <p:spPr bwMode="auto">
                <a:xfrm>
                  <a:off x="1018" y="2563"/>
                  <a:ext cx="96" cy="9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2" name="Oval 19"/>
                <p:cNvSpPr>
                  <a:spLocks noChangeArrowheads="1"/>
                </p:cNvSpPr>
                <p:nvPr/>
              </p:nvSpPr>
              <p:spPr bwMode="auto">
                <a:xfrm>
                  <a:off x="2074" y="1315"/>
                  <a:ext cx="96" cy="9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" name="Oval 20"/>
                <p:cNvSpPr>
                  <a:spLocks noChangeArrowheads="1"/>
                </p:cNvSpPr>
                <p:nvPr/>
              </p:nvSpPr>
              <p:spPr bwMode="auto">
                <a:xfrm>
                  <a:off x="2122" y="4147"/>
                  <a:ext cx="96" cy="9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952" y="1914"/>
                  <a:ext cx="358" cy="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800" b="1">
                      <a:solidFill>
                        <a:srgbClr val="FF0000"/>
                      </a:solidFill>
                    </a:rPr>
                    <a:t>N</a:t>
                  </a:r>
                  <a:endParaRPr lang="en-US" altLang="zh-CN" sz="2800" b="1"/>
                </a:p>
              </p:txBody>
            </p:sp>
            <p:sp>
              <p:nvSpPr>
                <p:cNvPr id="12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952" y="3019"/>
                  <a:ext cx="358" cy="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800" b="1">
                      <a:solidFill>
                        <a:srgbClr val="FF0000"/>
                      </a:solidFill>
                    </a:rPr>
                    <a:t>N</a:t>
                  </a:r>
                  <a:endParaRPr lang="en-US" altLang="zh-CN" sz="1600"/>
                </a:p>
              </p:txBody>
            </p:sp>
            <p:sp>
              <p:nvSpPr>
                <p:cNvPr id="126" name="Rectangle 23"/>
                <p:cNvSpPr>
                  <a:spLocks noChangeArrowheads="1"/>
                </p:cNvSpPr>
                <p:nvPr/>
              </p:nvSpPr>
              <p:spPr bwMode="auto">
                <a:xfrm>
                  <a:off x="1536" y="2409"/>
                  <a:ext cx="1152" cy="432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974" y="2440"/>
                  <a:ext cx="325" cy="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800" b="1">
                      <a:solidFill>
                        <a:srgbClr val="FF0000"/>
                      </a:solidFill>
                    </a:rPr>
                    <a:t>P</a:t>
                  </a:r>
                  <a:endParaRPr lang="en-US" altLang="zh-CN" b="1"/>
                </a:p>
              </p:txBody>
            </p:sp>
            <p:sp>
              <p:nvSpPr>
                <p:cNvPr id="128" name="Line 25"/>
                <p:cNvSpPr>
                  <a:spLocks noChangeShapeType="1"/>
                </p:cNvSpPr>
                <p:nvPr/>
              </p:nvSpPr>
              <p:spPr bwMode="auto">
                <a:xfrm>
                  <a:off x="1536" y="2457"/>
                  <a:ext cx="1152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9" name="Line 26"/>
                <p:cNvSpPr>
                  <a:spLocks noChangeShapeType="1"/>
                </p:cNvSpPr>
                <p:nvPr/>
              </p:nvSpPr>
              <p:spPr bwMode="auto">
                <a:xfrm>
                  <a:off x="1536" y="2793"/>
                  <a:ext cx="1152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5" name="Text Box 27"/>
              <p:cNvSpPr txBox="1">
                <a:spLocks noChangeArrowheads="1"/>
              </p:cNvSpPr>
              <p:nvPr/>
            </p:nvSpPr>
            <p:spPr bwMode="auto">
              <a:xfrm>
                <a:off x="1536" y="3801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</a:rPr>
                  <a:t>e</a:t>
                </a:r>
                <a:endParaRPr lang="en-US" altLang="zh-CN" sz="2800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66" name="Text Box 28"/>
              <p:cNvSpPr txBox="1">
                <a:spLocks noChangeArrowheads="1"/>
              </p:cNvSpPr>
              <p:nvPr/>
            </p:nvSpPr>
            <p:spPr bwMode="auto">
              <a:xfrm>
                <a:off x="240" y="2400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</a:rPr>
                  <a:t>b</a:t>
                </a:r>
                <a:endParaRPr lang="en-US" altLang="zh-CN" sz="2800" b="1">
                  <a:solidFill>
                    <a:srgbClr val="FF3300"/>
                  </a:solidFill>
                </a:endParaRPr>
              </a:p>
            </p:txBody>
          </p:sp>
        </p:grpSp>
      </p:grpSp>
      <p:grpSp>
        <p:nvGrpSpPr>
          <p:cNvPr id="130" name="Group 29"/>
          <p:cNvGrpSpPr/>
          <p:nvPr/>
        </p:nvGrpSpPr>
        <p:grpSpPr bwMode="auto">
          <a:xfrm>
            <a:off x="4267200" y="1995488"/>
            <a:ext cx="1703388" cy="3871912"/>
            <a:chOff x="2934" y="1296"/>
            <a:chExt cx="1073" cy="2439"/>
          </a:xfrm>
        </p:grpSpPr>
        <p:sp>
          <p:nvSpPr>
            <p:cNvPr id="131" name="Line 30"/>
            <p:cNvSpPr>
              <a:spLocks noChangeShapeType="1"/>
            </p:cNvSpPr>
            <p:nvPr/>
          </p:nvSpPr>
          <p:spPr bwMode="auto">
            <a:xfrm flipV="1">
              <a:off x="3744" y="1584"/>
              <a:ext cx="0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Line 31"/>
            <p:cNvSpPr>
              <a:spLocks noChangeShapeType="1"/>
            </p:cNvSpPr>
            <p:nvPr/>
          </p:nvSpPr>
          <p:spPr bwMode="auto">
            <a:xfrm flipH="1">
              <a:off x="3243" y="2588"/>
              <a:ext cx="501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Oval 32"/>
            <p:cNvSpPr>
              <a:spLocks noChangeArrowheads="1"/>
            </p:cNvSpPr>
            <p:nvPr/>
          </p:nvSpPr>
          <p:spPr bwMode="auto">
            <a:xfrm>
              <a:off x="3189" y="2544"/>
              <a:ext cx="75" cy="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Oval 33"/>
            <p:cNvSpPr>
              <a:spLocks noChangeArrowheads="1"/>
            </p:cNvSpPr>
            <p:nvPr/>
          </p:nvSpPr>
          <p:spPr bwMode="auto">
            <a:xfrm>
              <a:off x="3691" y="1488"/>
              <a:ext cx="75" cy="8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5" name="Group 34"/>
            <p:cNvGrpSpPr/>
            <p:nvPr/>
          </p:nvGrpSpPr>
          <p:grpSpPr bwMode="auto">
            <a:xfrm>
              <a:off x="3696" y="3081"/>
              <a:ext cx="75" cy="519"/>
              <a:chOff x="3600" y="3168"/>
              <a:chExt cx="75" cy="519"/>
            </a:xfrm>
          </p:grpSpPr>
          <p:sp>
            <p:nvSpPr>
              <p:cNvPr id="145" name="Line 35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4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Oval 36"/>
              <p:cNvSpPr>
                <a:spLocks noChangeArrowheads="1"/>
              </p:cNvSpPr>
              <p:nvPr/>
            </p:nvSpPr>
            <p:spPr bwMode="auto">
              <a:xfrm>
                <a:off x="3600" y="3600"/>
                <a:ext cx="75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6" name="Text Box 37"/>
            <p:cNvSpPr txBox="1">
              <a:spLocks noChangeArrowheads="1"/>
            </p:cNvSpPr>
            <p:nvPr/>
          </p:nvSpPr>
          <p:spPr bwMode="auto">
            <a:xfrm>
              <a:off x="2934" y="2409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</a:rPr>
                <a:t>b</a:t>
              </a:r>
              <a:endParaRPr lang="en-US" altLang="zh-CN" sz="2800" b="1"/>
            </a:p>
          </p:txBody>
        </p:sp>
        <p:sp>
          <p:nvSpPr>
            <p:cNvPr id="137" name="Text Box 38"/>
            <p:cNvSpPr txBox="1">
              <a:spLocks noChangeArrowheads="1"/>
            </p:cNvSpPr>
            <p:nvPr/>
          </p:nvSpPr>
          <p:spPr bwMode="auto">
            <a:xfrm>
              <a:off x="3792" y="340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</a:rPr>
                <a:t>e</a:t>
              </a:r>
              <a:endParaRPr lang="en-US" altLang="zh-CN" sz="1600"/>
            </a:p>
          </p:txBody>
        </p:sp>
        <p:sp>
          <p:nvSpPr>
            <p:cNvPr id="138" name="Text Box 39"/>
            <p:cNvSpPr txBox="1">
              <a:spLocks noChangeArrowheads="1"/>
            </p:cNvSpPr>
            <p:nvPr/>
          </p:nvSpPr>
          <p:spPr bwMode="auto">
            <a:xfrm>
              <a:off x="3792" y="1296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</a:rPr>
                <a:t>c</a:t>
              </a:r>
              <a:endParaRPr lang="en-US" altLang="zh-CN" b="1"/>
            </a:p>
          </p:txBody>
        </p:sp>
        <p:grpSp>
          <p:nvGrpSpPr>
            <p:cNvPr id="139" name="Group 40"/>
            <p:cNvGrpSpPr/>
            <p:nvPr/>
          </p:nvGrpSpPr>
          <p:grpSpPr bwMode="auto">
            <a:xfrm>
              <a:off x="3600" y="1920"/>
              <a:ext cx="281" cy="281"/>
              <a:chOff x="4328" y="2260"/>
              <a:chExt cx="281" cy="281"/>
            </a:xfrm>
          </p:grpSpPr>
          <p:sp>
            <p:nvSpPr>
              <p:cNvPr id="143" name="AutoShape 41"/>
              <p:cNvSpPr>
                <a:spLocks noChangeArrowheads="1"/>
              </p:cNvSpPr>
              <p:nvPr/>
            </p:nvSpPr>
            <p:spPr bwMode="auto">
              <a:xfrm flipH="1">
                <a:off x="4328" y="2260"/>
                <a:ext cx="281" cy="28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42"/>
              <p:cNvSpPr>
                <a:spLocks noChangeShapeType="1"/>
              </p:cNvSpPr>
              <p:nvPr/>
            </p:nvSpPr>
            <p:spPr bwMode="auto">
              <a:xfrm rot="-5400000">
                <a:off x="4469" y="2120"/>
                <a:ext cx="0" cy="2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0" name="Group 43"/>
            <p:cNvGrpSpPr/>
            <p:nvPr/>
          </p:nvGrpSpPr>
          <p:grpSpPr bwMode="auto">
            <a:xfrm rot="-10800000">
              <a:off x="3600" y="2887"/>
              <a:ext cx="281" cy="281"/>
              <a:chOff x="4328" y="2260"/>
              <a:chExt cx="281" cy="281"/>
            </a:xfrm>
          </p:grpSpPr>
          <p:sp>
            <p:nvSpPr>
              <p:cNvPr id="141" name="AutoShape 44"/>
              <p:cNvSpPr>
                <a:spLocks noChangeArrowheads="1"/>
              </p:cNvSpPr>
              <p:nvPr/>
            </p:nvSpPr>
            <p:spPr bwMode="auto">
              <a:xfrm flipH="1">
                <a:off x="4328" y="2260"/>
                <a:ext cx="281" cy="28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45"/>
              <p:cNvSpPr>
                <a:spLocks noChangeShapeType="1"/>
              </p:cNvSpPr>
              <p:nvPr/>
            </p:nvSpPr>
            <p:spPr bwMode="auto">
              <a:xfrm rot="-5400000">
                <a:off x="4469" y="2120"/>
                <a:ext cx="0" cy="2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7" name="Group 46"/>
          <p:cNvGrpSpPr/>
          <p:nvPr/>
        </p:nvGrpSpPr>
        <p:grpSpPr bwMode="auto">
          <a:xfrm>
            <a:off x="3124200" y="3290888"/>
            <a:ext cx="1447800" cy="976312"/>
            <a:chOff x="1968" y="2073"/>
            <a:chExt cx="912" cy="615"/>
          </a:xfrm>
        </p:grpSpPr>
        <p:sp>
          <p:nvSpPr>
            <p:cNvPr id="148" name="AutoShape 47"/>
            <p:cNvSpPr>
              <a:spLocks noChangeArrowheads="1"/>
            </p:cNvSpPr>
            <p:nvPr/>
          </p:nvSpPr>
          <p:spPr bwMode="auto">
            <a:xfrm>
              <a:off x="2016" y="2448"/>
              <a:ext cx="624" cy="240"/>
            </a:xfrm>
            <a:prstGeom prst="notchedRightArrow">
              <a:avLst>
                <a:gd name="adj1" fmla="val 50000"/>
                <a:gd name="adj2" fmla="val 65000"/>
              </a:avLst>
            </a:prstGeom>
            <a:solidFill>
              <a:srgbClr val="FFCCCC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Text Box 48"/>
            <p:cNvSpPr txBox="1">
              <a:spLocks noChangeArrowheads="1"/>
            </p:cNvSpPr>
            <p:nvPr/>
          </p:nvSpPr>
          <p:spPr bwMode="auto">
            <a:xfrm>
              <a:off x="1968" y="2073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FF"/>
                  </a:solidFill>
                </a:rPr>
                <a:t>表面看</a:t>
              </a:r>
              <a:endParaRPr lang="zh-CN" altLang="en-US" b="1">
                <a:solidFill>
                  <a:srgbClr val="0000FF"/>
                </a:solidFill>
              </a:endParaRPr>
            </a:p>
          </p:txBody>
        </p:sp>
      </p:grpSp>
      <p:sp>
        <p:nvSpPr>
          <p:cNvPr id="150" name="Text Box 49"/>
          <p:cNvSpPr txBox="1">
            <a:spLocks noChangeArrowheads="1"/>
          </p:cNvSpPr>
          <p:nvPr/>
        </p:nvSpPr>
        <p:spPr bwMode="auto">
          <a:xfrm>
            <a:off x="6400800" y="2819400"/>
            <a:ext cx="2563813" cy="2473325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/>
              <a:t>　　三极管若实现放大，必须从</a:t>
            </a:r>
            <a:r>
              <a:rPr lang="zh-CN" altLang="en-US" sz="2600" b="1">
                <a:solidFill>
                  <a:srgbClr val="FF3300"/>
                </a:solidFill>
              </a:rPr>
              <a:t>三极管内部结构</a:t>
            </a:r>
            <a:r>
              <a:rPr lang="zh-CN" altLang="en-US" sz="2600" b="1"/>
              <a:t>和</a:t>
            </a:r>
            <a:r>
              <a:rPr lang="zh-CN" altLang="en-US" sz="2600" b="1">
                <a:solidFill>
                  <a:srgbClr val="FF3300"/>
                </a:solidFill>
              </a:rPr>
              <a:t>外部所加电源的极性</a:t>
            </a:r>
            <a:r>
              <a:rPr lang="zh-CN" altLang="en-US" sz="2600" b="1"/>
              <a:t>来保证。</a:t>
            </a:r>
            <a:endParaRPr lang="zh-CN" altLang="en-US" sz="2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2466181" y="528637"/>
            <a:ext cx="5715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43330" indent="-1243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4338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24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148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05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625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197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769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34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FF3300"/>
                </a:solidFill>
                <a:ea typeface="楷体_GB2312" pitchFamily="49" charset="-122"/>
              </a:rPr>
              <a:t>1.3.2　晶体管的电流放大作用</a:t>
            </a:r>
            <a:endParaRPr lang="zh-CN" altLang="en-US" sz="3200" b="1">
              <a:solidFill>
                <a:srgbClr val="FF3300"/>
              </a:solidFill>
              <a:ea typeface="楷体_GB2312" pitchFamily="49" charset="-122"/>
            </a:endParaRPr>
          </a:p>
        </p:txBody>
      </p:sp>
      <p:graphicFrame>
        <p:nvGraphicFramePr>
          <p:cNvPr id="51" name="Object 72"/>
          <p:cNvGraphicFramePr>
            <a:graphicFrameLocks noChangeAspect="1"/>
          </p:cNvGraphicFramePr>
          <p:nvPr/>
        </p:nvGraphicFramePr>
        <p:xfrm>
          <a:off x="2915816" y="1345107"/>
          <a:ext cx="4087813" cy="293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BMP 图象" r:id="rId1" imgW="4523740" imgH="3258820" progId="Paint.Picture">
                  <p:embed/>
                </p:oleObj>
              </mc:Choice>
              <mc:Fallback>
                <p:oleObj name="BMP 图象" r:id="rId1" imgW="4523740" imgH="3258820" progId="Paint.Picture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345107"/>
                        <a:ext cx="4087813" cy="293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Rectangle 56"/>
          <p:cNvSpPr>
            <a:spLocks noChangeArrowheads="1"/>
          </p:cNvSpPr>
          <p:nvPr/>
        </p:nvSpPr>
        <p:spPr bwMode="auto">
          <a:xfrm>
            <a:off x="858416" y="1534019"/>
            <a:ext cx="1524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/>
              <a:t>实验</a:t>
            </a:r>
            <a:endParaRPr lang="zh-CN" altLang="en-US" sz="2800" b="1"/>
          </a:p>
        </p:txBody>
      </p:sp>
      <p:sp>
        <p:nvSpPr>
          <p:cNvPr id="53" name="Text Box 73"/>
          <p:cNvSpPr txBox="1">
            <a:spLocks noChangeAspect="1" noChangeArrowheads="1"/>
          </p:cNvSpPr>
          <p:nvPr/>
        </p:nvSpPr>
        <p:spPr bwMode="auto">
          <a:xfrm>
            <a:off x="4227091" y="2530969"/>
            <a:ext cx="411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ym typeface="Symbol" panose="05050102010706020507" pitchFamily="18" charset="2"/>
              </a:rPr>
              <a:t>+</a:t>
            </a:r>
            <a:endParaRPr lang="zh-CN" altLang="en-US" sz="2000" baseline="-25000"/>
          </a:p>
        </p:txBody>
      </p:sp>
      <p:sp>
        <p:nvSpPr>
          <p:cNvPr id="54" name="Text Box 74"/>
          <p:cNvSpPr txBox="1">
            <a:spLocks noChangeAspect="1" noChangeArrowheads="1"/>
          </p:cNvSpPr>
          <p:nvPr/>
        </p:nvSpPr>
        <p:spPr bwMode="auto">
          <a:xfrm>
            <a:off x="4638254" y="2873869"/>
            <a:ext cx="411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ym typeface="Symbol" panose="05050102010706020507" pitchFamily="18" charset="2"/>
              </a:rPr>
              <a:t>-</a:t>
            </a:r>
            <a:endParaRPr lang="zh-CN" altLang="en-US" sz="2000" baseline="-25000"/>
          </a:p>
        </p:txBody>
      </p:sp>
      <p:sp>
        <p:nvSpPr>
          <p:cNvPr id="55" name="Text Box 75"/>
          <p:cNvSpPr txBox="1">
            <a:spLocks noChangeAspect="1" noChangeArrowheads="1"/>
          </p:cNvSpPr>
          <p:nvPr/>
        </p:nvSpPr>
        <p:spPr bwMode="auto">
          <a:xfrm>
            <a:off x="4330279" y="2256332"/>
            <a:ext cx="411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ym typeface="Symbol" panose="05050102010706020507" pitchFamily="18" charset="2"/>
              </a:rPr>
              <a:t>b</a:t>
            </a:r>
            <a:endParaRPr lang="en-US" altLang="zh-CN" sz="2000" baseline="-25000"/>
          </a:p>
        </p:txBody>
      </p:sp>
      <p:sp>
        <p:nvSpPr>
          <p:cNvPr id="56" name="Text Box 76"/>
          <p:cNvSpPr txBox="1">
            <a:spLocks noChangeAspect="1" noChangeArrowheads="1"/>
          </p:cNvSpPr>
          <p:nvPr/>
        </p:nvSpPr>
        <p:spPr bwMode="auto">
          <a:xfrm>
            <a:off x="4877966" y="1997569"/>
            <a:ext cx="411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ym typeface="Symbol" panose="05050102010706020507" pitchFamily="18" charset="2"/>
              </a:rPr>
              <a:t>c</a:t>
            </a:r>
            <a:endParaRPr lang="en-US" altLang="zh-CN" sz="2000" baseline="-25000"/>
          </a:p>
        </p:txBody>
      </p:sp>
      <p:sp>
        <p:nvSpPr>
          <p:cNvPr id="57" name="Text Box 77"/>
          <p:cNvSpPr txBox="1">
            <a:spLocks noChangeAspect="1" noChangeArrowheads="1"/>
          </p:cNvSpPr>
          <p:nvPr/>
        </p:nvSpPr>
        <p:spPr bwMode="auto">
          <a:xfrm>
            <a:off x="4877966" y="2737344"/>
            <a:ext cx="411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ym typeface="Symbol" panose="05050102010706020507" pitchFamily="18" charset="2"/>
              </a:rPr>
              <a:t>e</a:t>
            </a:r>
            <a:endParaRPr lang="en-US" altLang="zh-CN" sz="2000" baseline="-25000"/>
          </a:p>
        </p:txBody>
      </p:sp>
      <p:sp>
        <p:nvSpPr>
          <p:cNvPr id="58" name="Text Box 78"/>
          <p:cNvSpPr txBox="1">
            <a:spLocks noChangeAspect="1" noChangeArrowheads="1"/>
          </p:cNvSpPr>
          <p:nvPr/>
        </p:nvSpPr>
        <p:spPr bwMode="auto">
          <a:xfrm>
            <a:off x="706016" y="2372219"/>
            <a:ext cx="1989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ym typeface="Symbol" panose="05050102010706020507" pitchFamily="18" charset="2"/>
              </a:rPr>
              <a:t>共射</a:t>
            </a:r>
            <a:r>
              <a:rPr lang="zh-CN" altLang="en-US" sz="2000" dirty="0" smtClean="0">
                <a:sym typeface="Symbol" panose="05050102010706020507" pitchFamily="18" charset="2"/>
              </a:rPr>
              <a:t>极放大电路</a:t>
            </a:r>
            <a:endParaRPr lang="zh-CN" altLang="en-US" sz="2000" baseline="-25000" dirty="0"/>
          </a:p>
        </p:txBody>
      </p:sp>
      <p:sp>
        <p:nvSpPr>
          <p:cNvPr id="70" name="Text Box 79"/>
          <p:cNvSpPr txBox="1">
            <a:spLocks noChangeAspect="1" noChangeArrowheads="1"/>
          </p:cNvSpPr>
          <p:nvPr/>
        </p:nvSpPr>
        <p:spPr bwMode="auto">
          <a:xfrm>
            <a:off x="3484141" y="3283444"/>
            <a:ext cx="547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/>
              <a:t>U</a:t>
            </a:r>
            <a:r>
              <a:rPr lang="en-US" altLang="zh-CN" sz="2000" baseline="-25000"/>
              <a:t>BB</a:t>
            </a:r>
            <a:endParaRPr lang="en-US" altLang="zh-CN" sz="2000" baseline="-25000"/>
          </a:p>
        </p:txBody>
      </p:sp>
      <p:sp>
        <p:nvSpPr>
          <p:cNvPr id="71" name="Text Box 80"/>
          <p:cNvSpPr txBox="1">
            <a:spLocks noChangeAspect="1" noChangeArrowheads="1"/>
          </p:cNvSpPr>
          <p:nvPr/>
        </p:nvSpPr>
        <p:spPr bwMode="auto">
          <a:xfrm>
            <a:off x="6317829" y="2888157"/>
            <a:ext cx="549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i="1"/>
              <a:t>U</a:t>
            </a:r>
            <a:r>
              <a:rPr lang="en-US" altLang="zh-CN" sz="2000" baseline="-25000"/>
              <a:t>CC</a:t>
            </a:r>
            <a:endParaRPr lang="en-US" altLang="zh-CN" sz="2000" baseline="-25000"/>
          </a:p>
        </p:txBody>
      </p:sp>
      <p:sp>
        <p:nvSpPr>
          <p:cNvPr id="72" name="Text Box 81"/>
          <p:cNvSpPr txBox="1">
            <a:spLocks noChangeAspect="1" noChangeArrowheads="1"/>
          </p:cNvSpPr>
          <p:nvPr/>
        </p:nvSpPr>
        <p:spPr bwMode="auto">
          <a:xfrm>
            <a:off x="4192166" y="2737344"/>
            <a:ext cx="514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/>
              <a:t>u</a:t>
            </a:r>
            <a:r>
              <a:rPr lang="en-US" altLang="zh-CN" sz="2000" baseline="-25000"/>
              <a:t>BE</a:t>
            </a:r>
            <a:endParaRPr lang="en-US" altLang="zh-CN" sz="2000" baseline="-25000"/>
          </a:p>
        </p:txBody>
      </p:sp>
      <p:sp>
        <p:nvSpPr>
          <p:cNvPr id="73" name="Text Box 82"/>
          <p:cNvSpPr txBox="1">
            <a:spLocks noChangeAspect="1" noChangeArrowheads="1"/>
          </p:cNvSpPr>
          <p:nvPr/>
        </p:nvSpPr>
        <p:spPr bwMode="auto">
          <a:xfrm>
            <a:off x="5392316" y="1845169"/>
            <a:ext cx="446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sym typeface="Kingsoft Phonetic Plain" pitchFamily="2" charset="2"/>
              </a:rPr>
              <a:t>i</a:t>
            </a:r>
            <a:r>
              <a:rPr lang="en-US" altLang="zh-CN" sz="2000" baseline="-25000"/>
              <a:t>C</a:t>
            </a:r>
            <a:endParaRPr lang="en-US" altLang="zh-CN" sz="2000" baseline="-25000"/>
          </a:p>
        </p:txBody>
      </p:sp>
      <p:sp>
        <p:nvSpPr>
          <p:cNvPr id="74" name="Text Box 83"/>
          <p:cNvSpPr txBox="1">
            <a:spLocks noChangeAspect="1" noChangeArrowheads="1"/>
          </p:cNvSpPr>
          <p:nvPr/>
        </p:nvSpPr>
        <p:spPr bwMode="auto">
          <a:xfrm>
            <a:off x="3755087" y="1943235"/>
            <a:ext cx="376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 dirty="0" err="1">
                <a:sym typeface="Kingsoft Phonetic Plain" pitchFamily="2" charset="2"/>
              </a:rPr>
              <a:t>i</a:t>
            </a:r>
            <a:r>
              <a:rPr lang="en-US" altLang="zh-CN" sz="2000" baseline="-25000" dirty="0" err="1"/>
              <a:t>B</a:t>
            </a:r>
            <a:endParaRPr lang="en-US" altLang="zh-CN" sz="2000" baseline="-25000" dirty="0"/>
          </a:p>
        </p:txBody>
      </p:sp>
      <p:grpSp>
        <p:nvGrpSpPr>
          <p:cNvPr id="75" name="Group 84"/>
          <p:cNvGrpSpPr>
            <a:grpSpLocks noChangeAspect="1"/>
          </p:cNvGrpSpPr>
          <p:nvPr/>
        </p:nvGrpSpPr>
        <p:grpSpPr bwMode="auto">
          <a:xfrm>
            <a:off x="5049416" y="2051544"/>
            <a:ext cx="514350" cy="1150938"/>
            <a:chOff x="4224" y="2112"/>
            <a:chExt cx="360" cy="806"/>
          </a:xfrm>
        </p:grpSpPr>
        <p:sp>
          <p:nvSpPr>
            <p:cNvPr id="76" name="Text Box 85"/>
            <p:cNvSpPr txBox="1">
              <a:spLocks noChangeAspect="1" noChangeArrowheads="1"/>
            </p:cNvSpPr>
            <p:nvPr/>
          </p:nvSpPr>
          <p:spPr bwMode="auto">
            <a:xfrm>
              <a:off x="4272" y="2112"/>
              <a:ext cx="240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ym typeface="Symbol" panose="05050102010706020507" pitchFamily="18" charset="2"/>
                </a:rPr>
                <a:t>+</a:t>
              </a:r>
              <a:endParaRPr lang="zh-CN" altLang="en-US" sz="2000" baseline="-25000"/>
            </a:p>
          </p:txBody>
        </p:sp>
        <p:sp>
          <p:nvSpPr>
            <p:cNvPr id="77" name="Text Box 86"/>
            <p:cNvSpPr txBox="1">
              <a:spLocks noChangeAspect="1" noChangeArrowheads="1"/>
            </p:cNvSpPr>
            <p:nvPr/>
          </p:nvSpPr>
          <p:spPr bwMode="auto">
            <a:xfrm>
              <a:off x="4272" y="2640"/>
              <a:ext cx="192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ym typeface="Symbol" panose="05050102010706020507" pitchFamily="18" charset="2"/>
                </a:rPr>
                <a:t>-</a:t>
              </a:r>
              <a:endParaRPr lang="zh-CN" altLang="en-US" sz="2000" baseline="-25000"/>
            </a:p>
          </p:txBody>
        </p:sp>
        <p:sp>
          <p:nvSpPr>
            <p:cNvPr id="78" name="Text Box 87"/>
            <p:cNvSpPr txBox="1">
              <a:spLocks noChangeAspect="1" noChangeArrowheads="1"/>
            </p:cNvSpPr>
            <p:nvPr/>
          </p:nvSpPr>
          <p:spPr bwMode="auto">
            <a:xfrm>
              <a:off x="4224" y="2352"/>
              <a:ext cx="36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u</a:t>
              </a:r>
              <a:r>
                <a:rPr lang="en-US" altLang="zh-CN" sz="2000" baseline="-25000"/>
                <a:t>CE</a:t>
              </a:r>
              <a:endParaRPr lang="en-US" altLang="zh-CN" sz="2000" baseline="-25000"/>
            </a:p>
          </p:txBody>
        </p:sp>
      </p:grpSp>
      <p:sp>
        <p:nvSpPr>
          <p:cNvPr id="79" name="Rectangle 88"/>
          <p:cNvSpPr>
            <a:spLocks noChangeArrowheads="1"/>
          </p:cNvSpPr>
          <p:nvPr/>
        </p:nvSpPr>
        <p:spPr bwMode="auto">
          <a:xfrm>
            <a:off x="6241629" y="2067419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Rectangle 89"/>
          <p:cNvSpPr>
            <a:spLocks noChangeArrowheads="1"/>
          </p:cNvSpPr>
          <p:nvPr/>
        </p:nvSpPr>
        <p:spPr bwMode="auto">
          <a:xfrm>
            <a:off x="3193629" y="2753219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90"/>
          <p:cNvSpPr>
            <a:spLocks noChangeShapeType="1"/>
          </p:cNvSpPr>
          <p:nvPr/>
        </p:nvSpPr>
        <p:spPr bwMode="auto">
          <a:xfrm>
            <a:off x="5049416" y="321041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Text Box 91"/>
          <p:cNvSpPr txBox="1">
            <a:spLocks noChangeAspect="1" noChangeArrowheads="1"/>
          </p:cNvSpPr>
          <p:nvPr/>
        </p:nvSpPr>
        <p:spPr bwMode="auto">
          <a:xfrm>
            <a:off x="4516016" y="3172319"/>
            <a:ext cx="446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sym typeface="Kingsoft Phonetic Plain" pitchFamily="2" charset="2"/>
              </a:rPr>
              <a:t>i</a:t>
            </a:r>
            <a:r>
              <a:rPr lang="en-US" altLang="zh-CN" sz="2000" baseline="-25000"/>
              <a:t>E</a:t>
            </a:r>
            <a:endParaRPr lang="en-US" altLang="zh-CN" sz="2000" baseline="-25000"/>
          </a:p>
        </p:txBody>
      </p:sp>
      <p:grpSp>
        <p:nvGrpSpPr>
          <p:cNvPr id="83" name="Group 99"/>
          <p:cNvGrpSpPr/>
          <p:nvPr/>
        </p:nvGrpSpPr>
        <p:grpSpPr bwMode="auto">
          <a:xfrm>
            <a:off x="1010816" y="4353419"/>
            <a:ext cx="7543800" cy="2362200"/>
            <a:chOff x="480" y="2448"/>
            <a:chExt cx="4752" cy="1488"/>
          </a:xfrm>
        </p:grpSpPr>
        <p:sp>
          <p:nvSpPr>
            <p:cNvPr id="84" name="Rectangle 57"/>
            <p:cNvSpPr>
              <a:spLocks noChangeArrowheads="1"/>
            </p:cNvSpPr>
            <p:nvPr/>
          </p:nvSpPr>
          <p:spPr bwMode="auto">
            <a:xfrm>
              <a:off x="480" y="2448"/>
              <a:ext cx="4752" cy="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0800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  <a:p>
              <a:r>
                <a:rPr lang="en-US" altLang="zh-CN" sz="3600" i="1" dirty="0" err="1"/>
                <a:t>i</a:t>
              </a:r>
              <a:r>
                <a:rPr lang="en-US" altLang="zh-CN" sz="1200" dirty="0" err="1"/>
                <a:t>B</a:t>
              </a:r>
              <a:r>
                <a:rPr lang="en-US" altLang="zh-CN" sz="2800" dirty="0"/>
                <a:t>         0         0.02	  0.04	  0.06   0.08   0.10</a:t>
              </a:r>
              <a:endParaRPr lang="en-US" altLang="zh-CN" sz="1200" dirty="0"/>
            </a:p>
            <a:p>
              <a:endParaRPr lang="zh-CN" altLang="en-US" dirty="0"/>
            </a:p>
            <a:p>
              <a:r>
                <a:rPr lang="en-US" altLang="zh-CN" sz="3600" i="1" dirty="0" err="1"/>
                <a:t>i</a:t>
              </a:r>
              <a:r>
                <a:rPr lang="en-US" altLang="zh-CN" sz="1200" dirty="0" err="1"/>
                <a:t>C</a:t>
              </a:r>
              <a:r>
                <a:rPr lang="en-US" altLang="zh-CN" sz="1200" dirty="0"/>
                <a:t> </a:t>
              </a:r>
              <a:r>
                <a:rPr lang="en-US" altLang="zh-CN" sz="2800" dirty="0"/>
                <a:t>   &lt;0.001     0.70	  1.50   2.30   3.10   3.95</a:t>
              </a:r>
              <a:endParaRPr lang="en-US" altLang="zh-CN" sz="1200" dirty="0"/>
            </a:p>
            <a:p>
              <a:endParaRPr lang="zh-CN" altLang="en-US" dirty="0"/>
            </a:p>
            <a:p>
              <a:r>
                <a:rPr lang="en-US" altLang="zh-CN" sz="3600" i="1" dirty="0" err="1"/>
                <a:t>i</a:t>
              </a:r>
              <a:r>
                <a:rPr lang="en-US" altLang="zh-CN" sz="1200" dirty="0" err="1"/>
                <a:t>E</a:t>
              </a:r>
              <a:r>
                <a:rPr lang="en-US" altLang="zh-CN" sz="1200" dirty="0"/>
                <a:t>         </a:t>
              </a:r>
              <a:r>
                <a:rPr lang="en-US" altLang="zh-CN" sz="2800" dirty="0"/>
                <a:t>&lt;0.001     0.72	  1.54   2.36   3.18   4.05</a:t>
              </a:r>
              <a:endParaRPr lang="en-US" altLang="zh-CN" sz="1200" dirty="0"/>
            </a:p>
            <a:p>
              <a:endParaRPr lang="zh-CN" altLang="en-US" dirty="0"/>
            </a:p>
          </p:txBody>
        </p:sp>
        <p:sp>
          <p:nvSpPr>
            <p:cNvPr id="85" name="Line 58"/>
            <p:cNvSpPr>
              <a:spLocks noChangeShapeType="1"/>
            </p:cNvSpPr>
            <p:nvPr/>
          </p:nvSpPr>
          <p:spPr bwMode="auto">
            <a:xfrm>
              <a:off x="480" y="2928"/>
              <a:ext cx="4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59"/>
            <p:cNvSpPr>
              <a:spLocks noChangeShapeType="1"/>
            </p:cNvSpPr>
            <p:nvPr/>
          </p:nvSpPr>
          <p:spPr bwMode="auto">
            <a:xfrm>
              <a:off x="480" y="3456"/>
              <a:ext cx="4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92"/>
            <p:cNvSpPr>
              <a:spLocks noChangeShapeType="1"/>
            </p:cNvSpPr>
            <p:nvPr/>
          </p:nvSpPr>
          <p:spPr bwMode="auto">
            <a:xfrm>
              <a:off x="816" y="2448"/>
              <a:ext cx="0" cy="1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93"/>
            <p:cNvSpPr>
              <a:spLocks noChangeShapeType="1"/>
            </p:cNvSpPr>
            <p:nvPr/>
          </p:nvSpPr>
          <p:spPr bwMode="auto">
            <a:xfrm>
              <a:off x="1632" y="2448"/>
              <a:ext cx="0" cy="1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94"/>
            <p:cNvSpPr>
              <a:spLocks noChangeShapeType="1"/>
            </p:cNvSpPr>
            <p:nvPr/>
          </p:nvSpPr>
          <p:spPr bwMode="auto">
            <a:xfrm>
              <a:off x="2304" y="2448"/>
              <a:ext cx="0" cy="1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95"/>
            <p:cNvSpPr>
              <a:spLocks noChangeShapeType="1"/>
            </p:cNvSpPr>
            <p:nvPr/>
          </p:nvSpPr>
          <p:spPr bwMode="auto">
            <a:xfrm>
              <a:off x="2868" y="2448"/>
              <a:ext cx="0" cy="1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97"/>
            <p:cNvSpPr>
              <a:spLocks noChangeShapeType="1"/>
            </p:cNvSpPr>
            <p:nvPr/>
          </p:nvSpPr>
          <p:spPr bwMode="auto">
            <a:xfrm>
              <a:off x="3456" y="2448"/>
              <a:ext cx="0" cy="1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98"/>
            <p:cNvSpPr>
              <a:spLocks noChangeShapeType="1"/>
            </p:cNvSpPr>
            <p:nvPr/>
          </p:nvSpPr>
          <p:spPr bwMode="auto">
            <a:xfrm>
              <a:off x="4032" y="2448"/>
              <a:ext cx="0" cy="1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3" name="Text Box 100"/>
          <p:cNvSpPr txBox="1">
            <a:spLocks noChangeAspect="1" noChangeArrowheads="1"/>
          </p:cNvSpPr>
          <p:nvPr/>
        </p:nvSpPr>
        <p:spPr bwMode="auto">
          <a:xfrm>
            <a:off x="1002879" y="3880344"/>
            <a:ext cx="3132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ym typeface="Symbol" panose="05050102010706020507" pitchFamily="18" charset="2"/>
              </a:rPr>
              <a:t>表1-1       电流单位：</a:t>
            </a:r>
            <a:r>
              <a:rPr lang="en-US" altLang="zh-CN" sz="2000">
                <a:sym typeface="Symbol" panose="05050102010706020507" pitchFamily="18" charset="2"/>
              </a:rPr>
              <a:t>mA</a:t>
            </a:r>
            <a:endParaRPr lang="en-US" altLang="zh-CN" sz="2000" baseline="-25000"/>
          </a:p>
        </p:txBody>
      </p:sp>
      <p:sp>
        <p:nvSpPr>
          <p:cNvPr id="94" name="Text Box 78"/>
          <p:cNvSpPr txBox="1">
            <a:spLocks noChangeAspect="1" noChangeArrowheads="1"/>
          </p:cNvSpPr>
          <p:nvPr/>
        </p:nvSpPr>
        <p:spPr bwMode="auto">
          <a:xfrm>
            <a:off x="6927428" y="1417414"/>
            <a:ext cx="1989138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 err="1" smtClean="0">
                <a:sym typeface="Symbol" panose="05050102010706020507" pitchFamily="18" charset="2"/>
              </a:rPr>
              <a:t>i</a:t>
            </a:r>
            <a:r>
              <a:rPr lang="en-US" altLang="zh-CN" sz="3200" baseline="-25000" dirty="0" err="1" smtClean="0">
                <a:sym typeface="Symbol" panose="05050102010706020507" pitchFamily="18" charset="2"/>
              </a:rPr>
              <a:t>C</a:t>
            </a:r>
            <a:r>
              <a:rPr lang="en-US" altLang="zh-CN" sz="3200" dirty="0" smtClean="0">
                <a:sym typeface="Symbol" panose="05050102010706020507" pitchFamily="18" charset="2"/>
              </a:rPr>
              <a:t>=</a:t>
            </a:r>
            <a:r>
              <a:rPr lang="el-GR" altLang="zh-CN" sz="3200" dirty="0" smtClean="0">
                <a:sym typeface="Symbol" panose="05050102010706020507" pitchFamily="18" charset="2"/>
              </a:rPr>
              <a:t>β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i</a:t>
            </a:r>
            <a:r>
              <a:rPr lang="en-US" altLang="zh-CN" sz="3200" baseline="-25000" dirty="0" err="1" smtClean="0">
                <a:sym typeface="Symbol" panose="05050102010706020507" pitchFamily="18" charset="2"/>
              </a:rPr>
              <a:t>B</a:t>
            </a:r>
            <a:endParaRPr lang="zh-CN" altLang="en-US" sz="3200" baseline="-25000" dirty="0"/>
          </a:p>
        </p:txBody>
      </p:sp>
      <p:sp>
        <p:nvSpPr>
          <p:cNvPr id="95" name="Text Box 78"/>
          <p:cNvSpPr txBox="1">
            <a:spLocks noChangeAspect="1" noChangeArrowheads="1"/>
          </p:cNvSpPr>
          <p:nvPr/>
        </p:nvSpPr>
        <p:spPr bwMode="auto">
          <a:xfrm>
            <a:off x="6965529" y="2078315"/>
            <a:ext cx="1989138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 smtClean="0">
                <a:sym typeface="Symbol" panose="05050102010706020507" pitchFamily="18" charset="2"/>
              </a:rPr>
              <a:t>如果</a:t>
            </a:r>
            <a:r>
              <a:rPr lang="en-US" altLang="zh-CN" sz="2000" dirty="0" err="1" smtClean="0">
                <a:sym typeface="Symbol" panose="05050102010706020507" pitchFamily="18" charset="2"/>
              </a:rPr>
              <a:t>i</a:t>
            </a:r>
            <a:r>
              <a:rPr lang="en-US" altLang="zh-CN" sz="2000" baseline="-25000" dirty="0" err="1" smtClean="0">
                <a:sym typeface="Symbol" panose="05050102010706020507" pitchFamily="18" charset="2"/>
              </a:rPr>
              <a:t>B</a:t>
            </a:r>
            <a:r>
              <a:rPr lang="zh-CN" altLang="en-US" sz="2000" dirty="0" smtClean="0">
                <a:sym typeface="Symbol" panose="05050102010706020507" pitchFamily="18" charset="2"/>
              </a:rPr>
              <a:t>进一步加大会怎么样？</a:t>
            </a:r>
            <a:endParaRPr lang="zh-CN" altLang="en-US" sz="20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endParaRPr lang="zh-CN" altLang="en-US" dirty="0"/>
          </a:p>
        </p:txBody>
      </p:sp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2466181" y="528637"/>
            <a:ext cx="5715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43330" indent="-1243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4338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24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148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053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625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197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769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34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FF3300"/>
                </a:solidFill>
                <a:ea typeface="楷体_GB2312" pitchFamily="49" charset="-122"/>
              </a:rPr>
              <a:t>1.3.2　晶体管的电流放大作用</a:t>
            </a:r>
            <a:endParaRPr lang="zh-CN" altLang="en-US" sz="3200" b="1">
              <a:solidFill>
                <a:srgbClr val="FF3300"/>
              </a:solidFill>
              <a:ea typeface="楷体_GB2312" pitchFamily="49" charset="-122"/>
            </a:endParaRPr>
          </a:p>
        </p:txBody>
      </p:sp>
      <p:graphicFrame>
        <p:nvGraphicFramePr>
          <p:cNvPr id="38" name="Object 12"/>
          <p:cNvGraphicFramePr>
            <a:graphicFrameLocks noChangeAspect="1"/>
          </p:cNvGraphicFramePr>
          <p:nvPr/>
        </p:nvGraphicFramePr>
        <p:xfrm>
          <a:off x="2555776" y="1916832"/>
          <a:ext cx="3962400" cy="283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BMP 图象" r:id="rId1" imgW="1699260" imgH="1348740" progId="Paint.Picture">
                  <p:embed/>
                </p:oleObj>
              </mc:Choice>
              <mc:Fallback>
                <p:oleObj name="BMP 图象" r:id="rId1" imgW="1699260" imgH="1348740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916832"/>
                        <a:ext cx="3962400" cy="283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86A6AB-EF69-4210-AB68-C792C3FB11D5}" type="slidenum">
              <a:rPr lang="zh-CN" altLang="en-US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二极管构成“与”门电路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1"/>
          <p:cNvSpPr txBox="1"/>
          <p:nvPr/>
        </p:nvSpPr>
        <p:spPr>
          <a:xfrm>
            <a:off x="446856" y="1207592"/>
            <a:ext cx="8229600" cy="1357312"/>
          </a:xfrm>
          <a:prstGeom prst="rect">
            <a:avLst/>
          </a:prstGeom>
        </p:spPr>
        <p:txBody>
          <a:bodyPr>
            <a:noAutofit/>
          </a:bodyPr>
          <a:lstStyle/>
          <a:p>
            <a:pPr marL="274320" indent="-27432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SzPct val="95000"/>
              <a:buFont typeface="Wingdings 2" panose="05020102010507070707"/>
              <a:buChar char=""/>
              <a:defRPr/>
            </a:pP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 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只要有一个接地时，对应的二极管正向导通，输出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为低电平</a:t>
            </a:r>
            <a:endParaRPr lang="zh-CN" altLang="en-US" sz="2800" b="1" i="1" dirty="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10" name="表格"/>
          <p:cNvGraphicFramePr>
            <a:graphicFrameLocks noGrp="1"/>
          </p:cNvGraphicFramePr>
          <p:nvPr/>
        </p:nvGraphicFramePr>
        <p:xfrm>
          <a:off x="4959423" y="2796430"/>
          <a:ext cx="3429001" cy="356569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57250"/>
                <a:gridCol w="857250"/>
                <a:gridCol w="785813"/>
                <a:gridCol w="928688"/>
              </a:tblGrid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b="1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397" name="Object 5"/>
          <p:cNvGraphicFramePr>
            <a:graphicFrameLocks noChangeAspect="1"/>
          </p:cNvGraphicFramePr>
          <p:nvPr/>
        </p:nvGraphicFramePr>
        <p:xfrm>
          <a:off x="410592" y="2652414"/>
          <a:ext cx="4089400" cy="394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Visio" r:id="rId1" imgW="1765300" imgH="1701800" progId="Visio.Drawing.11">
                  <p:embed/>
                </p:oleObj>
              </mc:Choice>
              <mc:Fallback>
                <p:oleObj name="Visio" r:id="rId1" imgW="1765300" imgH="1701800" progId="Visio.Drawing.11">
                  <p:embed/>
                  <p:pic>
                    <p:nvPicPr>
                      <p:cNvPr id="0" name="图片 2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92" y="2652414"/>
                        <a:ext cx="4089400" cy="394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圆角矩形 2"/>
          <p:cNvSpPr/>
          <p:nvPr/>
        </p:nvSpPr>
        <p:spPr>
          <a:xfrm>
            <a:off x="4860032" y="3212976"/>
            <a:ext cx="3672408" cy="27363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86A6AB-EF69-4210-AB68-C792C3FB11D5}" type="slidenum">
              <a:rPr lang="zh-CN" altLang="en-US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二极管构成“与”门电路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457200" y="1196752"/>
            <a:ext cx="8229600" cy="13573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4320" indent="-27432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SzPct val="95000"/>
              <a:buFont typeface="Wingdings 2" panose="05020102010507070707"/>
              <a:buChar char=""/>
              <a:defRPr/>
            </a:pP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当输入 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都是高电平时，所有二极管均截止，输出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为高电平，逻辑关系如下表</a:t>
            </a:r>
            <a:endParaRPr lang="zh-CN" altLang="en-US" sz="2800" b="1" i="1" dirty="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10" name="表格"/>
          <p:cNvGraphicFramePr>
            <a:graphicFrameLocks noGrp="1"/>
          </p:cNvGraphicFramePr>
          <p:nvPr/>
        </p:nvGraphicFramePr>
        <p:xfrm>
          <a:off x="4959423" y="2796430"/>
          <a:ext cx="3429001" cy="356569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57250"/>
                <a:gridCol w="857250"/>
                <a:gridCol w="785813"/>
                <a:gridCol w="928688"/>
              </a:tblGrid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b="1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圆角矩形 10"/>
          <p:cNvSpPr/>
          <p:nvPr/>
        </p:nvSpPr>
        <p:spPr>
          <a:xfrm>
            <a:off x="4860032" y="5949280"/>
            <a:ext cx="3672408" cy="4320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410592" y="2652414"/>
          <a:ext cx="4089400" cy="394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Visio" r:id="rId1" imgW="1765300" imgH="1701800" progId="Visio.Drawing.11">
                  <p:embed/>
                </p:oleObj>
              </mc:Choice>
              <mc:Fallback>
                <p:oleObj name="Visio" r:id="rId1" imgW="1765300" imgH="1701800" progId="Visio.Drawing.11">
                  <p:embed/>
                  <p:pic>
                    <p:nvPicPr>
                      <p:cNvPr id="0" name="图片 2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92" y="2652414"/>
                        <a:ext cx="4089400" cy="394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86A6AB-EF69-4210-AB68-C792C3FB11D5}" type="slidenum">
              <a:rPr lang="zh-CN" altLang="en-US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二极管构成“与”门电路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3"/>
          <p:cNvSpPr txBox="1"/>
          <p:nvPr/>
        </p:nvSpPr>
        <p:spPr>
          <a:xfrm>
            <a:off x="457200" y="1196752"/>
            <a:ext cx="8229600" cy="15716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4320" indent="-27432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SzPct val="95000"/>
              <a:buFont typeface="Wingdings 2" panose="05020102010507070707"/>
              <a:buChar char=""/>
              <a:defRPr/>
            </a:pP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按正逻辑将表中电平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H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L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分别替换成逻辑值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0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，得 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与 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的关系为 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=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ABC</a:t>
            </a:r>
            <a:endParaRPr lang="zh-CN" altLang="en-US" sz="2800" b="1" i="1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10" name="表格"/>
          <p:cNvGraphicFramePr>
            <a:graphicFrameLocks noGrp="1"/>
          </p:cNvGraphicFramePr>
          <p:nvPr/>
        </p:nvGraphicFramePr>
        <p:xfrm>
          <a:off x="4959423" y="2796430"/>
          <a:ext cx="3429001" cy="356569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57250"/>
                <a:gridCol w="857250"/>
                <a:gridCol w="785813"/>
                <a:gridCol w="928688"/>
              </a:tblGrid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b="1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397" name="Object 5"/>
          <p:cNvGraphicFramePr>
            <a:graphicFrameLocks noChangeAspect="1"/>
          </p:cNvGraphicFramePr>
          <p:nvPr/>
        </p:nvGraphicFramePr>
        <p:xfrm>
          <a:off x="431865" y="2673846"/>
          <a:ext cx="4046855" cy="390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Visio" r:id="rId1" imgW="1035050" imgH="996950" progId="Visio.Drawing.11">
                  <p:embed/>
                </p:oleObj>
              </mc:Choice>
              <mc:Fallback>
                <p:oleObj name="Visio" r:id="rId1" imgW="1035050" imgH="996950" progId="Visio.Drawing.11">
                  <p:embed/>
                  <p:pic>
                    <p:nvPicPr>
                      <p:cNvPr id="0" name="图片 112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65" y="2673846"/>
                        <a:ext cx="4046855" cy="390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二极管构成“或”门电路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5143500" y="2814463"/>
          <a:ext cx="3286124" cy="36274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21531"/>
                <a:gridCol w="821531"/>
                <a:gridCol w="821531"/>
                <a:gridCol w="821531"/>
              </a:tblGrid>
              <a:tr h="457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400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内容占位符 1"/>
          <p:cNvSpPr txBox="1"/>
          <p:nvPr/>
        </p:nvSpPr>
        <p:spPr>
          <a:xfrm>
            <a:off x="457200" y="1241416"/>
            <a:ext cx="8258175" cy="1357312"/>
          </a:xfrm>
          <a:prstGeom prst="rect">
            <a:avLst/>
          </a:prstGeom>
        </p:spPr>
        <p:txBody>
          <a:bodyPr/>
          <a:lstStyle/>
          <a:p>
            <a:pPr marL="274320" indent="-27432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SzPct val="95000"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当输入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都接地时，输出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为低电平；只要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中有一个接高电平，输出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就为高电平</a:t>
            </a:r>
            <a:endParaRPr lang="zh-CN" altLang="en-US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457200" y="2780665"/>
          <a:ext cx="4515485" cy="310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1174115" imgH="812800" progId="Visio.Drawing.15">
                  <p:embed/>
                </p:oleObj>
              </mc:Choice>
              <mc:Fallback>
                <p:oleObj name="" r:id="rId1" imgW="1174115" imgH="812800" progId="Visio.Drawing.15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2780665"/>
                        <a:ext cx="4515485" cy="3106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二极管构成“或”门电路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5143500" y="2814463"/>
          <a:ext cx="3286124" cy="36274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21531"/>
                <a:gridCol w="821531"/>
                <a:gridCol w="821531"/>
                <a:gridCol w="821531"/>
              </a:tblGrid>
              <a:tr h="457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400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内容占位符 2"/>
          <p:cNvSpPr txBox="1"/>
          <p:nvPr/>
        </p:nvSpPr>
        <p:spPr>
          <a:xfrm>
            <a:off x="457200" y="1279600"/>
            <a:ext cx="8229600" cy="13573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输入输出逻辑关系如下表，按正逻辑原则，可得输出</a:t>
            </a:r>
            <a:r>
              <a:rPr lang="en-US" altLang="zh-CN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与</a:t>
            </a:r>
            <a:r>
              <a:rPr lang="en-US" altLang="zh-CN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B,C </a:t>
            </a: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的逻辑关系为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+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+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endParaRPr lang="zh-CN" alt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457200" y="2780665"/>
          <a:ext cx="4515485" cy="310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1174115" imgH="812800" progId="Visio.Drawing.15">
                  <p:embed/>
                </p:oleObj>
              </mc:Choice>
              <mc:Fallback>
                <p:oleObj name="" r:id="rId1" imgW="1174115" imgH="812800" progId="Visio.Drawing.15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2780665"/>
                        <a:ext cx="4515485" cy="3106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585114" y="3404850"/>
          <a:ext cx="4284345" cy="292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Visio" r:id="rId1" imgW="1234440" imgH="902970" progId="Visio.Drawing.11">
                  <p:embed/>
                </p:oleObj>
              </mc:Choice>
              <mc:Fallback>
                <p:oleObj name="Visio" r:id="rId1" imgW="1234440" imgH="90297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114" y="3404850"/>
                        <a:ext cx="4284345" cy="2928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三极管组成“非”门电路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1547664" y="4311427"/>
          <a:ext cx="2800350" cy="14938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00175"/>
                <a:gridCol w="1400175"/>
              </a:tblGrid>
              <a:tr h="5201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000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486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内容占位符 1"/>
          <p:cNvSpPr txBox="1"/>
          <p:nvPr/>
        </p:nvSpPr>
        <p:spPr>
          <a:xfrm>
            <a:off x="457200" y="1268760"/>
            <a:ext cx="8229600" cy="250031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点接高电平时，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较大，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I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很大，三极管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T1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处于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饱和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状态，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CE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新宋体" panose="02010609030101010101" charset="-122"/>
                <a:cs typeface="Times New Roman" panose="02020603050405020304"/>
              </a:rPr>
              <a:t>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0.3V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，输出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为低电平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点接低电平时，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=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很小，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R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上几乎没有电压，三极管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T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处于截止状态，输出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电压接近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，为高电平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6453001" y="5805264"/>
            <a:ext cx="43204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508023" y="5805264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endParaRPr lang="zh-CN" altLang="en-US" dirty="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7533121" y="4509120"/>
            <a:ext cx="0" cy="3600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092280" y="4480193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endParaRPr lang="zh-CN" altLang="en-US" baseline="-25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812" y="404664"/>
            <a:ext cx="8429652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二极管和三极管组成“与非”门电路</a:t>
            </a:r>
            <a:endParaRPr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6000750" y="2667720"/>
          <a:ext cx="2643188" cy="385762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60797"/>
                <a:gridCol w="660797"/>
                <a:gridCol w="660797"/>
                <a:gridCol w="660797"/>
              </a:tblGrid>
              <a:tr h="4862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000" i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内容占位符 1"/>
          <p:cNvSpPr txBox="1"/>
          <p:nvPr/>
        </p:nvSpPr>
        <p:spPr>
          <a:xfrm>
            <a:off x="457200" y="1211015"/>
            <a:ext cx="8229600" cy="1412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将与门和非门按下图连接，构成与非门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85750" y="2698750"/>
          <a:ext cx="5665788" cy="382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Visio" r:id="rId1" imgW="1972310" imgH="1134745" progId="Visio.Drawing.11">
                  <p:embed/>
                </p:oleObj>
              </mc:Choice>
              <mc:Fallback>
                <p:oleObj name="Visio" r:id="rId1" imgW="1972310" imgH="113474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2698750"/>
                        <a:ext cx="5665788" cy="382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812" y="404664"/>
            <a:ext cx="8429652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二极管和三极管组成“与非”门电路</a:t>
            </a:r>
            <a:endParaRPr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6000750" y="2667720"/>
          <a:ext cx="2643188" cy="385762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60797"/>
                <a:gridCol w="660797"/>
                <a:gridCol w="660797"/>
                <a:gridCol w="660797"/>
              </a:tblGrid>
              <a:tr h="4862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en-US" altLang="zh-CN" sz="2000" i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内容占位符 2"/>
          <p:cNvSpPr txBox="1"/>
          <p:nvPr/>
        </p:nvSpPr>
        <p:spPr>
          <a:xfrm>
            <a:off x="457200" y="1220169"/>
            <a:ext cx="8229600" cy="1784350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当输入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均接高电平时，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en-US" altLang="zh-CN" sz="2400" b="1" baseline="-25000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为高电平，三极管 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T</a:t>
            </a:r>
            <a:r>
              <a:rPr lang="en-US" altLang="zh-CN" sz="2400" b="1" baseline="-25000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进入饱和导通状态，输出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为低电平。否则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输出高电平。输入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和输出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的电平关系如右表</a:t>
            </a:r>
            <a:endParaRPr lang="zh-CN" altLang="en-US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85750" y="2698750"/>
          <a:ext cx="5665788" cy="382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Visio" r:id="rId1" imgW="1972310" imgH="1134745" progId="Visio.Drawing.11">
                  <p:embed/>
                </p:oleObj>
              </mc:Choice>
              <mc:Fallback>
                <p:oleObj name="Visio" r:id="rId1" imgW="1972310" imgH="113474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2698750"/>
                        <a:ext cx="5665788" cy="382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812" y="404664"/>
            <a:ext cx="8429652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二极管和三极管组成“与非”门电路</a:t>
            </a:r>
            <a:endParaRPr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6000750" y="2667720"/>
          <a:ext cx="2643188" cy="385762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60797"/>
                <a:gridCol w="660797"/>
                <a:gridCol w="660797"/>
                <a:gridCol w="660797"/>
              </a:tblGrid>
              <a:tr h="4862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en-US" altLang="zh-CN" sz="2000" i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" name="直接连接符 3"/>
          <p:cNvCxnSpPr/>
          <p:nvPr/>
        </p:nvCxnSpPr>
        <p:spPr>
          <a:xfrm>
            <a:off x="4143375" y="1923802"/>
            <a:ext cx="75565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3"/>
          <p:cNvSpPr txBox="1"/>
          <p:nvPr/>
        </p:nvSpPr>
        <p:spPr>
          <a:xfrm>
            <a:off x="457200" y="1212850"/>
            <a:ext cx="8229600" cy="1238885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将表中输入输出按正逻辑代入</a:t>
            </a:r>
            <a:r>
              <a:rPr lang="en-US" altLang="zh-C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0</a:t>
            </a: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，可得</a:t>
            </a:r>
            <a:r>
              <a:rPr lang="en-US" altLang="zh-CN" sz="24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与</a:t>
            </a:r>
            <a:r>
              <a:rPr lang="en-US" altLang="zh-CN" sz="24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 </a:t>
            </a: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的逻辑关系是“与非”：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= 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ABC</a:t>
            </a:r>
            <a:endParaRPr lang="zh-CN" altLang="en-US" sz="2400" b="1" i="1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81464" y="2695893"/>
          <a:ext cx="5674360" cy="3831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Visio" r:id="rId1" imgW="1798955" imgH="1035050" progId="Visio.Drawing.11">
                  <p:embed/>
                </p:oleObj>
              </mc:Choice>
              <mc:Fallback>
                <p:oleObj name="Visio" r:id="rId1" imgW="1798955" imgH="103505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4" y="2695893"/>
                        <a:ext cx="5674360" cy="3831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278459"/>
            <a:ext cx="8229600" cy="1214437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Font typeface="+mj-lt"/>
              <a:buNone/>
              <a:defRPr/>
            </a:pPr>
            <a:r>
              <a:rPr lang="zh-CN" altLang="en-US" sz="2400" dirty="0"/>
              <a:t>在实验箱中，用二极管、三极管及电阻等分别构成如下电路并测试，同时记录有关数据。</a:t>
            </a:r>
            <a:endParaRPr lang="en-US" altLang="zh-CN" sz="240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470142"/>
            <a:ext cx="8001056" cy="582594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dirty="0" err="1"/>
              <a:t>实验内容与测试步骤</a:t>
            </a:r>
            <a:endParaRPr dirty="0"/>
          </a:p>
        </p:txBody>
      </p:sp>
      <p:sp>
        <p:nvSpPr>
          <p:cNvPr id="7" name="矩形 6"/>
          <p:cNvSpPr/>
          <p:nvPr/>
        </p:nvSpPr>
        <p:spPr>
          <a:xfrm>
            <a:off x="457200" y="2500313"/>
            <a:ext cx="8143875" cy="31577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用二极管实现正逻辑“与门”</a:t>
            </a:r>
            <a:endParaRPr lang="zh-CN" altLang="en-US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用二极管实现正逻辑“或门”</a:t>
            </a:r>
            <a:endParaRPr lang="en-US" altLang="zh-CN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三极管极性测量</a:t>
            </a:r>
            <a:endParaRPr lang="zh-CN" altLang="en-US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用三极管实现正逻辑“非门”</a:t>
            </a:r>
            <a:endParaRPr lang="en-US" altLang="zh-CN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用晶体管实现正逻辑“与非门”</a:t>
            </a:r>
            <a:endParaRPr lang="en-US" altLang="zh-CN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5161915" y="1316990"/>
          <a:ext cx="3231515" cy="2600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1076325" imgH="861695" progId="Visio.Drawing.15">
                  <p:embed/>
                </p:oleObj>
              </mc:Choice>
              <mc:Fallback>
                <p:oleObj name="" r:id="rId1" imgW="1076325" imgH="861695" progId="Visio.Drawing.15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61915" y="1316990"/>
                        <a:ext cx="3231515" cy="2600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1460" y="1214755"/>
            <a:ext cx="4747260" cy="5346065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根据右图在实验箱中通过导线连接电路，检查二极管、电源电压和极性、电阻值等是否连接正确 </a:t>
            </a:r>
            <a:endParaRPr lang="en-US" altLang="zh-CN" sz="2200" dirty="0">
              <a:latin typeface="+mn-ea"/>
              <a:ea typeface="+mn-ea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200" dirty="0" err="1">
                <a:latin typeface="+mn-ea"/>
                <a:ea typeface="+mn-ea"/>
              </a:rPr>
              <a:t>Vcc</a:t>
            </a:r>
            <a:r>
              <a:rPr lang="zh-CN" altLang="en-US" sz="2200" dirty="0">
                <a:latin typeface="+mn-ea"/>
                <a:ea typeface="+mn-ea"/>
              </a:rPr>
              <a:t>接实验箱中</a:t>
            </a:r>
            <a:r>
              <a:rPr lang="en-US" altLang="zh-CN" sz="2200" dirty="0">
                <a:latin typeface="+mn-ea"/>
                <a:ea typeface="+mn-ea"/>
              </a:rPr>
              <a:t>+5V</a:t>
            </a:r>
            <a:r>
              <a:rPr lang="zh-CN" altLang="en-US" sz="2200" dirty="0">
                <a:latin typeface="+mn-ea"/>
                <a:ea typeface="+mn-ea"/>
              </a:rPr>
              <a:t>直流电源。</a:t>
            </a:r>
            <a:endParaRPr lang="zh-CN" altLang="en-US" sz="2200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200" dirty="0">
                <a:latin typeface="+mn-ea"/>
                <a:ea typeface="+mn-ea"/>
              </a:rPr>
              <a:t>输入高低电平通过</a:t>
            </a:r>
            <a:r>
              <a:rPr lang="zh-CN" altLang="en-US" sz="2400" dirty="0">
                <a:latin typeface="+mn-ea"/>
                <a:ea typeface="+mn-ea"/>
              </a:rPr>
              <a:t>开关</a:t>
            </a:r>
            <a:r>
              <a:rPr lang="en-US" altLang="zh-CN" sz="2400" dirty="0">
                <a:latin typeface="+mn-ea"/>
                <a:ea typeface="+mn-ea"/>
              </a:rPr>
              <a:t>S1</a:t>
            </a:r>
            <a:r>
              <a:rPr lang="zh-CN" altLang="en-US" sz="2400" dirty="0">
                <a:latin typeface="+mn-ea"/>
                <a:ea typeface="+mn-ea"/>
              </a:rPr>
              <a:t>～</a:t>
            </a:r>
            <a:r>
              <a:rPr lang="en-US" altLang="zh-CN" sz="2400" dirty="0">
                <a:latin typeface="+mn-ea"/>
                <a:ea typeface="+mn-ea"/>
              </a:rPr>
              <a:t>S6</a:t>
            </a:r>
            <a:r>
              <a:rPr lang="zh-CN" altLang="en-US" sz="2200" dirty="0">
                <a:latin typeface="+mn-ea"/>
                <a:ea typeface="+mn-ea"/>
              </a:rPr>
              <a:t>产生。输入</a:t>
            </a:r>
            <a:r>
              <a:rPr lang="en-US" altLang="zh-CN" sz="2200" i="1" dirty="0">
                <a:latin typeface="+mn-ea"/>
                <a:ea typeface="+mn-ea"/>
              </a:rPr>
              <a:t>A,B</a:t>
            </a:r>
            <a:r>
              <a:rPr lang="zh-CN" altLang="en-US" sz="2200" dirty="0">
                <a:latin typeface="+mn-ea"/>
                <a:ea typeface="+mn-ea"/>
              </a:rPr>
              <a:t>的不同电平组合，用万用表或实验箱中的直流电压表测量</a:t>
            </a:r>
            <a:r>
              <a:rPr lang="en-US" altLang="zh-CN" sz="2200" i="1" dirty="0">
                <a:latin typeface="+mn-ea"/>
                <a:ea typeface="+mn-ea"/>
              </a:rPr>
              <a:t>A,B</a:t>
            </a:r>
            <a:r>
              <a:rPr lang="zh-CN" altLang="en-US" sz="2200" dirty="0">
                <a:latin typeface="+mn-ea"/>
                <a:ea typeface="+mn-ea"/>
              </a:rPr>
              <a:t>及对应输出</a:t>
            </a:r>
            <a:r>
              <a:rPr lang="en-US" altLang="zh-CN" sz="2200" i="1" dirty="0">
                <a:latin typeface="+mn-ea"/>
                <a:ea typeface="+mn-ea"/>
              </a:rPr>
              <a:t>F</a:t>
            </a:r>
            <a:r>
              <a:rPr lang="en-US" altLang="zh-CN" sz="2200" dirty="0">
                <a:latin typeface="+mn-ea"/>
                <a:ea typeface="+mn-ea"/>
              </a:rPr>
              <a:t> </a:t>
            </a:r>
            <a:r>
              <a:rPr lang="zh-CN" altLang="en-US" sz="2200" dirty="0">
                <a:latin typeface="+mn-ea"/>
                <a:ea typeface="+mn-ea"/>
              </a:rPr>
              <a:t>的电压值。最后判断逻辑关系是否满足 </a:t>
            </a:r>
            <a:br>
              <a:rPr lang="en-US" altLang="zh-CN" sz="2200" i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zh-CN" sz="2200" dirty="0">
                <a:solidFill>
                  <a:srgbClr val="FF0000"/>
                </a:solidFill>
                <a:effectLst/>
                <a:latin typeface="+mn-ea"/>
                <a:ea typeface="+mn-ea"/>
              </a:rPr>
              <a:t>F = A B</a:t>
            </a:r>
            <a:endParaRPr lang="zh-CN" altLang="en-US" sz="2200" dirty="0"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用二极管实现正逻辑“与门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5148064" y="4071942"/>
          <a:ext cx="3861115" cy="22786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38143"/>
                <a:gridCol w="761798"/>
                <a:gridCol w="866037"/>
                <a:gridCol w="1395137"/>
              </a:tblGrid>
              <a:tr h="6327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A</a:t>
                      </a:r>
                      <a:r>
                        <a:rPr lang="en-US" altLang="zh-CN" sz="21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B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zh-CN" altLang="en-US" sz="21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逻辑值</a:t>
                      </a:r>
                      <a:endParaRPr lang="zh-CN" altLang="en-US" sz="2100" b="1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461"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461"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461"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461"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线形标注 1 7"/>
          <p:cNvSpPr/>
          <p:nvPr/>
        </p:nvSpPr>
        <p:spPr>
          <a:xfrm>
            <a:off x="7098983" y="854393"/>
            <a:ext cx="1225550" cy="360362"/>
          </a:xfrm>
          <a:prstGeom prst="borderCallout1">
            <a:avLst>
              <a:gd name="adj1" fmla="val 18750"/>
              <a:gd name="adj2" fmla="val -8333"/>
              <a:gd name="adj3" fmla="val 97533"/>
              <a:gd name="adj4" fmla="val -292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S1—S6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076190" y="1191260"/>
            <a:ext cx="1654175" cy="278701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产</a:t>
            </a: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生高低电平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7" name="矩形 8"/>
          <p:cNvSpPr>
            <a:spLocks noChangeArrowheads="1"/>
          </p:cNvSpPr>
          <p:nvPr/>
        </p:nvSpPr>
        <p:spPr bwMode="auto">
          <a:xfrm>
            <a:off x="539552" y="1268760"/>
            <a:ext cx="7962651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+mn-ea"/>
                <a:ea typeface="+mn-ea"/>
              </a:rPr>
              <a:t>生产高低电平的电路图，如下图红框内所示，已经在实验箱的拨动开关内部接好。拨动开关对应的插孔</a:t>
            </a:r>
            <a:r>
              <a:rPr lang="en-US" altLang="zh-CN" sz="2800" b="1" dirty="0">
                <a:latin typeface="+mn-ea"/>
                <a:ea typeface="+mn-ea"/>
              </a:rPr>
              <a:t>S1</a:t>
            </a:r>
            <a:r>
              <a:rPr lang="zh-CN" altLang="en-US" sz="2800" b="1" dirty="0">
                <a:latin typeface="+mn-ea"/>
                <a:ea typeface="+mn-ea"/>
              </a:rPr>
              <a:t>～</a:t>
            </a:r>
            <a:r>
              <a:rPr lang="en-US" altLang="zh-CN" sz="2800" b="1" dirty="0">
                <a:latin typeface="+mn-ea"/>
                <a:ea typeface="+mn-ea"/>
              </a:rPr>
              <a:t>S6</a:t>
            </a:r>
            <a:r>
              <a:rPr lang="zh-CN" altLang="en-US" sz="2800" b="1" dirty="0">
                <a:latin typeface="+mn-ea"/>
                <a:ea typeface="+mn-ea"/>
              </a:rPr>
              <a:t>，能直接用作</a:t>
            </a:r>
            <a:r>
              <a:rPr lang="en-US" altLang="zh-CN" sz="2800" b="1" dirty="0">
                <a:latin typeface="+mn-ea"/>
                <a:ea typeface="+mn-ea"/>
              </a:rPr>
              <a:t>A</a:t>
            </a:r>
            <a:r>
              <a:rPr lang="zh-CN" altLang="en-US" sz="2800" b="1" dirty="0">
                <a:latin typeface="+mn-ea"/>
                <a:ea typeface="+mn-ea"/>
              </a:rPr>
              <a:t>、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输入端，产生高电平和低电平。</a:t>
            </a:r>
            <a:endParaRPr lang="zh-CN" altLang="en-US" sz="2800" b="1" dirty="0">
              <a:latin typeface="+mn-ea"/>
              <a:ea typeface="+mn-ea"/>
            </a:endParaRPr>
          </a:p>
        </p:txBody>
      </p:sp>
      <p:pic>
        <p:nvPicPr>
          <p:cNvPr id="5122" name="Picture 2" descr="D:\dyb\课程资料\备课笔记\数字电子技术基础\逻辑与计算机设计基础课件\实验课件\数字逻辑设计实验 - 课件\IMG_20160926_170040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95536" y="4095750"/>
            <a:ext cx="4125341" cy="172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箭头连接符 3"/>
          <p:cNvCxnSpPr/>
          <p:nvPr/>
        </p:nvCxnSpPr>
        <p:spPr>
          <a:xfrm>
            <a:off x="899592" y="4581128"/>
            <a:ext cx="5615940" cy="9366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对象 4"/>
          <p:cNvGraphicFramePr/>
          <p:nvPr/>
        </p:nvGraphicFramePr>
        <p:xfrm>
          <a:off x="5075555" y="3616960"/>
          <a:ext cx="3231515" cy="2600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1076325" imgH="861695" progId="Visio.Drawing.15">
                  <p:embed/>
                </p:oleObj>
              </mc:Choice>
              <mc:Fallback>
                <p:oleObj name="" r:id="rId3" imgW="1076325" imgH="861695" progId="Visio.Drawing.15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5555" y="3616960"/>
                        <a:ext cx="3231515" cy="2600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线形标注 1 7"/>
          <p:cNvSpPr/>
          <p:nvPr/>
        </p:nvSpPr>
        <p:spPr>
          <a:xfrm>
            <a:off x="6954838" y="3187383"/>
            <a:ext cx="1225550" cy="360362"/>
          </a:xfrm>
          <a:prstGeom prst="borderCallout1">
            <a:avLst>
              <a:gd name="adj1" fmla="val 18750"/>
              <a:gd name="adj2" fmla="val -8333"/>
              <a:gd name="adj3" fmla="val 97533"/>
              <a:gd name="adj4" fmla="val -292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S1—S6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932045" y="3524250"/>
            <a:ext cx="1654175" cy="278701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1403147" y="4581763"/>
            <a:ext cx="5184775" cy="5759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用二极管实现正逻辑“或门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内容占位符 4"/>
          <p:cNvSpPr txBox="1"/>
          <p:nvPr/>
        </p:nvSpPr>
        <p:spPr>
          <a:xfrm>
            <a:off x="338138" y="1288182"/>
            <a:ext cx="4619625" cy="52371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latin typeface="+mn-ea"/>
              </a:rPr>
              <a:t>根据右图在实验箱中连接电路，检查二极管、电源电压和极性、电阻值等是否连接正确</a:t>
            </a:r>
            <a:endParaRPr lang="zh-CN" altLang="en-US" sz="2200" b="1" dirty="0"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latin typeface="+mn-ea"/>
              </a:rPr>
              <a:t>输入高低电平通过开关</a:t>
            </a:r>
            <a:r>
              <a:rPr lang="en-US" altLang="zh-CN" sz="2200" b="1" dirty="0">
                <a:latin typeface="+mn-ea"/>
              </a:rPr>
              <a:t>S1</a:t>
            </a:r>
            <a:r>
              <a:rPr lang="zh-CN" altLang="en-US" sz="2200" b="1" dirty="0">
                <a:latin typeface="+mn-ea"/>
              </a:rPr>
              <a:t>～</a:t>
            </a:r>
            <a:r>
              <a:rPr lang="en-US" altLang="zh-CN" sz="2200" b="1" dirty="0">
                <a:latin typeface="+mn-ea"/>
              </a:rPr>
              <a:t>S6</a:t>
            </a:r>
            <a:r>
              <a:rPr lang="zh-CN" altLang="en-US" sz="2200" b="1" dirty="0">
                <a:latin typeface="+mn-ea"/>
              </a:rPr>
              <a:t>产生。输入</a:t>
            </a:r>
            <a:r>
              <a:rPr lang="en-US" altLang="zh-CN" sz="2200" b="1" i="1" dirty="0">
                <a:latin typeface="+mn-ea"/>
              </a:rPr>
              <a:t>A,B</a:t>
            </a:r>
            <a:r>
              <a:rPr lang="zh-CN" altLang="en-US" sz="2200" b="1" dirty="0">
                <a:latin typeface="+mn-ea"/>
              </a:rPr>
              <a:t>的不同电平组合，用万用表或实验箱中的直流电压表测量输入</a:t>
            </a:r>
            <a:r>
              <a:rPr lang="en-US" altLang="zh-CN" sz="2200" b="1" i="1" dirty="0">
                <a:latin typeface="+mn-ea"/>
              </a:rPr>
              <a:t>A,B</a:t>
            </a:r>
            <a:r>
              <a:rPr lang="zh-CN" altLang="en-US" sz="2200" b="1" dirty="0">
                <a:latin typeface="+mn-ea"/>
              </a:rPr>
              <a:t>及对应输出</a:t>
            </a:r>
            <a:r>
              <a:rPr lang="en-US" altLang="zh-CN" sz="2200" b="1" i="1" dirty="0">
                <a:latin typeface="+mn-ea"/>
              </a:rPr>
              <a:t>F</a:t>
            </a:r>
            <a:r>
              <a:rPr lang="en-US" altLang="zh-CN" sz="2200" b="1" dirty="0">
                <a:latin typeface="+mn-ea"/>
              </a:rPr>
              <a:t> </a:t>
            </a:r>
            <a:r>
              <a:rPr lang="zh-CN" altLang="en-US" sz="2200" b="1" dirty="0">
                <a:latin typeface="+mn-ea"/>
              </a:rPr>
              <a:t>的电压值。最后判断逻辑值是否满足</a:t>
            </a:r>
            <a:endParaRPr lang="en-US" altLang="zh-CN" sz="2200" b="1" dirty="0"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   F = A + B</a:t>
            </a:r>
            <a:endParaRPr lang="zh-CN" altLang="en-US" sz="22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1543" name="Picture 4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459" y="1196578"/>
            <a:ext cx="3983037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7" name="表格"/>
          <p:cNvGraphicFramePr>
            <a:graphicFrameLocks noGrp="1"/>
          </p:cNvGraphicFramePr>
          <p:nvPr/>
        </p:nvGraphicFramePr>
        <p:xfrm>
          <a:off x="5167759" y="4454227"/>
          <a:ext cx="3684587" cy="214312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22713"/>
                <a:gridCol w="813188"/>
                <a:gridCol w="802074"/>
                <a:gridCol w="1246612"/>
              </a:tblGrid>
              <a:tr h="4653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A</a:t>
                      </a:r>
                      <a:r>
                        <a:rPr lang="en-US" altLang="zh-CN" sz="21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B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zh-CN" altLang="en-US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逻辑值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95536" y="1268760"/>
            <a:ext cx="6120680" cy="5643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200" dirty="0">
                <a:latin typeface="+mn-ea"/>
                <a:ea typeface="+mn-ea"/>
              </a:rPr>
              <a:t>将万用表</a:t>
            </a:r>
            <a:r>
              <a:rPr lang="zh-CN" altLang="en-US" sz="2400" dirty="0"/>
              <a:t>功能量程开关置于 “  ”位置，用红黑表笔</a:t>
            </a:r>
            <a:r>
              <a:rPr lang="zh-CN" altLang="en-US" sz="2200" dirty="0">
                <a:latin typeface="+mn-ea"/>
                <a:ea typeface="+mn-ea"/>
              </a:rPr>
              <a:t>判断被测三极管是</a:t>
            </a:r>
            <a:r>
              <a:rPr lang="en-US" altLang="zh-CN" sz="2200" dirty="0">
                <a:latin typeface="+mn-ea"/>
                <a:ea typeface="+mn-ea"/>
              </a:rPr>
              <a:t>PNP</a:t>
            </a:r>
            <a:r>
              <a:rPr lang="zh-CN" altLang="en-US" sz="2200" dirty="0">
                <a:latin typeface="+mn-ea"/>
                <a:ea typeface="+mn-ea"/>
              </a:rPr>
              <a:t>还是</a:t>
            </a:r>
            <a:r>
              <a:rPr lang="en-US" altLang="zh-CN" sz="2200" dirty="0">
                <a:latin typeface="+mn-ea"/>
                <a:ea typeface="+mn-ea"/>
              </a:rPr>
              <a:t>NPN</a:t>
            </a:r>
            <a:r>
              <a:rPr lang="zh-CN" altLang="en-US" sz="2200" dirty="0">
                <a:latin typeface="+mn-ea"/>
                <a:ea typeface="+mn-ea"/>
              </a:rPr>
              <a:t>型，确定基极</a:t>
            </a:r>
            <a:r>
              <a:rPr lang="en-US" altLang="zh-CN" sz="2200" dirty="0">
                <a:latin typeface="+mn-ea"/>
                <a:ea typeface="+mn-ea"/>
              </a:rPr>
              <a:t>b</a:t>
            </a:r>
            <a:endParaRPr lang="zh-CN" altLang="en-US" sz="2200" dirty="0">
              <a:latin typeface="+mn-ea"/>
              <a:ea typeface="+mn-ea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将万用表功能量程置于“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”位置，把三极管插入面板上三极管测试插座，基极</a:t>
            </a:r>
            <a:r>
              <a:rPr lang="en-US" altLang="zh-CN" sz="2200" dirty="0">
                <a:latin typeface="+mn-ea"/>
                <a:ea typeface="+mn-ea"/>
              </a:rPr>
              <a:t>b</a:t>
            </a:r>
            <a:r>
              <a:rPr lang="zh-CN" altLang="en-US" sz="2200" dirty="0">
                <a:latin typeface="+mn-ea"/>
                <a:ea typeface="+mn-ea"/>
              </a:rPr>
              <a:t>要插对，集电极</a:t>
            </a:r>
            <a:r>
              <a:rPr lang="en-US" altLang="zh-CN" sz="2200" dirty="0">
                <a:latin typeface="+mn-ea"/>
                <a:ea typeface="+mn-ea"/>
              </a:rPr>
              <a:t>c</a:t>
            </a:r>
            <a:r>
              <a:rPr lang="zh-CN" altLang="en-US" sz="2200" dirty="0">
                <a:latin typeface="+mn-ea"/>
                <a:ea typeface="+mn-ea"/>
              </a:rPr>
              <a:t>和发射极</a:t>
            </a:r>
            <a:r>
              <a:rPr lang="en-US" altLang="zh-CN" sz="2200" dirty="0">
                <a:latin typeface="+mn-ea"/>
                <a:ea typeface="+mn-ea"/>
              </a:rPr>
              <a:t>e</a:t>
            </a:r>
            <a:r>
              <a:rPr lang="zh-CN" altLang="en-US" sz="2200" dirty="0">
                <a:latin typeface="+mn-ea"/>
                <a:ea typeface="+mn-ea"/>
              </a:rPr>
              <a:t>随便插</a:t>
            </a:r>
            <a:endParaRPr lang="zh-CN" altLang="en-US" sz="2200" dirty="0">
              <a:latin typeface="+mn-ea"/>
              <a:ea typeface="+mn-ea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从显示屏上读取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近似值，若该值较大（约</a:t>
            </a:r>
            <a:r>
              <a:rPr lang="en-US" altLang="zh-CN" sz="2200" dirty="0">
                <a:latin typeface="+mn-ea"/>
                <a:ea typeface="+mn-ea"/>
              </a:rPr>
              <a:t>100</a:t>
            </a:r>
            <a:r>
              <a:rPr lang="zh-CN" altLang="en-US" sz="2200" dirty="0">
                <a:latin typeface="+mn-ea"/>
                <a:ea typeface="+mn-ea"/>
              </a:rPr>
              <a:t>），说明三级管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极与插座上的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极对应；若该值很小，说明这时的三极管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极插反，应把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极对调后再读取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值</a:t>
            </a:r>
            <a:endParaRPr lang="zh-CN" altLang="en-US" sz="2200" dirty="0">
              <a:latin typeface="+mn-ea"/>
              <a:ea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三极管极性测量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6631" name="Object 5"/>
          <p:cNvGraphicFramePr>
            <a:graphicFrameLocks noChangeAspect="1"/>
          </p:cNvGraphicFramePr>
          <p:nvPr/>
        </p:nvGraphicFramePr>
        <p:xfrm>
          <a:off x="6300192" y="1484784"/>
          <a:ext cx="2436414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Visio" r:id="rId1" imgW="736600" imgH="1447800" progId="Visio.Drawing.11">
                  <p:embed/>
                </p:oleObj>
              </mc:Choice>
              <mc:Fallback>
                <p:oleObj name="Visio" r:id="rId1" imgW="736600" imgH="1447800" progId="Visio.Drawing.11">
                  <p:embed/>
                  <p:pic>
                    <p:nvPicPr>
                      <p:cNvPr id="0" name="图片 9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484784"/>
                        <a:ext cx="2436414" cy="4824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502" y="1398885"/>
            <a:ext cx="219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2915920" y="548640"/>
            <a:ext cx="2736850" cy="5831840"/>
            <a:chOff x="4592" y="864"/>
            <a:chExt cx="4310" cy="918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rcRect l="15000" t="10102" r="31790" b="4852"/>
            <a:stretch>
              <a:fillRect/>
            </a:stretch>
          </p:blipFill>
          <p:spPr>
            <a:xfrm>
              <a:off x="4592" y="864"/>
              <a:ext cx="4310" cy="9185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6995" y="3586"/>
              <a:ext cx="784" cy="86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48064" y="1628824"/>
          <a:ext cx="3784297" cy="2592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Visio" r:id="rId1" imgW="2095500" imgH="1536700" progId="Visio.Drawing.11">
                  <p:embed/>
                </p:oleObj>
              </mc:Choice>
              <mc:Fallback>
                <p:oleObj name="Visio" r:id="rId1" imgW="2095500" imgH="1536700" progId="Visio.Drawing.11">
                  <p:embed/>
                  <p:pic>
                    <p:nvPicPr>
                      <p:cNvPr id="0" name="图片 163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48064" y="1628824"/>
                        <a:ext cx="3784297" cy="2592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极管实现正逻辑“非门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5143505" y="4554890"/>
          <a:ext cx="3500461" cy="164307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968"/>
                <a:gridCol w="1093894"/>
                <a:gridCol w="1385599"/>
              </a:tblGrid>
              <a:tr h="5476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000" baseline="-2500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altLang="zh-CN" sz="2000" baseline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V</a:t>
                      </a:r>
                      <a:endParaRPr lang="zh-CN" altLang="en-US" sz="2000" i="0" baseline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000" baseline="-2500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</a:t>
                      </a:r>
                      <a:r>
                        <a:rPr lang="en-US" altLang="zh-CN" sz="2000" baseline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V</a:t>
                      </a:r>
                      <a:endParaRPr lang="zh-CN" altLang="en-US" sz="2000" i="0" baseline="-2500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</a:t>
                      </a:r>
                      <a:r>
                        <a:rPr lang="zh-CN" altLang="en-US" sz="200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逻辑值</a:t>
                      </a:r>
                      <a:endParaRPr lang="zh-CN" altLang="en-US" sz="20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547692"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2"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内容占位符 4"/>
          <p:cNvSpPr txBox="1"/>
          <p:nvPr/>
        </p:nvSpPr>
        <p:spPr>
          <a:xfrm>
            <a:off x="250825" y="1288752"/>
            <a:ext cx="4400550" cy="530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根据右图在实验箱上连好电路，检查三极管及电源极性、电阻值是否等是否连接正确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。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将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+5V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直流电源接入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V</a:t>
            </a:r>
            <a:r>
              <a:rPr lang="en-US" altLang="zh-CN" sz="2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端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输入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端的高、低电平用开关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S1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～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产生。 测量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和输出端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对应的电压值，填入右表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。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判断逻辑关系是否满足 </a:t>
            </a:r>
            <a:r>
              <a:rPr lang="en-US" altLang="zh-CN" sz="2200" b="1" i="1" dirty="0">
                <a:solidFill>
                  <a:srgbClr val="FF0000"/>
                </a:solidFill>
                <a:latin typeface="+mn-ea"/>
              </a:rPr>
              <a:t>F = 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cxnSp>
        <p:nvCxnSpPr>
          <p:cNvPr id="10" name="直接连接符 3"/>
          <p:cNvCxnSpPr/>
          <p:nvPr/>
        </p:nvCxnSpPr>
        <p:spPr>
          <a:xfrm>
            <a:off x="4211959" y="5229200"/>
            <a:ext cx="252413" cy="158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793056" y="1628800"/>
            <a:ext cx="1780791" cy="25922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669097" y="2064331"/>
            <a:ext cx="1137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S1-S6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398134"/>
            <a:ext cx="8001056" cy="58259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用晶体管实现正逻辑“与非门”</a:t>
            </a:r>
            <a:endParaRPr sz="44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4"/>
          <p:cNvSpPr txBox="1"/>
          <p:nvPr/>
        </p:nvSpPr>
        <p:spPr>
          <a:xfrm>
            <a:off x="441325" y="1289769"/>
            <a:ext cx="4257675" cy="52355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在实验箱上连好电路，检查二极管、三极管及电源极性、电阻值等是否正确。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将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+5V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直流电源接入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CC</a:t>
            </a:r>
            <a:endParaRPr lang="en-US" altLang="zh-CN" sz="2200" b="1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输入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端的高、低电平用开关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S1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～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S6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产生。测量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及输出端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对应的电压值，填入右表。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判断逻辑关系是否满足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=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AB</a:t>
            </a:r>
            <a:endParaRPr lang="zh-CN" altLang="en-US" sz="2200" b="1" i="1" dirty="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cxnSp>
        <p:nvCxnSpPr>
          <p:cNvPr id="10" name="直接连接符 3"/>
          <p:cNvCxnSpPr/>
          <p:nvPr/>
        </p:nvCxnSpPr>
        <p:spPr>
          <a:xfrm>
            <a:off x="4175125" y="5659661"/>
            <a:ext cx="428625" cy="158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"/>
          <p:cNvGraphicFramePr>
            <a:graphicFrameLocks noGrp="1"/>
          </p:cNvGraphicFramePr>
          <p:nvPr/>
        </p:nvGraphicFramePr>
        <p:xfrm>
          <a:off x="4963987" y="4239914"/>
          <a:ext cx="4000501" cy="235743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88134"/>
                <a:gridCol w="891122"/>
                <a:gridCol w="880192"/>
                <a:gridCol w="1341053"/>
              </a:tblGrid>
              <a:tr h="5119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i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A </a:t>
                      </a:r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 </a:t>
                      </a:r>
                      <a:r>
                        <a:rPr lang="en-US" altLang="zh-CN" sz="2100" b="1" i="0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endParaRPr lang="zh-CN" altLang="en-US" sz="2100" b="1" i="0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i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B </a:t>
                      </a:r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 </a:t>
                      </a:r>
                      <a:r>
                        <a:rPr lang="en-US" altLang="zh-CN" sz="2100" b="1" i="0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endParaRPr lang="zh-CN" altLang="en-US" sz="2100" b="1" i="0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i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 </a:t>
                      </a:r>
                      <a:r>
                        <a:rPr lang="en-US" altLang="zh-CN" sz="2100" b="1" i="0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endParaRPr lang="zh-CN" altLang="en-US" sz="2100" b="1" i="0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zh-CN" altLang="en-US" sz="2100" b="1" i="0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逻辑值</a:t>
                      </a:r>
                      <a:endParaRPr lang="zh-CN" altLang="en-US" sz="2100" b="1" i="0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375"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375"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375"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375"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721049" y="1323378"/>
          <a:ext cx="4164012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Visio" r:id="rId1" imgW="1972310" imgH="1134745" progId="Visio.Drawing.11">
                  <p:embed/>
                </p:oleObj>
              </mc:Choice>
              <mc:Fallback>
                <p:oleObj name="Visio" r:id="rId1" imgW="1972310" imgH="1134745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049" y="1323378"/>
                        <a:ext cx="4164012" cy="281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793057" y="1395386"/>
            <a:ext cx="1224136" cy="2512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135220" y="1787624"/>
            <a:ext cx="88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S1-S6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313830"/>
            <a:ext cx="8229600" cy="56435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400" dirty="0">
                <a:latin typeface="+mn-ea"/>
                <a:ea typeface="+mn-ea"/>
              </a:rPr>
              <a:t>高低电平产生通过开关</a:t>
            </a:r>
            <a:r>
              <a:rPr lang="en-US" altLang="zh-CN" sz="2400" dirty="0">
                <a:latin typeface="+mn-ea"/>
                <a:ea typeface="+mn-ea"/>
              </a:rPr>
              <a:t>S1</a:t>
            </a:r>
            <a:r>
              <a:rPr lang="zh-CN" altLang="en-US" sz="2400" dirty="0">
                <a:latin typeface="+mn-ea"/>
                <a:ea typeface="+mn-ea"/>
              </a:rPr>
              <a:t>～</a:t>
            </a:r>
            <a:r>
              <a:rPr lang="en-US" altLang="zh-CN" sz="2400" dirty="0">
                <a:latin typeface="+mn-ea"/>
                <a:ea typeface="+mn-ea"/>
              </a:rPr>
              <a:t>S6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2400" dirty="0">
                <a:latin typeface="+mn-ea"/>
                <a:ea typeface="+mn-ea"/>
              </a:rPr>
              <a:t>开关向上拨高电平</a:t>
            </a:r>
            <a:r>
              <a:rPr lang="en-US" altLang="zh-CN" sz="2400" dirty="0">
                <a:latin typeface="+mn-ea"/>
                <a:ea typeface="+mn-ea"/>
              </a:rPr>
              <a:t>,</a:t>
            </a:r>
            <a:r>
              <a:rPr lang="zh-CN" altLang="en-US" sz="2400" dirty="0">
                <a:latin typeface="+mn-ea"/>
                <a:ea typeface="+mn-ea"/>
              </a:rPr>
              <a:t>开关向下拨低电平.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高低电平通过</a:t>
            </a:r>
            <a:r>
              <a:rPr lang="en-US" altLang="zh-CN" sz="2400" dirty="0">
                <a:latin typeface="+mn-ea"/>
                <a:ea typeface="+mn-ea"/>
              </a:rPr>
              <a:t>S1</a:t>
            </a:r>
            <a:r>
              <a:rPr lang="zh-CN" altLang="en-US" sz="2400" dirty="0">
                <a:latin typeface="+mn-ea"/>
                <a:ea typeface="+mn-ea"/>
              </a:rPr>
              <a:t>～</a:t>
            </a:r>
            <a:r>
              <a:rPr lang="en-US" altLang="zh-CN" sz="2400" dirty="0">
                <a:latin typeface="+mn-ea"/>
                <a:ea typeface="+mn-ea"/>
              </a:rPr>
              <a:t>S6</a:t>
            </a:r>
            <a:r>
              <a:rPr lang="zh-CN" altLang="en-US" sz="2400" dirty="0">
                <a:latin typeface="+mn-ea"/>
                <a:ea typeface="+mn-ea"/>
              </a:rPr>
              <a:t>插孔输出</a:t>
            </a:r>
            <a:r>
              <a:rPr lang="en-US" altLang="zh-CN" sz="2400" dirty="0">
                <a:latin typeface="+mn-ea"/>
                <a:ea typeface="+mn-ea"/>
              </a:rPr>
              <a:t>.</a:t>
            </a:r>
            <a:endParaRPr lang="en-US" altLang="zh-CN" sz="2400" dirty="0">
              <a:latin typeface="+mn-ea"/>
              <a:ea typeface="+mn-ea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S6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开关图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2" descr="D:\dyb\课程资料\备课笔记\数字电子技术基础\逻辑与计算机设计基础课件\实验课件\数字逻辑设计实验 - 课件\IMG_20160926_170040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835696" y="3717032"/>
            <a:ext cx="4125341" cy="172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S6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开关内部接线图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9" name="TextBox 6"/>
          <p:cNvSpPr txBox="1">
            <a:spLocks noChangeArrowheads="1"/>
          </p:cNvSpPr>
          <p:nvPr/>
        </p:nvSpPr>
        <p:spPr bwMode="auto">
          <a:xfrm>
            <a:off x="642938" y="1196752"/>
            <a:ext cx="792956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/>
              <a:t>        </a:t>
            </a:r>
            <a:r>
              <a:rPr lang="zh-CN" altLang="en-US" sz="2400" b="1" dirty="0"/>
              <a:t>生产高低电平的电路图，实验板内部接好的，不需要自己接线，通过拨位开关，插孔</a:t>
            </a:r>
            <a:r>
              <a:rPr lang="en-US" altLang="zh-CN" sz="2400" b="1" dirty="0"/>
              <a:t>S1</a:t>
            </a:r>
            <a:r>
              <a:rPr lang="zh-CN" altLang="en-US" sz="2400" b="1" dirty="0"/>
              <a:t>～</a:t>
            </a:r>
            <a:r>
              <a:rPr lang="en-US" altLang="zh-CN" sz="2400" b="1" dirty="0"/>
              <a:t>S6</a:t>
            </a:r>
            <a:r>
              <a:rPr lang="zh-CN" altLang="en-US" sz="2400" b="1" dirty="0"/>
              <a:t>能直接输出高电平和低电平。</a:t>
            </a:r>
            <a:endParaRPr lang="zh-CN" altLang="en-US" sz="2400" b="1" dirty="0"/>
          </a:p>
        </p:txBody>
      </p:sp>
      <p:pic>
        <p:nvPicPr>
          <p:cNvPr id="8" name="Picture 2" descr="D:\dyb\课程资料\备课笔记\数字电子技术基础\逻辑与计算机设计基础课件\实验课件\数字逻辑设计实验 - 课件\IMG_20160926_170040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923928" y="4077072"/>
            <a:ext cx="4125341" cy="172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91680" y="2981239"/>
          <a:ext cx="1944216" cy="3588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Visio" r:id="rId3" imgW="628015" imgH="1074420" progId="Visio.Drawing.11">
                  <p:embed/>
                </p:oleObj>
              </mc:Choice>
              <mc:Fallback>
                <p:oleObj name="Visio" r:id="rId3" imgW="628015" imgH="1074420" progId="Visio.Drawing.11">
                  <p:embed/>
                  <p:pic>
                    <p:nvPicPr>
                      <p:cNvPr id="0" name="图片 61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981239"/>
                        <a:ext cx="1944216" cy="35886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D:\dyb\课程资料\备课笔记\数字电子技术基础\逻辑与计算机设计基础课件\实验课件\数字逻辑设计实验 - 课件\IMG_20161009_202403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04" r="13275"/>
          <a:stretch>
            <a:fillRect/>
          </a:stretch>
        </p:blipFill>
        <p:spPr bwMode="auto">
          <a:xfrm>
            <a:off x="2760784" y="1309826"/>
            <a:ext cx="2725615" cy="528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528" y="260648"/>
            <a:ext cx="7005464" cy="95436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元器件在实验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板</a:t>
            </a: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上有标记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形标注 8"/>
          <p:cNvSpPr/>
          <p:nvPr/>
        </p:nvSpPr>
        <p:spPr>
          <a:xfrm>
            <a:off x="5652120" y="5373216"/>
            <a:ext cx="3491879" cy="936625"/>
          </a:xfrm>
          <a:prstGeom prst="wedgeEllipseCallout">
            <a:avLst>
              <a:gd name="adj1" fmla="val -60637"/>
              <a:gd name="adj2" fmla="val -1314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三极管插座，</a:t>
            </a:r>
            <a:r>
              <a:rPr lang="zh-CN" altLang="en-US" sz="2400" dirty="0">
                <a:solidFill>
                  <a:srgbClr val="FF0000"/>
                </a:solidFill>
              </a:rPr>
              <a:t>要插入三极管才能工作！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椭圆形标注 9"/>
          <p:cNvSpPr/>
          <p:nvPr/>
        </p:nvSpPr>
        <p:spPr>
          <a:xfrm>
            <a:off x="7144533" y="3789239"/>
            <a:ext cx="1368425" cy="936625"/>
          </a:xfrm>
          <a:prstGeom prst="wedgeEllipseCallout">
            <a:avLst>
              <a:gd name="adj1" fmla="val -190282"/>
              <a:gd name="adj2" fmla="val -1259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电阻</a:t>
            </a:r>
            <a:endParaRPr lang="zh-CN" altLang="en-US" dirty="0"/>
          </a:p>
        </p:txBody>
      </p:sp>
      <p:sp>
        <p:nvSpPr>
          <p:cNvPr id="11" name="椭圆形标注 10"/>
          <p:cNvSpPr/>
          <p:nvPr/>
        </p:nvSpPr>
        <p:spPr>
          <a:xfrm>
            <a:off x="7281735" y="2276351"/>
            <a:ext cx="1368425" cy="936625"/>
          </a:xfrm>
          <a:prstGeom prst="wedgeEllipseCallout">
            <a:avLst>
              <a:gd name="adj1" fmla="val -200562"/>
              <a:gd name="adj2" fmla="val -414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接地</a:t>
            </a:r>
            <a:endParaRPr lang="zh-CN" altLang="en-US" dirty="0"/>
          </a:p>
        </p:txBody>
      </p:sp>
      <p:sp>
        <p:nvSpPr>
          <p:cNvPr id="12" name="椭圆形标注 11"/>
          <p:cNvSpPr/>
          <p:nvPr/>
        </p:nvSpPr>
        <p:spPr>
          <a:xfrm>
            <a:off x="755699" y="1798389"/>
            <a:ext cx="1368425" cy="936625"/>
          </a:xfrm>
          <a:prstGeom prst="wedgeEllipseCallout">
            <a:avLst>
              <a:gd name="adj1" fmla="val 178521"/>
              <a:gd name="adj2" fmla="val -1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+5V</a:t>
            </a:r>
            <a:endParaRPr lang="zh-CN" altLang="en-US" dirty="0"/>
          </a:p>
        </p:txBody>
      </p:sp>
      <p:sp>
        <p:nvSpPr>
          <p:cNvPr id="13" name="椭圆形标注 12"/>
          <p:cNvSpPr/>
          <p:nvPr/>
        </p:nvSpPr>
        <p:spPr>
          <a:xfrm>
            <a:off x="755699" y="3320926"/>
            <a:ext cx="1368425" cy="936625"/>
          </a:xfrm>
          <a:prstGeom prst="wedgeEllipseCallout">
            <a:avLst>
              <a:gd name="adj1" fmla="val 107845"/>
              <a:gd name="adj2" fmla="val 599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二极管</a:t>
            </a:r>
            <a:endParaRPr lang="zh-CN" altLang="en-US" dirty="0"/>
          </a:p>
        </p:txBody>
      </p:sp>
      <p:sp>
        <p:nvSpPr>
          <p:cNvPr id="14" name="椭圆形标注 13"/>
          <p:cNvSpPr/>
          <p:nvPr/>
        </p:nvSpPr>
        <p:spPr>
          <a:xfrm>
            <a:off x="743341" y="4652959"/>
            <a:ext cx="1368425" cy="936625"/>
          </a:xfrm>
          <a:prstGeom prst="wedgeEllipseCallout">
            <a:avLst>
              <a:gd name="adj1" fmla="val 107845"/>
              <a:gd name="adj2" fmla="val 599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S1</a:t>
            </a:r>
            <a:r>
              <a:rPr lang="zh-CN" altLang="en-US" dirty="0"/>
              <a:t>～</a:t>
            </a:r>
            <a:r>
              <a:rPr lang="en-US" altLang="zh-CN" dirty="0"/>
              <a:t>S6</a:t>
            </a:r>
            <a:endParaRPr lang="zh-CN" altLang="en-US" dirty="0"/>
          </a:p>
        </p:txBody>
      </p:sp>
      <p:sp>
        <p:nvSpPr>
          <p:cNvPr id="15" name="椭圆形标注 14"/>
          <p:cNvSpPr/>
          <p:nvPr/>
        </p:nvSpPr>
        <p:spPr>
          <a:xfrm>
            <a:off x="7150078" y="3781177"/>
            <a:ext cx="1368425" cy="936625"/>
          </a:xfrm>
          <a:prstGeom prst="wedgeEllipseCallout">
            <a:avLst>
              <a:gd name="adj1" fmla="val -319284"/>
              <a:gd name="adj2" fmla="val -987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电阻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AxNjVhMDdlMWUyOTNlNzNjNzQ0YTgzZTAwYWU5NDY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4383</Words>
  <Application>WPS 演示</Application>
  <PresentationFormat>全屏显示(4:3)</PresentationFormat>
  <Paragraphs>1236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17</vt:i4>
      </vt:variant>
      <vt:variant>
        <vt:lpstr>幻灯片标题</vt:lpstr>
      </vt:variant>
      <vt:variant>
        <vt:i4>41</vt:i4>
      </vt:variant>
    </vt:vector>
  </HeadingPairs>
  <TitlesOfParts>
    <vt:vector size="81" baseType="lpstr">
      <vt:lpstr>Arial</vt:lpstr>
      <vt:lpstr>宋体</vt:lpstr>
      <vt:lpstr>Wingdings</vt:lpstr>
      <vt:lpstr>黑体</vt:lpstr>
      <vt:lpstr>华文细黑</vt:lpstr>
      <vt:lpstr>微软雅黑</vt:lpstr>
      <vt:lpstr>楷体_GB2312</vt:lpstr>
      <vt:lpstr>新宋体</vt:lpstr>
      <vt:lpstr>Helvetica</vt:lpstr>
      <vt:lpstr>隶书</vt:lpstr>
      <vt:lpstr>Times New Roman</vt:lpstr>
      <vt:lpstr>Arial Unicode MS</vt:lpstr>
      <vt:lpstr>Calibri</vt:lpstr>
      <vt:lpstr>方正琥珀繁体</vt:lpstr>
      <vt:lpstr>Symbol</vt:lpstr>
      <vt:lpstr>Kingsoft Phonetic Plain</vt:lpstr>
      <vt:lpstr>Wingdings 2</vt:lpstr>
      <vt:lpstr>Times New Roman</vt:lpstr>
      <vt:lpstr>Verdana</vt:lpstr>
      <vt:lpstr>Segoe Print</vt:lpstr>
      <vt:lpstr>自定义设计方案</vt:lpstr>
      <vt:lpstr>实验室PPT模版2013 beta1</vt:lpstr>
      <vt:lpstr>1_自定义设计方案</vt:lpstr>
      <vt:lpstr>Paint.Picture</vt:lpstr>
      <vt:lpstr>Visio.Drawing.11</vt:lpstr>
      <vt:lpstr>Visio.Drawing.11</vt:lpstr>
      <vt:lpstr>Visio.Drawing.15</vt:lpstr>
      <vt:lpstr>Visio.Drawing.15</vt:lpstr>
      <vt:lpstr>Visio.Drawing.11</vt:lpstr>
      <vt:lpstr>Visio.Drawing.11</vt:lpstr>
      <vt:lpstr>Visio.Drawing.11</vt:lpstr>
      <vt:lpstr>Visio.Drawing.11</vt:lpstr>
      <vt:lpstr>Paint.Picture</vt:lpstr>
      <vt:lpstr>Visio.Drawing.11</vt:lpstr>
      <vt:lpstr>Visio.Drawing.11</vt:lpstr>
      <vt:lpstr>Visio.Drawing.11</vt:lpstr>
      <vt:lpstr>Visio.Drawing.15</vt:lpstr>
      <vt:lpstr>Visio.Drawing.15</vt:lpstr>
      <vt:lpstr>Visio.Drawing.11</vt:lpstr>
      <vt:lpstr>Visio.Drawing.11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实验原理</vt:lpstr>
      <vt:lpstr>二极管构成“与”门电路</vt:lpstr>
      <vt:lpstr>二极管构成“与”门电路</vt:lpstr>
      <vt:lpstr>二极管构成“与”门电路</vt:lpstr>
      <vt:lpstr>二极管构成“或”门电路</vt:lpstr>
      <vt:lpstr>二极管构成“或”门电路</vt:lpstr>
      <vt:lpstr>三极管组成“非”门电路</vt:lpstr>
      <vt:lpstr>二极管和三极管组成“与非”门电路</vt:lpstr>
      <vt:lpstr>二极管和三极管组成“与非”门电路</vt:lpstr>
      <vt:lpstr>二极管和三极管组成“与非”门电路</vt:lpstr>
      <vt:lpstr>实验内容与测试步骤</vt:lpstr>
      <vt:lpstr>用二极管实现正逻辑“与门”</vt:lpstr>
      <vt:lpstr>产生高低电平</vt:lpstr>
      <vt:lpstr>用二极管实现正逻辑“或门”</vt:lpstr>
      <vt:lpstr>三极管极性测量</vt:lpstr>
      <vt:lpstr>用三极管实现正逻辑“非门”</vt:lpstr>
      <vt:lpstr>用晶体管实现正逻辑“与非门”</vt:lpstr>
      <vt:lpstr>S1～S6开关图</vt:lpstr>
      <vt:lpstr>S1～S6开关内部接线图</vt:lpstr>
      <vt:lpstr>元器件在实验板上有标记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董亚波</cp:lastModifiedBy>
  <cp:revision>283</cp:revision>
  <dcterms:created xsi:type="dcterms:W3CDTF">2011-08-03T07:44:00Z</dcterms:created>
  <dcterms:modified xsi:type="dcterms:W3CDTF">2026-03-09T12:20:37Z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434E3C2AF5694275B38E9E17E16E40AD_12</vt:lpwstr>
  </property>
  <property fmtid="{D5CDD505-2E9C-101B-9397-08002B2CF9AE}" pid="3" name="KSOProductBuildVer">
    <vt:lpwstr>2052-12.1.0.23542</vt:lpwstr>
  </property>
</Properties>
</file>