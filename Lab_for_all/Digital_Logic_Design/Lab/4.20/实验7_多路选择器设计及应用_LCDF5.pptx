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9"/>
  </p:notesMasterIdLst>
  <p:sldIdLst>
    <p:sldId id="256" r:id="rId4"/>
    <p:sldId id="270" r:id="rId5"/>
    <p:sldId id="271" r:id="rId6"/>
    <p:sldId id="272" r:id="rId7"/>
    <p:sldId id="273" r:id="rId8"/>
    <p:sldId id="331" r:id="rId9"/>
    <p:sldId id="329" r:id="rId10"/>
    <p:sldId id="313" r:id="rId11"/>
    <p:sldId id="350" r:id="rId12"/>
    <p:sldId id="314" r:id="rId13"/>
    <p:sldId id="315" r:id="rId14"/>
    <p:sldId id="330" r:id="rId15"/>
    <p:sldId id="355" r:id="rId16"/>
    <p:sldId id="351" r:id="rId17"/>
    <p:sldId id="352" r:id="rId18"/>
    <p:sldId id="338" r:id="rId19"/>
    <p:sldId id="339" r:id="rId20"/>
    <p:sldId id="353" r:id="rId21"/>
    <p:sldId id="349" r:id="rId22"/>
    <p:sldId id="354" r:id="rId23"/>
    <p:sldId id="345" r:id="rId24"/>
    <p:sldId id="357" r:id="rId25"/>
    <p:sldId id="356" r:id="rId26"/>
    <p:sldId id="346" r:id="rId27"/>
    <p:sldId id="348" r:id="rId28"/>
    <p:sldId id="347" r:id="rId29"/>
    <p:sldId id="334" r:id="rId30"/>
    <p:sldId id="333" r:id="rId31"/>
    <p:sldId id="336" r:id="rId32"/>
    <p:sldId id="312" r:id="rId33"/>
    <p:sldId id="319" r:id="rId34"/>
    <p:sldId id="358" r:id="rId35"/>
    <p:sldId id="360" r:id="rId36"/>
    <p:sldId id="359" r:id="rId37"/>
    <p:sldId id="269" r:id="rId3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331"/>
            <p14:sldId id="329"/>
            <p14:sldId id="313"/>
            <p14:sldId id="350"/>
            <p14:sldId id="314"/>
            <p14:sldId id="315"/>
            <p14:sldId id="330"/>
            <p14:sldId id="355"/>
            <p14:sldId id="351"/>
            <p14:sldId id="352"/>
            <p14:sldId id="338"/>
            <p14:sldId id="339"/>
            <p14:sldId id="353"/>
            <p14:sldId id="349"/>
            <p14:sldId id="354"/>
            <p14:sldId id="345"/>
            <p14:sldId id="357"/>
            <p14:sldId id="356"/>
            <p14:sldId id="346"/>
            <p14:sldId id="348"/>
            <p14:sldId id="347"/>
            <p14:sldId id="334"/>
            <p14:sldId id="333"/>
            <p14:sldId id="336"/>
            <p14:sldId id="312"/>
            <p14:sldId id="319"/>
            <p14:sldId id="358"/>
            <p14:sldId id="360"/>
            <p14:sldId id="359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88992" autoAdjust="0"/>
  </p:normalViewPr>
  <p:slideViewPr>
    <p:cSldViewPr>
      <p:cViewPr varScale="1">
        <p:scale>
          <a:sx n="76" d="100"/>
          <a:sy n="76" d="100"/>
        </p:scale>
        <p:origin x="1359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7227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167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668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815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7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多路选择器设计及应用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掌握数据选择器的工作原理和逻辑功能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掌握数据选择器的使用方法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</a:t>
            </a:r>
            <a:r>
              <a:rPr lang="en-US" altLang="zh-CN" sz="2800" dirty="0"/>
              <a:t>4</a:t>
            </a:r>
            <a:r>
              <a:rPr lang="zh-CN" altLang="en-US" sz="2800" dirty="0"/>
              <a:t>位数码管扫描显示方法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sz="2800" dirty="0"/>
              <a:t>4</a:t>
            </a:r>
            <a:r>
              <a:rPr lang="zh-CN" altLang="en-US" sz="2800" dirty="0"/>
              <a:t>位数码管显示应用</a:t>
            </a:r>
            <a:r>
              <a:rPr lang="en-US" altLang="zh-CN" sz="2800" dirty="0"/>
              <a:t>—</a:t>
            </a:r>
            <a:r>
              <a:rPr lang="zh-CN" altLang="en-US" sz="2800" dirty="0"/>
              <a:t>记分板设计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 smtClean="0"/>
              <a:t>Vivado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的</a:t>
            </a:r>
            <a:r>
              <a:rPr lang="zh-CN" altLang="en-US" dirty="0"/>
              <a:t>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</a:t>
            </a:r>
            <a:r>
              <a:rPr lang="en-US" altLang="zh-CN" dirty="0" smtClean="0"/>
              <a:t>	1</a:t>
            </a:r>
            <a:r>
              <a:rPr lang="zh-CN" altLang="en-US" dirty="0"/>
              <a:t>套</a:t>
            </a:r>
          </a:p>
          <a:p>
            <a:r>
              <a:rPr lang="zh-CN" altLang="en-US" dirty="0"/>
              <a:t>实验材料</a:t>
            </a:r>
          </a:p>
          <a:p>
            <a:pPr lvl="1"/>
            <a:r>
              <a:rPr lang="zh-CN" altLang="en-US" dirty="0"/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：数据选择器设计</a:t>
            </a:r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4</a:t>
            </a:r>
            <a:r>
              <a:rPr lang="zh-CN" altLang="en-US" sz="2800" dirty="0"/>
              <a:t>位</a:t>
            </a:r>
            <a:r>
              <a:rPr lang="zh-CN" altLang="en-US" sz="2800" dirty="0" smtClean="0"/>
              <a:t>七段数码管扫描</a:t>
            </a:r>
            <a:r>
              <a:rPr lang="zh-CN" altLang="en-US" sz="2800" dirty="0"/>
              <a:t>显示</a:t>
            </a:r>
            <a:r>
              <a:rPr lang="zh-CN" altLang="en-US" sz="2800" dirty="0" smtClean="0"/>
              <a:t>控制</a:t>
            </a:r>
            <a:r>
              <a:rPr lang="zh-CN" altLang="en-US" sz="2800" dirty="0"/>
              <a:t>模块设计</a:t>
            </a:r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/>
              <a:t>3</a:t>
            </a:r>
            <a:r>
              <a:rPr lang="zh-CN" altLang="en-US" sz="2800" dirty="0" smtClean="0"/>
              <a:t>：</a:t>
            </a:r>
            <a:r>
              <a:rPr lang="zh-CN" altLang="en-US" sz="2800" dirty="0"/>
              <a:t>记分板设计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4400" dirty="0"/>
              <a:t>实验任务</a:t>
            </a:r>
            <a:r>
              <a:rPr lang="en-US" altLang="zh-CN" sz="4400" dirty="0"/>
              <a:t>1</a:t>
            </a:r>
            <a:r>
              <a:rPr lang="zh-CN" altLang="en-US" sz="4400" dirty="0"/>
              <a:t>：数据选择器设计</a:t>
            </a:r>
          </a:p>
        </p:txBody>
      </p:sp>
    </p:spTree>
    <p:extLst>
      <p:ext uri="{BB962C8B-B14F-4D97-AF65-F5344CB8AC3E}">
        <p14:creationId xmlns:p14="http://schemas.microsoft.com/office/powerpoint/2010/main" val="401903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数据选择器设计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上用原理图方式设计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</a:t>
            </a:r>
            <a:r>
              <a:rPr lang="en-US" altLang="zh-CN" dirty="0" smtClean="0"/>
              <a:t>4</a:t>
            </a:r>
            <a:r>
              <a:rPr lang="zh-CN" altLang="en-US" dirty="0" smtClean="0"/>
              <a:t>选</a:t>
            </a:r>
            <a:r>
              <a:rPr lang="en-US" altLang="zh-CN" dirty="0" smtClean="0"/>
              <a:t>1</a:t>
            </a:r>
            <a:r>
              <a:rPr lang="zh-CN" altLang="en-US" dirty="0" smtClean="0"/>
              <a:t>数据选择器</a:t>
            </a:r>
            <a:r>
              <a:rPr lang="en-US" altLang="zh-CN" dirty="0" smtClean="0"/>
              <a:t>Mux4to1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在</a:t>
            </a:r>
            <a:r>
              <a:rPr lang="en-US" altLang="zh-CN" dirty="0"/>
              <a:t>Digital</a:t>
            </a:r>
            <a:r>
              <a:rPr lang="zh-CN" altLang="en-US" dirty="0"/>
              <a:t>上原理图方式设计</a:t>
            </a:r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</a:t>
            </a:r>
            <a:r>
              <a:rPr lang="zh-CN" altLang="en-US" dirty="0" smtClean="0"/>
              <a:t>器</a:t>
            </a:r>
            <a:r>
              <a:rPr lang="en-US" altLang="zh-CN" dirty="0" smtClean="0"/>
              <a:t>Mux4to1b4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261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54" y="3723282"/>
            <a:ext cx="4779695" cy="29841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en-US" dirty="0" smtClean="0"/>
              <a:t>原理</a:t>
            </a:r>
            <a:r>
              <a:rPr lang="en-US" altLang="zh-CN" dirty="0" smtClean="0"/>
              <a:t>-</a:t>
            </a:r>
            <a:r>
              <a:rPr lang="en-US" altLang="zh-CN" dirty="0"/>
              <a:t> 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多路选择器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4</a:t>
            </a:r>
            <a:r>
              <a:rPr lang="zh-CN" altLang="en-US" sz="2800" dirty="0" smtClean="0"/>
              <a:t>选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多</a:t>
            </a:r>
            <a:r>
              <a:rPr lang="zh-CN" altLang="en-US" sz="2800" dirty="0"/>
              <a:t>路选择器：</a:t>
            </a:r>
            <a:r>
              <a:rPr lang="en-US" altLang="zh-CN" sz="2800" dirty="0" smtClean="0"/>
              <a:t>Mux4to1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根据事件简化真值表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输出是控制信号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zh-CN" altLang="en-US" sz="2400" dirty="0"/>
              <a:t>全部最小项与或结构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148146"/>
              </p:ext>
            </p:extLst>
          </p:nvPr>
        </p:nvGraphicFramePr>
        <p:xfrm>
          <a:off x="4333255" y="1844824"/>
          <a:ext cx="3767137" cy="221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07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信息输入</a:t>
                      </a: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控制端</a:t>
                      </a: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选择输出</a:t>
                      </a: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 I1 I2 I3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S1   S0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   o     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输出项</a:t>
                      </a: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 I1 I2 I3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0      0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  I0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S1S0 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 I1 I2 I3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0      1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  I1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S1S0 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 I1 I2 I3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1      0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  I2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S1S0 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 I1 I2 I3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1       1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  I3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 S1S0 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8" marR="9145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圆角矩形 5"/>
          <p:cNvSpPr/>
          <p:nvPr/>
        </p:nvSpPr>
        <p:spPr>
          <a:xfrm>
            <a:off x="7087567" y="2614761"/>
            <a:ext cx="504825" cy="13684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线形标注 2 6"/>
          <p:cNvSpPr/>
          <p:nvPr/>
        </p:nvSpPr>
        <p:spPr>
          <a:xfrm>
            <a:off x="7656438" y="4999434"/>
            <a:ext cx="1368425" cy="431800"/>
          </a:xfrm>
          <a:prstGeom prst="borderCallout2">
            <a:avLst>
              <a:gd name="adj1" fmla="val -16544"/>
              <a:gd name="adj2" fmla="val 16168"/>
              <a:gd name="adj3" fmla="val -136544"/>
              <a:gd name="adj4" fmla="val -2189"/>
              <a:gd name="adj5" fmla="val -229835"/>
              <a:gd name="adj6" fmla="val -1606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变量译码器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3105901" y="3907234"/>
            <a:ext cx="3981667" cy="234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7148189" y="2636912"/>
            <a:ext cx="1917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7400602" y="2645708"/>
            <a:ext cx="1917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7145653" y="2996952"/>
            <a:ext cx="1917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7400602" y="3356992"/>
            <a:ext cx="1917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44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仿真波形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建立测试用例，</a:t>
            </a:r>
            <a:r>
              <a:rPr lang="en-US" altLang="zh-CN" dirty="0" smtClean="0"/>
              <a:t>s</a:t>
            </a:r>
            <a:r>
              <a:rPr lang="zh-CN" altLang="en-US" dirty="0" smtClean="0"/>
              <a:t>为不同选择时</a:t>
            </a:r>
            <a:r>
              <a:rPr lang="en-US" altLang="zh-CN" dirty="0" smtClean="0"/>
              <a:t>O</a:t>
            </a:r>
            <a:r>
              <a:rPr lang="zh-CN" altLang="en-US" dirty="0" smtClean="0"/>
              <a:t>输出随</a:t>
            </a:r>
            <a:r>
              <a:rPr lang="en-US" altLang="zh-CN" dirty="0" smtClean="0"/>
              <a:t>I</a:t>
            </a:r>
            <a:r>
              <a:rPr lang="zh-CN" altLang="en-US" dirty="0" smtClean="0"/>
              <a:t>的改变，仿真结果解释并写入实验报告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80928"/>
            <a:ext cx="6389087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5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12" y="1988294"/>
            <a:ext cx="6167470" cy="38505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r>
              <a:rPr lang="en-US" altLang="zh-CN" dirty="0"/>
              <a:t>-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路选择器位扩展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r>
              <a:rPr lang="zh-CN" altLang="en-US" dirty="0"/>
              <a:t>控制结构不变，每路输入向量化</a:t>
            </a:r>
          </a:p>
        </p:txBody>
      </p:sp>
      <p:sp>
        <p:nvSpPr>
          <p:cNvPr id="5" name="线形标注 2 4"/>
          <p:cNvSpPr/>
          <p:nvPr/>
        </p:nvSpPr>
        <p:spPr>
          <a:xfrm>
            <a:off x="7263180" y="2170856"/>
            <a:ext cx="1701308" cy="431800"/>
          </a:xfrm>
          <a:prstGeom prst="borderCallout2">
            <a:avLst>
              <a:gd name="adj1" fmla="val 18750"/>
              <a:gd name="adj2" fmla="val -8333"/>
              <a:gd name="adj3" fmla="val 39927"/>
              <a:gd name="adj4" fmla="val -18459"/>
              <a:gd name="adj5" fmla="val 177619"/>
              <a:gd name="adj6" fmla="val -11377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多位复制</a:t>
            </a:r>
          </a:p>
        </p:txBody>
      </p:sp>
      <p:sp>
        <p:nvSpPr>
          <p:cNvPr id="6" name="线形标注 2 5"/>
          <p:cNvSpPr/>
          <p:nvPr/>
        </p:nvSpPr>
        <p:spPr>
          <a:xfrm>
            <a:off x="7263180" y="2743944"/>
            <a:ext cx="1701308" cy="431800"/>
          </a:xfrm>
          <a:prstGeom prst="borderCallout2">
            <a:avLst>
              <a:gd name="adj1" fmla="val 18750"/>
              <a:gd name="adj2" fmla="val -8333"/>
              <a:gd name="adj3" fmla="val 32867"/>
              <a:gd name="adj4" fmla="val -14875"/>
              <a:gd name="adj5" fmla="val 172437"/>
              <a:gd name="adj6" fmla="val -11362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多位复制</a:t>
            </a:r>
          </a:p>
        </p:txBody>
      </p:sp>
      <p:sp>
        <p:nvSpPr>
          <p:cNvPr id="7" name="线形标注 2 6"/>
          <p:cNvSpPr/>
          <p:nvPr/>
        </p:nvSpPr>
        <p:spPr>
          <a:xfrm>
            <a:off x="7264971" y="3284984"/>
            <a:ext cx="1699517" cy="431800"/>
          </a:xfrm>
          <a:prstGeom prst="borderCallout2">
            <a:avLst>
              <a:gd name="adj1" fmla="val 18750"/>
              <a:gd name="adj2" fmla="val -8333"/>
              <a:gd name="adj3" fmla="val 25808"/>
              <a:gd name="adj4" fmla="val -13080"/>
              <a:gd name="adj5" fmla="val 185036"/>
              <a:gd name="adj6" fmla="val -1141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多位复制</a:t>
            </a:r>
          </a:p>
        </p:txBody>
      </p:sp>
      <p:sp>
        <p:nvSpPr>
          <p:cNvPr id="8" name="线形标注 2 7"/>
          <p:cNvSpPr/>
          <p:nvPr/>
        </p:nvSpPr>
        <p:spPr>
          <a:xfrm>
            <a:off x="7263180" y="3861048"/>
            <a:ext cx="1701308" cy="431800"/>
          </a:xfrm>
          <a:prstGeom prst="borderCallout2">
            <a:avLst>
              <a:gd name="adj1" fmla="val 18750"/>
              <a:gd name="adj2" fmla="val -8333"/>
              <a:gd name="adj3" fmla="val 25809"/>
              <a:gd name="adj4" fmla="val -13980"/>
              <a:gd name="adj5" fmla="val 180653"/>
              <a:gd name="adj6" fmla="val -1142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多位复制</a:t>
            </a:r>
          </a:p>
        </p:txBody>
      </p:sp>
      <p:sp>
        <p:nvSpPr>
          <p:cNvPr id="9" name="椭圆 8"/>
          <p:cNvSpPr/>
          <p:nvPr/>
        </p:nvSpPr>
        <p:spPr>
          <a:xfrm>
            <a:off x="1835150" y="2514600"/>
            <a:ext cx="2592388" cy="25669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线形标注 2 9"/>
          <p:cNvSpPr/>
          <p:nvPr/>
        </p:nvSpPr>
        <p:spPr>
          <a:xfrm>
            <a:off x="5678142" y="5805488"/>
            <a:ext cx="2336800" cy="431800"/>
          </a:xfrm>
          <a:prstGeom prst="borderCallout2">
            <a:avLst>
              <a:gd name="adj1" fmla="val 18750"/>
              <a:gd name="adj2" fmla="val -8333"/>
              <a:gd name="adj3" fmla="val -5956"/>
              <a:gd name="adj4" fmla="val -16015"/>
              <a:gd name="adj5" fmla="val -201409"/>
              <a:gd name="adj6" fmla="val -8406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变量译码器共享</a:t>
            </a:r>
          </a:p>
        </p:txBody>
      </p:sp>
    </p:spTree>
    <p:extLst>
      <p:ext uri="{BB962C8B-B14F-4D97-AF65-F5344CB8AC3E}">
        <p14:creationId xmlns:p14="http://schemas.microsoft.com/office/powerpoint/2010/main" val="273379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077" y="925612"/>
            <a:ext cx="4068046" cy="59323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797552" cy="95436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选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多路选择器：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Mux4to1b4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1920033" y="971550"/>
            <a:ext cx="1990725" cy="189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24138" y="1743757"/>
            <a:ext cx="1344613" cy="2889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共享控制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923458" y="1341437"/>
            <a:ext cx="1368425" cy="13319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5382331" y="2000755"/>
            <a:ext cx="925513" cy="2905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bit0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369280" y="3393484"/>
            <a:ext cx="925513" cy="2905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bit1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376170" y="4689108"/>
            <a:ext cx="925513" cy="2889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bit2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402996" y="5951538"/>
            <a:ext cx="925512" cy="2905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bit3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910758" y="2708275"/>
            <a:ext cx="1368425" cy="13541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923458" y="4097338"/>
            <a:ext cx="1368425" cy="13414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923458" y="5473700"/>
            <a:ext cx="1368425" cy="1295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82" y="2650028"/>
            <a:ext cx="2024293" cy="1715076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V="1">
            <a:off x="1475656" y="3507566"/>
            <a:ext cx="1800200" cy="425492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1967658" y="3587221"/>
            <a:ext cx="1308198" cy="1065915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1547664" y="3976515"/>
            <a:ext cx="2520280" cy="1938424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 flipV="1">
            <a:off x="2051720" y="5373216"/>
            <a:ext cx="1944216" cy="578322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59" y="4636790"/>
            <a:ext cx="1793774" cy="1169491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281" y="1268760"/>
            <a:ext cx="2112249" cy="258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2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数据选择器仿真波形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建立测试用例，</a:t>
            </a:r>
            <a:r>
              <a:rPr lang="zh-CN" altLang="en-US" dirty="0"/>
              <a:t>初始化</a:t>
            </a:r>
            <a:r>
              <a:rPr lang="en-US" altLang="zh-CN" dirty="0"/>
              <a:t>I0</a:t>
            </a:r>
            <a:r>
              <a:rPr lang="zh-CN" altLang="en-US" dirty="0"/>
              <a:t>、</a:t>
            </a:r>
            <a:r>
              <a:rPr lang="en-US" altLang="zh-CN" dirty="0"/>
              <a:t>I1</a:t>
            </a:r>
            <a:r>
              <a:rPr lang="zh-CN" altLang="en-US" dirty="0"/>
              <a:t>、</a:t>
            </a:r>
            <a:r>
              <a:rPr lang="en-US" altLang="zh-CN" dirty="0"/>
              <a:t>I2</a:t>
            </a:r>
            <a:r>
              <a:rPr lang="zh-CN" altLang="en-US" dirty="0"/>
              <a:t>、</a:t>
            </a:r>
            <a:r>
              <a:rPr lang="en-US" altLang="zh-CN" dirty="0"/>
              <a:t>I3</a:t>
            </a:r>
            <a:r>
              <a:rPr lang="zh-CN" altLang="en-US" dirty="0"/>
              <a:t>和</a:t>
            </a:r>
            <a:r>
              <a:rPr lang="en-US" altLang="zh-CN" dirty="0"/>
              <a:t>S[1:0]</a:t>
            </a:r>
            <a:r>
              <a:rPr lang="zh-CN" altLang="en-US" dirty="0" smtClean="0"/>
              <a:t>，对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Mux4to1b4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模块</a:t>
            </a:r>
            <a:r>
              <a:rPr lang="zh-CN" altLang="en-US" dirty="0" smtClean="0"/>
              <a:t>进行仿真，仿真结果写入实验报告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463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4400" dirty="0"/>
              <a:t>任务</a:t>
            </a:r>
            <a:r>
              <a:rPr lang="en-US" altLang="zh-CN" sz="4400" dirty="0"/>
              <a:t>2</a:t>
            </a:r>
            <a:r>
              <a:rPr lang="zh-CN" altLang="en-US" sz="4400" dirty="0" smtClean="0"/>
              <a:t>：</a:t>
            </a:r>
            <a:r>
              <a:rPr lang="en-US" altLang="zh-CN" sz="4400" dirty="0" smtClean="0"/>
              <a:t>4</a:t>
            </a:r>
            <a:r>
              <a:rPr lang="zh-CN" altLang="en-US" sz="4400" dirty="0"/>
              <a:t>位七段数码管扫描显示控制模块</a:t>
            </a:r>
            <a:r>
              <a:rPr lang="zh-CN" altLang="en-US" sz="4400" dirty="0" smtClean="0"/>
              <a:t>设计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01456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多位七段数码管显示原理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229600" cy="4857403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静态显示</a:t>
            </a:r>
          </a:p>
          <a:p>
            <a:pPr lvl="1"/>
            <a:r>
              <a:rPr lang="zh-CN" altLang="en-US" sz="2000" dirty="0"/>
              <a:t>每个</a:t>
            </a:r>
            <a:r>
              <a:rPr lang="en-US" altLang="zh-CN" sz="2000" dirty="0"/>
              <a:t>7</a:t>
            </a:r>
            <a:r>
              <a:rPr lang="zh-CN" altLang="en-US" sz="2000" dirty="0"/>
              <a:t>段码对应一个显示译码电路</a:t>
            </a:r>
          </a:p>
          <a:p>
            <a:r>
              <a:rPr lang="zh-CN" altLang="en-US" sz="2400" dirty="0"/>
              <a:t>动态扫描显示：时分复用显示</a:t>
            </a:r>
          </a:p>
          <a:p>
            <a:pPr lvl="1"/>
            <a:r>
              <a:rPr lang="zh-CN" altLang="en-US" sz="2000" dirty="0"/>
              <a:t>利用人眼视觉残留</a:t>
            </a:r>
          </a:p>
          <a:p>
            <a:pPr lvl="1"/>
            <a:r>
              <a:rPr lang="zh-CN" altLang="en-US" sz="2000" dirty="0"/>
              <a:t>一个</a:t>
            </a:r>
            <a:r>
              <a:rPr lang="en-US" altLang="zh-CN" sz="2000" dirty="0"/>
              <a:t>7</a:t>
            </a:r>
            <a:r>
              <a:rPr lang="zh-CN" altLang="en-US" sz="2000" dirty="0"/>
              <a:t>段码译码电路分时为每个</a:t>
            </a:r>
            <a:r>
              <a:rPr lang="en-US" altLang="zh-CN" sz="2000" dirty="0"/>
              <a:t>7</a:t>
            </a:r>
            <a:r>
              <a:rPr lang="zh-CN" altLang="en-US" sz="2000" dirty="0"/>
              <a:t>段码提供译码</a:t>
            </a:r>
          </a:p>
          <a:p>
            <a:r>
              <a:rPr lang="zh-CN" altLang="en-US" sz="2400" dirty="0"/>
              <a:t>控制时序</a:t>
            </a:r>
          </a:p>
          <a:p>
            <a:pPr lvl="1"/>
            <a:r>
              <a:rPr lang="zh-CN" altLang="en-US" sz="2000" dirty="0"/>
              <a:t>用定时计数信号控制公共</a:t>
            </a:r>
            <a:r>
              <a:rPr lang="zh-CN" altLang="en-US" sz="2000" dirty="0" smtClean="0"/>
              <a:t>极</a:t>
            </a:r>
            <a:r>
              <a:rPr lang="en-US" altLang="zh-CN" sz="2000" dirty="0" smtClean="0"/>
              <a:t>, </a:t>
            </a:r>
            <a:r>
              <a:rPr lang="zh-CN" altLang="en-US" sz="2000" dirty="0" smtClean="0"/>
              <a:t>分时</a:t>
            </a:r>
            <a:r>
              <a:rPr lang="zh-CN" altLang="en-US" sz="2000" dirty="0"/>
              <a:t>输出对应七段码的显示信号</a:t>
            </a:r>
            <a:r>
              <a:rPr lang="zh-CN" altLang="en-US" sz="2000" dirty="0" smtClean="0"/>
              <a:t>：</a:t>
            </a:r>
            <a:r>
              <a:rPr lang="zh-CN" altLang="en-US" sz="2000" dirty="0"/>
              <a:t>	 </a:t>
            </a:r>
            <a:r>
              <a:rPr lang="zh-CN" altLang="en-US" sz="2000" dirty="0">
                <a:solidFill>
                  <a:srgbClr val="FF0000"/>
                </a:solidFill>
              </a:rPr>
              <a:t>动态扫描</a:t>
            </a:r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位七段码结构</a:t>
            </a:r>
          </a:p>
          <a:p>
            <a:pPr lvl="1"/>
            <a:r>
              <a:rPr lang="zh-CN" altLang="en-US" sz="2000" dirty="0"/>
              <a:t>正极：公共端</a:t>
            </a:r>
          </a:p>
          <a:p>
            <a:pPr lvl="1"/>
            <a:r>
              <a:rPr lang="zh-CN" altLang="en-US" sz="2000" dirty="0"/>
              <a:t>七段信号并联</a:t>
            </a:r>
          </a:p>
          <a:p>
            <a:endParaRPr lang="zh-CN" altLang="en-US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463481"/>
            <a:ext cx="6256037" cy="2205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3807767" y="4463481"/>
            <a:ext cx="4834880" cy="234078"/>
          </a:xfrm>
          <a:prstGeom prst="roundRect">
            <a:avLst/>
          </a:prstGeom>
          <a:noFill/>
          <a:ln>
            <a:solidFill>
              <a:srgbClr val="F303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843809" y="5111553"/>
            <a:ext cx="387894" cy="1267669"/>
          </a:xfrm>
          <a:prstGeom prst="roundRect">
            <a:avLst/>
          </a:prstGeom>
          <a:noFill/>
          <a:ln>
            <a:solidFill>
              <a:srgbClr val="F303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51983" y="4390082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90550" indent="-533400" eaLnBrk="1" hangingPunct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共阳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271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分时控制示意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15" y="1412776"/>
            <a:ext cx="5189597" cy="2879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1043608" y="4336304"/>
          <a:ext cx="7408912" cy="2333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Visio" r:id="rId4" imgW="3509239" imgH="1324759" progId="Visio.Drawing.11">
                  <p:embed/>
                </p:oleObj>
              </mc:Choice>
              <mc:Fallback>
                <p:oleObj name="Visio" r:id="rId4" imgW="3509239" imgH="1324759" progId="Visio.Drawing.11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336304"/>
                        <a:ext cx="7408912" cy="2333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5503083" y="1564945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AN3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4931529" y="1972030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AN2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4278947" y="2608721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AN1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3530403" y="3149121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AN0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40768"/>
            <a:ext cx="8229600" cy="4525963"/>
          </a:xfrm>
        </p:spPr>
        <p:txBody>
          <a:bodyPr>
            <a:normAutofit/>
          </a:bodyPr>
          <a:lstStyle/>
          <a:p>
            <a:pPr marL="590550" indent="-533400" algn="just">
              <a:spcBef>
                <a:spcPts val="0"/>
              </a:spcBef>
              <a:defRPr/>
            </a:pP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动态扫描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990600" lvl="1" indent="-533400" algn="just"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低电平与输入显示对应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1390650" lvl="2" indent="-533400" algn="just">
              <a:spcBef>
                <a:spcPts val="0"/>
              </a:spcBef>
              <a:defRPr/>
            </a:pPr>
            <a:r>
              <a:rPr lang="zh-CN" altLang="en-US" dirty="0">
                <a:cs typeface="Times New Roman" panose="02020603050405020304" pitchFamily="18" charset="0"/>
              </a:rPr>
              <a:t>共阳</a:t>
            </a:r>
            <a:r>
              <a:rPr lang="zh-CN" altLang="en-US" dirty="0" smtClean="0">
                <a:cs typeface="Times New Roman" panose="02020603050405020304" pitchFamily="18" charset="0"/>
              </a:rPr>
              <a:t>：低</a:t>
            </a:r>
            <a:r>
              <a:rPr lang="zh-CN" altLang="en-US" dirty="0">
                <a:cs typeface="Times New Roman" panose="02020603050405020304" pitchFamily="18" charset="0"/>
              </a:rPr>
              <a:t>电平控制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990600" lvl="1" indent="-533400" algn="just"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分时送</a:t>
            </a:r>
            <a:r>
              <a:rPr lang="en-US" altLang="zh-CN" sz="2400" i="1" dirty="0" err="1" smtClean="0">
                <a:cs typeface="Times New Roman" panose="02020603050405020304" pitchFamily="18" charset="0"/>
              </a:rPr>
              <a:t>a~g</a:t>
            </a:r>
            <a:r>
              <a:rPr lang="en-US" altLang="zh-CN" sz="2400" i="1" dirty="0" smtClean="0">
                <a:cs typeface="Times New Roman" panose="02020603050405020304" pitchFamily="18" charset="0"/>
              </a:rPr>
              <a:t>, p</a:t>
            </a:r>
            <a:endParaRPr lang="en-US" altLang="zh-CN" sz="2400" i="1" dirty="0">
              <a:cs typeface="Times New Roman" panose="02020603050405020304" pitchFamily="18" charset="0"/>
            </a:endParaRPr>
          </a:p>
          <a:p>
            <a:pPr marL="990600" lvl="1" indent="-533400" algn="just"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可用序列信号控制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401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7</a:t>
            </a:r>
            <a:r>
              <a:rPr lang="zh-CN" altLang="en-US" dirty="0"/>
              <a:t>段数码管动态扫描显示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动态扫描显示方案</a:t>
            </a:r>
          </a:p>
          <a:p>
            <a:pPr lvl="1"/>
            <a:r>
              <a:rPr lang="zh-CN" altLang="en-US" sz="2000" dirty="0"/>
              <a:t>扫描信号来自时钟计数分频器：</a:t>
            </a:r>
            <a:r>
              <a:rPr lang="zh-CN" altLang="en-US" sz="2000" dirty="0">
                <a:solidFill>
                  <a:srgbClr val="FF0000"/>
                </a:solidFill>
              </a:rPr>
              <a:t>时序转化为组合电路</a:t>
            </a:r>
          </a:p>
          <a:p>
            <a:pPr lvl="1"/>
            <a:r>
              <a:rPr lang="zh-CN" altLang="en-US" sz="2000" dirty="0"/>
              <a:t>由板载时钟</a:t>
            </a:r>
            <a:r>
              <a:rPr lang="en-US" altLang="zh-CN" sz="2000" dirty="0" err="1"/>
              <a:t>clk</a:t>
            </a:r>
            <a:r>
              <a:rPr lang="en-US" altLang="zh-CN" sz="2000" dirty="0"/>
              <a:t>(100MHz)</a:t>
            </a:r>
            <a:r>
              <a:rPr lang="zh-CN" altLang="en-US" sz="2000" dirty="0"/>
              <a:t>作为计数器时钟，分频后的高两位信号（</a:t>
            </a:r>
            <a:r>
              <a:rPr lang="en-US" altLang="zh-CN" sz="2000" dirty="0" err="1"/>
              <a:t>clk_div</a:t>
            </a:r>
            <a:r>
              <a:rPr lang="en-US" altLang="zh-CN" sz="2000" dirty="0"/>
              <a:t>[18:17]</a:t>
            </a:r>
            <a:r>
              <a:rPr lang="zh-CN" altLang="en-US" sz="2000" dirty="0"/>
              <a:t>）作为扫描</a:t>
            </a:r>
            <a:r>
              <a:rPr lang="zh-CN" altLang="en-US" sz="2000" dirty="0" smtClean="0"/>
              <a:t>控制信号</a:t>
            </a:r>
            <a:r>
              <a:rPr lang="en-US" altLang="zh-CN" sz="2000" dirty="0" smtClean="0"/>
              <a:t>Scan[1:0]</a:t>
            </a:r>
            <a:r>
              <a:rPr lang="zh-CN" altLang="en-US" sz="2000" dirty="0" smtClean="0"/>
              <a:t>，其数据为从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……</a:t>
            </a:r>
            <a:r>
              <a:rPr lang="zh-CN" altLang="en-US" sz="2000" dirty="0" smtClean="0"/>
              <a:t>，输入</a:t>
            </a:r>
            <a:r>
              <a:rPr lang="en-US" altLang="zh-CN" sz="2000" dirty="0"/>
              <a:t>2-4</a:t>
            </a:r>
            <a:r>
              <a:rPr lang="zh-CN" altLang="en-US" sz="2000" dirty="0"/>
              <a:t>译码器产生数码管位选信号，控制哪个数码管显示（位选择），同时输入</a:t>
            </a:r>
            <a:r>
              <a:rPr lang="en-US" altLang="zh-CN" sz="2000" dirty="0"/>
              <a:t>4</a:t>
            </a:r>
            <a:r>
              <a:rPr lang="zh-CN" altLang="en-US" sz="2000" dirty="0"/>
              <a:t>选</a:t>
            </a:r>
            <a:r>
              <a:rPr lang="en-US" altLang="zh-CN" sz="2000" dirty="0"/>
              <a:t>1</a:t>
            </a:r>
            <a:r>
              <a:rPr lang="zh-CN" altLang="en-US" sz="2000" dirty="0"/>
              <a:t>多路复用器选择需要显示哪个数据（段码选择）</a:t>
            </a:r>
          </a:p>
          <a:p>
            <a:pPr lvl="1"/>
            <a:r>
              <a:rPr lang="zh-CN" altLang="en-US" sz="2000" dirty="0"/>
              <a:t>计数器的分频系数要适当，几</a:t>
            </a:r>
            <a:r>
              <a:rPr lang="en-US" altLang="zh-CN" sz="2000" dirty="0" err="1"/>
              <a:t>ms</a:t>
            </a:r>
            <a:r>
              <a:rPr lang="zh-CN" altLang="en-US" sz="2000" dirty="0"/>
              <a:t>切换一次，眼睛舒适即可</a:t>
            </a:r>
            <a:endParaRPr lang="en-US" altLang="zh-CN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551008" y="3645024"/>
            <a:ext cx="8334476" cy="3384376"/>
            <a:chOff x="551008" y="3645024"/>
            <a:chExt cx="8334476" cy="3384376"/>
          </a:xfrm>
        </p:grpSpPr>
        <p:graphicFrame>
          <p:nvGraphicFramePr>
            <p:cNvPr id="7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1247911"/>
                </p:ext>
              </p:extLst>
            </p:nvPr>
          </p:nvGraphicFramePr>
          <p:xfrm>
            <a:off x="551008" y="3645024"/>
            <a:ext cx="8334476" cy="3384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2" name="Visio" r:id="rId3" imgW="5088925" imgH="2279049" progId="Visio.Drawing.11">
                    <p:embed/>
                  </p:oleObj>
                </mc:Choice>
                <mc:Fallback>
                  <p:oleObj name="Visio" r:id="rId3" imgW="5088925" imgH="2279049" progId="Visio.Drawing.11">
                    <p:embed/>
                    <p:pic>
                      <p:nvPicPr>
                        <p:cNvPr id="7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008" y="3645024"/>
                          <a:ext cx="8334476" cy="3384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任意多边形 7"/>
            <p:cNvSpPr/>
            <p:nvPr/>
          </p:nvSpPr>
          <p:spPr>
            <a:xfrm>
              <a:off x="3613737" y="4512025"/>
              <a:ext cx="2282510" cy="970241"/>
            </a:xfrm>
            <a:custGeom>
              <a:avLst/>
              <a:gdLst>
                <a:gd name="connsiteX0" fmla="*/ 0 w 2282510"/>
                <a:gd name="connsiteY0" fmla="*/ 970241 h 970241"/>
                <a:gd name="connsiteX1" fmla="*/ 160544 w 2282510"/>
                <a:gd name="connsiteY1" fmla="*/ 718955 h 970241"/>
                <a:gd name="connsiteX2" fmla="*/ 328067 w 2282510"/>
                <a:gd name="connsiteY2" fmla="*/ 649154 h 970241"/>
                <a:gd name="connsiteX3" fmla="*/ 523511 w 2282510"/>
                <a:gd name="connsiteY3" fmla="*/ 656134 h 970241"/>
                <a:gd name="connsiteX4" fmla="*/ 886479 w 2282510"/>
                <a:gd name="connsiteY4" fmla="*/ 642174 h 970241"/>
                <a:gd name="connsiteX5" fmla="*/ 1416971 w 2282510"/>
                <a:gd name="connsiteY5" fmla="*/ 460690 h 970241"/>
                <a:gd name="connsiteX6" fmla="*/ 1814840 w 2282510"/>
                <a:gd name="connsiteY6" fmla="*/ 335047 h 970241"/>
                <a:gd name="connsiteX7" fmla="*/ 2101026 w 2282510"/>
                <a:gd name="connsiteY7" fmla="*/ 104702 h 970241"/>
                <a:gd name="connsiteX8" fmla="*/ 2282510 w 2282510"/>
                <a:gd name="connsiteY8" fmla="*/ 0 h 97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510" h="970241">
                  <a:moveTo>
                    <a:pt x="0" y="970241"/>
                  </a:moveTo>
                  <a:cubicBezTo>
                    <a:pt x="52933" y="871355"/>
                    <a:pt x="105866" y="772470"/>
                    <a:pt x="160544" y="718955"/>
                  </a:cubicBezTo>
                  <a:cubicBezTo>
                    <a:pt x="215222" y="665440"/>
                    <a:pt x="267572" y="659624"/>
                    <a:pt x="328067" y="649154"/>
                  </a:cubicBezTo>
                  <a:cubicBezTo>
                    <a:pt x="388562" y="638684"/>
                    <a:pt x="430442" y="657297"/>
                    <a:pt x="523511" y="656134"/>
                  </a:cubicBezTo>
                  <a:cubicBezTo>
                    <a:pt x="616580" y="654971"/>
                    <a:pt x="737569" y="674748"/>
                    <a:pt x="886479" y="642174"/>
                  </a:cubicBezTo>
                  <a:cubicBezTo>
                    <a:pt x="1035389" y="609600"/>
                    <a:pt x="1262244" y="511878"/>
                    <a:pt x="1416971" y="460690"/>
                  </a:cubicBezTo>
                  <a:cubicBezTo>
                    <a:pt x="1571698" y="409502"/>
                    <a:pt x="1700831" y="394378"/>
                    <a:pt x="1814840" y="335047"/>
                  </a:cubicBezTo>
                  <a:cubicBezTo>
                    <a:pt x="1928849" y="275716"/>
                    <a:pt x="2023081" y="160543"/>
                    <a:pt x="2101026" y="104702"/>
                  </a:cubicBezTo>
                  <a:cubicBezTo>
                    <a:pt x="2178971" y="48861"/>
                    <a:pt x="2230740" y="24430"/>
                    <a:pt x="228251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 rot="20297482">
              <a:off x="4032935" y="4746213"/>
              <a:ext cx="914400" cy="44503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</a:rPr>
                <a:t>同步</a:t>
              </a:r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2755458" y="4014301"/>
              <a:ext cx="5732585" cy="2825837"/>
            </a:xfrm>
            <a:custGeom>
              <a:avLst/>
              <a:gdLst>
                <a:gd name="connsiteX0" fmla="*/ 457200 w 5732585"/>
                <a:gd name="connsiteY0" fmla="*/ 52754 h 2795954"/>
                <a:gd name="connsiteX1" fmla="*/ 457200 w 5732585"/>
                <a:gd name="connsiteY1" fmla="*/ 1160585 h 2795954"/>
                <a:gd name="connsiteX2" fmla="*/ 0 w 5732585"/>
                <a:gd name="connsiteY2" fmla="*/ 1160585 h 2795954"/>
                <a:gd name="connsiteX3" fmla="*/ 0 w 5732585"/>
                <a:gd name="connsiteY3" fmla="*/ 2795954 h 2795954"/>
                <a:gd name="connsiteX4" fmla="*/ 1160585 w 5732585"/>
                <a:gd name="connsiteY4" fmla="*/ 2795954 h 2795954"/>
                <a:gd name="connsiteX5" fmla="*/ 1160585 w 5732585"/>
                <a:gd name="connsiteY5" fmla="*/ 1301261 h 2795954"/>
                <a:gd name="connsiteX6" fmla="*/ 5732585 w 5732585"/>
                <a:gd name="connsiteY6" fmla="*/ 1301261 h 2795954"/>
                <a:gd name="connsiteX7" fmla="*/ 5732585 w 5732585"/>
                <a:gd name="connsiteY7" fmla="*/ 0 h 2795954"/>
                <a:gd name="connsiteX8" fmla="*/ 457200 w 5732585"/>
                <a:gd name="connsiteY8" fmla="*/ 52754 h 2795954"/>
                <a:gd name="connsiteX0" fmla="*/ 457200 w 5732585"/>
                <a:gd name="connsiteY0" fmla="*/ 52754 h 2825837"/>
                <a:gd name="connsiteX1" fmla="*/ 457200 w 5732585"/>
                <a:gd name="connsiteY1" fmla="*/ 1160585 h 2825837"/>
                <a:gd name="connsiteX2" fmla="*/ 0 w 5732585"/>
                <a:gd name="connsiteY2" fmla="*/ 1160585 h 2825837"/>
                <a:gd name="connsiteX3" fmla="*/ 0 w 5732585"/>
                <a:gd name="connsiteY3" fmla="*/ 2795954 h 2825837"/>
                <a:gd name="connsiteX4" fmla="*/ 2176585 w 5732585"/>
                <a:gd name="connsiteY4" fmla="*/ 2825837 h 2825837"/>
                <a:gd name="connsiteX5" fmla="*/ 1160585 w 5732585"/>
                <a:gd name="connsiteY5" fmla="*/ 1301261 h 2825837"/>
                <a:gd name="connsiteX6" fmla="*/ 5732585 w 5732585"/>
                <a:gd name="connsiteY6" fmla="*/ 1301261 h 2825837"/>
                <a:gd name="connsiteX7" fmla="*/ 5732585 w 5732585"/>
                <a:gd name="connsiteY7" fmla="*/ 0 h 2825837"/>
                <a:gd name="connsiteX8" fmla="*/ 457200 w 5732585"/>
                <a:gd name="connsiteY8" fmla="*/ 52754 h 2825837"/>
                <a:gd name="connsiteX0" fmla="*/ 457200 w 5732585"/>
                <a:gd name="connsiteY0" fmla="*/ 52754 h 2825837"/>
                <a:gd name="connsiteX1" fmla="*/ 457200 w 5732585"/>
                <a:gd name="connsiteY1" fmla="*/ 1160585 h 2825837"/>
                <a:gd name="connsiteX2" fmla="*/ 0 w 5732585"/>
                <a:gd name="connsiteY2" fmla="*/ 1160585 h 2825837"/>
                <a:gd name="connsiteX3" fmla="*/ 0 w 5732585"/>
                <a:gd name="connsiteY3" fmla="*/ 2795954 h 2825837"/>
                <a:gd name="connsiteX4" fmla="*/ 2176585 w 5732585"/>
                <a:gd name="connsiteY4" fmla="*/ 2825837 h 2825837"/>
                <a:gd name="connsiteX5" fmla="*/ 2164632 w 5732585"/>
                <a:gd name="connsiteY5" fmla="*/ 1307237 h 2825837"/>
                <a:gd name="connsiteX6" fmla="*/ 5732585 w 5732585"/>
                <a:gd name="connsiteY6" fmla="*/ 1301261 h 2825837"/>
                <a:gd name="connsiteX7" fmla="*/ 5732585 w 5732585"/>
                <a:gd name="connsiteY7" fmla="*/ 0 h 2825837"/>
                <a:gd name="connsiteX8" fmla="*/ 457200 w 5732585"/>
                <a:gd name="connsiteY8" fmla="*/ 52754 h 2825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32585" h="2825837">
                  <a:moveTo>
                    <a:pt x="457200" y="52754"/>
                  </a:moveTo>
                  <a:lnTo>
                    <a:pt x="457200" y="1160585"/>
                  </a:lnTo>
                  <a:lnTo>
                    <a:pt x="0" y="1160585"/>
                  </a:lnTo>
                  <a:lnTo>
                    <a:pt x="0" y="2795954"/>
                  </a:lnTo>
                  <a:lnTo>
                    <a:pt x="2176585" y="2825837"/>
                  </a:lnTo>
                  <a:cubicBezTo>
                    <a:pt x="2172601" y="2319637"/>
                    <a:pt x="2168616" y="1813437"/>
                    <a:pt x="2164632" y="1307237"/>
                  </a:cubicBezTo>
                  <a:lnTo>
                    <a:pt x="5732585" y="1301261"/>
                  </a:lnTo>
                  <a:lnTo>
                    <a:pt x="5732585" y="0"/>
                  </a:lnTo>
                  <a:lnTo>
                    <a:pt x="457200" y="52754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8915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869560" cy="954360"/>
          </a:xfrm>
        </p:spPr>
        <p:txBody>
          <a:bodyPr>
            <a:norm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7</a:t>
            </a:r>
            <a:r>
              <a:rPr lang="zh-CN" altLang="en-US" dirty="0"/>
              <a:t>段数码管动态扫描显示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401323" y="1429471"/>
          <a:ext cx="7488828" cy="518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1604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2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1396213"/>
            <a:ext cx="87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Scan(0)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67544" y="2077543"/>
            <a:ext cx="87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Scan(1)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53483" y="2869631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AN(0)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74516" y="3589711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AN(1)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53483" y="4381799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AN(2)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3483" y="517388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AN(3)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79370" y="5874123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HEX(3:0)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046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869560" cy="954360"/>
          </a:xfrm>
        </p:spPr>
        <p:txBody>
          <a:bodyPr>
            <a:noAutofit/>
          </a:bodyPr>
          <a:lstStyle/>
          <a:p>
            <a:r>
              <a:rPr lang="en-US" altLang="zh-CN" dirty="0">
                <a:solidFill>
                  <a:srgbClr val="4BACC6">
                    <a:lumMod val="75000"/>
                  </a:srgbClr>
                </a:solidFill>
              </a:rPr>
              <a:t>4</a:t>
            </a:r>
            <a:r>
              <a:rPr lang="zh-CN" altLang="en-US" dirty="0">
                <a:solidFill>
                  <a:srgbClr val="4BACC6">
                    <a:lumMod val="75000"/>
                  </a:srgbClr>
                </a:solidFill>
              </a:rPr>
              <a:t>位</a:t>
            </a:r>
            <a:r>
              <a:rPr lang="en-US" altLang="zh-CN" dirty="0">
                <a:solidFill>
                  <a:srgbClr val="4BACC6">
                    <a:lumMod val="75000"/>
                  </a:srgbClr>
                </a:solidFill>
              </a:rPr>
              <a:t>7</a:t>
            </a:r>
            <a:r>
              <a:rPr lang="zh-CN" altLang="en-US" dirty="0">
                <a:solidFill>
                  <a:srgbClr val="4BACC6">
                    <a:lumMod val="75000"/>
                  </a:srgbClr>
                </a:solidFill>
              </a:rPr>
              <a:t>段数码管动态扫描显示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12776"/>
            <a:ext cx="7262703" cy="494312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07496" y="5157192"/>
            <a:ext cx="45365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4</a:t>
            </a:r>
            <a:r>
              <a:rPr lang="zh-CN" altLang="en-US" sz="2400" b="1" dirty="0"/>
              <a:t>位七段数码管扫描显示控制模块</a:t>
            </a:r>
            <a:r>
              <a:rPr lang="en-US" altLang="zh-CN" sz="2400" b="1" dirty="0" err="1"/>
              <a:t>DispNum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096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98" y="1576040"/>
            <a:ext cx="3754471" cy="216123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191" y="2129040"/>
            <a:ext cx="5151637" cy="1211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869560" cy="95436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4BACC6">
                    <a:lumMod val="75000"/>
                  </a:srgbClr>
                </a:solidFill>
              </a:rPr>
              <a:t>4</a:t>
            </a:r>
            <a:r>
              <a:rPr lang="zh-CN" altLang="en-US" dirty="0">
                <a:solidFill>
                  <a:srgbClr val="4BACC6">
                    <a:lumMod val="75000"/>
                  </a:srgbClr>
                </a:solidFill>
              </a:rPr>
              <a:t>位</a:t>
            </a:r>
            <a:r>
              <a:rPr lang="en-US" altLang="zh-CN" dirty="0">
                <a:solidFill>
                  <a:srgbClr val="4BACC6">
                    <a:lumMod val="75000"/>
                  </a:srgbClr>
                </a:solidFill>
              </a:rPr>
              <a:t>7</a:t>
            </a:r>
            <a:r>
              <a:rPr lang="zh-CN" altLang="en-US" dirty="0">
                <a:solidFill>
                  <a:srgbClr val="4BACC6">
                    <a:lumMod val="75000"/>
                  </a:srgbClr>
                </a:solidFill>
              </a:rPr>
              <a:t>段数码管动态扫描显示</a:t>
            </a:r>
            <a:r>
              <a:rPr lang="en-US" altLang="zh-CN" sz="3100" dirty="0" smtClean="0"/>
              <a:t>-</a:t>
            </a:r>
            <a:r>
              <a:rPr lang="zh-CN" altLang="en-US" sz="3100" dirty="0"/>
              <a:t>位扫描控制</a:t>
            </a:r>
            <a:endParaRPr lang="zh-CN" altLang="en-US" sz="27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68" y="3938286"/>
            <a:ext cx="1789161" cy="1473671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 flipV="1">
            <a:off x="1699566" y="2645851"/>
            <a:ext cx="2728418" cy="442357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2481609" y="2857670"/>
            <a:ext cx="2060935" cy="101055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线形标注 1 12"/>
          <p:cNvSpPr/>
          <p:nvPr/>
        </p:nvSpPr>
        <p:spPr>
          <a:xfrm>
            <a:off x="3828678" y="1113781"/>
            <a:ext cx="1440160" cy="605600"/>
          </a:xfrm>
          <a:prstGeom prst="borderCallout1">
            <a:avLst>
              <a:gd name="adj1" fmla="val 112720"/>
              <a:gd name="adj2" fmla="val 33503"/>
              <a:gd name="adj3" fmla="val 199183"/>
              <a:gd name="adj4" fmla="val 517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2-4</a:t>
            </a:r>
            <a:r>
              <a:rPr lang="zh-CN" altLang="en-US" b="1" dirty="0"/>
              <a:t>译码器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3286572" y="3774624"/>
            <a:ext cx="2853006" cy="2889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 smtClean="0">
                <a:solidFill>
                  <a:schemeClr val="tx1"/>
                </a:solidFill>
              </a:rPr>
              <a:t>数码管位扫描控制电路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1" name="线形标注 1 20"/>
          <p:cNvSpPr/>
          <p:nvPr/>
        </p:nvSpPr>
        <p:spPr>
          <a:xfrm>
            <a:off x="6364839" y="1151139"/>
            <a:ext cx="1605646" cy="1136483"/>
          </a:xfrm>
          <a:prstGeom prst="borderCallout1">
            <a:avLst>
              <a:gd name="adj1" fmla="val 65006"/>
              <a:gd name="adj2" fmla="val 101705"/>
              <a:gd name="adj3" fmla="val 114505"/>
              <a:gd name="adj4" fmla="val 1091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C000"/>
                </a:solidFill>
              </a:rPr>
              <a:t>低电平有效</a:t>
            </a:r>
            <a:r>
              <a:rPr lang="zh-CN" altLang="en-US" b="1" dirty="0"/>
              <a:t>的数码管位使能信号</a:t>
            </a:r>
          </a:p>
        </p:txBody>
      </p:sp>
      <p:sp>
        <p:nvSpPr>
          <p:cNvPr id="22" name="线形标注 1 21"/>
          <p:cNvSpPr/>
          <p:nvPr/>
        </p:nvSpPr>
        <p:spPr>
          <a:xfrm>
            <a:off x="1794172" y="1168862"/>
            <a:ext cx="1265660" cy="870631"/>
          </a:xfrm>
          <a:prstGeom prst="borderCallout1">
            <a:avLst>
              <a:gd name="adj1" fmla="val 13009"/>
              <a:gd name="adj2" fmla="val 108975"/>
              <a:gd name="adj3" fmla="val 200649"/>
              <a:gd name="adj4" fmla="val 1402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扫描</a:t>
            </a:r>
            <a:r>
              <a:rPr lang="zh-CN" altLang="en-US" b="1" dirty="0" smtClean="0"/>
              <a:t>控制信号</a:t>
            </a:r>
            <a:r>
              <a:rPr lang="en-US" altLang="zh-CN" b="1" dirty="0" smtClean="0"/>
              <a:t>scan(1:0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928164"/>
              </p:ext>
            </p:extLst>
          </p:nvPr>
        </p:nvGraphicFramePr>
        <p:xfrm>
          <a:off x="5281888" y="4365104"/>
          <a:ext cx="3205552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Visio" r:id="rId6" imgW="2211356" imgH="1191757" progId="Visio.Drawing.11">
                  <p:embed/>
                </p:oleObj>
              </mc:Choice>
              <mc:Fallback>
                <p:oleObj name="Visio" r:id="rId6" imgW="2211356" imgH="1191757" progId="Visio.Drawing.11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81888" y="4365104"/>
                        <a:ext cx="3205552" cy="172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任意多边形 16"/>
          <p:cNvSpPr/>
          <p:nvPr/>
        </p:nvSpPr>
        <p:spPr>
          <a:xfrm>
            <a:off x="6836754" y="2840622"/>
            <a:ext cx="1263637" cy="1432276"/>
          </a:xfrm>
          <a:custGeom>
            <a:avLst/>
            <a:gdLst>
              <a:gd name="connsiteX0" fmla="*/ 2034540 w 2046432"/>
              <a:gd name="connsiteY0" fmla="*/ 0 h 1059180"/>
              <a:gd name="connsiteX1" fmla="*/ 2034540 w 2046432"/>
              <a:gd name="connsiteY1" fmla="*/ 198120 h 1059180"/>
              <a:gd name="connsiteX2" fmla="*/ 2011680 w 2046432"/>
              <a:gd name="connsiteY2" fmla="*/ 220980 h 1059180"/>
              <a:gd name="connsiteX3" fmla="*/ 1905000 w 2046432"/>
              <a:gd name="connsiteY3" fmla="*/ 266700 h 1059180"/>
              <a:gd name="connsiteX4" fmla="*/ 1821180 w 2046432"/>
              <a:gd name="connsiteY4" fmla="*/ 297180 h 1059180"/>
              <a:gd name="connsiteX5" fmla="*/ 1798320 w 2046432"/>
              <a:gd name="connsiteY5" fmla="*/ 312420 h 1059180"/>
              <a:gd name="connsiteX6" fmla="*/ 1729740 w 2046432"/>
              <a:gd name="connsiteY6" fmla="*/ 327660 h 1059180"/>
              <a:gd name="connsiteX7" fmla="*/ 1699260 w 2046432"/>
              <a:gd name="connsiteY7" fmla="*/ 335280 h 1059180"/>
              <a:gd name="connsiteX8" fmla="*/ 1676400 w 2046432"/>
              <a:gd name="connsiteY8" fmla="*/ 342900 h 1059180"/>
              <a:gd name="connsiteX9" fmla="*/ 1615440 w 2046432"/>
              <a:gd name="connsiteY9" fmla="*/ 358140 h 1059180"/>
              <a:gd name="connsiteX10" fmla="*/ 1592580 w 2046432"/>
              <a:gd name="connsiteY10" fmla="*/ 365760 h 1059180"/>
              <a:gd name="connsiteX11" fmla="*/ 1501140 w 2046432"/>
              <a:gd name="connsiteY11" fmla="*/ 373380 h 1059180"/>
              <a:gd name="connsiteX12" fmla="*/ 1409700 w 2046432"/>
              <a:gd name="connsiteY12" fmla="*/ 388620 h 1059180"/>
              <a:gd name="connsiteX13" fmla="*/ 1287780 w 2046432"/>
              <a:gd name="connsiteY13" fmla="*/ 403860 h 1059180"/>
              <a:gd name="connsiteX14" fmla="*/ 1249680 w 2046432"/>
              <a:gd name="connsiteY14" fmla="*/ 411480 h 1059180"/>
              <a:gd name="connsiteX15" fmla="*/ 1104900 w 2046432"/>
              <a:gd name="connsiteY15" fmla="*/ 419100 h 1059180"/>
              <a:gd name="connsiteX16" fmla="*/ 1051560 w 2046432"/>
              <a:gd name="connsiteY16" fmla="*/ 434340 h 1059180"/>
              <a:gd name="connsiteX17" fmla="*/ 891540 w 2046432"/>
              <a:gd name="connsiteY17" fmla="*/ 449580 h 1059180"/>
              <a:gd name="connsiteX18" fmla="*/ 746760 w 2046432"/>
              <a:gd name="connsiteY18" fmla="*/ 472440 h 1059180"/>
              <a:gd name="connsiteX19" fmla="*/ 670560 w 2046432"/>
              <a:gd name="connsiteY19" fmla="*/ 487680 h 1059180"/>
              <a:gd name="connsiteX20" fmla="*/ 586740 w 2046432"/>
              <a:gd name="connsiteY20" fmla="*/ 502920 h 1059180"/>
              <a:gd name="connsiteX21" fmla="*/ 563880 w 2046432"/>
              <a:gd name="connsiteY21" fmla="*/ 510540 h 1059180"/>
              <a:gd name="connsiteX22" fmla="*/ 510540 w 2046432"/>
              <a:gd name="connsiteY22" fmla="*/ 518160 h 1059180"/>
              <a:gd name="connsiteX23" fmla="*/ 457200 w 2046432"/>
              <a:gd name="connsiteY23" fmla="*/ 533400 h 1059180"/>
              <a:gd name="connsiteX24" fmla="*/ 381000 w 2046432"/>
              <a:gd name="connsiteY24" fmla="*/ 548640 h 1059180"/>
              <a:gd name="connsiteX25" fmla="*/ 358140 w 2046432"/>
              <a:gd name="connsiteY25" fmla="*/ 556260 h 1059180"/>
              <a:gd name="connsiteX26" fmla="*/ 297180 w 2046432"/>
              <a:gd name="connsiteY26" fmla="*/ 571500 h 1059180"/>
              <a:gd name="connsiteX27" fmla="*/ 251460 w 2046432"/>
              <a:gd name="connsiteY27" fmla="*/ 586740 h 1059180"/>
              <a:gd name="connsiteX28" fmla="*/ 228600 w 2046432"/>
              <a:gd name="connsiteY28" fmla="*/ 601980 h 1059180"/>
              <a:gd name="connsiteX29" fmla="*/ 182880 w 2046432"/>
              <a:gd name="connsiteY29" fmla="*/ 624840 h 1059180"/>
              <a:gd name="connsiteX30" fmla="*/ 152400 w 2046432"/>
              <a:gd name="connsiteY30" fmla="*/ 655320 h 1059180"/>
              <a:gd name="connsiteX31" fmla="*/ 106680 w 2046432"/>
              <a:gd name="connsiteY31" fmla="*/ 685800 h 1059180"/>
              <a:gd name="connsiteX32" fmla="*/ 91440 w 2046432"/>
              <a:gd name="connsiteY32" fmla="*/ 716280 h 1059180"/>
              <a:gd name="connsiteX33" fmla="*/ 53340 w 2046432"/>
              <a:gd name="connsiteY33" fmla="*/ 754380 h 1059180"/>
              <a:gd name="connsiteX34" fmla="*/ 38100 w 2046432"/>
              <a:gd name="connsiteY34" fmla="*/ 800100 h 1059180"/>
              <a:gd name="connsiteX35" fmla="*/ 30480 w 2046432"/>
              <a:gd name="connsiteY35" fmla="*/ 899160 h 1059180"/>
              <a:gd name="connsiteX36" fmla="*/ 22860 w 2046432"/>
              <a:gd name="connsiteY36" fmla="*/ 929640 h 1059180"/>
              <a:gd name="connsiteX37" fmla="*/ 15240 w 2046432"/>
              <a:gd name="connsiteY37" fmla="*/ 967740 h 1059180"/>
              <a:gd name="connsiteX38" fmla="*/ 7620 w 2046432"/>
              <a:gd name="connsiteY38" fmla="*/ 1028700 h 1059180"/>
              <a:gd name="connsiteX39" fmla="*/ 0 w 2046432"/>
              <a:gd name="connsiteY39" fmla="*/ 105918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046432" h="1059180">
                <a:moveTo>
                  <a:pt x="2034540" y="0"/>
                </a:moveTo>
                <a:cubicBezTo>
                  <a:pt x="2047431" y="77343"/>
                  <a:pt x="2053109" y="91351"/>
                  <a:pt x="2034540" y="198120"/>
                </a:cubicBezTo>
                <a:cubicBezTo>
                  <a:pt x="2032694" y="208737"/>
                  <a:pt x="2020772" y="215194"/>
                  <a:pt x="2011680" y="220980"/>
                </a:cubicBezTo>
                <a:cubicBezTo>
                  <a:pt x="1895400" y="294976"/>
                  <a:pt x="2001229" y="218585"/>
                  <a:pt x="1905000" y="266700"/>
                </a:cubicBezTo>
                <a:cubicBezTo>
                  <a:pt x="1857981" y="290210"/>
                  <a:pt x="1885442" y="278819"/>
                  <a:pt x="1821180" y="297180"/>
                </a:cubicBezTo>
                <a:cubicBezTo>
                  <a:pt x="1813560" y="302260"/>
                  <a:pt x="1806511" y="308324"/>
                  <a:pt x="1798320" y="312420"/>
                </a:cubicBezTo>
                <a:cubicBezTo>
                  <a:pt x="1778547" y="322307"/>
                  <a:pt x="1749251" y="323758"/>
                  <a:pt x="1729740" y="327660"/>
                </a:cubicBezTo>
                <a:cubicBezTo>
                  <a:pt x="1719471" y="329714"/>
                  <a:pt x="1709330" y="332403"/>
                  <a:pt x="1699260" y="335280"/>
                </a:cubicBezTo>
                <a:cubicBezTo>
                  <a:pt x="1691537" y="337487"/>
                  <a:pt x="1684149" y="340787"/>
                  <a:pt x="1676400" y="342900"/>
                </a:cubicBezTo>
                <a:cubicBezTo>
                  <a:pt x="1656193" y="348411"/>
                  <a:pt x="1635311" y="351516"/>
                  <a:pt x="1615440" y="358140"/>
                </a:cubicBezTo>
                <a:cubicBezTo>
                  <a:pt x="1607820" y="360680"/>
                  <a:pt x="1600542" y="364698"/>
                  <a:pt x="1592580" y="365760"/>
                </a:cubicBezTo>
                <a:cubicBezTo>
                  <a:pt x="1562263" y="369802"/>
                  <a:pt x="1531489" y="369586"/>
                  <a:pt x="1501140" y="373380"/>
                </a:cubicBezTo>
                <a:cubicBezTo>
                  <a:pt x="1470478" y="377213"/>
                  <a:pt x="1440411" y="385208"/>
                  <a:pt x="1409700" y="388620"/>
                </a:cubicBezTo>
                <a:cubicBezTo>
                  <a:pt x="1365041" y="393582"/>
                  <a:pt x="1331271" y="396611"/>
                  <a:pt x="1287780" y="403860"/>
                </a:cubicBezTo>
                <a:cubicBezTo>
                  <a:pt x="1275005" y="405989"/>
                  <a:pt x="1262587" y="410404"/>
                  <a:pt x="1249680" y="411480"/>
                </a:cubicBezTo>
                <a:cubicBezTo>
                  <a:pt x="1201520" y="415493"/>
                  <a:pt x="1153160" y="416560"/>
                  <a:pt x="1104900" y="419100"/>
                </a:cubicBezTo>
                <a:cubicBezTo>
                  <a:pt x="1085314" y="425629"/>
                  <a:pt x="1072610" y="430513"/>
                  <a:pt x="1051560" y="434340"/>
                </a:cubicBezTo>
                <a:cubicBezTo>
                  <a:pt x="994210" y="444767"/>
                  <a:pt x="954042" y="445116"/>
                  <a:pt x="891540" y="449580"/>
                </a:cubicBezTo>
                <a:cubicBezTo>
                  <a:pt x="824269" y="483216"/>
                  <a:pt x="881262" y="459630"/>
                  <a:pt x="746760" y="472440"/>
                </a:cubicBezTo>
                <a:cubicBezTo>
                  <a:pt x="696911" y="477188"/>
                  <a:pt x="711826" y="479427"/>
                  <a:pt x="670560" y="487680"/>
                </a:cubicBezTo>
                <a:cubicBezTo>
                  <a:pt x="636591" y="494474"/>
                  <a:pt x="619430" y="494747"/>
                  <a:pt x="586740" y="502920"/>
                </a:cubicBezTo>
                <a:cubicBezTo>
                  <a:pt x="578948" y="504868"/>
                  <a:pt x="571756" y="508965"/>
                  <a:pt x="563880" y="510540"/>
                </a:cubicBezTo>
                <a:cubicBezTo>
                  <a:pt x="546268" y="514062"/>
                  <a:pt x="528211" y="514947"/>
                  <a:pt x="510540" y="518160"/>
                </a:cubicBezTo>
                <a:cubicBezTo>
                  <a:pt x="419263" y="534756"/>
                  <a:pt x="530648" y="517078"/>
                  <a:pt x="457200" y="533400"/>
                </a:cubicBezTo>
                <a:cubicBezTo>
                  <a:pt x="389838" y="548369"/>
                  <a:pt x="434136" y="533458"/>
                  <a:pt x="381000" y="548640"/>
                </a:cubicBezTo>
                <a:cubicBezTo>
                  <a:pt x="373277" y="550847"/>
                  <a:pt x="365889" y="554147"/>
                  <a:pt x="358140" y="556260"/>
                </a:cubicBezTo>
                <a:cubicBezTo>
                  <a:pt x="337933" y="561771"/>
                  <a:pt x="317051" y="564876"/>
                  <a:pt x="297180" y="571500"/>
                </a:cubicBezTo>
                <a:cubicBezTo>
                  <a:pt x="281940" y="576580"/>
                  <a:pt x="264826" y="577829"/>
                  <a:pt x="251460" y="586740"/>
                </a:cubicBezTo>
                <a:cubicBezTo>
                  <a:pt x="243840" y="591820"/>
                  <a:pt x="236791" y="597884"/>
                  <a:pt x="228600" y="601980"/>
                </a:cubicBezTo>
                <a:cubicBezTo>
                  <a:pt x="196149" y="618206"/>
                  <a:pt x="213453" y="598635"/>
                  <a:pt x="182880" y="624840"/>
                </a:cubicBezTo>
                <a:cubicBezTo>
                  <a:pt x="171971" y="634191"/>
                  <a:pt x="163620" y="646344"/>
                  <a:pt x="152400" y="655320"/>
                </a:cubicBezTo>
                <a:cubicBezTo>
                  <a:pt x="138097" y="666762"/>
                  <a:pt x="106680" y="685800"/>
                  <a:pt x="106680" y="685800"/>
                </a:cubicBezTo>
                <a:cubicBezTo>
                  <a:pt x="101600" y="695960"/>
                  <a:pt x="98712" y="707554"/>
                  <a:pt x="91440" y="716280"/>
                </a:cubicBezTo>
                <a:cubicBezTo>
                  <a:pt x="59992" y="754017"/>
                  <a:pt x="74628" y="706483"/>
                  <a:pt x="53340" y="754380"/>
                </a:cubicBezTo>
                <a:cubicBezTo>
                  <a:pt x="46816" y="769060"/>
                  <a:pt x="38100" y="800100"/>
                  <a:pt x="38100" y="800100"/>
                </a:cubicBezTo>
                <a:cubicBezTo>
                  <a:pt x="35560" y="833120"/>
                  <a:pt x="34349" y="866269"/>
                  <a:pt x="30480" y="899160"/>
                </a:cubicBezTo>
                <a:cubicBezTo>
                  <a:pt x="29256" y="909561"/>
                  <a:pt x="25132" y="919417"/>
                  <a:pt x="22860" y="929640"/>
                </a:cubicBezTo>
                <a:cubicBezTo>
                  <a:pt x="20050" y="942283"/>
                  <a:pt x="17209" y="954939"/>
                  <a:pt x="15240" y="967740"/>
                </a:cubicBezTo>
                <a:cubicBezTo>
                  <a:pt x="12126" y="987980"/>
                  <a:pt x="10987" y="1008500"/>
                  <a:pt x="7620" y="1028700"/>
                </a:cubicBezTo>
                <a:cubicBezTo>
                  <a:pt x="5898" y="1039030"/>
                  <a:pt x="0" y="1059180"/>
                  <a:pt x="0" y="105918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5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40" y="1484784"/>
            <a:ext cx="8082316" cy="373560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869560" cy="95436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rgbClr val="4BACC6">
                    <a:lumMod val="75000"/>
                  </a:srgbClr>
                </a:solidFill>
              </a:rPr>
              <a:t>4</a:t>
            </a:r>
            <a:r>
              <a:rPr lang="zh-CN" altLang="en-US" sz="3600" dirty="0">
                <a:solidFill>
                  <a:srgbClr val="4BACC6">
                    <a:lumMod val="75000"/>
                  </a:srgbClr>
                </a:solidFill>
              </a:rPr>
              <a:t>位</a:t>
            </a:r>
            <a:r>
              <a:rPr lang="en-US" altLang="zh-CN" sz="3600" dirty="0">
                <a:solidFill>
                  <a:srgbClr val="4BACC6">
                    <a:lumMod val="75000"/>
                  </a:srgbClr>
                </a:solidFill>
              </a:rPr>
              <a:t>7</a:t>
            </a:r>
            <a:r>
              <a:rPr lang="zh-CN" altLang="en-US" sz="3600" dirty="0">
                <a:solidFill>
                  <a:srgbClr val="4BACC6">
                    <a:lumMod val="75000"/>
                  </a:srgbClr>
                </a:solidFill>
              </a:rPr>
              <a:t>段数码管动态扫描显示</a:t>
            </a:r>
            <a:r>
              <a:rPr lang="en-US" altLang="zh-CN" sz="2800" dirty="0" smtClean="0"/>
              <a:t>-</a:t>
            </a:r>
            <a:r>
              <a:rPr lang="zh-CN" altLang="en-US" sz="2800" dirty="0"/>
              <a:t>段码选择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273769" y="1268760"/>
            <a:ext cx="914400" cy="612648"/>
          </a:xfrm>
          <a:prstGeom prst="borderCallout1">
            <a:avLst>
              <a:gd name="adj1" fmla="val 13009"/>
              <a:gd name="adj2" fmla="val 108975"/>
              <a:gd name="adj3" fmla="val 45565"/>
              <a:gd name="adj4" fmla="val 1739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扫描控制信号</a:t>
            </a:r>
          </a:p>
        </p:txBody>
      </p:sp>
      <p:sp>
        <p:nvSpPr>
          <p:cNvPr id="10" name="线形标注 1 9"/>
          <p:cNvSpPr/>
          <p:nvPr/>
        </p:nvSpPr>
        <p:spPr>
          <a:xfrm>
            <a:off x="253730" y="2420888"/>
            <a:ext cx="1080524" cy="1152128"/>
          </a:xfrm>
          <a:prstGeom prst="borderCallout1">
            <a:avLst>
              <a:gd name="adj1" fmla="val 13009"/>
              <a:gd name="adj2" fmla="val 108975"/>
              <a:gd name="adj3" fmla="val -6019"/>
              <a:gd name="adj4" fmla="val 1630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需要显示的</a:t>
            </a:r>
            <a:r>
              <a:rPr lang="en-US" altLang="zh-CN" b="1" dirty="0"/>
              <a:t>4</a:t>
            </a:r>
            <a:r>
              <a:rPr lang="zh-CN" altLang="en-US" b="1" dirty="0"/>
              <a:t>个</a:t>
            </a:r>
            <a:r>
              <a:rPr lang="en-US" altLang="zh-CN" b="1" dirty="0"/>
              <a:t>4</a:t>
            </a:r>
            <a:r>
              <a:rPr lang="zh-CN" altLang="en-US" b="1" dirty="0"/>
              <a:t>位二进制数</a:t>
            </a:r>
          </a:p>
        </p:txBody>
      </p:sp>
      <p:sp>
        <p:nvSpPr>
          <p:cNvPr id="11" name="线形标注 1 10"/>
          <p:cNvSpPr/>
          <p:nvPr/>
        </p:nvSpPr>
        <p:spPr>
          <a:xfrm>
            <a:off x="6732240" y="1076902"/>
            <a:ext cx="1906118" cy="791978"/>
          </a:xfrm>
          <a:prstGeom prst="borderCallout1">
            <a:avLst>
              <a:gd name="adj1" fmla="val 13009"/>
              <a:gd name="adj2" fmla="val -10256"/>
              <a:gd name="adj3" fmla="val 146618"/>
              <a:gd name="adj4" fmla="val -942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当前需要显示的</a:t>
            </a:r>
            <a:r>
              <a:rPr lang="en-US" altLang="zh-CN" b="1" dirty="0"/>
              <a:t>1</a:t>
            </a:r>
            <a:r>
              <a:rPr lang="zh-CN" altLang="en-US" b="1" dirty="0"/>
              <a:t>个</a:t>
            </a:r>
            <a:r>
              <a:rPr lang="en-US" altLang="zh-CN" b="1" dirty="0"/>
              <a:t>4</a:t>
            </a:r>
            <a:r>
              <a:rPr lang="zh-CN" altLang="en-US" b="1" dirty="0"/>
              <a:t>位二进制数</a:t>
            </a:r>
          </a:p>
        </p:txBody>
      </p:sp>
      <p:sp>
        <p:nvSpPr>
          <p:cNvPr id="14" name="线形标注 1 13"/>
          <p:cNvSpPr/>
          <p:nvPr/>
        </p:nvSpPr>
        <p:spPr>
          <a:xfrm>
            <a:off x="6934625" y="3985593"/>
            <a:ext cx="1842417" cy="744868"/>
          </a:xfrm>
          <a:prstGeom prst="borderCallout1">
            <a:avLst>
              <a:gd name="adj1" fmla="val -8655"/>
              <a:gd name="adj2" fmla="val 50403"/>
              <a:gd name="adj3" fmla="val -205504"/>
              <a:gd name="adj4" fmla="val 288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当前显示的数据管的</a:t>
            </a:r>
            <a:r>
              <a:rPr lang="en-US" altLang="zh-CN" b="1" dirty="0"/>
              <a:t>7</a:t>
            </a:r>
            <a:r>
              <a:rPr lang="zh-CN" altLang="en-US" b="1" dirty="0"/>
              <a:t>段码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5500149" y="5279889"/>
          <a:ext cx="3498249" cy="1295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Visio" r:id="rId4" imgW="2525297" imgH="934510" progId="Visio.Drawing.11">
                  <p:embed/>
                </p:oleObj>
              </mc:Choice>
              <mc:Fallback>
                <p:oleObj name="Visio" r:id="rId4" imgW="2525297" imgH="934510" progId="Visio.Drawing.11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00149" y="5279889"/>
                        <a:ext cx="3498249" cy="1295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>
          <a:xfrm flipH="1">
            <a:off x="5796136" y="2492896"/>
            <a:ext cx="1800200" cy="314978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线形标注 1 12"/>
          <p:cNvSpPr/>
          <p:nvPr/>
        </p:nvSpPr>
        <p:spPr>
          <a:xfrm>
            <a:off x="71008" y="3985593"/>
            <a:ext cx="1189494" cy="870631"/>
          </a:xfrm>
          <a:prstGeom prst="borderCallout1">
            <a:avLst>
              <a:gd name="adj1" fmla="val 13009"/>
              <a:gd name="adj2" fmla="val 108975"/>
              <a:gd name="adj3" fmla="val -6667"/>
              <a:gd name="adj4" fmla="val 1525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位数码管的小数点输入</a:t>
            </a:r>
          </a:p>
        </p:txBody>
      </p:sp>
      <p:sp>
        <p:nvSpPr>
          <p:cNvPr id="16" name="线形标注 1 15"/>
          <p:cNvSpPr/>
          <p:nvPr/>
        </p:nvSpPr>
        <p:spPr>
          <a:xfrm>
            <a:off x="113208" y="5207361"/>
            <a:ext cx="1189494" cy="870631"/>
          </a:xfrm>
          <a:prstGeom prst="borderCallout1">
            <a:avLst>
              <a:gd name="adj1" fmla="val 13009"/>
              <a:gd name="adj2" fmla="val 108975"/>
              <a:gd name="adj3" fmla="val -23828"/>
              <a:gd name="adj4" fmla="val 1520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位数码管的消隐控制输入</a:t>
            </a:r>
          </a:p>
        </p:txBody>
      </p:sp>
      <p:sp>
        <p:nvSpPr>
          <p:cNvPr id="17" name="线形标注 1 16"/>
          <p:cNvSpPr/>
          <p:nvPr/>
        </p:nvSpPr>
        <p:spPr>
          <a:xfrm>
            <a:off x="3059831" y="1253612"/>
            <a:ext cx="2440317" cy="438557"/>
          </a:xfrm>
          <a:prstGeom prst="borderCallout1">
            <a:avLst>
              <a:gd name="adj1" fmla="val 115545"/>
              <a:gd name="adj2" fmla="val 19657"/>
              <a:gd name="adj3" fmla="val 147785"/>
              <a:gd name="adj4" fmla="val 354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需要显示的数据选择</a:t>
            </a:r>
            <a:endParaRPr lang="zh-CN" altLang="en-US" b="1" dirty="0"/>
          </a:p>
        </p:txBody>
      </p:sp>
      <p:sp>
        <p:nvSpPr>
          <p:cNvPr id="18" name="线形标注 1 17"/>
          <p:cNvSpPr/>
          <p:nvPr/>
        </p:nvSpPr>
        <p:spPr>
          <a:xfrm>
            <a:off x="1907704" y="5930354"/>
            <a:ext cx="2088232" cy="438557"/>
          </a:xfrm>
          <a:prstGeom prst="borderCallout1">
            <a:avLst>
              <a:gd name="adj1" fmla="val -13917"/>
              <a:gd name="adj2" fmla="val 66189"/>
              <a:gd name="adj3" fmla="val -180639"/>
              <a:gd name="adj4" fmla="val 1034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数码管位消隐选择</a:t>
            </a:r>
          </a:p>
        </p:txBody>
      </p:sp>
    </p:spTree>
    <p:extLst>
      <p:ext uri="{BB962C8B-B14F-4D97-AF65-F5344CB8AC3E}">
        <p14:creationId xmlns:p14="http://schemas.microsoft.com/office/powerpoint/2010/main" val="308966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黑体" panose="02010609060101010101" pitchFamily="49" charset="-122"/>
              </a:rPr>
              <a:t>也可使用</a:t>
            </a:r>
            <a:r>
              <a:rPr lang="en-US" altLang="zh-CN" dirty="0">
                <a:ea typeface="黑体" panose="02010609060101010101" pitchFamily="49" charset="-122"/>
              </a:rPr>
              <a:t>Case</a:t>
            </a:r>
            <a:r>
              <a:rPr lang="zh-CN" altLang="en-US" dirty="0">
                <a:ea typeface="黑体" panose="02010609060101010101" pitchFamily="49" charset="-122"/>
              </a:rPr>
              <a:t>语句实现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04048" y="1052736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四位七段动态显示实现</a:t>
            </a:r>
            <a:endParaRPr lang="zh-CN" altLang="en-US" sz="2800" b="1" dirty="0"/>
          </a:p>
        </p:txBody>
      </p:sp>
      <p:sp>
        <p:nvSpPr>
          <p:cNvPr id="5" name="Rectangle 29"/>
          <p:cNvSpPr>
            <a:spLocks noChangeArrowheads="1"/>
          </p:cNvSpPr>
          <p:nvPr/>
        </p:nvSpPr>
        <p:spPr bwMode="auto">
          <a:xfrm>
            <a:off x="395536" y="1487543"/>
            <a:ext cx="7992888" cy="43088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module</a:t>
            </a:r>
            <a:r>
              <a:rPr lang="en-US" altLang="zh-CN" sz="1600" b="1" dirty="0">
                <a:latin typeface="Arial" panose="020B0604020202020204" pitchFamily="34" charset="0"/>
              </a:rPr>
              <a:t> </a:t>
            </a:r>
            <a:r>
              <a:rPr lang="en-US" altLang="zh-CN" sz="1600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DispNum</a:t>
            </a:r>
            <a:r>
              <a:rPr lang="en-US" altLang="zh-CN" sz="1600" dirty="0" smtClean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dirty="0" smtClean="0">
                <a:latin typeface="Arial" panose="020B0604020202020204" pitchFamily="34" charset="0"/>
              </a:rPr>
              <a:t>(</a:t>
            </a:r>
            <a:r>
              <a:rPr lang="en-US" altLang="zh-CN" sz="1600" dirty="0">
                <a:latin typeface="Arial" panose="020B0604020202020204" pitchFamily="34" charset="0"/>
              </a:rPr>
              <a:t>input   [15:0] </a:t>
            </a:r>
            <a:r>
              <a:rPr lang="en-US" altLang="zh-CN" sz="1600" dirty="0" err="1">
                <a:latin typeface="Arial" panose="020B0604020202020204" pitchFamily="34" charset="0"/>
              </a:rPr>
              <a:t>Hexs</a:t>
            </a:r>
            <a:r>
              <a:rPr lang="en-US" altLang="zh-CN" sz="1600" dirty="0">
                <a:latin typeface="Arial" panose="020B0604020202020204" pitchFamily="34" charset="0"/>
              </a:rPr>
              <a:t>,	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端口变量说明与定义合并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	 input   [1:0] </a:t>
            </a:r>
            <a:r>
              <a:rPr lang="en-US" altLang="zh-CN" sz="1600" dirty="0" smtClean="0">
                <a:latin typeface="Arial" panose="020B0604020202020204" pitchFamily="34" charset="0"/>
              </a:rPr>
              <a:t>scan</a:t>
            </a:r>
            <a:r>
              <a:rPr lang="en-US" altLang="zh-CN" sz="16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	 input   [3:0] </a:t>
            </a:r>
            <a:r>
              <a:rPr lang="en-US" altLang="zh-CN" sz="1600" dirty="0" smtClean="0">
                <a:latin typeface="Arial" panose="020B0604020202020204" pitchFamily="34" charset="0"/>
              </a:rPr>
              <a:t>point</a:t>
            </a:r>
            <a:r>
              <a:rPr lang="en-US" altLang="zh-CN" sz="16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	 input   [3:0] </a:t>
            </a:r>
            <a:r>
              <a:rPr lang="en-US" altLang="zh-CN" sz="1600" dirty="0" smtClean="0">
                <a:latin typeface="Arial" panose="020B0604020202020204" pitchFamily="34" charset="0"/>
              </a:rPr>
              <a:t>LES,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	 output </a:t>
            </a:r>
            <a:r>
              <a:rPr lang="en-US" altLang="zh-CN" sz="1600" dirty="0" err="1" smtClean="0">
                <a:latin typeface="Arial" panose="020B0604020202020204" pitchFamily="34" charset="0"/>
              </a:rPr>
              <a:t>reg</a:t>
            </a:r>
            <a:r>
              <a:rPr lang="en-US" altLang="zh-CN" sz="1600" dirty="0" smtClean="0">
                <a:latin typeface="Arial" panose="020B0604020202020204" pitchFamily="34" charset="0"/>
              </a:rPr>
              <a:t>[7:0</a:t>
            </a:r>
            <a:r>
              <a:rPr lang="en-US" altLang="zh-CN" sz="1600" dirty="0">
                <a:latin typeface="Arial" panose="020B0604020202020204" pitchFamily="34" charset="0"/>
              </a:rPr>
              <a:t>] </a:t>
            </a:r>
            <a:r>
              <a:rPr lang="en-US" altLang="zh-CN" sz="1600" dirty="0" smtClean="0">
                <a:latin typeface="Arial" panose="020B0604020202020204" pitchFamily="34" charset="0"/>
              </a:rPr>
              <a:t>SEGMENT,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	 output </a:t>
            </a:r>
            <a:r>
              <a:rPr lang="en-US" altLang="zh-CN" sz="1600" dirty="0" err="1">
                <a:latin typeface="Arial" panose="020B0604020202020204" pitchFamily="34" charset="0"/>
              </a:rPr>
              <a:t>reg</a:t>
            </a:r>
            <a:r>
              <a:rPr lang="en-US" altLang="zh-CN" sz="1600" dirty="0">
                <a:latin typeface="Arial" panose="020B0604020202020204" pitchFamily="34" charset="0"/>
              </a:rPr>
              <a:t>[3:0] AN</a:t>
            </a:r>
            <a:r>
              <a:rPr lang="en-US" altLang="zh-CN" sz="1600" dirty="0" smtClean="0">
                <a:latin typeface="Arial" panose="020B0604020202020204" pitchFamily="34" charset="0"/>
              </a:rPr>
              <a:t>);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 smtClean="0">
                <a:latin typeface="Arial" panose="020B0604020202020204" pitchFamily="34" charset="0"/>
              </a:rPr>
              <a:t>  wire [3:0] Hex;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  always @* begin		      //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信号变化触发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组合电路不用时钟触发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</a:t>
            </a:r>
            <a:r>
              <a:rPr lang="en-US" altLang="zh-CN" sz="1600" dirty="0">
                <a:latin typeface="Arial" panose="020B0604020202020204" pitchFamily="34" charset="0"/>
              </a:rPr>
              <a:t>case (Scan)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        2‘b00 : </a:t>
            </a:r>
            <a:r>
              <a:rPr lang="en-US" altLang="zh-CN" sz="1600" b="1" dirty="0">
                <a:solidFill>
                  <a:srgbClr val="0000CC"/>
                </a:solidFill>
                <a:latin typeface="Arial" panose="020B0604020202020204" pitchFamily="34" charset="0"/>
              </a:rPr>
              <a:t>begin</a:t>
            </a:r>
            <a:r>
              <a:rPr lang="en-US" altLang="zh-CN" sz="1600" dirty="0">
                <a:latin typeface="Arial" panose="020B0604020202020204" pitchFamily="34" charset="0"/>
              </a:rPr>
              <a:t> Hex &lt;= </a:t>
            </a:r>
            <a:r>
              <a:rPr lang="en-US" altLang="zh-CN" sz="1600" dirty="0" err="1">
                <a:latin typeface="Arial" panose="020B0604020202020204" pitchFamily="34" charset="0"/>
              </a:rPr>
              <a:t>Hexs</a:t>
            </a:r>
            <a:r>
              <a:rPr lang="en-US" altLang="zh-CN" sz="1600" dirty="0">
                <a:latin typeface="Arial" panose="020B0604020202020204" pitchFamily="34" charset="0"/>
              </a:rPr>
              <a:t>[3:0];     AN &lt;= 4’b 1110; …	//</a:t>
            </a:r>
            <a:r>
              <a:rPr lang="zh-CN" altLang="en-US" sz="1600" dirty="0">
                <a:latin typeface="Arial" panose="020B0604020202020204" pitchFamily="34" charset="0"/>
              </a:rPr>
              <a:t>同步输出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        2'b01 : </a:t>
            </a:r>
            <a:r>
              <a:rPr lang="en-US" altLang="zh-CN" sz="1600" b="1" dirty="0">
                <a:solidFill>
                  <a:srgbClr val="0000CC"/>
                </a:solidFill>
                <a:latin typeface="Arial" panose="020B0604020202020204" pitchFamily="34" charset="0"/>
              </a:rPr>
              <a:t>begin </a:t>
            </a:r>
            <a:r>
              <a:rPr lang="en-US" altLang="zh-CN" sz="1600" dirty="0">
                <a:latin typeface="Arial" panose="020B0604020202020204" pitchFamily="34" charset="0"/>
              </a:rPr>
              <a:t>Hex &lt;= </a:t>
            </a:r>
            <a:r>
              <a:rPr lang="en-US" altLang="zh-CN" sz="1600" dirty="0" err="1">
                <a:latin typeface="Arial" panose="020B0604020202020204" pitchFamily="34" charset="0"/>
              </a:rPr>
              <a:t>Hexs</a:t>
            </a:r>
            <a:r>
              <a:rPr lang="en-US" altLang="zh-CN" sz="1600" dirty="0">
                <a:latin typeface="Arial" panose="020B0604020202020204" pitchFamily="34" charset="0"/>
              </a:rPr>
              <a:t>[7:4];     AN &lt;= 4’b 1101; …	//</a:t>
            </a:r>
            <a:r>
              <a:rPr lang="zh-CN" altLang="en-US" sz="1600" dirty="0">
                <a:latin typeface="Arial" panose="020B0604020202020204" pitchFamily="34" charset="0"/>
              </a:rPr>
              <a:t>同步输出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        2'b10 : </a:t>
            </a:r>
            <a:r>
              <a:rPr lang="en-US" altLang="zh-CN" sz="1600" b="1" dirty="0">
                <a:solidFill>
                  <a:srgbClr val="0000CC"/>
                </a:solidFill>
                <a:latin typeface="Arial" panose="020B0604020202020204" pitchFamily="34" charset="0"/>
              </a:rPr>
              <a:t>begin</a:t>
            </a:r>
            <a:r>
              <a:rPr lang="en-US" altLang="zh-CN" sz="1600" dirty="0">
                <a:latin typeface="Arial" panose="020B0604020202020204" pitchFamily="34" charset="0"/>
              </a:rPr>
              <a:t> Hex &lt;= </a:t>
            </a:r>
            <a:r>
              <a:rPr lang="en-US" altLang="zh-CN" sz="1600" dirty="0" err="1">
                <a:latin typeface="Arial" panose="020B0604020202020204" pitchFamily="34" charset="0"/>
              </a:rPr>
              <a:t>Hexs</a:t>
            </a:r>
            <a:r>
              <a:rPr lang="en-US" altLang="zh-CN" sz="1600" dirty="0">
                <a:latin typeface="Arial" panose="020B0604020202020204" pitchFamily="34" charset="0"/>
              </a:rPr>
              <a:t>[11:8];   AN &lt;= 4’b 1011; …	//</a:t>
            </a:r>
            <a:r>
              <a:rPr lang="zh-CN" altLang="en-US" sz="1600" dirty="0">
                <a:latin typeface="Arial" panose="020B0604020202020204" pitchFamily="34" charset="0"/>
              </a:rPr>
              <a:t>同步输出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        2'b11 : </a:t>
            </a:r>
            <a:r>
              <a:rPr lang="en-US" altLang="zh-CN" sz="1600" b="1" dirty="0">
                <a:solidFill>
                  <a:srgbClr val="0000CC"/>
                </a:solidFill>
                <a:latin typeface="Arial" panose="020B0604020202020204" pitchFamily="34" charset="0"/>
              </a:rPr>
              <a:t>begin</a:t>
            </a:r>
            <a:r>
              <a:rPr lang="en-US" altLang="zh-CN" sz="1600" dirty="0">
                <a:latin typeface="Arial" panose="020B0604020202020204" pitchFamily="34" charset="0"/>
              </a:rPr>
              <a:t> Hex &lt;= </a:t>
            </a:r>
            <a:r>
              <a:rPr lang="en-US" altLang="zh-CN" sz="1600" dirty="0" err="1">
                <a:latin typeface="Arial" panose="020B0604020202020204" pitchFamily="34" charset="0"/>
              </a:rPr>
              <a:t>Hexs</a:t>
            </a:r>
            <a:r>
              <a:rPr lang="en-US" altLang="zh-CN" sz="1600" dirty="0">
                <a:latin typeface="Arial" panose="020B0604020202020204" pitchFamily="34" charset="0"/>
              </a:rPr>
              <a:t>[15:12]; AN &lt;= 4’b 0111; …	//</a:t>
            </a:r>
            <a:r>
              <a:rPr lang="zh-CN" altLang="en-US" sz="1600" dirty="0">
                <a:latin typeface="Arial" panose="020B0604020202020204" pitchFamily="34" charset="0"/>
              </a:rPr>
              <a:t>同步输出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	</a:t>
            </a:r>
            <a:r>
              <a:rPr lang="en-US" altLang="zh-CN" sz="1600" dirty="0" err="1">
                <a:latin typeface="Arial" panose="020B0604020202020204" pitchFamily="34" charset="0"/>
              </a:rPr>
              <a:t>endcase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16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  MyMC14495(…);	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 err="1">
                <a:solidFill>
                  <a:srgbClr val="FF0000"/>
                </a:solidFill>
                <a:latin typeface="Arial" panose="020B0604020202020204" pitchFamily="34" charset="0"/>
              </a:rPr>
              <a:t>endmodule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958249" y="4437112"/>
            <a:ext cx="5862223" cy="2376264"/>
            <a:chOff x="551008" y="3645024"/>
            <a:chExt cx="8334476" cy="3384376"/>
          </a:xfrm>
        </p:grpSpPr>
        <p:graphicFrame>
          <p:nvGraphicFramePr>
            <p:cNvPr id="9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7731970"/>
                </p:ext>
              </p:extLst>
            </p:nvPr>
          </p:nvGraphicFramePr>
          <p:xfrm>
            <a:off x="551008" y="3645024"/>
            <a:ext cx="8334476" cy="3384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name="Visio" r:id="rId3" imgW="5088925" imgH="2279049" progId="Visio.Drawing.11">
                    <p:embed/>
                  </p:oleObj>
                </mc:Choice>
                <mc:Fallback>
                  <p:oleObj name="Visio" r:id="rId3" imgW="5088925" imgH="2279049" progId="Visio.Drawing.11">
                    <p:embed/>
                    <p:pic>
                      <p:nvPicPr>
                        <p:cNvPr id="7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008" y="3645024"/>
                          <a:ext cx="8334476" cy="3384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任意多边形 9"/>
            <p:cNvSpPr/>
            <p:nvPr/>
          </p:nvSpPr>
          <p:spPr>
            <a:xfrm>
              <a:off x="3613737" y="4512025"/>
              <a:ext cx="2282510" cy="970241"/>
            </a:xfrm>
            <a:custGeom>
              <a:avLst/>
              <a:gdLst>
                <a:gd name="connsiteX0" fmla="*/ 0 w 2282510"/>
                <a:gd name="connsiteY0" fmla="*/ 970241 h 970241"/>
                <a:gd name="connsiteX1" fmla="*/ 160544 w 2282510"/>
                <a:gd name="connsiteY1" fmla="*/ 718955 h 970241"/>
                <a:gd name="connsiteX2" fmla="*/ 328067 w 2282510"/>
                <a:gd name="connsiteY2" fmla="*/ 649154 h 970241"/>
                <a:gd name="connsiteX3" fmla="*/ 523511 w 2282510"/>
                <a:gd name="connsiteY3" fmla="*/ 656134 h 970241"/>
                <a:gd name="connsiteX4" fmla="*/ 886479 w 2282510"/>
                <a:gd name="connsiteY4" fmla="*/ 642174 h 970241"/>
                <a:gd name="connsiteX5" fmla="*/ 1416971 w 2282510"/>
                <a:gd name="connsiteY5" fmla="*/ 460690 h 970241"/>
                <a:gd name="connsiteX6" fmla="*/ 1814840 w 2282510"/>
                <a:gd name="connsiteY6" fmla="*/ 335047 h 970241"/>
                <a:gd name="connsiteX7" fmla="*/ 2101026 w 2282510"/>
                <a:gd name="connsiteY7" fmla="*/ 104702 h 970241"/>
                <a:gd name="connsiteX8" fmla="*/ 2282510 w 2282510"/>
                <a:gd name="connsiteY8" fmla="*/ 0 h 97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510" h="970241">
                  <a:moveTo>
                    <a:pt x="0" y="970241"/>
                  </a:moveTo>
                  <a:cubicBezTo>
                    <a:pt x="52933" y="871355"/>
                    <a:pt x="105866" y="772470"/>
                    <a:pt x="160544" y="718955"/>
                  </a:cubicBezTo>
                  <a:cubicBezTo>
                    <a:pt x="215222" y="665440"/>
                    <a:pt x="267572" y="659624"/>
                    <a:pt x="328067" y="649154"/>
                  </a:cubicBezTo>
                  <a:cubicBezTo>
                    <a:pt x="388562" y="638684"/>
                    <a:pt x="430442" y="657297"/>
                    <a:pt x="523511" y="656134"/>
                  </a:cubicBezTo>
                  <a:cubicBezTo>
                    <a:pt x="616580" y="654971"/>
                    <a:pt x="737569" y="674748"/>
                    <a:pt x="886479" y="642174"/>
                  </a:cubicBezTo>
                  <a:cubicBezTo>
                    <a:pt x="1035389" y="609600"/>
                    <a:pt x="1262244" y="511878"/>
                    <a:pt x="1416971" y="460690"/>
                  </a:cubicBezTo>
                  <a:cubicBezTo>
                    <a:pt x="1571698" y="409502"/>
                    <a:pt x="1700831" y="394378"/>
                    <a:pt x="1814840" y="335047"/>
                  </a:cubicBezTo>
                  <a:cubicBezTo>
                    <a:pt x="1928849" y="275716"/>
                    <a:pt x="2023081" y="160543"/>
                    <a:pt x="2101026" y="104702"/>
                  </a:cubicBezTo>
                  <a:cubicBezTo>
                    <a:pt x="2178971" y="48861"/>
                    <a:pt x="2230740" y="24430"/>
                    <a:pt x="228251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rot="20297482">
              <a:off x="4025668" y="4704459"/>
              <a:ext cx="1391050" cy="38760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</a:rPr>
                <a:t>同步</a:t>
              </a: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755458" y="4014301"/>
              <a:ext cx="5732585" cy="2825837"/>
            </a:xfrm>
            <a:custGeom>
              <a:avLst/>
              <a:gdLst>
                <a:gd name="connsiteX0" fmla="*/ 457200 w 5732585"/>
                <a:gd name="connsiteY0" fmla="*/ 52754 h 2795954"/>
                <a:gd name="connsiteX1" fmla="*/ 457200 w 5732585"/>
                <a:gd name="connsiteY1" fmla="*/ 1160585 h 2795954"/>
                <a:gd name="connsiteX2" fmla="*/ 0 w 5732585"/>
                <a:gd name="connsiteY2" fmla="*/ 1160585 h 2795954"/>
                <a:gd name="connsiteX3" fmla="*/ 0 w 5732585"/>
                <a:gd name="connsiteY3" fmla="*/ 2795954 h 2795954"/>
                <a:gd name="connsiteX4" fmla="*/ 1160585 w 5732585"/>
                <a:gd name="connsiteY4" fmla="*/ 2795954 h 2795954"/>
                <a:gd name="connsiteX5" fmla="*/ 1160585 w 5732585"/>
                <a:gd name="connsiteY5" fmla="*/ 1301261 h 2795954"/>
                <a:gd name="connsiteX6" fmla="*/ 5732585 w 5732585"/>
                <a:gd name="connsiteY6" fmla="*/ 1301261 h 2795954"/>
                <a:gd name="connsiteX7" fmla="*/ 5732585 w 5732585"/>
                <a:gd name="connsiteY7" fmla="*/ 0 h 2795954"/>
                <a:gd name="connsiteX8" fmla="*/ 457200 w 5732585"/>
                <a:gd name="connsiteY8" fmla="*/ 52754 h 2795954"/>
                <a:gd name="connsiteX0" fmla="*/ 457200 w 5732585"/>
                <a:gd name="connsiteY0" fmla="*/ 52754 h 2825837"/>
                <a:gd name="connsiteX1" fmla="*/ 457200 w 5732585"/>
                <a:gd name="connsiteY1" fmla="*/ 1160585 h 2825837"/>
                <a:gd name="connsiteX2" fmla="*/ 0 w 5732585"/>
                <a:gd name="connsiteY2" fmla="*/ 1160585 h 2825837"/>
                <a:gd name="connsiteX3" fmla="*/ 0 w 5732585"/>
                <a:gd name="connsiteY3" fmla="*/ 2795954 h 2825837"/>
                <a:gd name="connsiteX4" fmla="*/ 2176585 w 5732585"/>
                <a:gd name="connsiteY4" fmla="*/ 2825837 h 2825837"/>
                <a:gd name="connsiteX5" fmla="*/ 1160585 w 5732585"/>
                <a:gd name="connsiteY5" fmla="*/ 1301261 h 2825837"/>
                <a:gd name="connsiteX6" fmla="*/ 5732585 w 5732585"/>
                <a:gd name="connsiteY6" fmla="*/ 1301261 h 2825837"/>
                <a:gd name="connsiteX7" fmla="*/ 5732585 w 5732585"/>
                <a:gd name="connsiteY7" fmla="*/ 0 h 2825837"/>
                <a:gd name="connsiteX8" fmla="*/ 457200 w 5732585"/>
                <a:gd name="connsiteY8" fmla="*/ 52754 h 2825837"/>
                <a:gd name="connsiteX0" fmla="*/ 457200 w 5732585"/>
                <a:gd name="connsiteY0" fmla="*/ 52754 h 2825837"/>
                <a:gd name="connsiteX1" fmla="*/ 457200 w 5732585"/>
                <a:gd name="connsiteY1" fmla="*/ 1160585 h 2825837"/>
                <a:gd name="connsiteX2" fmla="*/ 0 w 5732585"/>
                <a:gd name="connsiteY2" fmla="*/ 1160585 h 2825837"/>
                <a:gd name="connsiteX3" fmla="*/ 0 w 5732585"/>
                <a:gd name="connsiteY3" fmla="*/ 2795954 h 2825837"/>
                <a:gd name="connsiteX4" fmla="*/ 2176585 w 5732585"/>
                <a:gd name="connsiteY4" fmla="*/ 2825837 h 2825837"/>
                <a:gd name="connsiteX5" fmla="*/ 2164632 w 5732585"/>
                <a:gd name="connsiteY5" fmla="*/ 1307237 h 2825837"/>
                <a:gd name="connsiteX6" fmla="*/ 5732585 w 5732585"/>
                <a:gd name="connsiteY6" fmla="*/ 1301261 h 2825837"/>
                <a:gd name="connsiteX7" fmla="*/ 5732585 w 5732585"/>
                <a:gd name="connsiteY7" fmla="*/ 0 h 2825837"/>
                <a:gd name="connsiteX8" fmla="*/ 457200 w 5732585"/>
                <a:gd name="connsiteY8" fmla="*/ 52754 h 2825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32585" h="2825837">
                  <a:moveTo>
                    <a:pt x="457200" y="52754"/>
                  </a:moveTo>
                  <a:lnTo>
                    <a:pt x="457200" y="1160585"/>
                  </a:lnTo>
                  <a:lnTo>
                    <a:pt x="0" y="1160585"/>
                  </a:lnTo>
                  <a:lnTo>
                    <a:pt x="0" y="2795954"/>
                  </a:lnTo>
                  <a:lnTo>
                    <a:pt x="2176585" y="2825837"/>
                  </a:lnTo>
                  <a:cubicBezTo>
                    <a:pt x="2172601" y="2319637"/>
                    <a:pt x="2168616" y="1813437"/>
                    <a:pt x="2164632" y="1307237"/>
                  </a:cubicBezTo>
                  <a:lnTo>
                    <a:pt x="5732585" y="1301261"/>
                  </a:lnTo>
                  <a:lnTo>
                    <a:pt x="5732585" y="0"/>
                  </a:lnTo>
                  <a:lnTo>
                    <a:pt x="457200" y="52754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961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11540"/>
            <a:ext cx="8554931" cy="48965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869560" cy="95436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rgbClr val="4BACC6">
                    <a:lumMod val="75000"/>
                  </a:srgbClr>
                </a:solidFill>
              </a:rPr>
              <a:t>4</a:t>
            </a:r>
            <a:r>
              <a:rPr lang="zh-CN" altLang="en-US" sz="3600" dirty="0">
                <a:solidFill>
                  <a:srgbClr val="4BACC6">
                    <a:lumMod val="75000"/>
                  </a:srgbClr>
                </a:solidFill>
              </a:rPr>
              <a:t>位</a:t>
            </a:r>
            <a:r>
              <a:rPr lang="en-US" altLang="zh-CN" sz="3600" dirty="0">
                <a:solidFill>
                  <a:srgbClr val="4BACC6">
                    <a:lumMod val="75000"/>
                  </a:srgbClr>
                </a:solidFill>
              </a:rPr>
              <a:t>7</a:t>
            </a:r>
            <a:r>
              <a:rPr lang="zh-CN" altLang="en-US" sz="3600" dirty="0">
                <a:solidFill>
                  <a:srgbClr val="4BACC6">
                    <a:lumMod val="75000"/>
                  </a:srgbClr>
                </a:solidFill>
              </a:rPr>
              <a:t>段数码管动态扫描</a:t>
            </a:r>
            <a:r>
              <a:rPr lang="zh-CN" altLang="en-US" sz="3600" dirty="0" smtClean="0">
                <a:solidFill>
                  <a:srgbClr val="4BACC6">
                    <a:lumMod val="75000"/>
                  </a:srgbClr>
                </a:solidFill>
              </a:rPr>
              <a:t>显示</a:t>
            </a:r>
            <a:r>
              <a:rPr lang="en-US" altLang="zh-CN" sz="2800" dirty="0" smtClean="0">
                <a:solidFill>
                  <a:srgbClr val="4BACC6">
                    <a:lumMod val="75000"/>
                  </a:srgbClr>
                </a:solidFill>
              </a:rPr>
              <a:t>-</a:t>
            </a:r>
            <a:r>
              <a:rPr lang="zh-CN" altLang="en-US" sz="2800" dirty="0" smtClean="0">
                <a:solidFill>
                  <a:srgbClr val="4BACC6">
                    <a:lumMod val="75000"/>
                  </a:srgbClr>
                </a:solidFill>
              </a:rPr>
              <a:t>测试电路</a:t>
            </a:r>
            <a:endParaRPr lang="zh-CN" altLang="en-US" sz="2800" dirty="0"/>
          </a:p>
        </p:txBody>
      </p:sp>
      <p:sp>
        <p:nvSpPr>
          <p:cNvPr id="19" name="线形标注 1 18"/>
          <p:cNvSpPr/>
          <p:nvPr/>
        </p:nvSpPr>
        <p:spPr>
          <a:xfrm>
            <a:off x="2699792" y="1206751"/>
            <a:ext cx="2525197" cy="636835"/>
          </a:xfrm>
          <a:prstGeom prst="borderCallout1">
            <a:avLst>
              <a:gd name="adj1" fmla="val 48029"/>
              <a:gd name="adj2" fmla="val -2682"/>
              <a:gd name="adj3" fmla="val 95463"/>
              <a:gd name="adj4" fmla="val -325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组件</a:t>
            </a:r>
            <a:r>
              <a:rPr lang="en-US" altLang="zh-CN" b="1" dirty="0" smtClean="0"/>
              <a:t>-&gt;</a:t>
            </a:r>
            <a:r>
              <a:rPr lang="zh-CN" altLang="en-US" b="1" dirty="0" smtClean="0"/>
              <a:t>存储器</a:t>
            </a:r>
            <a:r>
              <a:rPr lang="en-US" altLang="zh-CN" b="1" dirty="0" smtClean="0"/>
              <a:t>-&gt;</a:t>
            </a:r>
            <a:r>
              <a:rPr lang="zh-CN" altLang="en-US" b="1" dirty="0" smtClean="0"/>
              <a:t>计数器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数据位数：</a:t>
            </a:r>
            <a:r>
              <a:rPr lang="en-US" altLang="zh-CN" b="1" dirty="0" smtClean="0"/>
              <a:t>2</a:t>
            </a:r>
            <a:r>
              <a:rPr lang="zh-CN" altLang="en-US" b="1" dirty="0"/>
              <a:t>位</a:t>
            </a:r>
          </a:p>
        </p:txBody>
      </p:sp>
      <p:sp>
        <p:nvSpPr>
          <p:cNvPr id="20" name="线形标注 1 19"/>
          <p:cNvSpPr/>
          <p:nvPr/>
        </p:nvSpPr>
        <p:spPr>
          <a:xfrm>
            <a:off x="2699791" y="1987603"/>
            <a:ext cx="2952329" cy="636835"/>
          </a:xfrm>
          <a:prstGeom prst="borderCallout1">
            <a:avLst>
              <a:gd name="adj1" fmla="val 102460"/>
              <a:gd name="adj2" fmla="val -860"/>
              <a:gd name="adj3" fmla="val 50417"/>
              <a:gd name="adj4" fmla="val -550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组件</a:t>
            </a:r>
            <a:r>
              <a:rPr lang="en-US" altLang="zh-CN" b="1" dirty="0" smtClean="0"/>
              <a:t>-&gt;</a:t>
            </a:r>
            <a:r>
              <a:rPr lang="zh-CN" altLang="en-US" b="1" dirty="0" smtClean="0"/>
              <a:t>输入输出</a:t>
            </a:r>
            <a:r>
              <a:rPr lang="en-US" altLang="zh-CN" b="1" dirty="0" smtClean="0"/>
              <a:t>-&gt;</a:t>
            </a:r>
            <a:r>
              <a:rPr lang="zh-CN" altLang="en-US" b="1" dirty="0" smtClean="0"/>
              <a:t>时钟输入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频率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赫兹：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21" name="线形标注 1 20"/>
          <p:cNvSpPr/>
          <p:nvPr/>
        </p:nvSpPr>
        <p:spPr>
          <a:xfrm>
            <a:off x="6012160" y="1412571"/>
            <a:ext cx="2707675" cy="863064"/>
          </a:xfrm>
          <a:prstGeom prst="borderCallout1">
            <a:avLst>
              <a:gd name="adj1" fmla="val 114660"/>
              <a:gd name="adj2" fmla="val 51280"/>
              <a:gd name="adj3" fmla="val 283228"/>
              <a:gd name="adj4" fmla="val 720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7</a:t>
            </a:r>
            <a:r>
              <a:rPr lang="zh-CN" altLang="en-US" b="1" dirty="0" smtClean="0"/>
              <a:t>段数码管设置共阳极，视觉暂留从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逐渐增大，观察效果</a:t>
            </a:r>
            <a:endParaRPr lang="zh-CN" altLang="en-US" b="1" dirty="0"/>
          </a:p>
        </p:txBody>
      </p:sp>
      <p:sp>
        <p:nvSpPr>
          <p:cNvPr id="22" name="线形标注 1 21"/>
          <p:cNvSpPr/>
          <p:nvPr/>
        </p:nvSpPr>
        <p:spPr>
          <a:xfrm>
            <a:off x="107504" y="4867923"/>
            <a:ext cx="1944216" cy="863064"/>
          </a:xfrm>
          <a:prstGeom prst="borderCallout1">
            <a:avLst>
              <a:gd name="adj1" fmla="val -6522"/>
              <a:gd name="adj2" fmla="val 37754"/>
              <a:gd name="adj3" fmla="val -103863"/>
              <a:gd name="adj4" fmla="val 425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修改输入数据，观察结果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079612" y="6211669"/>
            <a:ext cx="77768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在</a:t>
            </a:r>
            <a:r>
              <a:rPr lang="en-US" altLang="zh-CN" b="1" dirty="0" smtClean="0"/>
              <a:t>Digital</a:t>
            </a:r>
            <a:r>
              <a:rPr lang="zh-CN" altLang="en-US" b="1" dirty="0" smtClean="0"/>
              <a:t>上绘制测试电路，测试</a:t>
            </a:r>
            <a:r>
              <a:rPr lang="en-US" altLang="zh-CN" b="1" dirty="0" err="1" smtClean="0"/>
              <a:t>DispNum</a:t>
            </a:r>
            <a:r>
              <a:rPr lang="zh-CN" altLang="en-US" b="1" dirty="0" smtClean="0"/>
              <a:t>的功能，选择典型输入在实验报告上截图表示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0697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4000" dirty="0"/>
              <a:t>实验</a:t>
            </a:r>
            <a:r>
              <a:rPr lang="zh-CN" altLang="en-US" sz="4000" dirty="0" smtClean="0"/>
              <a:t>任务</a:t>
            </a:r>
            <a:r>
              <a:rPr lang="en-US" altLang="zh-CN" sz="4000" dirty="0" smtClean="0"/>
              <a:t>3</a:t>
            </a:r>
            <a:r>
              <a:rPr lang="zh-CN" altLang="en-US" sz="4000" dirty="0" smtClean="0"/>
              <a:t>：</a:t>
            </a:r>
            <a:r>
              <a:rPr lang="zh-CN" altLang="en-US" sz="4000" dirty="0"/>
              <a:t>记分板</a:t>
            </a:r>
            <a:r>
              <a:rPr lang="zh-CN" altLang="en-US" sz="4000" dirty="0" smtClean="0"/>
              <a:t>设计</a:t>
            </a:r>
            <a:endParaRPr lang="en-US" altLang="zh-CN" sz="40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/>
              <a:t>用</a:t>
            </a:r>
            <a:r>
              <a:rPr lang="en-US" altLang="zh-CN" sz="2800" dirty="0"/>
              <a:t>BTNX4Y3</a:t>
            </a:r>
            <a:r>
              <a:rPr lang="zh-CN" altLang="en-US" sz="2800" dirty="0"/>
              <a:t>～</a:t>
            </a:r>
            <a:r>
              <a:rPr lang="en-US" altLang="zh-CN" sz="2800" dirty="0"/>
              <a:t>BTNX4Y0</a:t>
            </a:r>
            <a:r>
              <a:rPr lang="zh-CN" altLang="en-US" sz="2800" dirty="0"/>
              <a:t>这</a:t>
            </a:r>
            <a:r>
              <a:rPr lang="en-US" altLang="zh-CN" sz="2800" dirty="0"/>
              <a:t>4</a:t>
            </a:r>
            <a:r>
              <a:rPr lang="zh-CN" altLang="en-US" sz="2800" dirty="0"/>
              <a:t>个</a:t>
            </a:r>
            <a:r>
              <a:rPr lang="zh-CN" altLang="en-US" sz="2800" dirty="0" smtClean="0"/>
              <a:t>按钮从左向右分别控制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位数码管，每个按钮按一次，对应数码管加</a:t>
            </a:r>
            <a:r>
              <a:rPr lang="en-US" altLang="zh-CN" sz="2800" dirty="0" smtClean="0"/>
              <a:t>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1793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辅助模块：时钟计数分频器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32</a:t>
            </a:r>
            <a:r>
              <a:rPr lang="zh-CN" altLang="en-US" dirty="0"/>
              <a:t>位时钟计数分频器</a:t>
            </a:r>
          </a:p>
          <a:p>
            <a:pPr lvl="1"/>
            <a:r>
              <a:rPr lang="zh-CN" altLang="en-US" dirty="0"/>
              <a:t>模块名：</a:t>
            </a:r>
            <a:r>
              <a:rPr lang="en-US" altLang="zh-CN" dirty="0" err="1"/>
              <a:t>clkdiv.v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Verilog HDL</a:t>
            </a:r>
            <a:r>
              <a:rPr lang="zh-CN" altLang="en-US" dirty="0"/>
              <a:t>设计</a:t>
            </a:r>
          </a:p>
          <a:p>
            <a:pPr lvl="1"/>
            <a:r>
              <a:rPr lang="zh-CN" altLang="en-US" dirty="0" smtClean="0"/>
              <a:t>输入：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clk</a:t>
            </a:r>
            <a:r>
              <a:rPr lang="zh-CN" altLang="en-US" dirty="0"/>
              <a:t>：实验板主时钟</a:t>
            </a:r>
            <a:endParaRPr lang="en-US" altLang="zh-CN" dirty="0"/>
          </a:p>
          <a:p>
            <a:pPr lvl="2"/>
            <a:r>
              <a:rPr lang="en-US" altLang="zh-CN" dirty="0" err="1"/>
              <a:t>rst</a:t>
            </a:r>
            <a:r>
              <a:rPr lang="zh-CN" altLang="en-US" dirty="0"/>
              <a:t>：复位信号</a:t>
            </a:r>
            <a:endParaRPr lang="en-US" altLang="zh-CN" dirty="0"/>
          </a:p>
          <a:p>
            <a:pPr lvl="1"/>
            <a:r>
              <a:rPr lang="zh-CN" altLang="en-US" dirty="0" smtClean="0"/>
              <a:t>输出：</a:t>
            </a:r>
            <a:r>
              <a:rPr lang="en-US" altLang="zh-CN" dirty="0" err="1" smtClean="0"/>
              <a:t>clkdiv</a:t>
            </a:r>
            <a:r>
              <a:rPr lang="en-US" altLang="zh-CN" dirty="0" smtClean="0"/>
              <a:t>(31:0</a:t>
            </a:r>
            <a:r>
              <a:rPr lang="en-US" altLang="zh-CN" dirty="0"/>
              <a:t>)</a:t>
            </a:r>
            <a:r>
              <a:rPr lang="zh-CN" altLang="en-US" dirty="0"/>
              <a:t>：分频时钟输出</a:t>
            </a:r>
            <a:endParaRPr lang="en-US" altLang="zh-CN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340768"/>
            <a:ext cx="2542648" cy="131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3084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辅助模块：</a:t>
            </a:r>
            <a:r>
              <a:rPr lang="zh-CN" altLang="en-US" dirty="0">
                <a:ea typeface="黑体" panose="02010609060101010101" pitchFamily="49" charset="-122"/>
              </a:rPr>
              <a:t>时钟计数分频器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68760"/>
            <a:ext cx="4680520" cy="452596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32</a:t>
            </a:r>
            <a:r>
              <a:rPr lang="zh-CN" altLang="en-US" sz="2800" dirty="0"/>
              <a:t>位时钟计数分频器</a:t>
            </a:r>
          </a:p>
          <a:p>
            <a:pPr lvl="1"/>
            <a:r>
              <a:rPr lang="zh-CN" altLang="en-US" sz="2400" dirty="0"/>
              <a:t>可输出</a:t>
            </a:r>
            <a:r>
              <a:rPr lang="en-US" altLang="zh-CN" sz="2400" dirty="0"/>
              <a:t>2</a:t>
            </a:r>
            <a:r>
              <a:rPr lang="zh-CN" altLang="en-US" sz="2400" dirty="0"/>
              <a:t>～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32</a:t>
            </a:r>
            <a:r>
              <a:rPr lang="zh-CN" altLang="en-US" sz="2400" dirty="0"/>
              <a:t>分频信号，可用于一般非同步类时钟信号</a:t>
            </a:r>
          </a:p>
          <a:p>
            <a:pPr lvl="1"/>
            <a:r>
              <a:rPr lang="zh-CN" altLang="en-US" sz="2400" dirty="0"/>
              <a:t>延时较高，要求不高的时钟也可以用</a:t>
            </a:r>
          </a:p>
          <a:p>
            <a:pPr lvl="1"/>
            <a:r>
              <a:rPr lang="zh-CN" altLang="en-US" sz="2400" dirty="0"/>
              <a:t>本实验中用</a:t>
            </a:r>
            <a:r>
              <a:rPr lang="en-US" altLang="zh-CN" sz="2400" dirty="0" err="1" smtClean="0"/>
              <a:t>clk_div</a:t>
            </a:r>
            <a:r>
              <a:rPr lang="en-US" altLang="zh-CN" sz="2400" dirty="0" smtClean="0"/>
              <a:t>(18:17</a:t>
            </a:r>
            <a:r>
              <a:rPr lang="en-US" altLang="zh-CN" sz="2400" dirty="0"/>
              <a:t>)</a:t>
            </a:r>
            <a:r>
              <a:rPr lang="zh-CN" altLang="en-US" sz="2400" dirty="0"/>
              <a:t>作为扫描</a:t>
            </a:r>
            <a:r>
              <a:rPr lang="zh-CN" altLang="en-US" sz="2400" dirty="0" smtClean="0"/>
              <a:t>控制信号</a:t>
            </a:r>
            <a:r>
              <a:rPr lang="en-US" altLang="zh-CN" sz="2400" dirty="0" smtClean="0"/>
              <a:t>scan[1:0]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控制</a:t>
            </a:r>
            <a:r>
              <a:rPr lang="en-US" altLang="zh-CN" sz="2400" dirty="0"/>
              <a:t>4</a:t>
            </a:r>
            <a:r>
              <a:rPr lang="zh-CN" altLang="en-US" sz="2400" dirty="0"/>
              <a:t>位数码管的动态扫描，每一位显示切换时间为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2</a:t>
            </a:r>
            <a:r>
              <a:rPr lang="en-US" altLang="zh-CN" sz="2400" baseline="30000" dirty="0"/>
              <a:t>17</a:t>
            </a:r>
            <a:r>
              <a:rPr lang="en-US" altLang="zh-CN" sz="2400" dirty="0"/>
              <a:t> / 100M = 1.3ms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4860032" y="1762026"/>
            <a:ext cx="40679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module clkdiv(input wire clk,</a:t>
            </a:r>
          </a:p>
          <a:p>
            <a:r>
              <a:rPr lang="zh-CN" altLang="en-US" sz="1600" dirty="0"/>
              <a:t>	input wire rst,</a:t>
            </a:r>
          </a:p>
          <a:p>
            <a:r>
              <a:rPr lang="zh-CN" altLang="en-US" sz="1600" dirty="0"/>
              <a:t>	output reg[31:0] clk_div</a:t>
            </a:r>
          </a:p>
          <a:p>
            <a:r>
              <a:rPr lang="zh-CN" altLang="en-US" sz="1600" dirty="0"/>
              <a:t>    );</a:t>
            </a:r>
          </a:p>
          <a:p>
            <a:r>
              <a:rPr lang="zh-CN" altLang="en-US" sz="1600" dirty="0"/>
              <a:t>    //used in simulation</a:t>
            </a:r>
          </a:p>
          <a:p>
            <a:r>
              <a:rPr lang="zh-CN" altLang="en-US" sz="1600" dirty="0"/>
              <a:t>    initial begin</a:t>
            </a:r>
          </a:p>
          <a:p>
            <a:r>
              <a:rPr lang="zh-CN" altLang="en-US" sz="1600" dirty="0"/>
              <a:t>        clk_div = 0;</a:t>
            </a:r>
          </a:p>
          <a:p>
            <a:r>
              <a:rPr lang="zh-CN" altLang="en-US" sz="1600" dirty="0"/>
              <a:t>    end</a:t>
            </a:r>
          </a:p>
          <a:p>
            <a:r>
              <a:rPr lang="zh-CN" altLang="en-US" sz="1600" dirty="0"/>
              <a:t> </a:t>
            </a:r>
            <a:r>
              <a:rPr lang="zh-CN" altLang="en-US" sz="1600" dirty="0" smtClean="0"/>
              <a:t>   //</a:t>
            </a:r>
            <a:r>
              <a:rPr lang="zh-CN" altLang="en-US" sz="1600" dirty="0"/>
              <a:t>clock divider   </a:t>
            </a:r>
          </a:p>
          <a:p>
            <a:r>
              <a:rPr lang="zh-CN" altLang="en-US" sz="1600" dirty="0" smtClean="0"/>
              <a:t>   always </a:t>
            </a:r>
            <a:r>
              <a:rPr lang="zh-CN" altLang="en-US" sz="1600" dirty="0"/>
              <a:t>@(posedge clk or posedge rst) begin</a:t>
            </a:r>
          </a:p>
          <a:p>
            <a:r>
              <a:rPr lang="zh-CN" altLang="en-US" sz="1600" dirty="0" smtClean="0"/>
              <a:t>      if </a:t>
            </a:r>
            <a:r>
              <a:rPr lang="zh-CN" altLang="en-US" sz="1600" dirty="0"/>
              <a:t>(rst) clk_div &lt;= 0;</a:t>
            </a:r>
          </a:p>
          <a:p>
            <a:r>
              <a:rPr lang="zh-CN" altLang="en-US" sz="1600" dirty="0" smtClean="0"/>
              <a:t>      else </a:t>
            </a:r>
            <a:r>
              <a:rPr lang="zh-CN" altLang="en-US" sz="1600" dirty="0"/>
              <a:t>clk_div </a:t>
            </a:r>
            <a:r>
              <a:rPr lang="zh-CN" altLang="en-US" sz="1600" dirty="0" smtClean="0"/>
              <a:t>&lt;= clk</a:t>
            </a:r>
            <a:r>
              <a:rPr lang="zh-CN" altLang="en-US" sz="1600" dirty="0"/>
              <a:t>_div + 1'b1;</a:t>
            </a:r>
          </a:p>
          <a:p>
            <a:r>
              <a:rPr lang="zh-CN" altLang="en-US" sz="1600" dirty="0" smtClean="0"/>
              <a:t>   end</a:t>
            </a:r>
            <a:endParaRPr lang="zh-CN" altLang="en-US" sz="1600" dirty="0"/>
          </a:p>
          <a:p>
            <a:r>
              <a:rPr lang="zh-CN" altLang="en-US" sz="1600" dirty="0" smtClean="0"/>
              <a:t>endmodule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52589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013576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设计</a:t>
            </a:r>
            <a:r>
              <a:rPr lang="en-US" altLang="zh-CN" dirty="0" err="1"/>
              <a:t>CreateNumber</a:t>
            </a:r>
            <a:r>
              <a:rPr lang="zh-CN" altLang="en-US" dirty="0"/>
              <a:t>按键数据输入模块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/>
          <a:lstStyle/>
          <a:p>
            <a:r>
              <a:rPr lang="zh-CN" altLang="en-US" dirty="0"/>
              <a:t>使用行为描述设计</a:t>
            </a:r>
            <a:endParaRPr lang="en-US" altLang="zh-CN" dirty="0"/>
          </a:p>
          <a:p>
            <a:pPr lvl="1"/>
            <a:r>
              <a:rPr lang="zh-CN" altLang="en-US" dirty="0"/>
              <a:t>四个按键，各按一下，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2</a:t>
            </a:r>
            <a:r>
              <a:rPr lang="zh-CN" altLang="en-US" dirty="0"/>
              <a:t>进制数分别加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343" y="2492896"/>
            <a:ext cx="7011065" cy="419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12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记分板</a:t>
            </a:r>
            <a:r>
              <a:rPr lang="zh-CN" altLang="en-US" dirty="0" smtClean="0"/>
              <a:t>的操作方法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BTNX4Y3</a:t>
            </a:r>
            <a:r>
              <a:rPr lang="zh-CN" altLang="en-US" dirty="0"/>
              <a:t>～</a:t>
            </a:r>
            <a:r>
              <a:rPr lang="en-US" altLang="zh-CN" dirty="0"/>
              <a:t>BTNX4Y0</a:t>
            </a:r>
            <a:r>
              <a:rPr lang="zh-CN" altLang="en-US" dirty="0"/>
              <a:t>这</a:t>
            </a:r>
            <a:r>
              <a:rPr lang="en-US" altLang="zh-CN" dirty="0"/>
              <a:t>4</a:t>
            </a:r>
            <a:r>
              <a:rPr lang="zh-CN" altLang="en-US" dirty="0"/>
              <a:t>个按钮，每个按钮按下一次，对应的数码管的值加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用</a:t>
            </a:r>
            <a:r>
              <a:rPr lang="en-US" altLang="zh-CN" dirty="0"/>
              <a:t>SW0</a:t>
            </a:r>
            <a:r>
              <a:rPr lang="zh-CN" altLang="en-US" dirty="0"/>
              <a:t>～</a:t>
            </a:r>
            <a:r>
              <a:rPr lang="en-US" altLang="zh-CN" dirty="0"/>
              <a:t>SW3</a:t>
            </a:r>
            <a:r>
              <a:rPr lang="zh-CN" altLang="en-US" dirty="0"/>
              <a:t>这</a:t>
            </a:r>
            <a:r>
              <a:rPr lang="en-US" altLang="zh-CN" dirty="0"/>
              <a:t>4</a:t>
            </a:r>
            <a:r>
              <a:rPr lang="zh-CN" altLang="en-US" dirty="0"/>
              <a:t>个开关控制每个数码管的小数点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SW4</a:t>
            </a:r>
            <a:r>
              <a:rPr lang="zh-CN" altLang="en-US" dirty="0"/>
              <a:t>～</a:t>
            </a:r>
            <a:r>
              <a:rPr lang="en-US" altLang="zh-CN" dirty="0"/>
              <a:t>SW7</a:t>
            </a:r>
            <a:r>
              <a:rPr lang="zh-CN" altLang="en-US" dirty="0"/>
              <a:t>这</a:t>
            </a:r>
            <a:r>
              <a:rPr lang="en-US" altLang="zh-CN" dirty="0"/>
              <a:t>4</a:t>
            </a:r>
            <a:r>
              <a:rPr lang="zh-CN" altLang="en-US" dirty="0"/>
              <a:t>个开关控制每个数码管的消隐</a:t>
            </a:r>
          </a:p>
        </p:txBody>
      </p:sp>
      <p:pic>
        <p:nvPicPr>
          <p:cNvPr id="4" name="图片 2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23928" y="4291704"/>
            <a:ext cx="2110154" cy="168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/>
          <p:cNvSpPr/>
          <p:nvPr/>
        </p:nvSpPr>
        <p:spPr>
          <a:xfrm>
            <a:off x="3923928" y="5574839"/>
            <a:ext cx="1656184" cy="3168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057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记分板应用设计（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新建工程</a:t>
            </a:r>
            <a:endParaRPr lang="en-US" altLang="zh-CN" dirty="0"/>
          </a:p>
          <a:p>
            <a:pPr lvl="1"/>
            <a:r>
              <a:rPr lang="zh-CN" altLang="en-US" dirty="0"/>
              <a:t>工程名称用</a:t>
            </a:r>
            <a:r>
              <a:rPr lang="en-US" altLang="zh-CN" dirty="0" err="1"/>
              <a:t>ScoreBoard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 smtClean="0"/>
              <a:t>从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中导出</a:t>
            </a:r>
            <a:r>
              <a:rPr lang="en-US" altLang="zh-CN" dirty="0" err="1" smtClean="0"/>
              <a:t>DispNum.V</a:t>
            </a:r>
            <a:r>
              <a:rPr lang="zh-CN" altLang="en-US" dirty="0" smtClean="0"/>
              <a:t>，加入工程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 smtClean="0"/>
              <a:t>新建</a:t>
            </a:r>
            <a:r>
              <a:rPr lang="en-US" altLang="zh-CN" dirty="0" err="1" smtClean="0"/>
              <a:t>clkdiv.v</a:t>
            </a:r>
            <a:r>
              <a:rPr lang="zh-CN" altLang="en-US" dirty="0" smtClean="0"/>
              <a:t>文件，</a:t>
            </a:r>
            <a:r>
              <a:rPr lang="en-US" altLang="zh-CN" dirty="0" err="1" smtClean="0"/>
              <a:t>CreateNumber.v</a:t>
            </a:r>
            <a:r>
              <a:rPr lang="zh-CN" altLang="en-US" dirty="0" smtClean="0"/>
              <a:t>文件，</a:t>
            </a:r>
            <a:r>
              <a:rPr lang="en-US" altLang="zh-CN" dirty="0" err="1" smtClean="0"/>
              <a:t>top.v</a:t>
            </a:r>
            <a:r>
              <a:rPr lang="zh-CN" altLang="en-US" dirty="0" smtClean="0"/>
              <a:t>文件。</a:t>
            </a:r>
            <a:r>
              <a:rPr lang="en-US" altLang="zh-CN" dirty="0" err="1" smtClean="0"/>
              <a:t>clkdiv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CreateNumber</a:t>
            </a:r>
            <a:r>
              <a:rPr lang="zh-CN" altLang="en-US" dirty="0" smtClean="0"/>
              <a:t>模块代码见前面。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75798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top</a:t>
            </a:r>
            <a:r>
              <a:rPr lang="zh-CN" altLang="en-US" dirty="0" smtClean="0"/>
              <a:t>模块</a:t>
            </a:r>
            <a:r>
              <a:rPr lang="zh-CN" altLang="en-US" dirty="0"/>
              <a:t>输入输出引脚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输出输出引脚功能</a:t>
            </a:r>
          </a:p>
          <a:p>
            <a:pPr lvl="1"/>
            <a:r>
              <a:rPr lang="zh-CN" altLang="en-US" sz="2400" dirty="0"/>
              <a:t>输入</a:t>
            </a:r>
          </a:p>
          <a:p>
            <a:pPr lvl="2"/>
            <a:r>
              <a:rPr lang="zh-CN" altLang="en-US" sz="2000" dirty="0"/>
              <a:t>时钟：</a:t>
            </a:r>
            <a:r>
              <a:rPr lang="en-US" altLang="zh-CN" sz="2000" dirty="0" err="1"/>
              <a:t>clk</a:t>
            </a:r>
            <a:endParaRPr lang="en-US" altLang="zh-CN" sz="2000" dirty="0"/>
          </a:p>
          <a:p>
            <a:pPr lvl="2"/>
            <a:r>
              <a:rPr lang="zh-CN" altLang="en-US" sz="2000" dirty="0"/>
              <a:t>使能控制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SW[7:4</a:t>
            </a:r>
            <a:r>
              <a:rPr lang="en-US" altLang="zh-CN" sz="2000" dirty="0"/>
              <a:t>]</a:t>
            </a:r>
          </a:p>
          <a:p>
            <a:pPr lvl="2"/>
            <a:r>
              <a:rPr lang="zh-CN" altLang="en-US" sz="2000" dirty="0"/>
              <a:t>小数点输入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SW[3:0</a:t>
            </a:r>
            <a:r>
              <a:rPr lang="en-US" altLang="zh-CN" sz="2000" dirty="0"/>
              <a:t>]</a:t>
            </a:r>
          </a:p>
          <a:p>
            <a:pPr lvl="2"/>
            <a:r>
              <a:rPr lang="zh-CN" altLang="en-US" sz="2000" dirty="0"/>
              <a:t>按键输入数字：</a:t>
            </a:r>
            <a:r>
              <a:rPr lang="en-US" altLang="zh-CN" sz="2000" dirty="0"/>
              <a:t>BTNX4Y0~BTNX4Y3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BTN[3:0</a:t>
            </a:r>
            <a:r>
              <a:rPr lang="en-US" altLang="zh-CN" sz="2000" dirty="0"/>
              <a:t>]</a:t>
            </a:r>
          </a:p>
          <a:p>
            <a:pPr lvl="1"/>
            <a:r>
              <a:rPr lang="zh-CN" altLang="en-US" sz="2400" dirty="0"/>
              <a:t>输出</a:t>
            </a:r>
          </a:p>
          <a:p>
            <a:pPr lvl="2"/>
            <a:r>
              <a:rPr lang="zh-CN" altLang="en-US" sz="2000" dirty="0"/>
              <a:t>七段数码管段码输出线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SEGMENT[7:0</a:t>
            </a:r>
            <a:r>
              <a:rPr lang="en-US" altLang="zh-CN" sz="2000" dirty="0"/>
              <a:t>}</a:t>
            </a:r>
            <a:r>
              <a:rPr lang="zh-CN" altLang="en-US" sz="2000" dirty="0"/>
              <a:t>，包括</a:t>
            </a:r>
            <a:r>
              <a:rPr lang="en-US" altLang="zh-CN" sz="2000" dirty="0" err="1"/>
              <a:t>a~g</a:t>
            </a:r>
            <a:r>
              <a:rPr lang="zh-CN" altLang="en-US" sz="2000" dirty="0"/>
              <a:t>，</a:t>
            </a:r>
            <a:r>
              <a:rPr lang="en-US" altLang="zh-CN" sz="2000" dirty="0"/>
              <a:t>p</a:t>
            </a:r>
          </a:p>
          <a:p>
            <a:pPr lvl="2"/>
            <a:r>
              <a:rPr lang="zh-CN" altLang="en-US" sz="2000" dirty="0"/>
              <a:t>七段数码管位选择线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AN[3:0</a:t>
            </a:r>
            <a:r>
              <a:rPr lang="en-US" altLang="zh-CN" sz="2000" dirty="0"/>
              <a:t>]</a:t>
            </a:r>
          </a:p>
          <a:p>
            <a:pPr lvl="2"/>
            <a:r>
              <a:rPr lang="zh-CN" altLang="en-US" sz="2000" dirty="0"/>
              <a:t>按键使能控制线：</a:t>
            </a:r>
            <a:r>
              <a:rPr lang="en-US" altLang="zh-CN" sz="2000" dirty="0" smtClean="0"/>
              <a:t>BTNX4</a:t>
            </a:r>
            <a:r>
              <a:rPr lang="zh-CN" altLang="en-US" sz="2000" dirty="0" smtClean="0"/>
              <a:t>，需要输出为</a:t>
            </a:r>
            <a:r>
              <a:rPr lang="en-US" altLang="zh-CN" sz="2000" dirty="0" smtClean="0"/>
              <a:t>0</a:t>
            </a:r>
            <a:endParaRPr lang="en-US" altLang="zh-CN" sz="2000" dirty="0"/>
          </a:p>
          <a:p>
            <a:r>
              <a:rPr lang="zh-CN" altLang="en-US" sz="2800" dirty="0"/>
              <a:t>根据设计</a:t>
            </a:r>
            <a:r>
              <a:rPr lang="zh-CN" altLang="en-US" sz="2800" dirty="0" smtClean="0"/>
              <a:t>修改</a:t>
            </a:r>
            <a:r>
              <a:rPr lang="en-US" altLang="zh-CN" sz="2800" dirty="0" err="1" smtClean="0"/>
              <a:t>xdc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60521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设计顶层模块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新建源文件</a:t>
            </a:r>
            <a:r>
              <a:rPr lang="en-US" altLang="zh-CN" sz="2800" dirty="0" err="1" smtClean="0"/>
              <a:t>top.v</a:t>
            </a:r>
            <a:endParaRPr lang="en-US" altLang="zh-CN" sz="2800" dirty="0"/>
          </a:p>
        </p:txBody>
      </p:sp>
      <p:sp>
        <p:nvSpPr>
          <p:cNvPr id="4" name="矩形 3"/>
          <p:cNvSpPr/>
          <p:nvPr/>
        </p:nvSpPr>
        <p:spPr>
          <a:xfrm>
            <a:off x="611560" y="1844824"/>
            <a:ext cx="7776864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module top(input wire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	input wire [7:0] SW,</a:t>
            </a:r>
          </a:p>
          <a:p>
            <a:r>
              <a:rPr lang="en-US" altLang="zh-CN" dirty="0"/>
              <a:t>	input wire [3:0] BTN,</a:t>
            </a:r>
          </a:p>
          <a:p>
            <a:r>
              <a:rPr lang="en-US" altLang="zh-CN" dirty="0"/>
              <a:t>	output wire [3:0] AN,</a:t>
            </a:r>
          </a:p>
          <a:p>
            <a:r>
              <a:rPr lang="en-US" altLang="zh-CN" dirty="0"/>
              <a:t>	output wire [7:0] SEGMENT,</a:t>
            </a:r>
          </a:p>
          <a:p>
            <a:r>
              <a:rPr lang="en-US" altLang="zh-CN" dirty="0"/>
              <a:t>	output wire </a:t>
            </a:r>
            <a:r>
              <a:rPr lang="en-US" altLang="zh-CN" dirty="0" smtClean="0"/>
              <a:t>BTNX4);</a:t>
            </a:r>
          </a:p>
          <a:p>
            <a:endParaRPr lang="en-US" altLang="zh-CN" dirty="0"/>
          </a:p>
          <a:p>
            <a:r>
              <a:rPr lang="en-US" altLang="zh-CN" dirty="0"/>
              <a:t>	wire [15:0] </a:t>
            </a:r>
            <a:r>
              <a:rPr lang="en-US" altLang="zh-CN" dirty="0" err="1"/>
              <a:t>num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wire [31:0] </a:t>
            </a:r>
            <a:r>
              <a:rPr lang="en-US" altLang="zh-CN" dirty="0" err="1"/>
              <a:t>clk_div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CreateNumber</a:t>
            </a:r>
            <a:r>
              <a:rPr lang="en-US" altLang="zh-CN" dirty="0"/>
              <a:t> c0(.</a:t>
            </a:r>
            <a:r>
              <a:rPr lang="en-US" altLang="zh-CN" dirty="0" err="1"/>
              <a:t>btn</a:t>
            </a:r>
            <a:r>
              <a:rPr lang="en-US" altLang="zh-CN" dirty="0"/>
              <a:t>(BTN),.</a:t>
            </a:r>
            <a:r>
              <a:rPr lang="en-US" altLang="zh-CN" dirty="0" err="1"/>
              <a:t>num</a:t>
            </a:r>
            <a:r>
              <a:rPr lang="en-US" altLang="zh-CN" dirty="0"/>
              <a:t>(</a:t>
            </a:r>
            <a:r>
              <a:rPr lang="en-US" altLang="zh-CN" dirty="0" err="1"/>
              <a:t>num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DispNum</a:t>
            </a:r>
            <a:r>
              <a:rPr lang="en-US" altLang="zh-CN" dirty="0"/>
              <a:t> </a:t>
            </a:r>
            <a:r>
              <a:rPr lang="en-US" altLang="zh-CN" dirty="0" smtClean="0"/>
              <a:t>d0</a:t>
            </a:r>
            <a:r>
              <a:rPr lang="en-US" altLang="zh-CN" dirty="0"/>
              <a:t>(.scan(</a:t>
            </a:r>
            <a:r>
              <a:rPr lang="en-US" altLang="zh-CN" dirty="0" err="1"/>
              <a:t>clk_div</a:t>
            </a:r>
            <a:r>
              <a:rPr lang="en-US" altLang="zh-CN" dirty="0"/>
              <a:t>[18:17]), </a:t>
            </a:r>
            <a:r>
              <a:rPr lang="en-US" altLang="zh-CN" dirty="0" smtClean="0"/>
              <a:t> </a:t>
            </a:r>
            <a:r>
              <a:rPr lang="en-US" altLang="zh-CN" dirty="0"/>
              <a:t>.HEXS(</a:t>
            </a:r>
            <a:r>
              <a:rPr lang="en-US" altLang="zh-CN" dirty="0" err="1"/>
              <a:t>num</a:t>
            </a:r>
            <a:r>
              <a:rPr lang="en-US" altLang="zh-CN" dirty="0" smtClean="0"/>
              <a:t>), </a:t>
            </a:r>
            <a:r>
              <a:rPr lang="en-US" altLang="zh-CN" dirty="0"/>
              <a:t>.LES(SW[7:4</a:t>
            </a:r>
            <a:r>
              <a:rPr lang="en-US" altLang="zh-CN" dirty="0" smtClean="0"/>
              <a:t>]),</a:t>
            </a:r>
          </a:p>
          <a:p>
            <a:r>
              <a:rPr lang="en-US" altLang="zh-CN" dirty="0"/>
              <a:t>	</a:t>
            </a:r>
            <a:r>
              <a:rPr lang="en-US" altLang="zh-CN" dirty="0" smtClean="0"/>
              <a:t>        </a:t>
            </a:r>
            <a:r>
              <a:rPr lang="en-US" altLang="zh-CN" dirty="0"/>
              <a:t>.point(SW[3:0</a:t>
            </a:r>
            <a:r>
              <a:rPr lang="en-US" altLang="zh-CN" dirty="0" smtClean="0"/>
              <a:t>]), </a:t>
            </a:r>
            <a:r>
              <a:rPr lang="en-US" altLang="zh-CN" dirty="0"/>
              <a:t>.AN(AN</a:t>
            </a:r>
            <a:r>
              <a:rPr lang="en-US" altLang="zh-CN" dirty="0" smtClean="0"/>
              <a:t>), </a:t>
            </a:r>
            <a:r>
              <a:rPr lang="en-US" altLang="zh-CN" dirty="0"/>
              <a:t>.SEGMENT(SEGMENT));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clkdiv</a:t>
            </a:r>
            <a:r>
              <a:rPr lang="en-US" altLang="zh-CN" dirty="0"/>
              <a:t> c1(.</a:t>
            </a:r>
            <a:r>
              <a:rPr lang="en-US" altLang="zh-CN" dirty="0" err="1"/>
              <a:t>clk</a:t>
            </a:r>
            <a:r>
              <a:rPr lang="en-US" altLang="zh-CN" dirty="0"/>
              <a:t>(</a:t>
            </a:r>
            <a:r>
              <a:rPr lang="en-US" altLang="zh-CN" dirty="0" err="1"/>
              <a:t>clk</a:t>
            </a:r>
            <a:r>
              <a:rPr lang="en-US" altLang="zh-CN" dirty="0"/>
              <a:t>), .</a:t>
            </a:r>
            <a:r>
              <a:rPr lang="en-US" altLang="zh-CN" dirty="0" err="1"/>
              <a:t>rst</a:t>
            </a:r>
            <a:r>
              <a:rPr lang="en-US" altLang="zh-CN" dirty="0"/>
              <a:t>(1'b0), .</a:t>
            </a:r>
            <a:r>
              <a:rPr lang="en-US" altLang="zh-CN" dirty="0" err="1"/>
              <a:t>clk_div</a:t>
            </a:r>
            <a:r>
              <a:rPr lang="en-US" altLang="zh-CN" dirty="0"/>
              <a:t>(</a:t>
            </a:r>
            <a:r>
              <a:rPr lang="en-US" altLang="zh-CN" dirty="0" err="1"/>
              <a:t>clk_div</a:t>
            </a:r>
            <a:r>
              <a:rPr lang="en-US" altLang="zh-CN" dirty="0"/>
              <a:t>));</a:t>
            </a:r>
          </a:p>
          <a:p>
            <a:r>
              <a:rPr lang="en-US" altLang="zh-CN" dirty="0"/>
              <a:t>	 	 </a:t>
            </a:r>
          </a:p>
          <a:p>
            <a:r>
              <a:rPr lang="en-US" altLang="zh-CN" dirty="0"/>
              <a:t>	assign BTNX4 = 1'b0;</a:t>
            </a:r>
          </a:p>
          <a:p>
            <a:r>
              <a:rPr lang="en-US" altLang="zh-CN" dirty="0" err="1" smtClean="0"/>
              <a:t>endmodule</a:t>
            </a:r>
            <a:endParaRPr lang="en-US" altLang="zh-CN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249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按键和时钟部分的</a:t>
            </a:r>
            <a:r>
              <a:rPr lang="en-US" altLang="zh-CN" dirty="0" err="1" smtClean="0"/>
              <a:t>xdc</a:t>
            </a:r>
            <a:r>
              <a:rPr lang="zh-CN" altLang="en-US" dirty="0" smtClean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30082"/>
            <a:ext cx="8507288" cy="515124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 err="1"/>
              <a:t>create_clock</a:t>
            </a:r>
            <a:r>
              <a:rPr lang="en-US" altLang="zh-CN" sz="1600" dirty="0"/>
              <a:t> -name clk100MHZ -period 10.0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PACKAGE_PIN AC18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IOSTANDARD LVCMOS18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 smtClean="0"/>
              <a:t>]</a:t>
            </a:r>
          </a:p>
          <a:p>
            <a:pPr marL="0" indent="0">
              <a:buNone/>
            </a:pPr>
            <a:r>
              <a:rPr lang="en-US" altLang="zh-CN" sz="1600" dirty="0" err="1" smtClean="0"/>
              <a:t>set_property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PACKAGE_PIN W14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BTN[0]]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IOSTANDARD LVCMOS18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BTN[0]]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CLOCK_DEDICATED_ROUTE FALSE [</a:t>
            </a:r>
            <a:r>
              <a:rPr lang="en-US" altLang="zh-CN" sz="1600" dirty="0" err="1"/>
              <a:t>get_nets</a:t>
            </a:r>
            <a:r>
              <a:rPr lang="en-US" altLang="zh-CN" sz="1600" dirty="0"/>
              <a:t> BTN_IBUF[0]]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PACKAGE_PIN V14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BTN[1]]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IOSTANDARD LVCMOS18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BTN[1]]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CLOCK_DEDICATED_ROUTE FALSE [</a:t>
            </a:r>
            <a:r>
              <a:rPr lang="en-US" altLang="zh-CN" sz="1600" dirty="0" err="1"/>
              <a:t>get_nets</a:t>
            </a:r>
            <a:r>
              <a:rPr lang="en-US" altLang="zh-CN" sz="1600" dirty="0"/>
              <a:t> BTN_IBUF[1]]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PACKAGE_PIN V19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BTN[2]]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IOSTANDARD LVCMOS18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BTN[2]]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CLOCK_DEDICATED_ROUTE FALSE [</a:t>
            </a:r>
            <a:r>
              <a:rPr lang="en-US" altLang="zh-CN" sz="1600" dirty="0" err="1"/>
              <a:t>get_nets</a:t>
            </a:r>
            <a:r>
              <a:rPr lang="en-US" altLang="zh-CN" sz="1600" dirty="0"/>
              <a:t> BTN_IBUF[2]]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PACKAGE_PIN V18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BTN[3]]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IOSTANDARD LVCMOS18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BTN[3]]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CLOCK_DEDICATED_ROUTE FALSE [</a:t>
            </a:r>
            <a:r>
              <a:rPr lang="en-US" altLang="zh-CN" sz="1600" dirty="0" err="1"/>
              <a:t>get_nets</a:t>
            </a:r>
            <a:r>
              <a:rPr lang="en-US" altLang="zh-CN" sz="1600" dirty="0"/>
              <a:t> BTN_IBUF[3]]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PACKAGE_PIN W16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BTNX4]</a:t>
            </a:r>
          </a:p>
          <a:p>
            <a:pPr marL="0" indent="0">
              <a:buNone/>
            </a:pPr>
            <a:r>
              <a:rPr lang="en-US" altLang="zh-CN" sz="1600" dirty="0" err="1"/>
              <a:t>set_property</a:t>
            </a:r>
            <a:r>
              <a:rPr lang="en-US" altLang="zh-CN" sz="1600" dirty="0"/>
              <a:t> IOSTANDARD LVCMOS18 [</a:t>
            </a:r>
            <a:r>
              <a:rPr lang="en-US" altLang="zh-CN" sz="1600" dirty="0" err="1"/>
              <a:t>get_ports</a:t>
            </a:r>
            <a:r>
              <a:rPr lang="en-US" altLang="zh-CN" sz="1600" dirty="0"/>
              <a:t> BTNX4]</a:t>
            </a:r>
          </a:p>
        </p:txBody>
      </p:sp>
    </p:spTree>
    <p:extLst>
      <p:ext uri="{BB962C8B-B14F-4D97-AF65-F5344CB8AC3E}">
        <p14:creationId xmlns:p14="http://schemas.microsoft.com/office/powerpoint/2010/main" val="2729313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对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模块进行行为仿真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30082"/>
            <a:ext cx="8507288" cy="5151246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将</a:t>
            </a:r>
            <a:r>
              <a:rPr lang="en-US" altLang="zh-CN" sz="2800" dirty="0" smtClean="0"/>
              <a:t>top</a:t>
            </a:r>
            <a:r>
              <a:rPr lang="zh-CN" altLang="en-US" sz="2800" dirty="0" smtClean="0"/>
              <a:t>模块中的</a:t>
            </a:r>
            <a:r>
              <a:rPr lang="en-US" altLang="zh-CN" sz="2800" dirty="0" err="1" smtClean="0"/>
              <a:t>DispNum</a:t>
            </a:r>
            <a:r>
              <a:rPr lang="zh-CN" altLang="en-US" sz="2800" dirty="0" smtClean="0"/>
              <a:t>模块实例化代码里的</a:t>
            </a:r>
            <a:r>
              <a:rPr lang="en-US" altLang="zh-CN" sz="2800" dirty="0" smtClean="0"/>
              <a:t>.</a:t>
            </a:r>
            <a:r>
              <a:rPr lang="en-US" altLang="zh-CN" sz="2800" dirty="0"/>
              <a:t>scan(</a:t>
            </a:r>
            <a:r>
              <a:rPr lang="en-US" altLang="zh-CN" sz="2800" dirty="0" err="1"/>
              <a:t>clk_div</a:t>
            </a:r>
            <a:r>
              <a:rPr lang="en-US" altLang="zh-CN" sz="2800" dirty="0"/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18:17</a:t>
            </a:r>
            <a:r>
              <a:rPr lang="en-US" altLang="zh-CN" sz="2800" dirty="0" smtClean="0"/>
              <a:t>])</a:t>
            </a:r>
            <a:r>
              <a:rPr lang="zh-CN" altLang="en-US" sz="2800" dirty="0" smtClean="0"/>
              <a:t>改成</a:t>
            </a:r>
            <a:r>
              <a:rPr lang="en-US" altLang="zh-CN" sz="2800" dirty="0" smtClean="0"/>
              <a:t>.scan(</a:t>
            </a:r>
            <a:r>
              <a:rPr lang="en-US" altLang="zh-CN" sz="2800" dirty="0" err="1" smtClean="0"/>
              <a:t>clk_div</a:t>
            </a:r>
            <a:r>
              <a:rPr lang="en-US" altLang="zh-CN" sz="2800" dirty="0" smtClean="0"/>
              <a:t>[</a:t>
            </a:r>
            <a:r>
              <a:rPr lang="en-US" altLang="zh-CN" sz="2800" dirty="0" smtClean="0">
                <a:solidFill>
                  <a:srgbClr val="FF0000"/>
                </a:solidFill>
              </a:rPr>
              <a:t>1:0</a:t>
            </a:r>
            <a:r>
              <a:rPr lang="en-US" altLang="zh-CN" sz="2800" dirty="0" smtClean="0"/>
              <a:t>])</a:t>
            </a:r>
            <a:r>
              <a:rPr lang="zh-CN" altLang="en-US" sz="2800" dirty="0" smtClean="0"/>
              <a:t>，加快行为仿真速度</a:t>
            </a:r>
            <a:endParaRPr lang="en-US" altLang="zh-CN" sz="2800" dirty="0" smtClean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在</a:t>
            </a:r>
            <a:r>
              <a:rPr lang="en-US" altLang="zh-CN" sz="2800" dirty="0" err="1" smtClean="0"/>
              <a:t>Vivado</a:t>
            </a:r>
            <a:r>
              <a:rPr lang="zh-CN" altLang="en-US" sz="2800" dirty="0" smtClean="0"/>
              <a:t>中建立</a:t>
            </a:r>
            <a:r>
              <a:rPr lang="en-US" altLang="zh-CN" sz="2800" dirty="0" smtClean="0"/>
              <a:t>top</a:t>
            </a:r>
            <a:r>
              <a:rPr lang="zh-CN" altLang="en-US" sz="2800" dirty="0" smtClean="0"/>
              <a:t>模块的仿真测试代码（参见实验四任务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的仿真代码），进行行为仿真，在实验报告中提供仿真代码、仿真波形，并对波形进行解释，特别是说明按钮拨动、</a:t>
            </a:r>
            <a:r>
              <a:rPr lang="en-US" altLang="zh-CN" sz="2800" dirty="0" smtClean="0"/>
              <a:t>AN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SEGMENT</a:t>
            </a:r>
            <a:r>
              <a:rPr lang="zh-CN" altLang="en-US" sz="2800" dirty="0" smtClean="0"/>
              <a:t>输出代表的含义</a:t>
            </a:r>
            <a:endParaRPr lang="en-US" altLang="zh-CN" sz="2800" dirty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在实验报告里还需要截图记录工程里的模块层次结构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589500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仿真中观察内部信号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30082"/>
            <a:ext cx="8507288" cy="991447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仿真时可以观察被仿真模块和子模块的内部信号，帮助分析存在的问题。可以按以下步骤进行</a:t>
            </a:r>
            <a:endParaRPr lang="en-US" altLang="zh-CN" sz="28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53" y="2348880"/>
            <a:ext cx="8594041" cy="3786089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611560" y="3573016"/>
            <a:ext cx="1656184" cy="2326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1560" y="3933056"/>
            <a:ext cx="1510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1</a:t>
            </a:r>
            <a:r>
              <a:rPr lang="zh-CN" altLang="en-US" b="1" dirty="0" smtClean="0"/>
              <a:t>、选中需要观察的信号所在的模块</a:t>
            </a:r>
            <a:endParaRPr lang="zh-CN" altLang="en-US" b="1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3923928" y="4509120"/>
            <a:ext cx="864096" cy="28803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699792" y="4437112"/>
            <a:ext cx="1656184" cy="2326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699792" y="4797152"/>
            <a:ext cx="1656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、找到需要观察的信号，拖拽到仿真波形区域</a:t>
            </a:r>
            <a:endParaRPr lang="zh-CN" altLang="en-US" b="1" dirty="0"/>
          </a:p>
        </p:txBody>
      </p:sp>
      <p:sp>
        <p:nvSpPr>
          <p:cNvPr id="12" name="椭圆 11"/>
          <p:cNvSpPr/>
          <p:nvPr/>
        </p:nvSpPr>
        <p:spPr>
          <a:xfrm>
            <a:off x="4032710" y="2383809"/>
            <a:ext cx="395274" cy="2531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427984" y="2293537"/>
            <a:ext cx="151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3</a:t>
            </a:r>
            <a:r>
              <a:rPr lang="zh-CN" altLang="en-US" b="1" dirty="0" smtClean="0"/>
              <a:t>、重新仿真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90632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综合下载运行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30082"/>
            <a:ext cx="8507288" cy="5151246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/>
              <a:t>改回</a:t>
            </a:r>
            <a:r>
              <a:rPr lang="en-US" altLang="zh-CN" sz="2800" dirty="0" smtClean="0"/>
              <a:t>.scan(</a:t>
            </a:r>
            <a:r>
              <a:rPr lang="en-US" altLang="zh-CN" sz="2800" dirty="0" err="1" smtClean="0"/>
              <a:t>clk_div</a:t>
            </a:r>
            <a:r>
              <a:rPr lang="en-US" altLang="zh-CN" sz="2800" dirty="0" smtClean="0"/>
              <a:t>[</a:t>
            </a:r>
            <a:r>
              <a:rPr lang="en-US" altLang="zh-CN" sz="2800" dirty="0" smtClean="0">
                <a:solidFill>
                  <a:srgbClr val="FF0000"/>
                </a:solidFill>
              </a:rPr>
              <a:t>18:17</a:t>
            </a:r>
            <a:r>
              <a:rPr lang="en-US" altLang="zh-CN" sz="2800" dirty="0" smtClean="0"/>
              <a:t>])</a:t>
            </a:r>
            <a:r>
              <a:rPr lang="zh-CN" altLang="en-US" sz="2800" dirty="0" smtClean="0"/>
              <a:t>，进行综合和下载运行，观察开关</a:t>
            </a:r>
            <a:r>
              <a:rPr lang="en-US" altLang="zh-CN" sz="2800" dirty="0" smtClean="0"/>
              <a:t>SW[7:0]</a:t>
            </a:r>
            <a:r>
              <a:rPr lang="zh-CN" altLang="en-US" sz="2800" dirty="0" smtClean="0"/>
              <a:t>和按钮</a:t>
            </a:r>
            <a:r>
              <a:rPr lang="en-US" altLang="zh-CN" sz="2800" dirty="0" smtClean="0"/>
              <a:t>BTN[3:0]</a:t>
            </a:r>
            <a:r>
              <a:rPr lang="zh-CN" altLang="en-US" sz="2800" dirty="0" smtClean="0"/>
              <a:t>的作用</a:t>
            </a:r>
            <a:endParaRPr lang="en-US" altLang="zh-CN" sz="2800" dirty="0" smtClean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思考：为什么要在行为仿真和下载运行时修改</a:t>
            </a:r>
            <a:r>
              <a:rPr lang="en-US" altLang="zh-CN" sz="2800" dirty="0" smtClean="0"/>
              <a:t>.scan()</a:t>
            </a:r>
            <a:r>
              <a:rPr lang="zh-CN" altLang="en-US" sz="2800" dirty="0" smtClean="0"/>
              <a:t>连接的引脚</a:t>
            </a:r>
            <a:endParaRPr lang="en-US" altLang="zh-CN" sz="2800" dirty="0" smtClean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要求：从左到右的开关和按钮修改数码管的顺序要一致</a:t>
            </a:r>
            <a:endParaRPr lang="en-US" altLang="zh-CN" sz="2800" dirty="0" smtClean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运行验证：下载以后，按钮每次按一下是否只会让对应数值加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？如果不是，思考可能的原因和解决方案。</a:t>
            </a:r>
            <a:endParaRPr lang="en-US" altLang="zh-CN" sz="2800" dirty="0" smtClean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dirty="0" smtClean="0"/>
              <a:t>拍照记录典型的拨动开关和按钮操作后的数码管显示结果，写在实验报告里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605066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6188</TotalTime>
  <Words>1596</Words>
  <Application>Microsoft Office PowerPoint</Application>
  <PresentationFormat>全屏显示(4:3)</PresentationFormat>
  <Paragraphs>288</Paragraphs>
  <Slides>35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黑体</vt:lpstr>
      <vt:lpstr>华文细黑</vt:lpstr>
      <vt:lpstr>楷体_GB2312</vt:lpstr>
      <vt:lpstr>宋体</vt:lpstr>
      <vt:lpstr>微软雅黑</vt:lpstr>
      <vt:lpstr>Arial</vt:lpstr>
      <vt:lpstr>Calibri</vt:lpstr>
      <vt:lpstr>Courier New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数字逻辑设计实验</vt:lpstr>
      <vt:lpstr>提  纲</vt:lpstr>
      <vt:lpstr>实验目的</vt:lpstr>
      <vt:lpstr>实验设备与材料</vt:lpstr>
      <vt:lpstr>实验任务</vt:lpstr>
      <vt:lpstr>实验任务</vt:lpstr>
      <vt:lpstr>数据选择器设计</vt:lpstr>
      <vt:lpstr>实验原理- 4选1多路选择器</vt:lpstr>
      <vt:lpstr>仿真波形</vt:lpstr>
      <vt:lpstr>实验原理-多路选择器位扩展</vt:lpstr>
      <vt:lpstr>4位4选1多路选择器：Mux4to1b4</vt:lpstr>
      <vt:lpstr>数据选择器仿真波形</vt:lpstr>
      <vt:lpstr>实验任务</vt:lpstr>
      <vt:lpstr>多位七段数码管显示原理</vt:lpstr>
      <vt:lpstr>分时控制示意</vt:lpstr>
      <vt:lpstr>4位7段数码管动态扫描显示</vt:lpstr>
      <vt:lpstr>4位7段数码管动态扫描显示</vt:lpstr>
      <vt:lpstr>4位7段数码管动态扫描显示</vt:lpstr>
      <vt:lpstr>4位7段数码管动态扫描显示-位扫描控制</vt:lpstr>
      <vt:lpstr>4位7段数码管动态扫描显示-段码选择</vt:lpstr>
      <vt:lpstr>也可使用Case语句实现</vt:lpstr>
      <vt:lpstr>4位7段数码管动态扫描显示-测试电路</vt:lpstr>
      <vt:lpstr>实验任务</vt:lpstr>
      <vt:lpstr>辅助模块：时钟计数分频器</vt:lpstr>
      <vt:lpstr>辅助模块：时钟计数分频器</vt:lpstr>
      <vt:lpstr>设计CreateNumber按键数据输入模块</vt:lpstr>
      <vt:lpstr>记分板的操作方法</vt:lpstr>
      <vt:lpstr>记分板应用设计（1）</vt:lpstr>
      <vt:lpstr>top模块输入输出引脚</vt:lpstr>
      <vt:lpstr>设计顶层模块</vt:lpstr>
      <vt:lpstr>按键和时钟部分的xdc语句</vt:lpstr>
      <vt:lpstr>对top模块进行行为仿真</vt:lpstr>
      <vt:lpstr>仿真中观察内部信号</vt:lpstr>
      <vt:lpstr>综合下载运行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347</cp:revision>
  <dcterms:created xsi:type="dcterms:W3CDTF">2011-08-03T07:44:17Z</dcterms:created>
  <dcterms:modified xsi:type="dcterms:W3CDTF">2025-02-18T12:51:28Z</dcterms:modified>
</cp:coreProperties>
</file>