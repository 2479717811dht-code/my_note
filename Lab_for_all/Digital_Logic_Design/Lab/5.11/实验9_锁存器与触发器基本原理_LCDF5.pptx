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  <p:sldMasterId id="2147483690" r:id="rId3"/>
  </p:sldMasterIdLst>
  <p:notesMasterIdLst>
    <p:notesMasterId r:id="rId25"/>
  </p:notesMasterIdLst>
  <p:sldIdLst>
    <p:sldId id="256" r:id="rId4"/>
    <p:sldId id="270" r:id="rId5"/>
    <p:sldId id="271" r:id="rId6"/>
    <p:sldId id="272" r:id="rId7"/>
    <p:sldId id="273" r:id="rId8"/>
    <p:sldId id="274" r:id="rId9"/>
    <p:sldId id="296" r:id="rId10"/>
    <p:sldId id="297" r:id="rId11"/>
    <p:sldId id="303" r:id="rId12"/>
    <p:sldId id="298" r:id="rId13"/>
    <p:sldId id="310" r:id="rId14"/>
    <p:sldId id="299" r:id="rId15"/>
    <p:sldId id="311" r:id="rId16"/>
    <p:sldId id="300" r:id="rId17"/>
    <p:sldId id="314" r:id="rId18"/>
    <p:sldId id="301" r:id="rId19"/>
    <p:sldId id="304" r:id="rId20"/>
    <p:sldId id="312" r:id="rId21"/>
    <p:sldId id="302" r:id="rId22"/>
    <p:sldId id="313" r:id="rId23"/>
    <p:sldId id="269" r:id="rId2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E2BB560-6633-472E-86A8-D6CD2949BF9A}">
          <p14:sldIdLst>
            <p14:sldId id="256"/>
            <p14:sldId id="270"/>
            <p14:sldId id="271"/>
            <p14:sldId id="272"/>
            <p14:sldId id="273"/>
            <p14:sldId id="274"/>
            <p14:sldId id="296"/>
            <p14:sldId id="297"/>
            <p14:sldId id="303"/>
            <p14:sldId id="298"/>
            <p14:sldId id="310"/>
            <p14:sldId id="299"/>
            <p14:sldId id="311"/>
            <p14:sldId id="300"/>
            <p14:sldId id="314"/>
            <p14:sldId id="301"/>
            <p14:sldId id="304"/>
            <p14:sldId id="312"/>
            <p14:sldId id="302"/>
            <p14:sldId id="313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859C"/>
    <a:srgbClr val="336699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2" autoAdjust="0"/>
    <p:restoredTop sz="82100" autoAdjust="0"/>
  </p:normalViewPr>
  <p:slideViewPr>
    <p:cSldViewPr>
      <p:cViewPr varScale="1">
        <p:scale>
          <a:sx n="69" d="100"/>
          <a:sy n="69" d="100"/>
        </p:scale>
        <p:origin x="1575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A232E-0D23-E744-A2E7-48CC2B10A8E9}" type="datetimeFigureOut">
              <a:rPr kumimoji="1" lang="zh-CN" altLang="en-US" smtClean="0"/>
              <a:t>2025/2/18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3A588-43E9-AC44-AC90-AB7B6B5540F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7814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939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519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755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418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83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184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008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44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767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841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890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" y="0"/>
            <a:ext cx="9102436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3561" y="1950515"/>
            <a:ext cx="8134672" cy="1470025"/>
          </a:xfrm>
        </p:spPr>
        <p:txBody>
          <a:bodyPr>
            <a:noAutofit/>
          </a:bodyPr>
          <a:lstStyle>
            <a:lvl1pPr>
              <a:defRPr sz="520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accent5">
                    <a:lumMod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0315"/>
            <a:ext cx="1368152" cy="55815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6309320"/>
            <a:ext cx="7887572" cy="1828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" y="0"/>
            <a:ext cx="9102436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0315"/>
            <a:ext cx="1368152" cy="55815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6309320"/>
            <a:ext cx="7887572" cy="182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005464" cy="954360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Char char="p"/>
              <a:defRPr b="1">
                <a:solidFill>
                  <a:schemeClr val="accent5">
                    <a:lumMod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n"/>
              <a:defRPr b="1">
                <a:solidFill>
                  <a:schemeClr val="accent5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p"/>
              <a:defRPr>
                <a:latin typeface="黑体" pitchFamily="49" charset="-122"/>
                <a:ea typeface="黑体" pitchFamily="49" charset="-122"/>
              </a:defRPr>
            </a:lvl3pPr>
            <a:lvl4pPr marL="1600200" indent="-228600">
              <a:buClr>
                <a:schemeClr val="accent5">
                  <a:lumMod val="75000"/>
                </a:schemeClr>
              </a:buClr>
              <a:buSzPct val="60000"/>
              <a:buFont typeface="Wingdings" pitchFamily="2" charset="2"/>
              <a:buChar char="n"/>
              <a:defRPr>
                <a:latin typeface="黑体" pitchFamily="49" charset="-122"/>
                <a:ea typeface="黑体" pitchFamily="49" charset="-122"/>
              </a:defRPr>
            </a:lvl4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213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005464" cy="95436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336699"/>
                </a:solidFill>
                <a:effectLst/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defRPr>
            </a:lvl1pPr>
            <a:lvl2pPr marL="742950" indent="-285750">
              <a:buClr>
                <a:schemeClr val="tx1"/>
              </a:buClr>
              <a:buSzPct val="70000"/>
              <a:buFont typeface="Wingdings" pitchFamily="2" charset="2"/>
              <a:buChar char="p"/>
              <a:defRPr sz="1800" b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defRPr>
            </a:lvl2pPr>
            <a:lvl3pPr marL="1143000" indent="-228600">
              <a:buClr>
                <a:schemeClr val="tx1"/>
              </a:buClr>
              <a:buSzPct val="50000"/>
              <a:buFont typeface="Wingdings" pitchFamily="2" charset="2"/>
              <a:buChar char="n"/>
              <a:defRPr sz="1600">
                <a:latin typeface="华文细黑" pitchFamily="2" charset="-122"/>
                <a:ea typeface="华文细黑" pitchFamily="2" charset="-122"/>
              </a:defRPr>
            </a:lvl3pPr>
            <a:lvl4pPr marL="1600200" indent="-228600">
              <a:buClr>
                <a:schemeClr val="tx1"/>
              </a:buClr>
              <a:buSzPct val="50000"/>
              <a:buFont typeface="Wingdings" pitchFamily="2" charset="2"/>
              <a:buChar char="p"/>
              <a:defRPr sz="1400">
                <a:latin typeface="华文细黑" pitchFamily="2" charset="-122"/>
                <a:ea typeface="华文细黑" pitchFamily="2" charset="-122"/>
              </a:defRPr>
            </a:lvl4pPr>
            <a:lvl5pPr>
              <a:defRPr sz="1200">
                <a:latin typeface="华文细黑" pitchFamily="2" charset="-122"/>
                <a:ea typeface="华文细黑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9392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5190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7551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4187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8334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1847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0082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448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7671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8412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890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48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itchFamily="49" charset="-122"/>
          <a:ea typeface="黑体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p"/>
        <a:defRPr sz="22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48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itchFamily="49" charset="-122"/>
          <a:ea typeface="黑体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p"/>
        <a:defRPr sz="22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e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4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2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3561" y="1052736"/>
            <a:ext cx="8134672" cy="1728191"/>
          </a:xfrm>
        </p:spPr>
        <p:txBody>
          <a:bodyPr/>
          <a:lstStyle/>
          <a:p>
            <a:r>
              <a:rPr lang="zh-CN" altLang="en-US" sz="4000" b="1" dirty="0">
                <a:solidFill>
                  <a:schemeClr val="tx1"/>
                </a:solidFill>
                <a:ea typeface="宋体" panose="02010600030101010101" pitchFamily="2" charset="-122"/>
              </a:rPr>
              <a:t>数字逻辑设计实验</a:t>
            </a:r>
            <a:endParaRPr lang="zh-CN" altLang="en-US" sz="4000" dirty="0">
              <a:effectLst/>
              <a:latin typeface="黑体"/>
              <a:ea typeface="黑体"/>
              <a:cs typeface="黑体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221088"/>
            <a:ext cx="6400800" cy="211264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董亚波</a:t>
            </a:r>
          </a:p>
          <a:p>
            <a:pPr>
              <a:spcBef>
                <a:spcPct val="0"/>
              </a:spcBef>
            </a:pPr>
            <a:r>
              <a:rPr lang="en-US" altLang="zh-CN" sz="28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dongyb@zju.edu.cn</a:t>
            </a:r>
            <a:endParaRPr lang="en-US" altLang="zh-CN" sz="2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2916233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 smtClean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实验</a:t>
            </a:r>
            <a:r>
              <a:rPr lang="en-US" altLang="zh-CN" sz="3600" b="1" dirty="0" smtClean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9</a:t>
            </a:r>
            <a:r>
              <a:rPr lang="zh-CN" altLang="en-US" sz="3600" b="1" dirty="0" smtClean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、</a:t>
            </a:r>
            <a:r>
              <a:rPr lang="zh-CN" altLang="zh-CN" sz="3600" b="1" dirty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锁存器与触发器基本原理</a:t>
            </a:r>
            <a:endParaRPr lang="en-US" altLang="zh-CN" sz="3600" b="1" dirty="0">
              <a:solidFill>
                <a:srgbClr val="3333FF"/>
              </a:solidFill>
              <a:latin typeface="Helvetic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2661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  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实验目的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实验设备与材料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实验任务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实验原理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实验内容与步骤</a:t>
            </a:r>
          </a:p>
        </p:txBody>
      </p:sp>
    </p:spTree>
    <p:extLst>
      <p:ext uri="{BB962C8B-B14F-4D97-AF65-F5344CB8AC3E}">
        <p14:creationId xmlns:p14="http://schemas.microsoft.com/office/powerpoint/2010/main" val="3293819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507288" cy="51845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768"/>
              </a:spcBef>
            </a:pPr>
            <a:r>
              <a:rPr lang="zh-CN" altLang="en-US" sz="2800" dirty="0"/>
              <a:t>掌握锁存器与触发器构成的条件和工作原理</a:t>
            </a:r>
          </a:p>
          <a:p>
            <a:pPr>
              <a:lnSpc>
                <a:spcPct val="150000"/>
              </a:lnSpc>
              <a:spcBef>
                <a:spcPts val="768"/>
              </a:spcBef>
            </a:pPr>
            <a:r>
              <a:rPr lang="zh-CN" altLang="en-US" sz="2800" dirty="0"/>
              <a:t>掌握锁存器与触发器的区别</a:t>
            </a:r>
          </a:p>
          <a:p>
            <a:pPr>
              <a:lnSpc>
                <a:spcPct val="150000"/>
              </a:lnSpc>
              <a:spcBef>
                <a:spcPts val="768"/>
              </a:spcBef>
            </a:pPr>
            <a:r>
              <a:rPr lang="zh-CN" altLang="en-US" sz="2800" dirty="0"/>
              <a:t>掌握</a:t>
            </a:r>
            <a:r>
              <a:rPr lang="zh-CN" altLang="zh-CN" sz="2800" dirty="0"/>
              <a:t>基本</a:t>
            </a:r>
            <a:r>
              <a:rPr lang="en-US" altLang="zh-CN" sz="2800" dirty="0"/>
              <a:t>SR</a:t>
            </a:r>
            <a:r>
              <a:rPr lang="zh-CN" altLang="zh-CN" sz="2800" dirty="0"/>
              <a:t>锁存器</a:t>
            </a:r>
            <a:r>
              <a:rPr lang="zh-CN" altLang="en-US" sz="2800" dirty="0"/>
              <a:t>、门控</a:t>
            </a:r>
            <a:r>
              <a:rPr lang="en-US" altLang="zh-CN" sz="2800" dirty="0"/>
              <a:t>SR</a:t>
            </a:r>
            <a:r>
              <a:rPr lang="zh-CN" altLang="en-US" sz="2800" dirty="0"/>
              <a:t>锁存器、</a:t>
            </a:r>
            <a:r>
              <a:rPr lang="en-US" altLang="zh-CN" sz="2800" dirty="0"/>
              <a:t>D</a:t>
            </a:r>
            <a:r>
              <a:rPr lang="zh-CN" altLang="en-US" sz="2800" dirty="0"/>
              <a:t>锁存器、</a:t>
            </a:r>
            <a:r>
              <a:rPr lang="en-US" altLang="zh-CN" sz="2800" dirty="0" smtClean="0"/>
              <a:t>SR</a:t>
            </a:r>
            <a:r>
              <a:rPr lang="zh-CN" altLang="en-US" sz="2800" dirty="0" smtClean="0"/>
              <a:t>触发器</a:t>
            </a:r>
            <a:r>
              <a:rPr lang="zh-CN" altLang="en-US" sz="2800" dirty="0"/>
              <a:t>、</a:t>
            </a:r>
            <a:r>
              <a:rPr lang="en-US" altLang="zh-CN" sz="2800" dirty="0"/>
              <a:t>D</a:t>
            </a:r>
            <a:r>
              <a:rPr lang="zh-CN" altLang="en-US" sz="2800" dirty="0"/>
              <a:t>触发器的基本功能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768"/>
              </a:spcBef>
            </a:pPr>
            <a:r>
              <a:rPr lang="zh-CN" altLang="en-US" sz="2800" dirty="0"/>
              <a:t>掌握</a:t>
            </a:r>
            <a:r>
              <a:rPr lang="zh-CN" altLang="zh-CN" sz="2800" dirty="0"/>
              <a:t>基本</a:t>
            </a:r>
            <a:r>
              <a:rPr lang="en-US" altLang="zh-CN" sz="2800" dirty="0"/>
              <a:t>SR</a:t>
            </a:r>
            <a:r>
              <a:rPr lang="zh-CN" altLang="zh-CN" sz="2800" dirty="0"/>
              <a:t>锁存器</a:t>
            </a:r>
            <a:r>
              <a:rPr lang="zh-CN" altLang="en-US" sz="2800" dirty="0"/>
              <a:t>、门控</a:t>
            </a:r>
            <a:r>
              <a:rPr lang="en-US" altLang="zh-CN" sz="2800" dirty="0"/>
              <a:t>SR</a:t>
            </a:r>
            <a:r>
              <a:rPr lang="zh-CN" altLang="en-US" sz="2800" dirty="0"/>
              <a:t>锁存器、</a:t>
            </a:r>
            <a:r>
              <a:rPr lang="en-US" altLang="zh-CN" sz="2800" dirty="0"/>
              <a:t>D</a:t>
            </a:r>
            <a:r>
              <a:rPr lang="zh-CN" altLang="en-US" sz="2800" dirty="0"/>
              <a:t>锁存器、</a:t>
            </a:r>
            <a:r>
              <a:rPr lang="en-US" altLang="zh-CN" sz="2800" dirty="0" smtClean="0"/>
              <a:t>SR</a:t>
            </a:r>
            <a:r>
              <a:rPr lang="zh-CN" altLang="en-US" sz="2800" dirty="0" smtClean="0"/>
              <a:t>触发器</a:t>
            </a:r>
            <a:r>
              <a:rPr lang="zh-CN" altLang="zh-CN" sz="2800" dirty="0"/>
              <a:t>存在的时序问题</a:t>
            </a:r>
            <a:endParaRPr lang="zh-CN" altLang="en-US" sz="2800" dirty="0"/>
          </a:p>
          <a:p>
            <a:pPr>
              <a:lnSpc>
                <a:spcPct val="150000"/>
              </a:lnSpc>
              <a:spcBef>
                <a:spcPts val="768"/>
              </a:spcBef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1679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实验设备与材料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实验设备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装有</a:t>
            </a:r>
            <a:r>
              <a:rPr lang="en-US" altLang="zh-CN" dirty="0"/>
              <a:t>Xilinx </a:t>
            </a:r>
            <a:r>
              <a:rPr lang="en-US" altLang="zh-CN" dirty="0" err="1"/>
              <a:t>Vivado</a:t>
            </a:r>
            <a:r>
              <a:rPr lang="zh-CN" altLang="en-US" dirty="0"/>
              <a:t>和</a:t>
            </a:r>
            <a:r>
              <a:rPr lang="en-US" altLang="zh-CN" dirty="0"/>
              <a:t>Digital</a:t>
            </a:r>
            <a:r>
              <a:rPr lang="zh-CN" altLang="en-US" dirty="0"/>
              <a:t>的计算机</a:t>
            </a:r>
            <a:r>
              <a:rPr lang="en-US" altLang="zh-CN" dirty="0"/>
              <a:t>	1</a:t>
            </a:r>
            <a:r>
              <a:rPr lang="zh-CN" altLang="en-US" dirty="0"/>
              <a:t>台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SWORD</a:t>
            </a:r>
            <a:r>
              <a:rPr lang="zh-CN" altLang="en-US" dirty="0"/>
              <a:t>开发板</a:t>
            </a:r>
            <a:r>
              <a:rPr lang="en-US" altLang="zh-CN" dirty="0"/>
              <a:t>						1</a:t>
            </a:r>
            <a:r>
              <a:rPr lang="zh-CN" altLang="en-US" dirty="0"/>
              <a:t>套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/>
              <a:t>实验</a:t>
            </a:r>
            <a:r>
              <a:rPr lang="zh-CN" altLang="en-US" dirty="0"/>
              <a:t>材料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无</a:t>
            </a:r>
          </a:p>
        </p:txBody>
      </p:sp>
    </p:spTree>
    <p:extLst>
      <p:ext uri="{BB962C8B-B14F-4D97-AF65-F5344CB8AC3E}">
        <p14:creationId xmlns:p14="http://schemas.microsoft.com/office/powerpoint/2010/main" val="2731573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实验任务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579296" cy="452596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zh-CN" sz="2800" dirty="0"/>
                  <a:t>实现基本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dirty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dirty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</m:acc>
                  </m:oMath>
                </a14:m>
                <a:r>
                  <a:rPr lang="zh-CN" altLang="zh-CN" sz="2800" dirty="0"/>
                  <a:t>锁存器</a:t>
                </a:r>
                <a:r>
                  <a:rPr lang="zh-CN" altLang="en-US" sz="2800" dirty="0"/>
                  <a:t>，验证功能和存在的时序问题</a:t>
                </a:r>
                <a:endParaRPr lang="en-US" altLang="zh-CN" sz="2800" dirty="0"/>
              </a:p>
              <a:p>
                <a:pPr>
                  <a:lnSpc>
                    <a:spcPct val="150000"/>
                  </a:lnSpc>
                </a:pPr>
                <a:r>
                  <a:rPr lang="zh-CN" altLang="zh-CN" sz="2800" dirty="0"/>
                  <a:t>实现门控</a:t>
                </a:r>
                <a:r>
                  <a:rPr lang="en-US" altLang="zh-CN" sz="2800" dirty="0"/>
                  <a:t>SR</a:t>
                </a:r>
                <a:r>
                  <a:rPr lang="zh-CN" altLang="zh-CN" sz="2800" dirty="0"/>
                  <a:t>锁存器</a:t>
                </a:r>
                <a:r>
                  <a:rPr lang="zh-CN" altLang="en-US" sz="2800" dirty="0"/>
                  <a:t>，并验证功能和存在的时序问题</a:t>
                </a:r>
                <a:endParaRPr lang="en-US" altLang="zh-CN" sz="2800" dirty="0"/>
              </a:p>
              <a:p>
                <a:pPr>
                  <a:lnSpc>
                    <a:spcPct val="150000"/>
                  </a:lnSpc>
                </a:pPr>
                <a:r>
                  <a:rPr lang="zh-CN" altLang="zh-CN" sz="2800" dirty="0"/>
                  <a:t>实现</a:t>
                </a:r>
                <a:r>
                  <a:rPr lang="en-US" altLang="zh-CN" sz="2800" dirty="0"/>
                  <a:t>D</a:t>
                </a:r>
                <a:r>
                  <a:rPr lang="zh-CN" altLang="zh-CN" sz="2800" dirty="0"/>
                  <a:t>锁存器</a:t>
                </a:r>
                <a:r>
                  <a:rPr lang="zh-CN" altLang="en-US" sz="2800" dirty="0"/>
                  <a:t>，并验证功能和存在的时序问题</a:t>
                </a:r>
                <a:endParaRPr lang="en-US" altLang="zh-CN" sz="2800" dirty="0"/>
              </a:p>
              <a:p>
                <a:pPr>
                  <a:lnSpc>
                    <a:spcPct val="150000"/>
                  </a:lnSpc>
                </a:pPr>
                <a:r>
                  <a:rPr lang="zh-CN" altLang="zh-CN" sz="2800" dirty="0"/>
                  <a:t>实现</a:t>
                </a:r>
                <a:r>
                  <a:rPr lang="en-US" altLang="zh-CN" sz="2800" dirty="0"/>
                  <a:t>SR</a:t>
                </a:r>
                <a:r>
                  <a:rPr lang="zh-CN" altLang="zh-CN" sz="2800" dirty="0"/>
                  <a:t>主从触发器</a:t>
                </a:r>
                <a:r>
                  <a:rPr lang="zh-CN" altLang="en-US" sz="2800" dirty="0"/>
                  <a:t>，并验证功能和存在的时序问题</a:t>
                </a:r>
                <a:endParaRPr lang="en-US" altLang="zh-CN" sz="2800" dirty="0"/>
              </a:p>
              <a:p>
                <a:pPr>
                  <a:lnSpc>
                    <a:spcPct val="150000"/>
                  </a:lnSpc>
                </a:pPr>
                <a:r>
                  <a:rPr lang="zh-CN" altLang="zh-CN" sz="2800" dirty="0"/>
                  <a:t>实现</a:t>
                </a:r>
                <a:r>
                  <a:rPr lang="en-US" altLang="zh-CN" sz="2800" dirty="0"/>
                  <a:t>D</a:t>
                </a:r>
                <a:r>
                  <a:rPr lang="zh-CN" altLang="zh-CN" sz="2800" dirty="0"/>
                  <a:t>触发器</a:t>
                </a:r>
                <a:r>
                  <a:rPr lang="zh-CN" altLang="en-US" sz="2800" dirty="0"/>
                  <a:t>，并验证功能</a:t>
                </a:r>
                <a:endParaRPr lang="en-US" altLang="zh-CN" sz="2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579296" cy="4525963"/>
              </a:xfrm>
              <a:blipFill>
                <a:blip r:embed="rId2"/>
                <a:stretch>
                  <a:fillRect l="-7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8722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/>
          </a:bodyPr>
          <a:lstStyle/>
          <a:p>
            <a:r>
              <a:rPr lang="zh-CN" altLang="en-US" dirty="0"/>
              <a:t>构成锁存器的充分条件</a:t>
            </a:r>
          </a:p>
          <a:p>
            <a:pPr lvl="1"/>
            <a:r>
              <a:rPr lang="zh-CN" altLang="en-US" dirty="0"/>
              <a:t>能长期保持给定的某个稳定状态</a:t>
            </a:r>
          </a:p>
          <a:p>
            <a:pPr lvl="1"/>
            <a:r>
              <a:rPr lang="zh-CN" altLang="en-US" dirty="0"/>
              <a:t>有两个稳定状态：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在一定条件下能随时改变逻辑状态，即：置</a:t>
            </a:r>
            <a:r>
              <a:rPr lang="en-US" altLang="zh-CN" dirty="0"/>
              <a:t>1</a:t>
            </a:r>
            <a:r>
              <a:rPr lang="zh-CN" altLang="en-US" dirty="0"/>
              <a:t>或置</a:t>
            </a:r>
            <a:r>
              <a:rPr lang="en-US" altLang="zh-CN" dirty="0"/>
              <a:t>0</a:t>
            </a:r>
          </a:p>
          <a:p>
            <a:endParaRPr lang="en-US" altLang="zh-CN" dirty="0"/>
          </a:p>
          <a:p>
            <a:r>
              <a:rPr lang="zh-CN" altLang="en-US" dirty="0"/>
              <a:t>最基本的锁存器有：</a:t>
            </a:r>
            <a:r>
              <a:rPr lang="en-US" altLang="zh-CN" dirty="0"/>
              <a:t>SR</a:t>
            </a:r>
            <a:r>
              <a:rPr lang="zh-CN" altLang="en-US" dirty="0"/>
              <a:t>锁存器、</a:t>
            </a:r>
            <a:r>
              <a:rPr lang="en-US" altLang="zh-CN" dirty="0"/>
              <a:t>D</a:t>
            </a:r>
            <a:r>
              <a:rPr lang="zh-CN" altLang="en-US" dirty="0"/>
              <a:t>锁存器 </a:t>
            </a:r>
          </a:p>
          <a:p>
            <a:r>
              <a:rPr lang="zh-CN" altLang="en-US" dirty="0"/>
              <a:t>锁存器有两个稳定状态，又称双稳态电路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4711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SR</a:t>
            </a:r>
            <a:r>
              <a:rPr lang="zh-CN" altLang="en-US" dirty="0" smtClean="0"/>
              <a:t>锁存器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507288" cy="4525963"/>
          </a:xfrm>
        </p:spPr>
        <p:txBody>
          <a:bodyPr/>
          <a:lstStyle/>
          <a:p>
            <a:r>
              <a:rPr lang="zh-CN" altLang="en-US" dirty="0"/>
              <a:t>将两个具有</a:t>
            </a:r>
            <a:r>
              <a:rPr lang="en-US" altLang="zh-CN" dirty="0"/>
              <a:t>2</a:t>
            </a:r>
            <a:r>
              <a:rPr lang="zh-CN" altLang="en-US" dirty="0"/>
              <a:t>输入端的反向逻辑器件的输出与输入端交叉连起来，另一个输入端作为外部信息输出端，就构成最简单的</a:t>
            </a:r>
            <a:r>
              <a:rPr lang="en-US" altLang="zh-CN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SR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锁存器</a:t>
            </a:r>
            <a:endParaRPr lang="zh-CN" altLang="en-US" dirty="0"/>
          </a:p>
          <a:p>
            <a:endParaRPr lang="zh-CN" altLang="en-US" dirty="0"/>
          </a:p>
        </p:txBody>
      </p:sp>
      <p:graphicFrame>
        <p:nvGraphicFramePr>
          <p:cNvPr id="5" name="与非符号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477608"/>
              </p:ext>
            </p:extLst>
          </p:nvPr>
        </p:nvGraphicFramePr>
        <p:xfrm>
          <a:off x="4948881" y="5085184"/>
          <a:ext cx="3583559" cy="1512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9" name="Visio" r:id="rId3" imgW="1135176" imgH="479028" progId="Visio.Drawing.11">
                  <p:embed/>
                </p:oleObj>
              </mc:Choice>
              <mc:Fallback>
                <p:oleObj name="Visio" r:id="rId3" imgW="1135176" imgH="47902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8881" y="5085184"/>
                        <a:ext cx="3583559" cy="15121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8154709"/>
              </p:ext>
            </p:extLst>
          </p:nvPr>
        </p:nvGraphicFramePr>
        <p:xfrm>
          <a:off x="539553" y="3429000"/>
          <a:ext cx="3600400" cy="2345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" name="Visio" r:id="rId5" imgW="1094439" imgH="712641" progId="Visio.Drawing.11">
                  <p:embed/>
                </p:oleObj>
              </mc:Choice>
              <mc:Fallback>
                <p:oleObj name="Visio" r:id="rId5" imgW="1094439" imgH="712641" progId="Visio.Drawing.11">
                  <p:embed/>
                  <p:pic>
                    <p:nvPicPr>
                      <p:cNvPr id="0" name="或非电路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3" y="3429000"/>
                        <a:ext cx="3600400" cy="2345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或非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736208"/>
              </p:ext>
            </p:extLst>
          </p:nvPr>
        </p:nvGraphicFramePr>
        <p:xfrm>
          <a:off x="4886251" y="3011770"/>
          <a:ext cx="3286149" cy="185739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54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7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8"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R S</a:t>
                      </a:r>
                      <a:endParaRPr lang="zh-CN" altLang="en-US" i="1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Q Q</a:t>
                      </a:r>
                      <a:endParaRPr lang="zh-CN" altLang="en-US" i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说明</a:t>
                      </a: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0 0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Q Q</a:t>
                      </a:r>
                      <a:endParaRPr lang="zh-CN" altLang="en-US" b="1" i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保持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0 1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1 0 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置</a:t>
                      </a:r>
                      <a:r>
                        <a:rPr lang="en-US" altLang="zh-CN" b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="1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1 0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0 1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置</a:t>
                      </a:r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1 1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0 0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未定义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610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>
                            <a:solidFill>
                              <a:srgbClr val="31859C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dirty="0">
                            <a:solidFill>
                              <a:srgbClr val="31859C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i="1" dirty="0">
                            <a:solidFill>
                              <a:srgbClr val="31859C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dirty="0">
                            <a:solidFill>
                              <a:srgbClr val="31859C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</m:acc>
                  </m:oMath>
                </a14:m>
                <a:r>
                  <a:rPr lang="zh-CN" altLang="en-US" dirty="0" smtClean="0"/>
                  <a:t>锁</a:t>
                </a:r>
                <a:r>
                  <a:rPr lang="zh-CN" altLang="en-US" dirty="0" smtClean="0">
                    <a:solidFill>
                      <a:srgbClr val="31859C"/>
                    </a:solidFill>
                  </a:rPr>
                  <a:t>存</a:t>
                </a:r>
                <a:r>
                  <a:rPr lang="zh-CN" altLang="en-US" dirty="0" smtClean="0"/>
                  <a:t>器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198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与非符号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498613"/>
              </p:ext>
            </p:extLst>
          </p:nvPr>
        </p:nvGraphicFramePr>
        <p:xfrm>
          <a:off x="4355976" y="4077072"/>
          <a:ext cx="4460007" cy="1882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7" name="Visio" r:id="rId4" imgW="1135176" imgH="479028" progId="Visio.Drawing.11">
                  <p:embed/>
                </p:oleObj>
              </mc:Choice>
              <mc:Fallback>
                <p:oleObj name="Visio" r:id="rId4" imgW="1135176" imgH="47902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4077072"/>
                        <a:ext cx="4460007" cy="18820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377857"/>
              </p:ext>
            </p:extLst>
          </p:nvPr>
        </p:nvGraphicFramePr>
        <p:xfrm>
          <a:off x="467544" y="2420888"/>
          <a:ext cx="3647033" cy="2376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8" name="Visio" r:id="rId6" imgW="1094439" imgH="712641" progId="Visio.Drawing.11">
                  <p:embed/>
                </p:oleObj>
              </mc:Choice>
              <mc:Fallback>
                <p:oleObj name="Visio" r:id="rId6" imgW="1094439" imgH="712641" progId="Visio.Drawing.11">
                  <p:embed/>
                  <p:pic>
                    <p:nvPicPr>
                      <p:cNvPr id="0" name="与非电路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2420888"/>
                        <a:ext cx="3647033" cy="23762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与非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295615"/>
              </p:ext>
            </p:extLst>
          </p:nvPr>
        </p:nvGraphicFramePr>
        <p:xfrm>
          <a:off x="4788024" y="1628800"/>
          <a:ext cx="3429025" cy="1854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96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R S</a:t>
                      </a:r>
                      <a:endParaRPr lang="zh-CN" altLang="en-US" i="1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Q Q</a:t>
                      </a:r>
                      <a:endParaRPr lang="zh-CN" altLang="en-US" i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说明</a:t>
                      </a: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0 0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0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1 1</a:t>
                      </a:r>
                      <a:endParaRPr lang="zh-CN" altLang="en-US" b="1" i="1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未定义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0 1</a:t>
                      </a:r>
                      <a:endParaRPr lang="zh-CN" altLang="en-US" b="1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0 1</a:t>
                      </a:r>
                      <a:endParaRPr lang="zh-CN" altLang="en-US" b="1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置</a:t>
                      </a:r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1 0</a:t>
                      </a:r>
                      <a:endParaRPr lang="zh-CN" altLang="en-US" b="1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1 1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置</a:t>
                      </a:r>
                      <a:r>
                        <a:rPr lang="en-US" altLang="zh-CN" b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="1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1 1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Q Q</a:t>
                      </a:r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 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保持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9577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b="1" i="1" dirty="0">
                            <a:solidFill>
                              <a:srgbClr val="31859C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dirty="0">
                            <a:solidFill>
                              <a:srgbClr val="31859C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b="1" i="1" dirty="0">
                            <a:solidFill>
                              <a:srgbClr val="31859C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dirty="0">
                            <a:solidFill>
                              <a:srgbClr val="31859C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</m:acc>
                  </m:oMath>
                </a14:m>
                <a:r>
                  <a:rPr lang="zh-CN" altLang="en-US" dirty="0"/>
                  <a:t>锁</a:t>
                </a:r>
                <a:r>
                  <a:rPr lang="zh-CN" altLang="en-US" dirty="0">
                    <a:solidFill>
                      <a:srgbClr val="31859C"/>
                    </a:solidFill>
                  </a:rPr>
                  <a:t>存</a:t>
                </a:r>
                <a:r>
                  <a:rPr lang="zh-CN" altLang="en-US" dirty="0"/>
                  <a:t>器仿真</a:t>
                </a:r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98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2417084"/>
            <a:ext cx="3754760" cy="35283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altLang="zh-CN" sz="2400" dirty="0" smtClean="0"/>
              <a:t>R=1;S=1; </a:t>
            </a:r>
            <a:r>
              <a:rPr lang="pt-BR" altLang="zh-CN" sz="2400" dirty="0"/>
              <a:t>#50;</a:t>
            </a:r>
          </a:p>
          <a:p>
            <a:pPr marL="0" indent="0">
              <a:buNone/>
            </a:pPr>
            <a:r>
              <a:rPr lang="pt-BR" altLang="zh-CN" sz="2400" dirty="0"/>
              <a:t>R=1;S=0; #50;</a:t>
            </a:r>
          </a:p>
          <a:p>
            <a:pPr marL="0" indent="0">
              <a:buNone/>
            </a:pPr>
            <a:r>
              <a:rPr lang="pt-BR" altLang="zh-CN" sz="2400" dirty="0" smtClean="0"/>
              <a:t>R=1;S=1; </a:t>
            </a:r>
            <a:r>
              <a:rPr lang="pt-BR" altLang="zh-CN" sz="2400" dirty="0"/>
              <a:t>#50;</a:t>
            </a:r>
          </a:p>
          <a:p>
            <a:pPr marL="0" indent="0">
              <a:buNone/>
            </a:pPr>
            <a:r>
              <a:rPr lang="pt-BR" altLang="zh-CN" sz="2400" dirty="0"/>
              <a:t>R=0;S=1; #50;</a:t>
            </a:r>
          </a:p>
          <a:p>
            <a:pPr marL="0" indent="0">
              <a:buNone/>
            </a:pPr>
            <a:r>
              <a:rPr lang="pt-BR" altLang="zh-CN" sz="2400" dirty="0" smtClean="0"/>
              <a:t>R=1;S=1; </a:t>
            </a:r>
            <a:r>
              <a:rPr lang="pt-BR" altLang="zh-CN" sz="2400" dirty="0"/>
              <a:t>#50;</a:t>
            </a:r>
          </a:p>
          <a:p>
            <a:pPr marL="0" indent="0">
              <a:buNone/>
            </a:pPr>
            <a:r>
              <a:rPr lang="pt-BR" altLang="zh-CN" sz="2400" dirty="0" smtClean="0"/>
              <a:t>R=0;S=0; </a:t>
            </a:r>
            <a:r>
              <a:rPr lang="pt-BR" altLang="zh-CN" sz="2400" dirty="0"/>
              <a:t>#50;</a:t>
            </a:r>
          </a:p>
          <a:p>
            <a:pPr marL="0" indent="0">
              <a:buNone/>
            </a:pPr>
            <a:r>
              <a:rPr lang="pt-BR" altLang="zh-CN" sz="2400" dirty="0" smtClean="0"/>
              <a:t>R=1;S=1; </a:t>
            </a:r>
            <a:r>
              <a:rPr lang="pt-BR" altLang="zh-CN" sz="2400" dirty="0"/>
              <a:t>#50;</a:t>
            </a:r>
            <a:endParaRPr lang="zh-CN" altLang="en-US" sz="2400" dirty="0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367" y="2420888"/>
            <a:ext cx="6112129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3635896" y="4565935"/>
                <a:ext cx="4596130" cy="4624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rgbClr val="FF0000"/>
                    </a:solidFill>
                  </a:rPr>
                  <a:t>要仿真出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acc>
                  </m:oMath>
                </a14:m>
                <a:r>
                  <a:rPr lang="zh-CN" altLang="en-US" sz="2400" b="1" dirty="0" smtClean="0">
                    <a:solidFill>
                      <a:srgbClr val="FF0000"/>
                    </a:solidFill>
                  </a:rPr>
                  <a:t>锁存器的未定义状态</a:t>
                </a:r>
                <a:endParaRPr lang="zh-CN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4565935"/>
                <a:ext cx="4596130" cy="462434"/>
              </a:xfrm>
              <a:prstGeom prst="rect">
                <a:avLst/>
              </a:prstGeom>
              <a:blipFill>
                <a:blip r:embed="rId4"/>
                <a:stretch>
                  <a:fillRect l="-1989" t="-15789" r="-1459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内容占位符 2"/>
          <p:cNvSpPr txBox="1">
            <a:spLocks/>
          </p:cNvSpPr>
          <p:nvPr/>
        </p:nvSpPr>
        <p:spPr>
          <a:xfrm>
            <a:off x="395536" y="1499977"/>
            <a:ext cx="8496944" cy="515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Char char="p"/>
              <a:defRPr sz="3200" b="1" kern="1200">
                <a:solidFill>
                  <a:schemeClr val="accent5">
                    <a:lumMod val="50000"/>
                  </a:schemeClr>
                </a:solidFill>
                <a:latin typeface="黑体" pitchFamily="49" charset="-122"/>
                <a:ea typeface="黑体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n"/>
              <a:defRPr sz="2800" b="1" kern="1200">
                <a:solidFill>
                  <a:schemeClr val="accent5">
                    <a:lumMod val="75000"/>
                  </a:schemeClr>
                </a:solidFill>
                <a:latin typeface="黑体" pitchFamily="49" charset="-122"/>
                <a:ea typeface="黑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p"/>
              <a:defRPr sz="2400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60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zh-CN" altLang="en-US" sz="2400" dirty="0" smtClean="0"/>
              <a:t>在</a:t>
            </a:r>
            <a:r>
              <a:rPr lang="en-US" altLang="zh-CN" sz="2400" dirty="0" smtClean="0"/>
              <a:t>Digital</a:t>
            </a:r>
            <a:r>
              <a:rPr lang="zh-CN" altLang="en-US" sz="2400" dirty="0" smtClean="0"/>
              <a:t>中画原理图，导出</a:t>
            </a:r>
            <a:r>
              <a:rPr lang="en-US" altLang="zh-CN" sz="2400" dirty="0" err="1" smtClean="0"/>
              <a:t>verilog</a:t>
            </a:r>
            <a:r>
              <a:rPr lang="zh-CN" altLang="en-US" sz="2400" dirty="0" smtClean="0"/>
              <a:t>文件后在</a:t>
            </a:r>
            <a:r>
              <a:rPr lang="en-US" altLang="zh-CN" sz="2400" dirty="0" err="1" smtClean="0"/>
              <a:t>Vivado</a:t>
            </a:r>
            <a:r>
              <a:rPr lang="zh-CN" altLang="en-US" sz="2400" dirty="0" smtClean="0"/>
              <a:t>中仿真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03362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门控</a:t>
            </a:r>
            <a:r>
              <a:rPr lang="en-US" altLang="zh-CN" dirty="0"/>
              <a:t>SR</a:t>
            </a:r>
            <a:r>
              <a:rPr lang="zh-CN" altLang="en-US" dirty="0"/>
              <a:t>锁存器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0738925"/>
              </p:ext>
            </p:extLst>
          </p:nvPr>
        </p:nvGraphicFramePr>
        <p:xfrm>
          <a:off x="251520" y="2276872"/>
          <a:ext cx="4101187" cy="2880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0" name="Visio" r:id="rId3" imgW="1245715" imgH="876169" progId="Visio.Drawing.11">
                  <p:embed/>
                </p:oleObj>
              </mc:Choice>
              <mc:Fallback>
                <p:oleObj name="Visio" r:id="rId3" imgW="1245715" imgH="876169" progId="Visio.Drawing.11">
                  <p:embed/>
                  <p:pic>
                    <p:nvPicPr>
                      <p:cNvPr id="0" name="带有使能的RS触发器电路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2276872"/>
                        <a:ext cx="4101187" cy="2880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带有使能的RS触发器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826576"/>
              </p:ext>
            </p:extLst>
          </p:nvPr>
        </p:nvGraphicFramePr>
        <p:xfrm>
          <a:off x="4716016" y="1556792"/>
          <a:ext cx="4164977" cy="22250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481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3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C R S</a:t>
                      </a:r>
                      <a:endParaRPr lang="zh-CN" altLang="en-US" i="1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Q Q</a:t>
                      </a:r>
                      <a:endParaRPr lang="zh-CN" altLang="en-US" i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说明</a:t>
                      </a: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0××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Q Q</a:t>
                      </a:r>
                      <a:endParaRPr lang="zh-CN" altLang="en-US" b="1" i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保持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1 0 0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Q Q</a:t>
                      </a:r>
                      <a:endParaRPr lang="zh-CN" altLang="en-US" b="1" i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保持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1 0 1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1 0</a:t>
                      </a:r>
                      <a:endParaRPr lang="zh-CN" altLang="en-US" b="1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置</a:t>
                      </a:r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1 1 0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0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0 1</a:t>
                      </a:r>
                      <a:endParaRPr lang="zh-CN" altLang="en-US" b="1" i="0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置</a:t>
                      </a:r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1 1 1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1 1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未定义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3362976"/>
              </p:ext>
            </p:extLst>
          </p:nvPr>
        </p:nvGraphicFramePr>
        <p:xfrm>
          <a:off x="4788024" y="4427314"/>
          <a:ext cx="4118717" cy="1737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1" name="Visio" r:id="rId5" imgW="1135276" imgH="478878" progId="Visio.Drawing.11">
                  <p:embed/>
                </p:oleObj>
              </mc:Choice>
              <mc:Fallback>
                <p:oleObj name="Visio" r:id="rId5" imgW="1135276" imgH="478878" progId="Visio.Drawing.11">
                  <p:embed/>
                  <p:pic>
                    <p:nvPicPr>
                      <p:cNvPr id="0" name="带有使能的RS触发器符号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4427314"/>
                        <a:ext cx="4118717" cy="17379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1643118" y="5111643"/>
                <a:ext cx="13179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𝑪𝑺𝑹</m:t>
                    </m:r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</a:rPr>
                  <a:t>锁存器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3118" y="5111643"/>
                <a:ext cx="1317990" cy="369332"/>
              </a:xfrm>
              <a:prstGeom prst="rect">
                <a:avLst/>
              </a:prstGeom>
              <a:blipFill>
                <a:blip r:embed="rId7"/>
                <a:stretch>
                  <a:fillRect t="-15000" r="-4167" b="-2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8450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门控</a:t>
            </a:r>
            <a:r>
              <a:rPr lang="en-US" altLang="zh-CN" dirty="0"/>
              <a:t>SR</a:t>
            </a:r>
            <a:r>
              <a:rPr lang="zh-CN" altLang="en-US" dirty="0"/>
              <a:t>锁存器仿真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907704" y="5229200"/>
                <a:ext cx="47884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rgbClr val="FF0000"/>
                    </a:solidFill>
                  </a:rPr>
                  <a:t>要仿真出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𝑪𝑺𝑹</m:t>
                    </m:r>
                  </m:oMath>
                </a14:m>
                <a:r>
                  <a:rPr lang="zh-CN" altLang="en-US" sz="2400" b="1" dirty="0" smtClean="0">
                    <a:solidFill>
                      <a:srgbClr val="FF0000"/>
                    </a:solidFill>
                  </a:rPr>
                  <a:t>锁存器的未定义状态</a:t>
                </a:r>
                <a:endParaRPr lang="zh-CN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5229200"/>
                <a:ext cx="4788490" cy="461665"/>
              </a:xfrm>
              <a:prstGeom prst="rect">
                <a:avLst/>
              </a:prstGeom>
              <a:blipFill>
                <a:blip r:embed="rId2"/>
                <a:stretch>
                  <a:fillRect l="-2038" t="-15789" r="-1401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060848"/>
            <a:ext cx="8057143" cy="214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646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r>
              <a:rPr lang="zh-CN" altLang="en-US" dirty="0"/>
              <a:t>锁存器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32859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sz="3500" dirty="0"/>
              <a:t>基本</a:t>
            </a:r>
            <a:r>
              <a:rPr lang="en-US" altLang="zh-CN" sz="3500" dirty="0"/>
              <a:t>SR</a:t>
            </a:r>
            <a:r>
              <a:rPr lang="zh-CN" altLang="en-US" sz="3500" dirty="0"/>
              <a:t>锁存器缺点：存在不确定状态 </a:t>
            </a:r>
          </a:p>
          <a:p>
            <a:pPr>
              <a:lnSpc>
                <a:spcPct val="120000"/>
              </a:lnSpc>
            </a:pPr>
            <a:r>
              <a:rPr lang="zh-CN" altLang="en-US" sz="3500" dirty="0"/>
              <a:t>解决方法：消除不确定状态</a:t>
            </a:r>
          </a:p>
          <a:p>
            <a:pPr>
              <a:lnSpc>
                <a:spcPct val="120000"/>
              </a:lnSpc>
            </a:pPr>
            <a:endParaRPr lang="en-US" altLang="zh-CN" sz="3500" dirty="0"/>
          </a:p>
          <a:p>
            <a:pPr>
              <a:lnSpc>
                <a:spcPct val="120000"/>
              </a:lnSpc>
            </a:pPr>
            <a:endParaRPr lang="en-US" altLang="zh-CN" sz="3500" dirty="0"/>
          </a:p>
          <a:p>
            <a:pPr>
              <a:lnSpc>
                <a:spcPct val="120000"/>
              </a:lnSpc>
            </a:pPr>
            <a:endParaRPr lang="en-US" altLang="zh-CN" sz="3500" dirty="0"/>
          </a:p>
          <a:p>
            <a:pPr>
              <a:lnSpc>
                <a:spcPct val="120000"/>
              </a:lnSpc>
            </a:pPr>
            <a:endParaRPr lang="en-US" altLang="zh-CN" sz="3500" dirty="0"/>
          </a:p>
          <a:p>
            <a:pPr lvl="0"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3500" dirty="0"/>
              <a:t>只需</a:t>
            </a:r>
            <a:r>
              <a:rPr lang="en-US" altLang="zh-CN" sz="3500" dirty="0"/>
              <a:t>1</a:t>
            </a:r>
            <a:r>
              <a:rPr lang="zh-CN" altLang="en-US" sz="3500" dirty="0"/>
              <a:t>个数据输入端 </a:t>
            </a:r>
            <a:r>
              <a:rPr lang="en-US" altLang="zh-CN" sz="3500" dirty="0"/>
              <a:t>D</a:t>
            </a:r>
          </a:p>
          <a:p>
            <a:pPr lvl="0"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3500" dirty="0"/>
              <a:t>输出端</a:t>
            </a:r>
            <a:r>
              <a:rPr lang="en-US" altLang="zh-CN" sz="3500" dirty="0"/>
              <a:t>Q</a:t>
            </a:r>
            <a:r>
              <a:rPr lang="zh-CN" altLang="en-US" sz="3500" dirty="0"/>
              <a:t>等于输入端</a:t>
            </a:r>
            <a:r>
              <a:rPr lang="en-US" altLang="zh-CN" sz="3500" dirty="0"/>
              <a:t>D</a:t>
            </a:r>
          </a:p>
          <a:p>
            <a:pPr lvl="0"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3500" dirty="0"/>
              <a:t>采用电平控制 </a:t>
            </a:r>
            <a:r>
              <a:rPr lang="en-US" altLang="zh-CN" sz="3500" dirty="0"/>
              <a:t>C</a:t>
            </a:r>
            <a:endParaRPr lang="zh-CN" altLang="en-US" sz="3500" dirty="0"/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graphicFrame>
        <p:nvGraphicFramePr>
          <p:cNvPr id="4" name="D锁存器电路图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327576"/>
              </p:ext>
            </p:extLst>
          </p:nvPr>
        </p:nvGraphicFramePr>
        <p:xfrm>
          <a:off x="260350" y="2623170"/>
          <a:ext cx="3101975" cy="188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0" name="Visio" r:id="rId3" imgW="1463750" imgH="893905" progId="">
                  <p:embed/>
                </p:oleObj>
              </mc:Choice>
              <mc:Fallback>
                <p:oleObj name="Visio" r:id="rId3" imgW="1463750" imgH="89390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" y="2623170"/>
                        <a:ext cx="3101975" cy="188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D锁存器真值表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245891"/>
              </p:ext>
            </p:extLst>
          </p:nvPr>
        </p:nvGraphicFramePr>
        <p:xfrm>
          <a:off x="3502660" y="2800970"/>
          <a:ext cx="2225040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C D</a:t>
                      </a:r>
                      <a:endParaRPr lang="zh-CN" altLang="en-US" i="1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Q Q</a:t>
                      </a:r>
                      <a:endParaRPr lang="zh-CN" altLang="en-US" i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说明</a:t>
                      </a: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 ×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Q </a:t>
                      </a:r>
                      <a:r>
                        <a:rPr lang="en-US" altLang="zh-CN" b="1" i="1" baseline="0" dirty="0" err="1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Q</a:t>
                      </a:r>
                      <a:endParaRPr lang="zh-CN" altLang="en-US" b="1" i="1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保持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1 0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0 1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置</a:t>
                      </a:r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1 1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1 0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置</a:t>
                      </a:r>
                      <a:r>
                        <a:rPr lang="en-US" altLang="zh-CN" b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="1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D锁存器符号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5935634"/>
              </p:ext>
            </p:extLst>
          </p:nvPr>
        </p:nvGraphicFramePr>
        <p:xfrm>
          <a:off x="5795842" y="2845420"/>
          <a:ext cx="3265608" cy="137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1" name="Visio" r:id="rId5" imgW="1135176" imgH="479028" progId="Visio.Drawing.11">
                  <p:embed/>
                </p:oleObj>
              </mc:Choice>
              <mc:Fallback>
                <p:oleObj name="Visio" r:id="rId5" imgW="1135176" imgH="47902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842" y="2845420"/>
                        <a:ext cx="3265608" cy="1377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0384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r>
              <a:rPr lang="zh-CN" altLang="en-US" dirty="0"/>
              <a:t>锁存器仿真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62" y="2052637"/>
            <a:ext cx="768667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943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锁存器的空翻现象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256584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D</a:t>
            </a:r>
            <a:r>
              <a:rPr lang="zh-CN" altLang="en-US" sz="2800" dirty="0"/>
              <a:t>锁存器的缺点：存在</a:t>
            </a:r>
            <a:r>
              <a:rPr lang="zh-CN" altLang="en-US" sz="2800" dirty="0">
                <a:solidFill>
                  <a:srgbClr val="FF0000"/>
                </a:solidFill>
              </a:rPr>
              <a:t>空翻</a:t>
            </a:r>
            <a:r>
              <a:rPr lang="zh-CN" altLang="en-US" sz="2800" dirty="0"/>
              <a:t>现象</a:t>
            </a:r>
            <a:r>
              <a:rPr lang="en-US" altLang="zh-CN" sz="2800" dirty="0"/>
              <a:t>——</a:t>
            </a:r>
            <a:r>
              <a:rPr lang="zh-CN" altLang="en-US" sz="2800" dirty="0"/>
              <a:t>如果</a:t>
            </a:r>
            <a:r>
              <a:rPr lang="en-US" altLang="zh-CN" sz="2800" dirty="0"/>
              <a:t>D</a:t>
            </a:r>
            <a:r>
              <a:rPr lang="zh-CN" altLang="en-US" sz="2800" dirty="0"/>
              <a:t>锁存器直接用在时序电路中作为状态存储元件，当使能控制信号有效时，会导致该元件内部的状态值随时多次改变，而不是保持所需的原始状态值</a:t>
            </a:r>
          </a:p>
          <a:p>
            <a:r>
              <a:rPr lang="zh-CN" altLang="en-US" sz="2800" dirty="0"/>
              <a:t>解决方法：消除空翻现象，使每次触发仅使锁存器的内部状态仅改变一次</a:t>
            </a:r>
          </a:p>
          <a:p>
            <a:endParaRPr lang="en-US" altLang="zh-CN" sz="2800" dirty="0" smtClean="0"/>
          </a:p>
          <a:p>
            <a:r>
              <a:rPr lang="zh-CN" altLang="en-US" sz="2800" dirty="0" smtClean="0"/>
              <a:t>如何搭建电路，在仿真时验证锁存器的空翻现象？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50602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锁存器的空翻现象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2492896"/>
            <a:ext cx="5864640" cy="2880320"/>
          </a:xfrm>
          <a:prstGeom prst="rect">
            <a:avLst/>
          </a:prstGeom>
        </p:spPr>
      </p:pic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1152128"/>
          </a:xfrm>
        </p:spPr>
        <p:txBody>
          <a:bodyPr>
            <a:normAutofit/>
          </a:bodyPr>
          <a:lstStyle/>
          <a:p>
            <a:r>
              <a:rPr lang="zh-CN" altLang="en-US" sz="2800" dirty="0" smtClean="0"/>
              <a:t>参考的空翻现象测试电路图，在</a:t>
            </a:r>
            <a:r>
              <a:rPr lang="en-US" altLang="zh-CN" sz="2800" dirty="0" smtClean="0"/>
              <a:t>EN</a:t>
            </a:r>
            <a:r>
              <a:rPr lang="zh-CN" altLang="en-US" sz="2800" dirty="0" smtClean="0"/>
              <a:t>为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时观察</a:t>
            </a:r>
            <a:r>
              <a:rPr lang="en-US" altLang="zh-CN" sz="2800" dirty="0" err="1" smtClean="0"/>
              <a:t>Vivado</a:t>
            </a:r>
            <a:r>
              <a:rPr lang="zh-CN" altLang="en-US" sz="2800" dirty="0" smtClean="0"/>
              <a:t>仿真行为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99107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触发器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3573165"/>
            <a:ext cx="122555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触发器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38350" y="3039765"/>
            <a:ext cx="226695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主从触发器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38350" y="4109185"/>
            <a:ext cx="186690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边沿触发器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6464" y="3977062"/>
            <a:ext cx="39560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2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利用直流反馈原理（维持阻塞）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76464" y="4384097"/>
            <a:ext cx="3533763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2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利用内部电路延迟时间不同</a:t>
            </a:r>
          </a:p>
        </p:txBody>
      </p:sp>
      <p:sp>
        <p:nvSpPr>
          <p:cNvPr id="9" name="圆角矩形标注 8"/>
          <p:cNvSpPr/>
          <p:nvPr/>
        </p:nvSpPr>
        <p:spPr>
          <a:xfrm>
            <a:off x="4060446" y="2806973"/>
            <a:ext cx="4912003" cy="994044"/>
          </a:xfrm>
          <a:prstGeom prst="wedgeRoundRectCallout">
            <a:avLst>
              <a:gd name="adj1" fmla="val -53736"/>
              <a:gd name="adj2" fmla="val 5484"/>
              <a:gd name="adj3" fmla="val 16667"/>
            </a:avLst>
          </a:prstGeom>
          <a:noFill/>
          <a:ln w="12700">
            <a:solidFill>
              <a:schemeClr val="accent3">
                <a:lumMod val="75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zh-CN" altLang="en-US" sz="2200" b="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用</a:t>
            </a:r>
            <a:r>
              <a:rPr lang="zh-CN" altLang="en-US" sz="2200" b="1" dirty="0">
                <a:solidFill>
                  <a:srgbClr val="FF0000"/>
                </a:solidFill>
              </a:rPr>
              <a:t>两个锁存器</a:t>
            </a:r>
            <a:r>
              <a:rPr lang="zh-CN" altLang="en-US" sz="2200" b="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，主锁存器在脉冲控制下</a:t>
            </a:r>
            <a:r>
              <a:rPr lang="zh-CN" altLang="en-US" sz="2200" b="1" dirty="0">
                <a:solidFill>
                  <a:srgbClr val="000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接收</a:t>
            </a:r>
            <a:r>
              <a:rPr lang="zh-CN" altLang="en-US" sz="2200" b="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输入数据，从锁存器在脉冲结束后</a:t>
            </a:r>
            <a:r>
              <a:rPr lang="zh-CN" altLang="en-US" sz="2200" b="1" dirty="0">
                <a:solidFill>
                  <a:srgbClr val="000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改变并保持状态</a:t>
            </a:r>
            <a:r>
              <a:rPr lang="zh-CN" altLang="en-US" sz="2200" b="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。</a:t>
            </a:r>
          </a:p>
        </p:txBody>
      </p:sp>
      <p:sp>
        <p:nvSpPr>
          <p:cNvPr id="10" name="圆角矩形标注 9"/>
          <p:cNvSpPr/>
          <p:nvPr/>
        </p:nvSpPr>
        <p:spPr>
          <a:xfrm>
            <a:off x="107504" y="4759684"/>
            <a:ext cx="3664396" cy="761232"/>
          </a:xfrm>
          <a:prstGeom prst="wedgeRoundRectCallout">
            <a:avLst>
              <a:gd name="adj1" fmla="val 33571"/>
              <a:gd name="adj2" fmla="val -81439"/>
              <a:gd name="adj3" fmla="val 16667"/>
            </a:avLst>
          </a:prstGeom>
          <a:noFill/>
          <a:ln w="12700">
            <a:solidFill>
              <a:schemeClr val="accent3">
                <a:lumMod val="75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>
            <a:noAutofit/>
          </a:bodyPr>
          <a:lstStyle/>
          <a:p>
            <a:r>
              <a:rPr lang="zh-CN" altLang="en-US" sz="2200" b="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利用时钟上升沿或下降沿变换状态，其他时间保持状态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889" y="5589397"/>
            <a:ext cx="8229600" cy="8863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新宋体" pitchFamily="49" charset="-122"/>
              </a:rPr>
              <a:t>常见的触发器有：主从</a:t>
            </a:r>
            <a:r>
              <a:rPr lang="en-US" altLang="zh-CN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新宋体" pitchFamily="49" charset="-122"/>
              </a:rPr>
              <a:t>SR</a:t>
            </a:r>
            <a:r>
              <a:rPr lang="zh-CN" altLang="en-US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新宋体" pitchFamily="49" charset="-122"/>
              </a:rPr>
              <a:t>触发器、</a:t>
            </a:r>
            <a:r>
              <a:rPr lang="en-US" altLang="zh-CN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新宋体" pitchFamily="49" charset="-122"/>
              </a:rPr>
              <a:t>D</a:t>
            </a:r>
            <a:r>
              <a:rPr lang="zh-CN" altLang="en-US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新宋体" pitchFamily="49" charset="-122"/>
              </a:rPr>
              <a:t>触发器、</a:t>
            </a:r>
            <a:r>
              <a:rPr lang="en-US" altLang="zh-CN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新宋体" pitchFamily="49" charset="-122"/>
              </a:rPr>
              <a:t>JK</a:t>
            </a:r>
            <a:r>
              <a:rPr lang="zh-CN" altLang="en-US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新宋体" pitchFamily="49" charset="-122"/>
              </a:rPr>
              <a:t>触发器、</a:t>
            </a:r>
            <a:r>
              <a:rPr lang="en-US" altLang="zh-CN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新宋体" pitchFamily="49" charset="-122"/>
              </a:rPr>
              <a:t>T</a:t>
            </a:r>
            <a:r>
              <a:rPr lang="zh-CN" altLang="en-US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ea typeface="新宋体" pitchFamily="49" charset="-122"/>
              </a:rPr>
              <a:t>触发器</a:t>
            </a:r>
          </a:p>
        </p:txBody>
      </p:sp>
      <p:cxnSp>
        <p:nvCxnSpPr>
          <p:cNvPr id="12" name="肘形连接符 11"/>
          <p:cNvCxnSpPr/>
          <p:nvPr/>
        </p:nvCxnSpPr>
        <p:spPr>
          <a:xfrm flipV="1">
            <a:off x="1691680" y="3259262"/>
            <a:ext cx="266700" cy="533400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连接符 12"/>
          <p:cNvCxnSpPr/>
          <p:nvPr/>
        </p:nvCxnSpPr>
        <p:spPr>
          <a:xfrm rot="10800000">
            <a:off x="1691680" y="3792662"/>
            <a:ext cx="266700" cy="536020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连接符 13"/>
          <p:cNvCxnSpPr/>
          <p:nvPr/>
        </p:nvCxnSpPr>
        <p:spPr>
          <a:xfrm flipV="1">
            <a:off x="3882648" y="4146339"/>
            <a:ext cx="355600" cy="197609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14"/>
          <p:cNvCxnSpPr/>
          <p:nvPr/>
        </p:nvCxnSpPr>
        <p:spPr>
          <a:xfrm rot="10800000">
            <a:off x="3882648" y="4343948"/>
            <a:ext cx="355600" cy="196125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256584"/>
          </a:xfrm>
        </p:spPr>
        <p:txBody>
          <a:bodyPr>
            <a:normAutofit/>
          </a:bodyPr>
          <a:lstStyle/>
          <a:p>
            <a:r>
              <a:rPr lang="zh-CN" altLang="en-US" sz="2800" dirty="0" smtClean="0">
                <a:solidFill>
                  <a:srgbClr val="FF0000"/>
                </a:solidFill>
              </a:rPr>
              <a:t>触发</a:t>
            </a:r>
            <a:r>
              <a:rPr lang="zh-CN" altLang="en-US" sz="2800" dirty="0"/>
              <a:t>：外部输入使锁存器状态改变的瞬间状态</a:t>
            </a:r>
          </a:p>
          <a:p>
            <a:r>
              <a:rPr lang="zh-CN" altLang="en-US" sz="2800" dirty="0" smtClean="0">
                <a:solidFill>
                  <a:srgbClr val="FF0000"/>
                </a:solidFill>
              </a:rPr>
              <a:t>触发器</a:t>
            </a:r>
            <a:r>
              <a:rPr lang="zh-CN" altLang="en-US" sz="2800" dirty="0" smtClean="0"/>
              <a:t>：在锁存器的基础上使每次触发仅使状态改变一次的锁存电路（双稳态）</a:t>
            </a: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42142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 animBg="1"/>
      <p:bldP spid="10" grpId="0" animBg="1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SR</a:t>
            </a:r>
            <a:r>
              <a:rPr lang="zh-CN" altLang="en-US" dirty="0"/>
              <a:t>主从触发器</a:t>
            </a:r>
          </a:p>
        </p:txBody>
      </p:sp>
      <p:grpSp>
        <p:nvGrpSpPr>
          <p:cNvPr id="4" name="Group 45"/>
          <p:cNvGrpSpPr>
            <a:grpSpLocks/>
          </p:cNvGrpSpPr>
          <p:nvPr/>
        </p:nvGrpSpPr>
        <p:grpSpPr bwMode="auto">
          <a:xfrm>
            <a:off x="1822309" y="4391513"/>
            <a:ext cx="3901819" cy="2061823"/>
            <a:chOff x="2745" y="832"/>
            <a:chExt cx="2527" cy="1240"/>
          </a:xfrm>
        </p:grpSpPr>
        <p:sp>
          <p:nvSpPr>
            <p:cNvPr id="5" name="Freeform 46"/>
            <p:cNvSpPr>
              <a:spLocks/>
            </p:cNvSpPr>
            <p:nvPr/>
          </p:nvSpPr>
          <p:spPr bwMode="auto">
            <a:xfrm>
              <a:off x="3847" y="999"/>
              <a:ext cx="441" cy="16"/>
            </a:xfrm>
            <a:custGeom>
              <a:avLst/>
              <a:gdLst>
                <a:gd name="T0" fmla="*/ 8 w 441"/>
                <a:gd name="T1" fmla="*/ 0 h 16"/>
                <a:gd name="T2" fmla="*/ 5 w 441"/>
                <a:gd name="T3" fmla="*/ 0 h 16"/>
                <a:gd name="T4" fmla="*/ 3 w 441"/>
                <a:gd name="T5" fmla="*/ 2 h 16"/>
                <a:gd name="T6" fmla="*/ 0 w 441"/>
                <a:gd name="T7" fmla="*/ 5 h 16"/>
                <a:gd name="T8" fmla="*/ 0 w 441"/>
                <a:gd name="T9" fmla="*/ 10 h 16"/>
                <a:gd name="T10" fmla="*/ 3 w 441"/>
                <a:gd name="T11" fmla="*/ 13 h 16"/>
                <a:gd name="T12" fmla="*/ 5 w 441"/>
                <a:gd name="T13" fmla="*/ 16 h 16"/>
                <a:gd name="T14" fmla="*/ 436 w 441"/>
                <a:gd name="T15" fmla="*/ 16 h 16"/>
                <a:gd name="T16" fmla="*/ 439 w 441"/>
                <a:gd name="T17" fmla="*/ 13 h 16"/>
                <a:gd name="T18" fmla="*/ 441 w 441"/>
                <a:gd name="T19" fmla="*/ 10 h 16"/>
                <a:gd name="T20" fmla="*/ 441 w 441"/>
                <a:gd name="T21" fmla="*/ 5 h 16"/>
                <a:gd name="T22" fmla="*/ 439 w 441"/>
                <a:gd name="T23" fmla="*/ 2 h 16"/>
                <a:gd name="T24" fmla="*/ 436 w 441"/>
                <a:gd name="T25" fmla="*/ 0 h 16"/>
                <a:gd name="T26" fmla="*/ 433 w 441"/>
                <a:gd name="T27" fmla="*/ 0 h 16"/>
                <a:gd name="T28" fmla="*/ 8 w 441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41" h="16">
                  <a:moveTo>
                    <a:pt x="8" y="0"/>
                  </a:move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10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436" y="16"/>
                  </a:lnTo>
                  <a:lnTo>
                    <a:pt x="439" y="13"/>
                  </a:lnTo>
                  <a:lnTo>
                    <a:pt x="441" y="10"/>
                  </a:lnTo>
                  <a:lnTo>
                    <a:pt x="441" y="5"/>
                  </a:lnTo>
                  <a:lnTo>
                    <a:pt x="439" y="2"/>
                  </a:lnTo>
                  <a:lnTo>
                    <a:pt x="436" y="0"/>
                  </a:lnTo>
                  <a:lnTo>
                    <a:pt x="433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Freeform 47"/>
            <p:cNvSpPr>
              <a:spLocks/>
            </p:cNvSpPr>
            <p:nvPr/>
          </p:nvSpPr>
          <p:spPr bwMode="auto">
            <a:xfrm>
              <a:off x="4887" y="1024"/>
              <a:ext cx="265" cy="16"/>
            </a:xfrm>
            <a:custGeom>
              <a:avLst/>
              <a:gdLst>
                <a:gd name="T0" fmla="*/ 8 w 265"/>
                <a:gd name="T1" fmla="*/ 0 h 16"/>
                <a:gd name="T2" fmla="*/ 5 w 265"/>
                <a:gd name="T3" fmla="*/ 0 h 16"/>
                <a:gd name="T4" fmla="*/ 2 w 265"/>
                <a:gd name="T5" fmla="*/ 3 h 16"/>
                <a:gd name="T6" fmla="*/ 0 w 265"/>
                <a:gd name="T7" fmla="*/ 5 h 16"/>
                <a:gd name="T8" fmla="*/ 0 w 265"/>
                <a:gd name="T9" fmla="*/ 11 h 16"/>
                <a:gd name="T10" fmla="*/ 2 w 265"/>
                <a:gd name="T11" fmla="*/ 13 h 16"/>
                <a:gd name="T12" fmla="*/ 5 w 265"/>
                <a:gd name="T13" fmla="*/ 16 h 16"/>
                <a:gd name="T14" fmla="*/ 259 w 265"/>
                <a:gd name="T15" fmla="*/ 16 h 16"/>
                <a:gd name="T16" fmla="*/ 262 w 265"/>
                <a:gd name="T17" fmla="*/ 13 h 16"/>
                <a:gd name="T18" fmla="*/ 265 w 265"/>
                <a:gd name="T19" fmla="*/ 11 h 16"/>
                <a:gd name="T20" fmla="*/ 265 w 265"/>
                <a:gd name="T21" fmla="*/ 5 h 16"/>
                <a:gd name="T22" fmla="*/ 262 w 265"/>
                <a:gd name="T23" fmla="*/ 3 h 16"/>
                <a:gd name="T24" fmla="*/ 259 w 265"/>
                <a:gd name="T25" fmla="*/ 0 h 16"/>
                <a:gd name="T26" fmla="*/ 257 w 265"/>
                <a:gd name="T27" fmla="*/ 0 h 16"/>
                <a:gd name="T28" fmla="*/ 8 w 265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5" h="16">
                  <a:moveTo>
                    <a:pt x="8" y="0"/>
                  </a:moveTo>
                  <a:lnTo>
                    <a:pt x="5" y="0"/>
                  </a:lnTo>
                  <a:lnTo>
                    <a:pt x="2" y="3"/>
                  </a:lnTo>
                  <a:lnTo>
                    <a:pt x="0" y="5"/>
                  </a:lnTo>
                  <a:lnTo>
                    <a:pt x="0" y="11"/>
                  </a:lnTo>
                  <a:lnTo>
                    <a:pt x="2" y="13"/>
                  </a:lnTo>
                  <a:lnTo>
                    <a:pt x="5" y="16"/>
                  </a:lnTo>
                  <a:lnTo>
                    <a:pt x="259" y="16"/>
                  </a:lnTo>
                  <a:lnTo>
                    <a:pt x="262" y="13"/>
                  </a:lnTo>
                  <a:lnTo>
                    <a:pt x="265" y="11"/>
                  </a:lnTo>
                  <a:lnTo>
                    <a:pt x="265" y="5"/>
                  </a:lnTo>
                  <a:lnTo>
                    <a:pt x="262" y="3"/>
                  </a:lnTo>
                  <a:lnTo>
                    <a:pt x="259" y="0"/>
                  </a:lnTo>
                  <a:lnTo>
                    <a:pt x="257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48"/>
            <p:cNvSpPr>
              <a:spLocks/>
            </p:cNvSpPr>
            <p:nvPr/>
          </p:nvSpPr>
          <p:spPr bwMode="auto">
            <a:xfrm>
              <a:off x="2882" y="975"/>
              <a:ext cx="365" cy="16"/>
            </a:xfrm>
            <a:custGeom>
              <a:avLst/>
              <a:gdLst>
                <a:gd name="T0" fmla="*/ 8 w 365"/>
                <a:gd name="T1" fmla="*/ 0 h 16"/>
                <a:gd name="T2" fmla="*/ 6 w 365"/>
                <a:gd name="T3" fmla="*/ 0 h 16"/>
                <a:gd name="T4" fmla="*/ 3 w 365"/>
                <a:gd name="T5" fmla="*/ 2 h 16"/>
                <a:gd name="T6" fmla="*/ 0 w 365"/>
                <a:gd name="T7" fmla="*/ 5 h 16"/>
                <a:gd name="T8" fmla="*/ 0 w 365"/>
                <a:gd name="T9" fmla="*/ 10 h 16"/>
                <a:gd name="T10" fmla="*/ 3 w 365"/>
                <a:gd name="T11" fmla="*/ 13 h 16"/>
                <a:gd name="T12" fmla="*/ 6 w 365"/>
                <a:gd name="T13" fmla="*/ 16 h 16"/>
                <a:gd name="T14" fmla="*/ 360 w 365"/>
                <a:gd name="T15" fmla="*/ 16 h 16"/>
                <a:gd name="T16" fmla="*/ 363 w 365"/>
                <a:gd name="T17" fmla="*/ 13 h 16"/>
                <a:gd name="T18" fmla="*/ 365 w 365"/>
                <a:gd name="T19" fmla="*/ 10 h 16"/>
                <a:gd name="T20" fmla="*/ 365 w 365"/>
                <a:gd name="T21" fmla="*/ 5 h 16"/>
                <a:gd name="T22" fmla="*/ 363 w 365"/>
                <a:gd name="T23" fmla="*/ 2 h 16"/>
                <a:gd name="T24" fmla="*/ 360 w 365"/>
                <a:gd name="T25" fmla="*/ 0 h 16"/>
                <a:gd name="T26" fmla="*/ 357 w 365"/>
                <a:gd name="T27" fmla="*/ 0 h 16"/>
                <a:gd name="T28" fmla="*/ 8 w 365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5" h="16">
                  <a:moveTo>
                    <a:pt x="8" y="0"/>
                  </a:moveTo>
                  <a:lnTo>
                    <a:pt x="6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10"/>
                  </a:lnTo>
                  <a:lnTo>
                    <a:pt x="3" y="13"/>
                  </a:lnTo>
                  <a:lnTo>
                    <a:pt x="6" y="16"/>
                  </a:lnTo>
                  <a:lnTo>
                    <a:pt x="360" y="16"/>
                  </a:lnTo>
                  <a:lnTo>
                    <a:pt x="363" y="13"/>
                  </a:lnTo>
                  <a:lnTo>
                    <a:pt x="365" y="10"/>
                  </a:lnTo>
                  <a:lnTo>
                    <a:pt x="365" y="5"/>
                  </a:lnTo>
                  <a:lnTo>
                    <a:pt x="363" y="2"/>
                  </a:lnTo>
                  <a:lnTo>
                    <a:pt x="360" y="0"/>
                  </a:lnTo>
                  <a:lnTo>
                    <a:pt x="357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49"/>
            <p:cNvSpPr>
              <a:spLocks/>
            </p:cNvSpPr>
            <p:nvPr/>
          </p:nvSpPr>
          <p:spPr bwMode="auto">
            <a:xfrm>
              <a:off x="2873" y="1449"/>
              <a:ext cx="390" cy="16"/>
            </a:xfrm>
            <a:custGeom>
              <a:avLst/>
              <a:gdLst>
                <a:gd name="T0" fmla="*/ 8 w 390"/>
                <a:gd name="T1" fmla="*/ 0 h 16"/>
                <a:gd name="T2" fmla="*/ 5 w 390"/>
                <a:gd name="T3" fmla="*/ 0 h 16"/>
                <a:gd name="T4" fmla="*/ 3 w 390"/>
                <a:gd name="T5" fmla="*/ 3 h 16"/>
                <a:gd name="T6" fmla="*/ 0 w 390"/>
                <a:gd name="T7" fmla="*/ 6 h 16"/>
                <a:gd name="T8" fmla="*/ 0 w 390"/>
                <a:gd name="T9" fmla="*/ 11 h 16"/>
                <a:gd name="T10" fmla="*/ 3 w 390"/>
                <a:gd name="T11" fmla="*/ 14 h 16"/>
                <a:gd name="T12" fmla="*/ 5 w 390"/>
                <a:gd name="T13" fmla="*/ 16 h 16"/>
                <a:gd name="T14" fmla="*/ 385 w 390"/>
                <a:gd name="T15" fmla="*/ 16 h 16"/>
                <a:gd name="T16" fmla="*/ 388 w 390"/>
                <a:gd name="T17" fmla="*/ 14 h 16"/>
                <a:gd name="T18" fmla="*/ 390 w 390"/>
                <a:gd name="T19" fmla="*/ 11 h 16"/>
                <a:gd name="T20" fmla="*/ 390 w 390"/>
                <a:gd name="T21" fmla="*/ 6 h 16"/>
                <a:gd name="T22" fmla="*/ 388 w 390"/>
                <a:gd name="T23" fmla="*/ 3 h 16"/>
                <a:gd name="T24" fmla="*/ 385 w 390"/>
                <a:gd name="T25" fmla="*/ 0 h 16"/>
                <a:gd name="T26" fmla="*/ 382 w 390"/>
                <a:gd name="T27" fmla="*/ 0 h 16"/>
                <a:gd name="T28" fmla="*/ 8 w 390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90" h="16">
                  <a:moveTo>
                    <a:pt x="8" y="0"/>
                  </a:moveTo>
                  <a:lnTo>
                    <a:pt x="5" y="0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1"/>
                  </a:lnTo>
                  <a:lnTo>
                    <a:pt x="3" y="14"/>
                  </a:lnTo>
                  <a:lnTo>
                    <a:pt x="5" y="16"/>
                  </a:lnTo>
                  <a:lnTo>
                    <a:pt x="385" y="16"/>
                  </a:lnTo>
                  <a:lnTo>
                    <a:pt x="388" y="14"/>
                  </a:lnTo>
                  <a:lnTo>
                    <a:pt x="390" y="11"/>
                  </a:lnTo>
                  <a:lnTo>
                    <a:pt x="390" y="6"/>
                  </a:lnTo>
                  <a:lnTo>
                    <a:pt x="388" y="3"/>
                  </a:lnTo>
                  <a:lnTo>
                    <a:pt x="385" y="0"/>
                  </a:lnTo>
                  <a:lnTo>
                    <a:pt x="382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50"/>
            <p:cNvSpPr>
              <a:spLocks/>
            </p:cNvSpPr>
            <p:nvPr/>
          </p:nvSpPr>
          <p:spPr bwMode="auto">
            <a:xfrm>
              <a:off x="2873" y="1224"/>
              <a:ext cx="266" cy="16"/>
            </a:xfrm>
            <a:custGeom>
              <a:avLst/>
              <a:gdLst>
                <a:gd name="T0" fmla="*/ 8 w 266"/>
                <a:gd name="T1" fmla="*/ 0 h 16"/>
                <a:gd name="T2" fmla="*/ 5 w 266"/>
                <a:gd name="T3" fmla="*/ 0 h 16"/>
                <a:gd name="T4" fmla="*/ 3 w 266"/>
                <a:gd name="T5" fmla="*/ 3 h 16"/>
                <a:gd name="T6" fmla="*/ 0 w 266"/>
                <a:gd name="T7" fmla="*/ 5 h 16"/>
                <a:gd name="T8" fmla="*/ 0 w 266"/>
                <a:gd name="T9" fmla="*/ 11 h 16"/>
                <a:gd name="T10" fmla="*/ 3 w 266"/>
                <a:gd name="T11" fmla="*/ 13 h 16"/>
                <a:gd name="T12" fmla="*/ 5 w 266"/>
                <a:gd name="T13" fmla="*/ 16 h 16"/>
                <a:gd name="T14" fmla="*/ 261 w 266"/>
                <a:gd name="T15" fmla="*/ 16 h 16"/>
                <a:gd name="T16" fmla="*/ 264 w 266"/>
                <a:gd name="T17" fmla="*/ 13 h 16"/>
                <a:gd name="T18" fmla="*/ 266 w 266"/>
                <a:gd name="T19" fmla="*/ 11 h 16"/>
                <a:gd name="T20" fmla="*/ 266 w 266"/>
                <a:gd name="T21" fmla="*/ 5 h 16"/>
                <a:gd name="T22" fmla="*/ 264 w 266"/>
                <a:gd name="T23" fmla="*/ 3 h 16"/>
                <a:gd name="T24" fmla="*/ 261 w 266"/>
                <a:gd name="T25" fmla="*/ 0 h 16"/>
                <a:gd name="T26" fmla="*/ 258 w 266"/>
                <a:gd name="T27" fmla="*/ 0 h 16"/>
                <a:gd name="T28" fmla="*/ 8 w 266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6" h="16">
                  <a:moveTo>
                    <a:pt x="8" y="0"/>
                  </a:moveTo>
                  <a:lnTo>
                    <a:pt x="5" y="0"/>
                  </a:lnTo>
                  <a:lnTo>
                    <a:pt x="3" y="3"/>
                  </a:lnTo>
                  <a:lnTo>
                    <a:pt x="0" y="5"/>
                  </a:lnTo>
                  <a:lnTo>
                    <a:pt x="0" y="11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261" y="16"/>
                  </a:lnTo>
                  <a:lnTo>
                    <a:pt x="264" y="13"/>
                  </a:lnTo>
                  <a:lnTo>
                    <a:pt x="266" y="11"/>
                  </a:lnTo>
                  <a:lnTo>
                    <a:pt x="266" y="5"/>
                  </a:lnTo>
                  <a:lnTo>
                    <a:pt x="264" y="3"/>
                  </a:lnTo>
                  <a:lnTo>
                    <a:pt x="261" y="0"/>
                  </a:lnTo>
                  <a:lnTo>
                    <a:pt x="258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51"/>
            <p:cNvSpPr>
              <a:spLocks/>
            </p:cNvSpPr>
            <p:nvPr/>
          </p:nvSpPr>
          <p:spPr bwMode="auto">
            <a:xfrm>
              <a:off x="3123" y="1224"/>
              <a:ext cx="16" cy="767"/>
            </a:xfrm>
            <a:custGeom>
              <a:avLst/>
              <a:gdLst>
                <a:gd name="T0" fmla="*/ 16 w 16"/>
                <a:gd name="T1" fmla="*/ 8 h 767"/>
                <a:gd name="T2" fmla="*/ 16 w 16"/>
                <a:gd name="T3" fmla="*/ 5 h 767"/>
                <a:gd name="T4" fmla="*/ 14 w 16"/>
                <a:gd name="T5" fmla="*/ 3 h 767"/>
                <a:gd name="T6" fmla="*/ 11 w 16"/>
                <a:gd name="T7" fmla="*/ 0 h 767"/>
                <a:gd name="T8" fmla="*/ 6 w 16"/>
                <a:gd name="T9" fmla="*/ 0 h 767"/>
                <a:gd name="T10" fmla="*/ 3 w 16"/>
                <a:gd name="T11" fmla="*/ 3 h 767"/>
                <a:gd name="T12" fmla="*/ 0 w 16"/>
                <a:gd name="T13" fmla="*/ 5 h 767"/>
                <a:gd name="T14" fmla="*/ 0 w 16"/>
                <a:gd name="T15" fmla="*/ 762 h 767"/>
                <a:gd name="T16" fmla="*/ 3 w 16"/>
                <a:gd name="T17" fmla="*/ 764 h 767"/>
                <a:gd name="T18" fmla="*/ 6 w 16"/>
                <a:gd name="T19" fmla="*/ 767 h 767"/>
                <a:gd name="T20" fmla="*/ 11 w 16"/>
                <a:gd name="T21" fmla="*/ 767 h 767"/>
                <a:gd name="T22" fmla="*/ 14 w 16"/>
                <a:gd name="T23" fmla="*/ 764 h 767"/>
                <a:gd name="T24" fmla="*/ 16 w 16"/>
                <a:gd name="T25" fmla="*/ 762 h 767"/>
                <a:gd name="T26" fmla="*/ 16 w 16"/>
                <a:gd name="T27" fmla="*/ 759 h 767"/>
                <a:gd name="T28" fmla="*/ 16 w 16"/>
                <a:gd name="T29" fmla="*/ 8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" h="767">
                  <a:moveTo>
                    <a:pt x="16" y="8"/>
                  </a:moveTo>
                  <a:lnTo>
                    <a:pt x="16" y="5"/>
                  </a:lnTo>
                  <a:lnTo>
                    <a:pt x="14" y="3"/>
                  </a:lnTo>
                  <a:lnTo>
                    <a:pt x="11" y="0"/>
                  </a:lnTo>
                  <a:lnTo>
                    <a:pt x="6" y="0"/>
                  </a:lnTo>
                  <a:lnTo>
                    <a:pt x="3" y="3"/>
                  </a:lnTo>
                  <a:lnTo>
                    <a:pt x="0" y="5"/>
                  </a:lnTo>
                  <a:lnTo>
                    <a:pt x="0" y="762"/>
                  </a:lnTo>
                  <a:lnTo>
                    <a:pt x="3" y="764"/>
                  </a:lnTo>
                  <a:lnTo>
                    <a:pt x="6" y="767"/>
                  </a:lnTo>
                  <a:lnTo>
                    <a:pt x="11" y="767"/>
                  </a:lnTo>
                  <a:lnTo>
                    <a:pt x="14" y="764"/>
                  </a:lnTo>
                  <a:lnTo>
                    <a:pt x="16" y="762"/>
                  </a:lnTo>
                  <a:lnTo>
                    <a:pt x="16" y="759"/>
                  </a:lnTo>
                  <a:lnTo>
                    <a:pt x="16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52"/>
            <p:cNvSpPr>
              <a:spLocks/>
            </p:cNvSpPr>
            <p:nvPr/>
          </p:nvSpPr>
          <p:spPr bwMode="auto">
            <a:xfrm>
              <a:off x="3123" y="1975"/>
              <a:ext cx="491" cy="16"/>
            </a:xfrm>
            <a:custGeom>
              <a:avLst/>
              <a:gdLst>
                <a:gd name="T0" fmla="*/ 8 w 491"/>
                <a:gd name="T1" fmla="*/ 0 h 16"/>
                <a:gd name="T2" fmla="*/ 6 w 491"/>
                <a:gd name="T3" fmla="*/ 0 h 16"/>
                <a:gd name="T4" fmla="*/ 3 w 491"/>
                <a:gd name="T5" fmla="*/ 3 h 16"/>
                <a:gd name="T6" fmla="*/ 0 w 491"/>
                <a:gd name="T7" fmla="*/ 5 h 16"/>
                <a:gd name="T8" fmla="*/ 0 w 491"/>
                <a:gd name="T9" fmla="*/ 11 h 16"/>
                <a:gd name="T10" fmla="*/ 3 w 491"/>
                <a:gd name="T11" fmla="*/ 13 h 16"/>
                <a:gd name="T12" fmla="*/ 6 w 491"/>
                <a:gd name="T13" fmla="*/ 16 h 16"/>
                <a:gd name="T14" fmla="*/ 486 w 491"/>
                <a:gd name="T15" fmla="*/ 16 h 16"/>
                <a:gd name="T16" fmla="*/ 488 w 491"/>
                <a:gd name="T17" fmla="*/ 13 h 16"/>
                <a:gd name="T18" fmla="*/ 491 w 491"/>
                <a:gd name="T19" fmla="*/ 11 h 16"/>
                <a:gd name="T20" fmla="*/ 491 w 491"/>
                <a:gd name="T21" fmla="*/ 5 h 16"/>
                <a:gd name="T22" fmla="*/ 488 w 491"/>
                <a:gd name="T23" fmla="*/ 3 h 16"/>
                <a:gd name="T24" fmla="*/ 486 w 491"/>
                <a:gd name="T25" fmla="*/ 0 h 16"/>
                <a:gd name="T26" fmla="*/ 483 w 491"/>
                <a:gd name="T27" fmla="*/ 0 h 16"/>
                <a:gd name="T28" fmla="*/ 8 w 491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91" h="16">
                  <a:moveTo>
                    <a:pt x="8" y="0"/>
                  </a:moveTo>
                  <a:lnTo>
                    <a:pt x="6" y="0"/>
                  </a:lnTo>
                  <a:lnTo>
                    <a:pt x="3" y="3"/>
                  </a:lnTo>
                  <a:lnTo>
                    <a:pt x="0" y="5"/>
                  </a:lnTo>
                  <a:lnTo>
                    <a:pt x="0" y="11"/>
                  </a:lnTo>
                  <a:lnTo>
                    <a:pt x="3" y="13"/>
                  </a:lnTo>
                  <a:lnTo>
                    <a:pt x="6" y="16"/>
                  </a:lnTo>
                  <a:lnTo>
                    <a:pt x="486" y="16"/>
                  </a:lnTo>
                  <a:lnTo>
                    <a:pt x="488" y="13"/>
                  </a:lnTo>
                  <a:lnTo>
                    <a:pt x="491" y="11"/>
                  </a:lnTo>
                  <a:lnTo>
                    <a:pt x="491" y="5"/>
                  </a:lnTo>
                  <a:lnTo>
                    <a:pt x="488" y="3"/>
                  </a:lnTo>
                  <a:lnTo>
                    <a:pt x="486" y="0"/>
                  </a:lnTo>
                  <a:lnTo>
                    <a:pt x="483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53"/>
            <p:cNvSpPr>
              <a:spLocks/>
            </p:cNvSpPr>
            <p:nvPr/>
          </p:nvSpPr>
          <p:spPr bwMode="auto">
            <a:xfrm flipV="1">
              <a:off x="3829" y="1973"/>
              <a:ext cx="259" cy="21"/>
            </a:xfrm>
            <a:custGeom>
              <a:avLst/>
              <a:gdLst>
                <a:gd name="T0" fmla="*/ 8 w 141"/>
                <a:gd name="T1" fmla="*/ 0 h 16"/>
                <a:gd name="T2" fmla="*/ 5 w 141"/>
                <a:gd name="T3" fmla="*/ 0 h 16"/>
                <a:gd name="T4" fmla="*/ 3 w 141"/>
                <a:gd name="T5" fmla="*/ 3 h 16"/>
                <a:gd name="T6" fmla="*/ 0 w 141"/>
                <a:gd name="T7" fmla="*/ 5 h 16"/>
                <a:gd name="T8" fmla="*/ 0 w 141"/>
                <a:gd name="T9" fmla="*/ 11 h 16"/>
                <a:gd name="T10" fmla="*/ 3 w 141"/>
                <a:gd name="T11" fmla="*/ 13 h 16"/>
                <a:gd name="T12" fmla="*/ 5 w 141"/>
                <a:gd name="T13" fmla="*/ 16 h 16"/>
                <a:gd name="T14" fmla="*/ 136 w 141"/>
                <a:gd name="T15" fmla="*/ 16 h 16"/>
                <a:gd name="T16" fmla="*/ 139 w 141"/>
                <a:gd name="T17" fmla="*/ 13 h 16"/>
                <a:gd name="T18" fmla="*/ 141 w 141"/>
                <a:gd name="T19" fmla="*/ 11 h 16"/>
                <a:gd name="T20" fmla="*/ 141 w 141"/>
                <a:gd name="T21" fmla="*/ 5 h 16"/>
                <a:gd name="T22" fmla="*/ 139 w 141"/>
                <a:gd name="T23" fmla="*/ 3 h 16"/>
                <a:gd name="T24" fmla="*/ 136 w 141"/>
                <a:gd name="T25" fmla="*/ 0 h 16"/>
                <a:gd name="T26" fmla="*/ 133 w 141"/>
                <a:gd name="T27" fmla="*/ 0 h 16"/>
                <a:gd name="T28" fmla="*/ 8 w 141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1" h="16">
                  <a:moveTo>
                    <a:pt x="8" y="0"/>
                  </a:moveTo>
                  <a:lnTo>
                    <a:pt x="5" y="0"/>
                  </a:lnTo>
                  <a:lnTo>
                    <a:pt x="3" y="3"/>
                  </a:lnTo>
                  <a:lnTo>
                    <a:pt x="0" y="5"/>
                  </a:lnTo>
                  <a:lnTo>
                    <a:pt x="0" y="11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136" y="16"/>
                  </a:lnTo>
                  <a:lnTo>
                    <a:pt x="139" y="13"/>
                  </a:lnTo>
                  <a:lnTo>
                    <a:pt x="141" y="11"/>
                  </a:lnTo>
                  <a:lnTo>
                    <a:pt x="141" y="5"/>
                  </a:lnTo>
                  <a:lnTo>
                    <a:pt x="139" y="3"/>
                  </a:lnTo>
                  <a:lnTo>
                    <a:pt x="136" y="0"/>
                  </a:lnTo>
                  <a:lnTo>
                    <a:pt x="133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54"/>
            <p:cNvSpPr>
              <a:spLocks/>
            </p:cNvSpPr>
            <p:nvPr/>
          </p:nvSpPr>
          <p:spPr bwMode="auto">
            <a:xfrm>
              <a:off x="4072" y="1249"/>
              <a:ext cx="16" cy="742"/>
            </a:xfrm>
            <a:custGeom>
              <a:avLst/>
              <a:gdLst>
                <a:gd name="T0" fmla="*/ 0 w 16"/>
                <a:gd name="T1" fmla="*/ 734 h 742"/>
                <a:gd name="T2" fmla="*/ 0 w 16"/>
                <a:gd name="T3" fmla="*/ 737 h 742"/>
                <a:gd name="T4" fmla="*/ 3 w 16"/>
                <a:gd name="T5" fmla="*/ 739 h 742"/>
                <a:gd name="T6" fmla="*/ 6 w 16"/>
                <a:gd name="T7" fmla="*/ 742 h 742"/>
                <a:gd name="T8" fmla="*/ 11 w 16"/>
                <a:gd name="T9" fmla="*/ 742 h 742"/>
                <a:gd name="T10" fmla="*/ 14 w 16"/>
                <a:gd name="T11" fmla="*/ 739 h 742"/>
                <a:gd name="T12" fmla="*/ 16 w 16"/>
                <a:gd name="T13" fmla="*/ 737 h 742"/>
                <a:gd name="T14" fmla="*/ 16 w 16"/>
                <a:gd name="T15" fmla="*/ 6 h 742"/>
                <a:gd name="T16" fmla="*/ 14 w 16"/>
                <a:gd name="T17" fmla="*/ 3 h 742"/>
                <a:gd name="T18" fmla="*/ 11 w 16"/>
                <a:gd name="T19" fmla="*/ 0 h 742"/>
                <a:gd name="T20" fmla="*/ 6 w 16"/>
                <a:gd name="T21" fmla="*/ 0 h 742"/>
                <a:gd name="T22" fmla="*/ 3 w 16"/>
                <a:gd name="T23" fmla="*/ 3 h 742"/>
                <a:gd name="T24" fmla="*/ 0 w 16"/>
                <a:gd name="T25" fmla="*/ 6 h 742"/>
                <a:gd name="T26" fmla="*/ 0 w 16"/>
                <a:gd name="T27" fmla="*/ 8 h 742"/>
                <a:gd name="T28" fmla="*/ 0 w 16"/>
                <a:gd name="T29" fmla="*/ 734 h 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" h="742">
                  <a:moveTo>
                    <a:pt x="0" y="734"/>
                  </a:moveTo>
                  <a:lnTo>
                    <a:pt x="0" y="737"/>
                  </a:lnTo>
                  <a:lnTo>
                    <a:pt x="3" y="739"/>
                  </a:lnTo>
                  <a:lnTo>
                    <a:pt x="6" y="742"/>
                  </a:lnTo>
                  <a:lnTo>
                    <a:pt x="11" y="742"/>
                  </a:lnTo>
                  <a:lnTo>
                    <a:pt x="14" y="739"/>
                  </a:lnTo>
                  <a:lnTo>
                    <a:pt x="16" y="737"/>
                  </a:lnTo>
                  <a:lnTo>
                    <a:pt x="16" y="6"/>
                  </a:lnTo>
                  <a:lnTo>
                    <a:pt x="14" y="3"/>
                  </a:lnTo>
                  <a:lnTo>
                    <a:pt x="11" y="0"/>
                  </a:lnTo>
                  <a:lnTo>
                    <a:pt x="6" y="0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7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55"/>
            <p:cNvSpPr>
              <a:spLocks/>
            </p:cNvSpPr>
            <p:nvPr/>
          </p:nvSpPr>
          <p:spPr bwMode="auto">
            <a:xfrm>
              <a:off x="4072" y="1249"/>
              <a:ext cx="216" cy="16"/>
            </a:xfrm>
            <a:custGeom>
              <a:avLst/>
              <a:gdLst>
                <a:gd name="T0" fmla="*/ 8 w 216"/>
                <a:gd name="T1" fmla="*/ 0 h 16"/>
                <a:gd name="T2" fmla="*/ 6 w 216"/>
                <a:gd name="T3" fmla="*/ 0 h 16"/>
                <a:gd name="T4" fmla="*/ 3 w 216"/>
                <a:gd name="T5" fmla="*/ 3 h 16"/>
                <a:gd name="T6" fmla="*/ 0 w 216"/>
                <a:gd name="T7" fmla="*/ 6 h 16"/>
                <a:gd name="T8" fmla="*/ 0 w 216"/>
                <a:gd name="T9" fmla="*/ 11 h 16"/>
                <a:gd name="T10" fmla="*/ 3 w 216"/>
                <a:gd name="T11" fmla="*/ 14 h 16"/>
                <a:gd name="T12" fmla="*/ 6 w 216"/>
                <a:gd name="T13" fmla="*/ 16 h 16"/>
                <a:gd name="T14" fmla="*/ 211 w 216"/>
                <a:gd name="T15" fmla="*/ 16 h 16"/>
                <a:gd name="T16" fmla="*/ 214 w 216"/>
                <a:gd name="T17" fmla="*/ 14 h 16"/>
                <a:gd name="T18" fmla="*/ 216 w 216"/>
                <a:gd name="T19" fmla="*/ 11 h 16"/>
                <a:gd name="T20" fmla="*/ 216 w 216"/>
                <a:gd name="T21" fmla="*/ 6 h 16"/>
                <a:gd name="T22" fmla="*/ 214 w 216"/>
                <a:gd name="T23" fmla="*/ 3 h 16"/>
                <a:gd name="T24" fmla="*/ 211 w 216"/>
                <a:gd name="T25" fmla="*/ 0 h 16"/>
                <a:gd name="T26" fmla="*/ 208 w 216"/>
                <a:gd name="T27" fmla="*/ 0 h 16"/>
                <a:gd name="T28" fmla="*/ 8 w 216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6" h="16">
                  <a:moveTo>
                    <a:pt x="8" y="0"/>
                  </a:moveTo>
                  <a:lnTo>
                    <a:pt x="6" y="0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1"/>
                  </a:lnTo>
                  <a:lnTo>
                    <a:pt x="3" y="14"/>
                  </a:lnTo>
                  <a:lnTo>
                    <a:pt x="6" y="16"/>
                  </a:lnTo>
                  <a:lnTo>
                    <a:pt x="211" y="16"/>
                  </a:lnTo>
                  <a:lnTo>
                    <a:pt x="214" y="14"/>
                  </a:lnTo>
                  <a:lnTo>
                    <a:pt x="216" y="11"/>
                  </a:lnTo>
                  <a:lnTo>
                    <a:pt x="216" y="6"/>
                  </a:lnTo>
                  <a:lnTo>
                    <a:pt x="214" y="3"/>
                  </a:lnTo>
                  <a:lnTo>
                    <a:pt x="211" y="0"/>
                  </a:lnTo>
                  <a:lnTo>
                    <a:pt x="208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56"/>
            <p:cNvSpPr>
              <a:spLocks/>
            </p:cNvSpPr>
            <p:nvPr/>
          </p:nvSpPr>
          <p:spPr bwMode="auto">
            <a:xfrm>
              <a:off x="4280" y="857"/>
              <a:ext cx="616" cy="817"/>
            </a:xfrm>
            <a:custGeom>
              <a:avLst/>
              <a:gdLst>
                <a:gd name="T0" fmla="*/ 8 w 616"/>
                <a:gd name="T1" fmla="*/ 0 h 817"/>
                <a:gd name="T2" fmla="*/ 6 w 616"/>
                <a:gd name="T3" fmla="*/ 0 h 817"/>
                <a:gd name="T4" fmla="*/ 3 w 616"/>
                <a:gd name="T5" fmla="*/ 3 h 817"/>
                <a:gd name="T6" fmla="*/ 0 w 616"/>
                <a:gd name="T7" fmla="*/ 6 h 817"/>
                <a:gd name="T8" fmla="*/ 0 w 616"/>
                <a:gd name="T9" fmla="*/ 811 h 817"/>
                <a:gd name="T10" fmla="*/ 3 w 616"/>
                <a:gd name="T11" fmla="*/ 814 h 817"/>
                <a:gd name="T12" fmla="*/ 6 w 616"/>
                <a:gd name="T13" fmla="*/ 817 h 817"/>
                <a:gd name="T14" fmla="*/ 611 w 616"/>
                <a:gd name="T15" fmla="*/ 817 h 817"/>
                <a:gd name="T16" fmla="*/ 613 w 616"/>
                <a:gd name="T17" fmla="*/ 814 h 817"/>
                <a:gd name="T18" fmla="*/ 616 w 616"/>
                <a:gd name="T19" fmla="*/ 811 h 817"/>
                <a:gd name="T20" fmla="*/ 616 w 616"/>
                <a:gd name="T21" fmla="*/ 6 h 817"/>
                <a:gd name="T22" fmla="*/ 613 w 616"/>
                <a:gd name="T23" fmla="*/ 3 h 817"/>
                <a:gd name="T24" fmla="*/ 611 w 616"/>
                <a:gd name="T25" fmla="*/ 0 h 817"/>
                <a:gd name="T26" fmla="*/ 608 w 616"/>
                <a:gd name="T27" fmla="*/ 0 h 817"/>
                <a:gd name="T28" fmla="*/ 8 w 616"/>
                <a:gd name="T29" fmla="*/ 0 h 817"/>
                <a:gd name="T30" fmla="*/ 8 w 616"/>
                <a:gd name="T31" fmla="*/ 16 h 817"/>
                <a:gd name="T32" fmla="*/ 608 w 616"/>
                <a:gd name="T33" fmla="*/ 16 h 817"/>
                <a:gd name="T34" fmla="*/ 600 w 616"/>
                <a:gd name="T35" fmla="*/ 8 h 817"/>
                <a:gd name="T36" fmla="*/ 600 w 616"/>
                <a:gd name="T37" fmla="*/ 809 h 817"/>
                <a:gd name="T38" fmla="*/ 608 w 616"/>
                <a:gd name="T39" fmla="*/ 801 h 817"/>
                <a:gd name="T40" fmla="*/ 8 w 616"/>
                <a:gd name="T41" fmla="*/ 801 h 817"/>
                <a:gd name="T42" fmla="*/ 16 w 616"/>
                <a:gd name="T43" fmla="*/ 809 h 817"/>
                <a:gd name="T44" fmla="*/ 16 w 616"/>
                <a:gd name="T45" fmla="*/ 8 h 817"/>
                <a:gd name="T46" fmla="*/ 8 w 616"/>
                <a:gd name="T47" fmla="*/ 16 h 817"/>
                <a:gd name="T48" fmla="*/ 8 w 616"/>
                <a:gd name="T49" fmla="*/ 0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16" h="817">
                  <a:moveTo>
                    <a:pt x="8" y="0"/>
                  </a:moveTo>
                  <a:lnTo>
                    <a:pt x="6" y="0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811"/>
                  </a:lnTo>
                  <a:lnTo>
                    <a:pt x="3" y="814"/>
                  </a:lnTo>
                  <a:lnTo>
                    <a:pt x="6" y="817"/>
                  </a:lnTo>
                  <a:lnTo>
                    <a:pt x="611" y="817"/>
                  </a:lnTo>
                  <a:lnTo>
                    <a:pt x="613" y="814"/>
                  </a:lnTo>
                  <a:lnTo>
                    <a:pt x="616" y="811"/>
                  </a:lnTo>
                  <a:lnTo>
                    <a:pt x="616" y="6"/>
                  </a:lnTo>
                  <a:lnTo>
                    <a:pt x="613" y="3"/>
                  </a:lnTo>
                  <a:lnTo>
                    <a:pt x="611" y="0"/>
                  </a:lnTo>
                  <a:lnTo>
                    <a:pt x="608" y="0"/>
                  </a:lnTo>
                  <a:lnTo>
                    <a:pt x="8" y="0"/>
                  </a:lnTo>
                  <a:lnTo>
                    <a:pt x="8" y="16"/>
                  </a:lnTo>
                  <a:lnTo>
                    <a:pt x="608" y="16"/>
                  </a:lnTo>
                  <a:lnTo>
                    <a:pt x="600" y="8"/>
                  </a:lnTo>
                  <a:lnTo>
                    <a:pt x="600" y="809"/>
                  </a:lnTo>
                  <a:lnTo>
                    <a:pt x="608" y="801"/>
                  </a:lnTo>
                  <a:lnTo>
                    <a:pt x="8" y="801"/>
                  </a:lnTo>
                  <a:lnTo>
                    <a:pt x="16" y="809"/>
                  </a:lnTo>
                  <a:lnTo>
                    <a:pt x="16" y="8"/>
                  </a:lnTo>
                  <a:lnTo>
                    <a:pt x="8" y="16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Rectangle 57"/>
            <p:cNvSpPr>
              <a:spLocks noChangeArrowheads="1"/>
            </p:cNvSpPr>
            <p:nvPr/>
          </p:nvSpPr>
          <p:spPr bwMode="auto">
            <a:xfrm>
              <a:off x="4340" y="1171"/>
              <a:ext cx="74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i="0" baseline="0" dirty="0">
                  <a:solidFill>
                    <a:srgbClr val="000000"/>
                  </a:solidFill>
                  <a:ea typeface="宋体" pitchFamily="2" charset="-122"/>
                </a:rPr>
                <a:t>C</a:t>
              </a:r>
              <a:endParaRPr lang="en-US" altLang="zh-CN" sz="3200" b="0" dirty="0">
                <a:ea typeface="宋体" pitchFamily="2" charset="-122"/>
              </a:endParaRPr>
            </a:p>
          </p:txBody>
        </p:sp>
        <p:sp>
          <p:nvSpPr>
            <p:cNvPr id="17" name="Rectangle 58"/>
            <p:cNvSpPr>
              <a:spLocks noChangeArrowheads="1"/>
            </p:cNvSpPr>
            <p:nvPr/>
          </p:nvSpPr>
          <p:spPr bwMode="auto">
            <a:xfrm>
              <a:off x="4340" y="923"/>
              <a:ext cx="6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i="0" baseline="0">
                  <a:solidFill>
                    <a:srgbClr val="000000"/>
                  </a:solidFill>
                  <a:ea typeface="宋体" pitchFamily="2" charset="-122"/>
                </a:rPr>
                <a:t>S</a:t>
              </a:r>
              <a:endParaRPr lang="en-US" altLang="zh-CN" sz="3200" b="0">
                <a:ea typeface="宋体" pitchFamily="2" charset="-122"/>
              </a:endParaRPr>
            </a:p>
          </p:txBody>
        </p:sp>
        <p:sp>
          <p:nvSpPr>
            <p:cNvPr id="18" name="Rectangle 59"/>
            <p:cNvSpPr>
              <a:spLocks noChangeArrowheads="1"/>
            </p:cNvSpPr>
            <p:nvPr/>
          </p:nvSpPr>
          <p:spPr bwMode="auto">
            <a:xfrm>
              <a:off x="4348" y="1437"/>
              <a:ext cx="75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i="0" baseline="0">
                  <a:solidFill>
                    <a:srgbClr val="000000"/>
                  </a:solidFill>
                  <a:ea typeface="宋体" pitchFamily="2" charset="-122"/>
                </a:rPr>
                <a:t>R</a:t>
              </a:r>
              <a:endParaRPr lang="en-US" altLang="zh-CN" sz="3200" b="0">
                <a:ea typeface="宋体" pitchFamily="2" charset="-122"/>
              </a:endParaRPr>
            </a:p>
          </p:txBody>
        </p:sp>
        <p:sp>
          <p:nvSpPr>
            <p:cNvPr id="19" name="Rectangle 60"/>
            <p:cNvSpPr>
              <a:spLocks noChangeArrowheads="1"/>
            </p:cNvSpPr>
            <p:nvPr/>
          </p:nvSpPr>
          <p:spPr bwMode="auto">
            <a:xfrm>
              <a:off x="4739" y="971"/>
              <a:ext cx="9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i="0" baseline="0" dirty="0">
                  <a:solidFill>
                    <a:srgbClr val="000000"/>
                  </a:solidFill>
                  <a:ea typeface="宋体" pitchFamily="2" charset="-122"/>
                </a:rPr>
                <a:t>Q</a:t>
              </a:r>
              <a:endParaRPr lang="en-US" altLang="zh-CN" sz="3200" b="0" dirty="0">
                <a:ea typeface="宋体" pitchFamily="2" charset="-122"/>
              </a:endParaRPr>
            </a:p>
          </p:txBody>
        </p:sp>
        <p:sp>
          <p:nvSpPr>
            <p:cNvPr id="20" name="Rectangle 61"/>
            <p:cNvSpPr>
              <a:spLocks noChangeArrowheads="1"/>
            </p:cNvSpPr>
            <p:nvPr/>
          </p:nvSpPr>
          <p:spPr bwMode="auto">
            <a:xfrm>
              <a:off x="4739" y="1445"/>
              <a:ext cx="9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i="0" baseline="0">
                  <a:solidFill>
                    <a:srgbClr val="000000"/>
                  </a:solidFill>
                  <a:ea typeface="宋体" pitchFamily="2" charset="-122"/>
                </a:rPr>
                <a:t>Q</a:t>
              </a:r>
              <a:endParaRPr lang="en-US" altLang="zh-CN" sz="3200" b="0">
                <a:ea typeface="宋体" pitchFamily="2" charset="-122"/>
              </a:endParaRPr>
            </a:p>
          </p:txBody>
        </p:sp>
        <p:sp>
          <p:nvSpPr>
            <p:cNvPr id="21" name="Freeform 62"/>
            <p:cNvSpPr>
              <a:spLocks/>
            </p:cNvSpPr>
            <p:nvPr/>
          </p:nvSpPr>
          <p:spPr bwMode="auto">
            <a:xfrm>
              <a:off x="3251" y="832"/>
              <a:ext cx="616" cy="816"/>
            </a:xfrm>
            <a:custGeom>
              <a:avLst/>
              <a:gdLst>
                <a:gd name="T0" fmla="*/ 8 w 616"/>
                <a:gd name="T1" fmla="*/ 0 h 816"/>
                <a:gd name="T2" fmla="*/ 6 w 616"/>
                <a:gd name="T3" fmla="*/ 0 h 816"/>
                <a:gd name="T4" fmla="*/ 3 w 616"/>
                <a:gd name="T5" fmla="*/ 3 h 816"/>
                <a:gd name="T6" fmla="*/ 0 w 616"/>
                <a:gd name="T7" fmla="*/ 5 h 816"/>
                <a:gd name="T8" fmla="*/ 0 w 616"/>
                <a:gd name="T9" fmla="*/ 811 h 816"/>
                <a:gd name="T10" fmla="*/ 3 w 616"/>
                <a:gd name="T11" fmla="*/ 814 h 816"/>
                <a:gd name="T12" fmla="*/ 6 w 616"/>
                <a:gd name="T13" fmla="*/ 816 h 816"/>
                <a:gd name="T14" fmla="*/ 611 w 616"/>
                <a:gd name="T15" fmla="*/ 816 h 816"/>
                <a:gd name="T16" fmla="*/ 613 w 616"/>
                <a:gd name="T17" fmla="*/ 814 h 816"/>
                <a:gd name="T18" fmla="*/ 616 w 616"/>
                <a:gd name="T19" fmla="*/ 811 h 816"/>
                <a:gd name="T20" fmla="*/ 616 w 616"/>
                <a:gd name="T21" fmla="*/ 5 h 816"/>
                <a:gd name="T22" fmla="*/ 613 w 616"/>
                <a:gd name="T23" fmla="*/ 3 h 816"/>
                <a:gd name="T24" fmla="*/ 611 w 616"/>
                <a:gd name="T25" fmla="*/ 0 h 816"/>
                <a:gd name="T26" fmla="*/ 608 w 616"/>
                <a:gd name="T27" fmla="*/ 0 h 816"/>
                <a:gd name="T28" fmla="*/ 8 w 616"/>
                <a:gd name="T29" fmla="*/ 0 h 816"/>
                <a:gd name="T30" fmla="*/ 8 w 616"/>
                <a:gd name="T31" fmla="*/ 16 h 816"/>
                <a:gd name="T32" fmla="*/ 608 w 616"/>
                <a:gd name="T33" fmla="*/ 16 h 816"/>
                <a:gd name="T34" fmla="*/ 600 w 616"/>
                <a:gd name="T35" fmla="*/ 8 h 816"/>
                <a:gd name="T36" fmla="*/ 600 w 616"/>
                <a:gd name="T37" fmla="*/ 808 h 816"/>
                <a:gd name="T38" fmla="*/ 608 w 616"/>
                <a:gd name="T39" fmla="*/ 800 h 816"/>
                <a:gd name="T40" fmla="*/ 8 w 616"/>
                <a:gd name="T41" fmla="*/ 800 h 816"/>
                <a:gd name="T42" fmla="*/ 16 w 616"/>
                <a:gd name="T43" fmla="*/ 808 h 816"/>
                <a:gd name="T44" fmla="*/ 16 w 616"/>
                <a:gd name="T45" fmla="*/ 8 h 816"/>
                <a:gd name="T46" fmla="*/ 8 w 616"/>
                <a:gd name="T47" fmla="*/ 16 h 816"/>
                <a:gd name="T48" fmla="*/ 8 w 616"/>
                <a:gd name="T49" fmla="*/ 0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16" h="816">
                  <a:moveTo>
                    <a:pt x="8" y="0"/>
                  </a:moveTo>
                  <a:lnTo>
                    <a:pt x="6" y="0"/>
                  </a:lnTo>
                  <a:lnTo>
                    <a:pt x="3" y="3"/>
                  </a:lnTo>
                  <a:lnTo>
                    <a:pt x="0" y="5"/>
                  </a:lnTo>
                  <a:lnTo>
                    <a:pt x="0" y="811"/>
                  </a:lnTo>
                  <a:lnTo>
                    <a:pt x="3" y="814"/>
                  </a:lnTo>
                  <a:lnTo>
                    <a:pt x="6" y="816"/>
                  </a:lnTo>
                  <a:lnTo>
                    <a:pt x="611" y="816"/>
                  </a:lnTo>
                  <a:lnTo>
                    <a:pt x="613" y="814"/>
                  </a:lnTo>
                  <a:lnTo>
                    <a:pt x="616" y="811"/>
                  </a:lnTo>
                  <a:lnTo>
                    <a:pt x="616" y="5"/>
                  </a:lnTo>
                  <a:lnTo>
                    <a:pt x="613" y="3"/>
                  </a:lnTo>
                  <a:lnTo>
                    <a:pt x="611" y="0"/>
                  </a:lnTo>
                  <a:lnTo>
                    <a:pt x="608" y="0"/>
                  </a:lnTo>
                  <a:lnTo>
                    <a:pt x="8" y="0"/>
                  </a:lnTo>
                  <a:lnTo>
                    <a:pt x="8" y="16"/>
                  </a:lnTo>
                  <a:lnTo>
                    <a:pt x="608" y="16"/>
                  </a:lnTo>
                  <a:lnTo>
                    <a:pt x="600" y="8"/>
                  </a:lnTo>
                  <a:lnTo>
                    <a:pt x="600" y="808"/>
                  </a:lnTo>
                  <a:lnTo>
                    <a:pt x="608" y="800"/>
                  </a:lnTo>
                  <a:lnTo>
                    <a:pt x="8" y="800"/>
                  </a:lnTo>
                  <a:lnTo>
                    <a:pt x="16" y="808"/>
                  </a:lnTo>
                  <a:lnTo>
                    <a:pt x="16" y="8"/>
                  </a:lnTo>
                  <a:lnTo>
                    <a:pt x="8" y="16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Rectangle 63"/>
            <p:cNvSpPr>
              <a:spLocks noChangeArrowheads="1"/>
            </p:cNvSpPr>
            <p:nvPr/>
          </p:nvSpPr>
          <p:spPr bwMode="auto">
            <a:xfrm>
              <a:off x="3303" y="1155"/>
              <a:ext cx="74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i="0" baseline="0">
                  <a:solidFill>
                    <a:srgbClr val="000000"/>
                  </a:solidFill>
                  <a:ea typeface="宋体" pitchFamily="2" charset="-122"/>
                </a:rPr>
                <a:t>C</a:t>
              </a:r>
              <a:endParaRPr lang="en-US" altLang="zh-CN" sz="3200" b="0">
                <a:ea typeface="宋体" pitchFamily="2" charset="-122"/>
              </a:endParaRPr>
            </a:p>
          </p:txBody>
        </p:sp>
        <p:sp>
          <p:nvSpPr>
            <p:cNvPr id="23" name="Rectangle 64"/>
            <p:cNvSpPr>
              <a:spLocks noChangeArrowheads="1"/>
            </p:cNvSpPr>
            <p:nvPr/>
          </p:nvSpPr>
          <p:spPr bwMode="auto">
            <a:xfrm>
              <a:off x="3319" y="1380"/>
              <a:ext cx="75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i="0" baseline="0">
                  <a:solidFill>
                    <a:srgbClr val="000000"/>
                  </a:solidFill>
                  <a:ea typeface="宋体" pitchFamily="2" charset="-122"/>
                </a:rPr>
                <a:t>R</a:t>
              </a:r>
              <a:endParaRPr lang="en-US" altLang="zh-CN" sz="3200" b="0">
                <a:ea typeface="宋体" pitchFamily="2" charset="-122"/>
              </a:endParaRPr>
            </a:p>
          </p:txBody>
        </p:sp>
        <p:sp>
          <p:nvSpPr>
            <p:cNvPr id="24" name="Rectangle 65"/>
            <p:cNvSpPr>
              <a:spLocks noChangeArrowheads="1"/>
            </p:cNvSpPr>
            <p:nvPr/>
          </p:nvSpPr>
          <p:spPr bwMode="auto">
            <a:xfrm>
              <a:off x="3710" y="945"/>
              <a:ext cx="9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i="0" baseline="0">
                  <a:solidFill>
                    <a:srgbClr val="000000"/>
                  </a:solidFill>
                  <a:ea typeface="宋体" pitchFamily="2" charset="-122"/>
                </a:rPr>
                <a:t>Q</a:t>
              </a:r>
              <a:endParaRPr lang="en-US" altLang="zh-CN" sz="3200" b="0">
                <a:ea typeface="宋体" pitchFamily="2" charset="-122"/>
              </a:endParaRPr>
            </a:p>
          </p:txBody>
        </p:sp>
        <p:sp>
          <p:nvSpPr>
            <p:cNvPr id="25" name="Rectangle 66"/>
            <p:cNvSpPr>
              <a:spLocks noChangeArrowheads="1"/>
            </p:cNvSpPr>
            <p:nvPr/>
          </p:nvSpPr>
          <p:spPr bwMode="auto">
            <a:xfrm>
              <a:off x="3710" y="1420"/>
              <a:ext cx="9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i="0" baseline="0">
                  <a:solidFill>
                    <a:srgbClr val="000000"/>
                  </a:solidFill>
                  <a:ea typeface="宋体" pitchFamily="2" charset="-122"/>
                </a:rPr>
                <a:t>Q</a:t>
              </a:r>
              <a:endParaRPr lang="en-US" altLang="zh-CN" sz="3200" b="0">
                <a:ea typeface="宋体" pitchFamily="2" charset="-122"/>
              </a:endParaRPr>
            </a:p>
          </p:txBody>
        </p:sp>
        <p:sp>
          <p:nvSpPr>
            <p:cNvPr id="26" name="Freeform 67"/>
            <p:cNvSpPr>
              <a:spLocks/>
            </p:cNvSpPr>
            <p:nvPr/>
          </p:nvSpPr>
          <p:spPr bwMode="auto">
            <a:xfrm>
              <a:off x="3123" y="1224"/>
              <a:ext cx="140" cy="16"/>
            </a:xfrm>
            <a:custGeom>
              <a:avLst/>
              <a:gdLst>
                <a:gd name="T0" fmla="*/ 8 w 140"/>
                <a:gd name="T1" fmla="*/ 0 h 16"/>
                <a:gd name="T2" fmla="*/ 6 w 140"/>
                <a:gd name="T3" fmla="*/ 0 h 16"/>
                <a:gd name="T4" fmla="*/ 3 w 140"/>
                <a:gd name="T5" fmla="*/ 3 h 16"/>
                <a:gd name="T6" fmla="*/ 0 w 140"/>
                <a:gd name="T7" fmla="*/ 5 h 16"/>
                <a:gd name="T8" fmla="*/ 0 w 140"/>
                <a:gd name="T9" fmla="*/ 11 h 16"/>
                <a:gd name="T10" fmla="*/ 3 w 140"/>
                <a:gd name="T11" fmla="*/ 13 h 16"/>
                <a:gd name="T12" fmla="*/ 6 w 140"/>
                <a:gd name="T13" fmla="*/ 16 h 16"/>
                <a:gd name="T14" fmla="*/ 135 w 140"/>
                <a:gd name="T15" fmla="*/ 16 h 16"/>
                <a:gd name="T16" fmla="*/ 138 w 140"/>
                <a:gd name="T17" fmla="*/ 13 h 16"/>
                <a:gd name="T18" fmla="*/ 140 w 140"/>
                <a:gd name="T19" fmla="*/ 11 h 16"/>
                <a:gd name="T20" fmla="*/ 140 w 140"/>
                <a:gd name="T21" fmla="*/ 5 h 16"/>
                <a:gd name="T22" fmla="*/ 138 w 140"/>
                <a:gd name="T23" fmla="*/ 3 h 16"/>
                <a:gd name="T24" fmla="*/ 135 w 140"/>
                <a:gd name="T25" fmla="*/ 0 h 16"/>
                <a:gd name="T26" fmla="*/ 132 w 140"/>
                <a:gd name="T27" fmla="*/ 0 h 16"/>
                <a:gd name="T28" fmla="*/ 8 w 140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0" h="16">
                  <a:moveTo>
                    <a:pt x="8" y="0"/>
                  </a:moveTo>
                  <a:lnTo>
                    <a:pt x="6" y="0"/>
                  </a:lnTo>
                  <a:lnTo>
                    <a:pt x="3" y="3"/>
                  </a:lnTo>
                  <a:lnTo>
                    <a:pt x="0" y="5"/>
                  </a:lnTo>
                  <a:lnTo>
                    <a:pt x="0" y="11"/>
                  </a:lnTo>
                  <a:lnTo>
                    <a:pt x="3" y="13"/>
                  </a:lnTo>
                  <a:lnTo>
                    <a:pt x="6" y="16"/>
                  </a:lnTo>
                  <a:lnTo>
                    <a:pt x="135" y="16"/>
                  </a:lnTo>
                  <a:lnTo>
                    <a:pt x="138" y="13"/>
                  </a:lnTo>
                  <a:lnTo>
                    <a:pt x="140" y="11"/>
                  </a:lnTo>
                  <a:lnTo>
                    <a:pt x="140" y="5"/>
                  </a:lnTo>
                  <a:lnTo>
                    <a:pt x="138" y="3"/>
                  </a:lnTo>
                  <a:lnTo>
                    <a:pt x="135" y="0"/>
                  </a:lnTo>
                  <a:lnTo>
                    <a:pt x="132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Rectangle 68"/>
            <p:cNvSpPr>
              <a:spLocks noChangeArrowheads="1"/>
            </p:cNvSpPr>
            <p:nvPr/>
          </p:nvSpPr>
          <p:spPr bwMode="auto">
            <a:xfrm>
              <a:off x="2745" y="1139"/>
              <a:ext cx="74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i="0" baseline="0" dirty="0">
                  <a:solidFill>
                    <a:srgbClr val="000000"/>
                  </a:solidFill>
                  <a:ea typeface="宋体" pitchFamily="2" charset="-122"/>
                </a:rPr>
                <a:t>C</a:t>
              </a:r>
              <a:endParaRPr lang="en-US" altLang="zh-CN" sz="3200" b="0" dirty="0">
                <a:ea typeface="宋体" pitchFamily="2" charset="-122"/>
              </a:endParaRPr>
            </a:p>
          </p:txBody>
        </p:sp>
        <p:sp>
          <p:nvSpPr>
            <p:cNvPr id="28" name="Rectangle 69"/>
            <p:cNvSpPr>
              <a:spLocks noChangeArrowheads="1"/>
            </p:cNvSpPr>
            <p:nvPr/>
          </p:nvSpPr>
          <p:spPr bwMode="auto">
            <a:xfrm>
              <a:off x="2753" y="899"/>
              <a:ext cx="6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i="0" baseline="0">
                  <a:solidFill>
                    <a:srgbClr val="000000"/>
                  </a:solidFill>
                  <a:ea typeface="宋体" pitchFamily="2" charset="-122"/>
                </a:rPr>
                <a:t>S</a:t>
              </a:r>
              <a:endParaRPr lang="en-US" altLang="zh-CN" sz="3200" b="0">
                <a:ea typeface="宋体" pitchFamily="2" charset="-122"/>
              </a:endParaRPr>
            </a:p>
          </p:txBody>
        </p:sp>
        <p:sp>
          <p:nvSpPr>
            <p:cNvPr id="29" name="Rectangle 70"/>
            <p:cNvSpPr>
              <a:spLocks noChangeArrowheads="1"/>
            </p:cNvSpPr>
            <p:nvPr/>
          </p:nvSpPr>
          <p:spPr bwMode="auto">
            <a:xfrm>
              <a:off x="2753" y="1373"/>
              <a:ext cx="75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i="0" baseline="0">
                  <a:solidFill>
                    <a:srgbClr val="000000"/>
                  </a:solidFill>
                  <a:ea typeface="宋体" pitchFamily="2" charset="-122"/>
                </a:rPr>
                <a:t>R</a:t>
              </a:r>
              <a:endParaRPr lang="en-US" altLang="zh-CN" sz="3200" b="0">
                <a:ea typeface="宋体" pitchFamily="2" charset="-122"/>
              </a:endParaRPr>
            </a:p>
          </p:txBody>
        </p:sp>
        <p:sp>
          <p:nvSpPr>
            <p:cNvPr id="30" name="Rectangle 71"/>
            <p:cNvSpPr>
              <a:spLocks noChangeArrowheads="1"/>
            </p:cNvSpPr>
            <p:nvPr/>
          </p:nvSpPr>
          <p:spPr bwMode="auto">
            <a:xfrm>
              <a:off x="5178" y="964"/>
              <a:ext cx="9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i="0" baseline="0">
                  <a:solidFill>
                    <a:srgbClr val="000000"/>
                  </a:solidFill>
                  <a:ea typeface="宋体" pitchFamily="2" charset="-122"/>
                </a:rPr>
                <a:t>Q</a:t>
              </a:r>
              <a:endParaRPr lang="en-US" altLang="zh-CN" sz="3200" b="0">
                <a:ea typeface="宋体" pitchFamily="2" charset="-122"/>
              </a:endParaRPr>
            </a:p>
          </p:txBody>
        </p:sp>
        <p:sp>
          <p:nvSpPr>
            <p:cNvPr id="31" name="Rectangle 72"/>
            <p:cNvSpPr>
              <a:spLocks noChangeArrowheads="1"/>
            </p:cNvSpPr>
            <p:nvPr/>
          </p:nvSpPr>
          <p:spPr bwMode="auto">
            <a:xfrm>
              <a:off x="3305" y="923"/>
              <a:ext cx="6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i="0" baseline="0">
                  <a:solidFill>
                    <a:srgbClr val="000000"/>
                  </a:solidFill>
                  <a:ea typeface="宋体" pitchFamily="2" charset="-122"/>
                </a:rPr>
                <a:t>S</a:t>
              </a:r>
              <a:endParaRPr lang="en-US" altLang="zh-CN" sz="3200" b="0">
                <a:ea typeface="宋体" pitchFamily="2" charset="-122"/>
              </a:endParaRPr>
            </a:p>
          </p:txBody>
        </p:sp>
        <p:sp>
          <p:nvSpPr>
            <p:cNvPr id="32" name="Line 73"/>
            <p:cNvSpPr>
              <a:spLocks noChangeShapeType="1"/>
            </p:cNvSpPr>
            <p:nvPr/>
          </p:nvSpPr>
          <p:spPr bwMode="auto">
            <a:xfrm>
              <a:off x="3936" y="1520"/>
              <a:ext cx="3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74"/>
            <p:cNvSpPr>
              <a:spLocks noChangeShapeType="1"/>
            </p:cNvSpPr>
            <p:nvPr/>
          </p:nvSpPr>
          <p:spPr bwMode="auto">
            <a:xfrm>
              <a:off x="4968" y="1512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" name="Group 75"/>
            <p:cNvGrpSpPr>
              <a:grpSpLocks/>
            </p:cNvGrpSpPr>
            <p:nvPr/>
          </p:nvGrpSpPr>
          <p:grpSpPr bwMode="auto">
            <a:xfrm>
              <a:off x="5170" y="1439"/>
              <a:ext cx="102" cy="165"/>
              <a:chOff x="5162" y="1559"/>
              <a:chExt cx="102" cy="165"/>
            </a:xfrm>
          </p:grpSpPr>
          <p:sp>
            <p:nvSpPr>
              <p:cNvPr id="41" name="Rectangle 76"/>
              <p:cNvSpPr>
                <a:spLocks noChangeArrowheads="1"/>
              </p:cNvSpPr>
              <p:nvPr/>
            </p:nvSpPr>
            <p:spPr bwMode="auto">
              <a:xfrm>
                <a:off x="5162" y="1559"/>
                <a:ext cx="93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700" i="0" baseline="0">
                    <a:solidFill>
                      <a:srgbClr val="000000"/>
                    </a:solidFill>
                    <a:ea typeface="宋体" pitchFamily="2" charset="-122"/>
                  </a:rPr>
                  <a:t>Q</a:t>
                </a:r>
                <a:endParaRPr lang="en-US" altLang="zh-CN" sz="3200" b="0">
                  <a:ea typeface="宋体" pitchFamily="2" charset="-122"/>
                </a:endParaRPr>
              </a:p>
            </p:txBody>
          </p:sp>
          <p:sp>
            <p:nvSpPr>
              <p:cNvPr id="42" name="Line 77"/>
              <p:cNvSpPr>
                <a:spLocks noChangeShapeType="1"/>
              </p:cNvSpPr>
              <p:nvPr/>
            </p:nvSpPr>
            <p:spPr bwMode="auto">
              <a:xfrm>
                <a:off x="5168" y="1568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5" name="Group 78"/>
            <p:cNvGrpSpPr>
              <a:grpSpLocks noChangeAspect="1"/>
            </p:cNvGrpSpPr>
            <p:nvPr/>
          </p:nvGrpSpPr>
          <p:grpSpPr bwMode="auto">
            <a:xfrm>
              <a:off x="3603" y="1871"/>
              <a:ext cx="226" cy="201"/>
              <a:chOff x="1969" y="1598"/>
              <a:chExt cx="326" cy="289"/>
            </a:xfrm>
          </p:grpSpPr>
          <p:sp>
            <p:nvSpPr>
              <p:cNvPr id="39" name="AutoShape 79"/>
              <p:cNvSpPr>
                <a:spLocks noChangeAspect="1" noChangeArrowheads="1"/>
              </p:cNvSpPr>
              <p:nvPr/>
            </p:nvSpPr>
            <p:spPr bwMode="auto">
              <a:xfrm rot="5400000">
                <a:off x="1939" y="1628"/>
                <a:ext cx="289" cy="230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" name="Oval 80"/>
              <p:cNvSpPr>
                <a:spLocks noChangeAspect="1" noChangeArrowheads="1"/>
              </p:cNvSpPr>
              <p:nvPr/>
            </p:nvSpPr>
            <p:spPr bwMode="auto">
              <a:xfrm>
                <a:off x="2199" y="1699"/>
                <a:ext cx="96" cy="9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6" name="Oval 81"/>
            <p:cNvSpPr>
              <a:spLocks noChangeAspect="1" noChangeArrowheads="1"/>
            </p:cNvSpPr>
            <p:nvPr/>
          </p:nvSpPr>
          <p:spPr bwMode="auto">
            <a:xfrm>
              <a:off x="3856" y="1480"/>
              <a:ext cx="69" cy="6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Oval 82"/>
            <p:cNvSpPr>
              <a:spLocks noChangeAspect="1" noChangeArrowheads="1"/>
            </p:cNvSpPr>
            <p:nvPr/>
          </p:nvSpPr>
          <p:spPr bwMode="auto">
            <a:xfrm>
              <a:off x="4896" y="1472"/>
              <a:ext cx="69" cy="6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Oval 83"/>
            <p:cNvSpPr>
              <a:spLocks noChangeArrowheads="1"/>
            </p:cNvSpPr>
            <p:nvPr/>
          </p:nvSpPr>
          <p:spPr bwMode="auto">
            <a:xfrm>
              <a:off x="3104" y="1209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3" name="内容占位符 2"/>
          <p:cNvSpPr>
            <a:spLocks noGrp="1"/>
          </p:cNvSpPr>
          <p:nvPr>
            <p:ph idx="1"/>
          </p:nvPr>
        </p:nvSpPr>
        <p:spPr>
          <a:xfrm>
            <a:off x="457200" y="1307901"/>
            <a:ext cx="8229600" cy="4929411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由两个钟控</a:t>
            </a:r>
            <a:r>
              <a:rPr lang="en-US" altLang="zh-CN" sz="2800" dirty="0"/>
              <a:t>S-R</a:t>
            </a:r>
            <a:r>
              <a:rPr lang="zh-CN" altLang="en-US" sz="2800" dirty="0"/>
              <a:t>锁存器串联构成，第二个锁存器的时钟通过反相器取反</a:t>
            </a:r>
          </a:p>
          <a:p>
            <a:r>
              <a:rPr lang="zh-CN" altLang="en-US" sz="2800" dirty="0"/>
              <a:t>当</a:t>
            </a:r>
            <a:r>
              <a:rPr lang="en-US" altLang="zh-CN" sz="2800" dirty="0"/>
              <a:t>C=1</a:t>
            </a:r>
            <a:r>
              <a:rPr lang="zh-CN" altLang="en-US" sz="2800" dirty="0"/>
              <a:t>时，输入信号进入第一个锁存器（主锁存器）</a:t>
            </a:r>
            <a:endParaRPr lang="en-US" altLang="zh-CN" sz="2800" dirty="0"/>
          </a:p>
          <a:p>
            <a:r>
              <a:rPr lang="zh-CN" altLang="en-US" sz="2800" dirty="0"/>
              <a:t>当</a:t>
            </a:r>
            <a:r>
              <a:rPr lang="en-US" altLang="zh-CN" sz="2800" dirty="0"/>
              <a:t>C=0</a:t>
            </a:r>
            <a:r>
              <a:rPr lang="zh-CN" altLang="en-US" sz="2800" dirty="0"/>
              <a:t>时，第二个锁存器（从锁存器）改变输出</a:t>
            </a:r>
          </a:p>
          <a:p>
            <a:r>
              <a:rPr lang="zh-CN" altLang="en-US" sz="2800" dirty="0"/>
              <a:t>从输入到输出的通路被不同的时钟信号值</a:t>
            </a:r>
            <a:r>
              <a:rPr lang="en-US" altLang="zh-CN" sz="2800" dirty="0"/>
              <a:t>(C = 1 </a:t>
            </a:r>
            <a:r>
              <a:rPr lang="zh-CN" altLang="en-US" sz="2800" dirty="0"/>
              <a:t>和 </a:t>
            </a:r>
            <a:r>
              <a:rPr lang="en-US" altLang="zh-CN" sz="2800" dirty="0"/>
              <a:t>C = 0)</a:t>
            </a:r>
            <a:r>
              <a:rPr lang="zh-CN" altLang="en-US" sz="2800" dirty="0"/>
              <a:t>所断开</a:t>
            </a:r>
          </a:p>
          <a:p>
            <a:endParaRPr lang="zh-CN" altLang="en-US" sz="28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4293096"/>
            <a:ext cx="1514475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2678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SR</a:t>
            </a:r>
            <a:r>
              <a:rPr lang="zh-CN" altLang="en-US" dirty="0"/>
              <a:t>主从触发器</a:t>
            </a:r>
            <a:r>
              <a:rPr lang="zh-CN" altLang="en-US" dirty="0" smtClean="0"/>
              <a:t>仿真</a:t>
            </a:r>
            <a:endParaRPr lang="zh-CN" altLang="en-US" dirty="0"/>
          </a:p>
        </p:txBody>
      </p:sp>
      <p:sp>
        <p:nvSpPr>
          <p:cNvPr id="3" name="标注: 线形 2">
            <a:extLst>
              <a:ext uri="{FF2B5EF4-FFF2-40B4-BE49-F238E27FC236}">
                <a16:creationId xmlns:a16="http://schemas.microsoft.com/office/drawing/2014/main" id="{8A9D8094-7D47-448F-8F0D-0453584ACCFD}"/>
              </a:ext>
            </a:extLst>
          </p:cNvPr>
          <p:cNvSpPr/>
          <p:nvPr/>
        </p:nvSpPr>
        <p:spPr>
          <a:xfrm>
            <a:off x="3555309" y="1384973"/>
            <a:ext cx="4677072" cy="1206388"/>
          </a:xfrm>
          <a:prstGeom prst="borderCallout1">
            <a:avLst>
              <a:gd name="adj1" fmla="val 18750"/>
              <a:gd name="adj2" fmla="val -8333"/>
              <a:gd name="adj3" fmla="val 129314"/>
              <a:gd name="adj4" fmla="val -42959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是否能够验证一次性采样问题？</a:t>
            </a:r>
            <a:endParaRPr lang="en-US" altLang="zh-CN" sz="2400" dirty="0"/>
          </a:p>
          <a:p>
            <a:pPr algn="ctr"/>
            <a:r>
              <a:rPr lang="zh-CN" altLang="en-US" sz="2400" dirty="0"/>
              <a:t>如果不能，如何设计</a:t>
            </a:r>
            <a:r>
              <a:rPr lang="zh-CN" altLang="en-US" sz="2400" dirty="0" smtClean="0"/>
              <a:t>仿真输入？</a:t>
            </a:r>
            <a:endParaRPr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81D1031-CF41-4C86-AB21-DBCFCFA1297F}"/>
              </a:ext>
            </a:extLst>
          </p:cNvPr>
          <p:cNvSpPr txBox="1"/>
          <p:nvPr/>
        </p:nvSpPr>
        <p:spPr>
          <a:xfrm>
            <a:off x="2308394" y="5506066"/>
            <a:ext cx="38164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要求验证主从触发器存在的一次性采样问题！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924944"/>
            <a:ext cx="7260781" cy="2247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601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正边沿维持阻塞型</a:t>
            </a:r>
            <a:r>
              <a:rPr lang="en-US" altLang="zh-CN" dirty="0"/>
              <a:t>D</a:t>
            </a:r>
            <a:r>
              <a:rPr lang="zh-CN" altLang="en-US" dirty="0"/>
              <a:t>触发器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562736"/>
              </p:ext>
            </p:extLst>
          </p:nvPr>
        </p:nvGraphicFramePr>
        <p:xfrm>
          <a:off x="251520" y="1844824"/>
          <a:ext cx="4422087" cy="4032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4" name="Visio" r:id="rId3" imgW="1996055" imgH="1819380" progId="Visio.Drawing.11">
                  <p:embed/>
                </p:oleObj>
              </mc:Choice>
              <mc:Fallback>
                <p:oleObj name="Visio" r:id="rId3" imgW="1996055" imgH="1819380" progId="Visio.Drawing.11">
                  <p:embed/>
                  <p:pic>
                    <p:nvPicPr>
                      <p:cNvPr id="0" name="与非电路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1844824"/>
                        <a:ext cx="4422087" cy="40324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1871045"/>
              </p:ext>
            </p:extLst>
          </p:nvPr>
        </p:nvGraphicFramePr>
        <p:xfrm>
          <a:off x="5868144" y="4077072"/>
          <a:ext cx="1776412" cy="225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5" name="Visio" r:id="rId5" imgW="1028034" imgH="1306094" progId="Visio.Drawing.11">
                  <p:embed/>
                </p:oleObj>
              </mc:Choice>
              <mc:Fallback>
                <p:oleObj name="Visio" r:id="rId5" imgW="1028034" imgH="1306094" progId="Visio.Drawing.11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4077072"/>
                        <a:ext cx="1776412" cy="225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26359"/>
              </p:ext>
            </p:extLst>
          </p:nvPr>
        </p:nvGraphicFramePr>
        <p:xfrm>
          <a:off x="4980304" y="1628800"/>
          <a:ext cx="3840168" cy="223838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03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02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02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3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43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186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i="0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异步控制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i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上升沿触发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R</a:t>
                      </a:r>
                      <a:endParaRPr lang="zh-CN" altLang="en-US" b="1" i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S</a:t>
                      </a:r>
                      <a:endParaRPr lang="zh-CN" altLang="en-US" b="1" i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C</a:t>
                      </a:r>
                      <a:r>
                        <a:rPr lang="en-US" altLang="zh-CN" b="1" i="1" baseline="-2500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P</a:t>
                      </a:r>
                      <a:endParaRPr lang="zh-CN" altLang="en-US" b="1" i="1" baseline="-2500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D</a:t>
                      </a:r>
                      <a:endParaRPr lang="zh-CN" altLang="en-US" b="1" i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Q</a:t>
                      </a:r>
                      <a:endParaRPr lang="zh-CN" altLang="en-US" b="1" i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Q</a:t>
                      </a:r>
                      <a:endParaRPr lang="zh-CN" altLang="en-US" b="1" i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0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="1" i="0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×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×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0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b="1" i="0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×</a:t>
                      </a:r>
                      <a:endParaRPr lang="zh-CN" altLang="en-US" b="1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×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b="1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0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="1" i="0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="1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b="1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9108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</a:t>
            </a:r>
            <a:r>
              <a:rPr lang="zh-CN" altLang="en-US" dirty="0" smtClean="0"/>
              <a:t>触发器仿真示例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060848"/>
            <a:ext cx="7727011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975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WordArt 3"/>
          <p:cNvSpPr>
            <a:spLocks noChangeArrowheads="1" noChangeShapeType="1" noTextEdit="1"/>
          </p:cNvSpPr>
          <p:nvPr/>
        </p:nvSpPr>
        <p:spPr bwMode="gray">
          <a:xfrm>
            <a:off x="2051720" y="3212976"/>
            <a:ext cx="4724400" cy="609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5400" b="1" kern="10" dirty="0">
                <a:ln w="28575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89803" dir="2700000" algn="ctr" rotWithShape="0">
                    <a:srgbClr val="000000">
                      <a:alpha val="50000"/>
                    </a:srgbClr>
                  </a:outerShdw>
                </a:effectLst>
                <a:latin typeface="Verdana"/>
                <a:ea typeface="Verdana"/>
                <a:cs typeface="Verdana"/>
              </a:rPr>
              <a:t>Thank You !</a:t>
            </a:r>
            <a:endParaRPr lang="zh-CN" altLang="en-US" sz="5400" b="1" kern="10" dirty="0">
              <a:ln w="28575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1"/>
              </a:gradFill>
              <a:effectLst>
                <a:outerShdw dist="89803" dir="2700000" algn="ctr" rotWithShape="0">
                  <a:srgbClr val="000000">
                    <a:alpha val="50000"/>
                  </a:srgbClr>
                </a:outerShdw>
              </a:effectLst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269391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实验室PPT模版2013 beta1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3062</TotalTime>
  <Words>788</Words>
  <Application>Microsoft Office PowerPoint</Application>
  <PresentationFormat>全屏显示(4:3)</PresentationFormat>
  <Paragraphs>200</Paragraphs>
  <Slides>21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8" baseType="lpstr">
      <vt:lpstr>黑体</vt:lpstr>
      <vt:lpstr>华文细黑</vt:lpstr>
      <vt:lpstr>楷体_GB2312</vt:lpstr>
      <vt:lpstr>宋体</vt:lpstr>
      <vt:lpstr>微软雅黑</vt:lpstr>
      <vt:lpstr>新宋体</vt:lpstr>
      <vt:lpstr>Arial</vt:lpstr>
      <vt:lpstr>Calibri</vt:lpstr>
      <vt:lpstr>Cambria Math</vt:lpstr>
      <vt:lpstr>Helvetica</vt:lpstr>
      <vt:lpstr>Times New Roman</vt:lpstr>
      <vt:lpstr>Verdana</vt:lpstr>
      <vt:lpstr>Wingdings</vt:lpstr>
      <vt:lpstr>自定义设计方案</vt:lpstr>
      <vt:lpstr>实验室PPT模版2013 beta1</vt:lpstr>
      <vt:lpstr>1_自定义设计方案</vt:lpstr>
      <vt:lpstr>Visio</vt:lpstr>
      <vt:lpstr>数字逻辑设计实验</vt:lpstr>
      <vt:lpstr>提  纲</vt:lpstr>
      <vt:lpstr>实验目的</vt:lpstr>
      <vt:lpstr>实验设备与材料</vt:lpstr>
      <vt:lpstr>实验任务</vt:lpstr>
      <vt:lpstr>实验原理</vt:lpstr>
      <vt:lpstr>SR锁存器</vt:lpstr>
      <vt:lpstr>S ̅R ̅锁存器</vt:lpstr>
      <vt:lpstr>S ̅R ̅锁存器仿真</vt:lpstr>
      <vt:lpstr>门控SR锁存器</vt:lpstr>
      <vt:lpstr>门控SR锁存器仿真</vt:lpstr>
      <vt:lpstr>D锁存器</vt:lpstr>
      <vt:lpstr>D锁存器仿真</vt:lpstr>
      <vt:lpstr>锁存器的空翻现象</vt:lpstr>
      <vt:lpstr>锁存器的空翻现象</vt:lpstr>
      <vt:lpstr>触发器</vt:lpstr>
      <vt:lpstr>SR主从触发器</vt:lpstr>
      <vt:lpstr>SR主从触发器仿真</vt:lpstr>
      <vt:lpstr>正边沿维持阻塞型D触发器</vt:lpstr>
      <vt:lpstr>D触发器仿真示例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xu3stones</dc:creator>
  <cp:lastModifiedBy>Think</cp:lastModifiedBy>
  <cp:revision>276</cp:revision>
  <dcterms:created xsi:type="dcterms:W3CDTF">2011-08-03T07:44:17Z</dcterms:created>
  <dcterms:modified xsi:type="dcterms:W3CDTF">2025-02-18T12:52:02Z</dcterms:modified>
</cp:coreProperties>
</file>