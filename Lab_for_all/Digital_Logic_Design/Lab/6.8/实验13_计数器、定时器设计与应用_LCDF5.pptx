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5" r:id="rId2"/>
    <p:sldMasterId id="2147483690" r:id="rId3"/>
  </p:sldMasterIdLst>
  <p:notesMasterIdLst>
    <p:notesMasterId r:id="rId26"/>
  </p:notesMasterIdLst>
  <p:sldIdLst>
    <p:sldId id="256" r:id="rId4"/>
    <p:sldId id="270" r:id="rId5"/>
    <p:sldId id="271" r:id="rId6"/>
    <p:sldId id="272" r:id="rId7"/>
    <p:sldId id="273" r:id="rId8"/>
    <p:sldId id="313" r:id="rId9"/>
    <p:sldId id="350" r:id="rId10"/>
    <p:sldId id="351" r:id="rId11"/>
    <p:sldId id="352" r:id="rId12"/>
    <p:sldId id="353" r:id="rId13"/>
    <p:sldId id="362" r:id="rId14"/>
    <p:sldId id="354" r:id="rId15"/>
    <p:sldId id="355" r:id="rId16"/>
    <p:sldId id="356" r:id="rId17"/>
    <p:sldId id="357" r:id="rId18"/>
    <p:sldId id="284" r:id="rId19"/>
    <p:sldId id="318" r:id="rId20"/>
    <p:sldId id="359" r:id="rId21"/>
    <p:sldId id="360" r:id="rId22"/>
    <p:sldId id="358" r:id="rId23"/>
    <p:sldId id="363" r:id="rId24"/>
    <p:sldId id="269" r:id="rId2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E2BB560-6633-472E-86A8-D6CD2949BF9A}">
          <p14:sldIdLst>
            <p14:sldId id="256"/>
            <p14:sldId id="270"/>
            <p14:sldId id="271"/>
            <p14:sldId id="272"/>
            <p14:sldId id="273"/>
            <p14:sldId id="313"/>
            <p14:sldId id="350"/>
            <p14:sldId id="351"/>
            <p14:sldId id="352"/>
            <p14:sldId id="353"/>
            <p14:sldId id="362"/>
            <p14:sldId id="354"/>
            <p14:sldId id="355"/>
            <p14:sldId id="356"/>
            <p14:sldId id="357"/>
            <p14:sldId id="284"/>
            <p14:sldId id="318"/>
            <p14:sldId id="359"/>
            <p14:sldId id="360"/>
            <p14:sldId id="358"/>
            <p14:sldId id="363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99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2" autoAdjust="0"/>
    <p:restoredTop sz="82100" autoAdjust="0"/>
  </p:normalViewPr>
  <p:slideViewPr>
    <p:cSldViewPr>
      <p:cViewPr varScale="1">
        <p:scale>
          <a:sx n="69" d="100"/>
          <a:sy n="69" d="100"/>
        </p:scale>
        <p:origin x="1575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A232E-0D23-E744-A2E7-48CC2B10A8E9}" type="datetimeFigureOut">
              <a:rPr kumimoji="1" lang="zh-CN" altLang="en-US" smtClean="0"/>
              <a:t>2025/2/18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B3A588-43E9-AC44-AC90-AB7B6B5540F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7814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B3A588-43E9-AC44-AC90-AB7B6B5540F3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6475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9392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5190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7551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4187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833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184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008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44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767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841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890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" y="0"/>
            <a:ext cx="9102436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3561" y="1950515"/>
            <a:ext cx="8134672" cy="1470025"/>
          </a:xfrm>
        </p:spPr>
        <p:txBody>
          <a:bodyPr>
            <a:noAutofit/>
          </a:bodyPr>
          <a:lstStyle>
            <a:lvl1pPr>
              <a:defRPr sz="520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293096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accent5">
                    <a:lumMod val="50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80315"/>
            <a:ext cx="1368152" cy="55815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6309320"/>
            <a:ext cx="7887572" cy="18286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2" y="0"/>
            <a:ext cx="9102436" cy="6858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580315"/>
            <a:ext cx="1368152" cy="558152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6309320"/>
            <a:ext cx="7887572" cy="1828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005464" cy="954360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Clr>
                <a:schemeClr val="accent5">
                  <a:lumMod val="75000"/>
                </a:schemeClr>
              </a:buClr>
              <a:buSzPct val="80000"/>
              <a:buFont typeface="Wingdings" pitchFamily="2" charset="2"/>
              <a:buChar char="p"/>
              <a:defRPr b="1">
                <a:solidFill>
                  <a:schemeClr val="accent5">
                    <a:lumMod val="50000"/>
                  </a:schemeClr>
                </a:solidFill>
                <a:latin typeface="黑体" pitchFamily="49" charset="-122"/>
                <a:ea typeface="黑体" pitchFamily="49" charset="-122"/>
              </a:defRPr>
            </a:lvl1pPr>
            <a:lvl2pPr marL="742950" indent="-285750"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n"/>
              <a:defRPr b="1">
                <a:solidFill>
                  <a:schemeClr val="accent5">
                    <a:lumMod val="75000"/>
                  </a:schemeClr>
                </a:solidFill>
                <a:latin typeface="黑体" pitchFamily="49" charset="-122"/>
                <a:ea typeface="黑体" pitchFamily="49" charset="-122"/>
              </a:defRPr>
            </a:lvl2pPr>
            <a:lvl3pPr marL="1143000" indent="-228600">
              <a:buClr>
                <a:schemeClr val="accent5">
                  <a:lumMod val="75000"/>
                </a:schemeClr>
              </a:buClr>
              <a:buSzPct val="70000"/>
              <a:buFont typeface="Wingdings" pitchFamily="2" charset="2"/>
              <a:buChar char="p"/>
              <a:defRPr>
                <a:latin typeface="黑体" pitchFamily="49" charset="-122"/>
                <a:ea typeface="黑体" pitchFamily="49" charset="-122"/>
              </a:defRPr>
            </a:lvl3pPr>
            <a:lvl4pPr marL="1600200" indent="-228600">
              <a:buClr>
                <a:schemeClr val="accent5">
                  <a:lumMod val="75000"/>
                </a:schemeClr>
              </a:buClr>
              <a:buSzPct val="60000"/>
              <a:buFont typeface="Wingdings" pitchFamily="2" charset="2"/>
              <a:buChar char="n"/>
              <a:defRPr>
                <a:latin typeface="黑体" pitchFamily="49" charset="-122"/>
                <a:ea typeface="黑体" pitchFamily="49" charset="-122"/>
              </a:defRPr>
            </a:lvl4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5213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7005464" cy="95436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336699"/>
                </a:solidFill>
                <a:effectLst/>
                <a:latin typeface="黑体" pitchFamily="49" charset="-122"/>
                <a:ea typeface="黑体" pitchFamily="49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50000"/>
                  <a:lumOff val="50000"/>
                </a:schemeClr>
              </a:buClr>
              <a:buSzPct val="8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defRPr>
            </a:lvl1pPr>
            <a:lvl2pPr marL="742950" indent="-285750">
              <a:buClr>
                <a:schemeClr val="tx1"/>
              </a:buClr>
              <a:buSzPct val="70000"/>
              <a:buFont typeface="Wingdings" pitchFamily="2" charset="2"/>
              <a:buChar char="p"/>
              <a:defRPr sz="1800" b="0">
                <a:solidFill>
                  <a:schemeClr val="tx1"/>
                </a:solidFill>
                <a:latin typeface="华文细黑" pitchFamily="2" charset="-122"/>
                <a:ea typeface="华文细黑" pitchFamily="2" charset="-122"/>
              </a:defRPr>
            </a:lvl2pPr>
            <a:lvl3pPr marL="1143000" indent="-228600">
              <a:buClr>
                <a:schemeClr val="tx1"/>
              </a:buClr>
              <a:buSzPct val="50000"/>
              <a:buFont typeface="Wingdings" pitchFamily="2" charset="2"/>
              <a:buChar char="n"/>
              <a:defRPr sz="1600">
                <a:latin typeface="华文细黑" pitchFamily="2" charset="-122"/>
                <a:ea typeface="华文细黑" pitchFamily="2" charset="-122"/>
              </a:defRPr>
            </a:lvl3pPr>
            <a:lvl4pPr marL="1600200" indent="-228600">
              <a:buClr>
                <a:schemeClr val="tx1"/>
              </a:buClr>
              <a:buSzPct val="50000"/>
              <a:buFont typeface="Wingdings" pitchFamily="2" charset="2"/>
              <a:buChar char="p"/>
              <a:defRPr sz="1400">
                <a:latin typeface="华文细黑" pitchFamily="2" charset="-122"/>
                <a:ea typeface="华文细黑" pitchFamily="2" charset="-122"/>
              </a:defRPr>
            </a:lvl4pPr>
            <a:lvl5pPr>
              <a:defRPr sz="1200">
                <a:latin typeface="华文细黑" pitchFamily="2" charset="-122"/>
                <a:ea typeface="华文细黑" pitchFamily="2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9392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5190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7551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4187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8334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1847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10082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7448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76719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08412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890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1425" tIns="45712" rIns="91425" bIns="45712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48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336699"/>
          </a:solidFill>
          <a:latin typeface="黑体" pitchFamily="49" charset="-122"/>
          <a:ea typeface="黑体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p"/>
        <a:defRPr sz="22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DDDDDD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1425" tIns="45712" rIns="91425" bIns="45712" anchor="ctr">
            <a:spAutoFit/>
          </a:bodyPr>
          <a:lstStyle/>
          <a:p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0BAF8-1120-4869-B1EC-9D010EF77D65}" type="datetimeFigureOut">
              <a:rPr lang="zh-CN" altLang="en-US" smtClean="0"/>
              <a:t>2025/2/18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F4C11A-0699-48E7-8749-FD2A688E34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480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336699"/>
          </a:solidFill>
          <a:latin typeface="黑体" pitchFamily="49" charset="-122"/>
          <a:ea typeface="黑体" pitchFamily="49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p"/>
        <a:defRPr sz="22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华文细黑" pitchFamily="2" charset="-122"/>
          <a:ea typeface="华文细黑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93561" y="1052736"/>
            <a:ext cx="8134672" cy="1728191"/>
          </a:xfrm>
        </p:spPr>
        <p:txBody>
          <a:bodyPr/>
          <a:lstStyle/>
          <a:p>
            <a:r>
              <a:rPr lang="zh-CN" altLang="en-US" sz="4000" b="1">
                <a:solidFill>
                  <a:schemeClr val="tx1"/>
                </a:solidFill>
                <a:ea typeface="宋体" panose="02010600030101010101" pitchFamily="2" charset="-122"/>
              </a:rPr>
              <a:t>数字逻辑设计实验</a:t>
            </a:r>
            <a:endParaRPr lang="zh-CN" altLang="en-US" sz="4000" dirty="0">
              <a:effectLst/>
              <a:latin typeface="黑体"/>
              <a:ea typeface="黑体"/>
              <a:cs typeface="黑体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4221088"/>
            <a:ext cx="6400800" cy="211264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董亚波</a:t>
            </a:r>
          </a:p>
          <a:p>
            <a:pPr>
              <a:spcBef>
                <a:spcPct val="0"/>
              </a:spcBef>
            </a:pPr>
            <a:r>
              <a:rPr lang="en-US" altLang="zh-CN" sz="2800" dirty="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dongyb@zju.edu.cn</a:t>
            </a:r>
            <a:endParaRPr lang="en-US" altLang="zh-CN" sz="28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2916233"/>
            <a:ext cx="82809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实验</a:t>
            </a:r>
            <a:r>
              <a:rPr lang="en-US" altLang="zh-CN" sz="3600" b="1" dirty="0" smtClean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13</a:t>
            </a:r>
            <a:r>
              <a:rPr lang="zh-CN" altLang="en-US" sz="3600" b="1" dirty="0" smtClean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、</a:t>
            </a:r>
            <a:r>
              <a:rPr lang="zh-CN" altLang="en-US" sz="3600" b="1" dirty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计数器、</a:t>
            </a:r>
            <a:r>
              <a:rPr lang="zh-CN" altLang="en-US" sz="3600" b="1" dirty="0" smtClean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定时器</a:t>
            </a:r>
            <a:r>
              <a:rPr lang="zh-CN" altLang="en-US" sz="3600" b="1" dirty="0">
                <a:solidFill>
                  <a:srgbClr val="3333FF"/>
                </a:solidFill>
                <a:latin typeface="Helvetica" pitchFamily="34" charset="0"/>
                <a:ea typeface="宋体" pitchFamily="2" charset="-122"/>
              </a:rPr>
              <a:t>设计与应用</a:t>
            </a:r>
            <a:endParaRPr lang="en-US" altLang="zh-CN" sz="3600" b="1" dirty="0">
              <a:solidFill>
                <a:srgbClr val="3333FF"/>
              </a:solidFill>
              <a:latin typeface="Helvetica" pitchFamily="34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2661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提  纲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实验目的</a:t>
            </a:r>
            <a:endParaRPr lang="en-US" altLang="zh-CN" dirty="0" smtClean="0"/>
          </a:p>
          <a:p>
            <a:r>
              <a:rPr lang="zh-CN" altLang="en-US" dirty="0" smtClean="0"/>
              <a:t>实验</a:t>
            </a:r>
            <a:r>
              <a:rPr lang="zh-CN" altLang="en-US" dirty="0"/>
              <a:t>设备与</a:t>
            </a:r>
            <a:r>
              <a:rPr lang="zh-CN" altLang="en-US" dirty="0" smtClean="0"/>
              <a:t>材料</a:t>
            </a:r>
            <a:endParaRPr lang="en-US" altLang="zh-CN" dirty="0" smtClean="0"/>
          </a:p>
          <a:p>
            <a:r>
              <a:rPr lang="zh-CN" altLang="en-US" dirty="0" smtClean="0"/>
              <a:t>实验任务</a:t>
            </a:r>
            <a:endParaRPr lang="en-US" altLang="zh-CN" dirty="0" smtClean="0"/>
          </a:p>
          <a:p>
            <a:r>
              <a:rPr lang="zh-CN" altLang="en-US" dirty="0" smtClean="0"/>
              <a:t>实验原理</a:t>
            </a:r>
            <a:endParaRPr lang="en-US" altLang="zh-CN" dirty="0" smtClean="0"/>
          </a:p>
          <a:p>
            <a:r>
              <a:rPr lang="zh-CN" altLang="en-US" dirty="0" smtClean="0"/>
              <a:t>实验内容与步骤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93819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412776"/>
            <a:ext cx="8820472" cy="51845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/>
              <a:t>掌握同步四位二进制计数器</a:t>
            </a:r>
            <a:r>
              <a:rPr lang="en-US" altLang="zh-CN" sz="2800" dirty="0" smtClean="0"/>
              <a:t>74LS161</a:t>
            </a:r>
            <a:r>
              <a:rPr lang="zh-CN" altLang="en-US" sz="2800" dirty="0" smtClean="0"/>
              <a:t>的工作原理和设计方法</a:t>
            </a:r>
            <a:endParaRPr lang="en-US" altLang="zh-CN" sz="2800" dirty="0" smtClean="0"/>
          </a:p>
          <a:p>
            <a:pPr>
              <a:lnSpc>
                <a:spcPct val="150000"/>
              </a:lnSpc>
              <a:spcBef>
                <a:spcPts val="1200"/>
              </a:spcBef>
            </a:pPr>
            <a:endParaRPr lang="zh-CN" altLang="en-US" sz="2800" dirty="0"/>
          </a:p>
          <a:p>
            <a:pPr>
              <a:lnSpc>
                <a:spcPct val="150000"/>
              </a:lnSpc>
              <a:spcBef>
                <a:spcPts val="1200"/>
              </a:spcBef>
            </a:pPr>
            <a:r>
              <a:rPr lang="zh-CN" altLang="en-US" sz="2800" dirty="0" smtClean="0"/>
              <a:t>掌握时钟</a:t>
            </a:r>
            <a:r>
              <a:rPr lang="en-US" altLang="zh-CN" sz="2800" dirty="0" smtClean="0"/>
              <a:t>/</a:t>
            </a:r>
            <a:r>
              <a:rPr lang="zh-CN" altLang="en-US" sz="2800" dirty="0" smtClean="0"/>
              <a:t>定时器的</a:t>
            </a:r>
            <a:r>
              <a:rPr lang="zh-CN" altLang="en-US" sz="2800" dirty="0"/>
              <a:t>工作原理与设计</a:t>
            </a:r>
            <a:r>
              <a:rPr lang="zh-CN" altLang="en-US" sz="2800" dirty="0" smtClean="0"/>
              <a:t>方法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01679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实验设备与材料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实验设备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装有</a:t>
            </a:r>
            <a:r>
              <a:rPr lang="en-US" altLang="zh-CN" dirty="0"/>
              <a:t>Xilinx </a:t>
            </a:r>
            <a:r>
              <a:rPr lang="en-US" altLang="zh-CN" dirty="0" err="1"/>
              <a:t>Vivado</a:t>
            </a:r>
            <a:r>
              <a:rPr lang="zh-CN" altLang="en-US" dirty="0"/>
              <a:t>和</a:t>
            </a:r>
            <a:r>
              <a:rPr lang="en-US" altLang="zh-CN" dirty="0"/>
              <a:t>Digital</a:t>
            </a:r>
            <a:r>
              <a:rPr lang="zh-CN" altLang="en-US" dirty="0"/>
              <a:t>的计算机</a:t>
            </a:r>
            <a:r>
              <a:rPr lang="en-US" altLang="zh-CN" dirty="0"/>
              <a:t>	1</a:t>
            </a:r>
            <a:r>
              <a:rPr lang="zh-CN" altLang="en-US" dirty="0"/>
              <a:t>台</a:t>
            </a:r>
          </a:p>
          <a:p>
            <a:pPr lvl="1">
              <a:lnSpc>
                <a:spcPct val="150000"/>
              </a:lnSpc>
            </a:pPr>
            <a:r>
              <a:rPr lang="en-US" altLang="zh-CN" dirty="0"/>
              <a:t>SWORD</a:t>
            </a:r>
            <a:r>
              <a:rPr lang="zh-CN" altLang="en-US" dirty="0"/>
              <a:t>开发板</a:t>
            </a:r>
            <a:r>
              <a:rPr lang="en-US" altLang="zh-CN" dirty="0"/>
              <a:t>						1</a:t>
            </a:r>
            <a:r>
              <a:rPr lang="zh-CN" altLang="en-US" dirty="0"/>
              <a:t>套</a:t>
            </a:r>
          </a:p>
          <a:p>
            <a:r>
              <a:rPr lang="zh-CN" altLang="en-US" dirty="0" smtClean="0"/>
              <a:t>实验</a:t>
            </a:r>
            <a:r>
              <a:rPr lang="zh-CN" altLang="en-US" dirty="0"/>
              <a:t>材料</a:t>
            </a:r>
          </a:p>
          <a:p>
            <a:pPr lvl="1"/>
            <a:r>
              <a:rPr lang="zh-CN" altLang="en-US" dirty="0" smtClean="0"/>
              <a:t>无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1573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实验任务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79296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 smtClean="0"/>
              <a:t>任务</a:t>
            </a:r>
            <a:r>
              <a:rPr lang="en-US" altLang="zh-CN" sz="2800" dirty="0" smtClean="0"/>
              <a:t>1</a:t>
            </a:r>
            <a:r>
              <a:rPr lang="zh-CN" altLang="en-US" sz="2800" dirty="0" smtClean="0"/>
              <a:t>：采用行为</a:t>
            </a:r>
            <a:r>
              <a:rPr lang="zh-CN" altLang="en-US" sz="2800" dirty="0"/>
              <a:t>描述设计同步四位二进制计数器</a:t>
            </a:r>
            <a:r>
              <a:rPr lang="en-US" altLang="zh-CN" sz="2800" dirty="0" smtClean="0"/>
              <a:t>74LS161</a:t>
            </a:r>
            <a:endParaRPr lang="zh-CN" altLang="en-US" sz="2800" dirty="0"/>
          </a:p>
          <a:p>
            <a:pPr>
              <a:lnSpc>
                <a:spcPct val="150000"/>
              </a:lnSpc>
            </a:pPr>
            <a:endParaRPr lang="en-US" altLang="zh-CN" sz="2800" dirty="0" smtClean="0"/>
          </a:p>
          <a:p>
            <a:pPr>
              <a:lnSpc>
                <a:spcPct val="150000"/>
              </a:lnSpc>
            </a:pPr>
            <a:r>
              <a:rPr lang="zh-CN" altLang="en-US" sz="2800" dirty="0" smtClean="0"/>
              <a:t>任务</a:t>
            </a:r>
            <a:r>
              <a:rPr lang="en-US" altLang="zh-CN" sz="2800" dirty="0" smtClean="0"/>
              <a:t>2</a:t>
            </a:r>
            <a:r>
              <a:rPr lang="zh-CN" altLang="en-US" sz="2800" dirty="0" smtClean="0"/>
              <a:t>：</a:t>
            </a:r>
            <a:r>
              <a:rPr lang="zh-CN" altLang="en-US" sz="2800" dirty="0"/>
              <a:t>基于</a:t>
            </a:r>
            <a:r>
              <a:rPr lang="en-US" altLang="zh-CN" sz="2800" dirty="0"/>
              <a:t>74LS161</a:t>
            </a:r>
            <a:r>
              <a:rPr lang="zh-CN" altLang="en-US" sz="2800" dirty="0"/>
              <a:t>设计时钟应用</a:t>
            </a:r>
          </a:p>
        </p:txBody>
      </p:sp>
    </p:spTree>
    <p:extLst>
      <p:ext uri="{BB962C8B-B14F-4D97-AF65-F5344CB8AC3E}">
        <p14:creationId xmlns:p14="http://schemas.microsoft.com/office/powerpoint/2010/main" val="2488722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51309"/>
            <a:ext cx="8229600" cy="4525963"/>
          </a:xfrm>
        </p:spPr>
        <p:txBody>
          <a:bodyPr>
            <a:normAutofit/>
          </a:bodyPr>
          <a:lstStyle/>
          <a:p>
            <a:r>
              <a:rPr lang="zh-CN" altLang="en-US" dirty="0"/>
              <a:t>同步四位二进制计数器</a:t>
            </a:r>
            <a:r>
              <a:rPr lang="en-US" altLang="zh-CN" dirty="0" smtClean="0"/>
              <a:t>74LS161</a:t>
            </a:r>
          </a:p>
          <a:p>
            <a:endParaRPr lang="en-US" altLang="zh-CN" dirty="0"/>
          </a:p>
          <a:p>
            <a:r>
              <a:rPr lang="zh-CN" altLang="en-US" dirty="0" smtClean="0"/>
              <a:t>时钟应用设计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1644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同步四位二进制计数器</a:t>
            </a:r>
            <a:r>
              <a:rPr lang="en-US" altLang="zh-CN" dirty="0"/>
              <a:t>74LS161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74LS161</a:t>
            </a:r>
            <a:r>
              <a:rPr kumimoji="1" lang="zh-CN" altLang="en-US" dirty="0"/>
              <a:t>是常用的四位二进制可预置的同步加法</a:t>
            </a:r>
            <a:r>
              <a:rPr kumimoji="1" lang="zh-CN" altLang="en-US" dirty="0" smtClean="0"/>
              <a:t>计数器</a:t>
            </a:r>
            <a:endParaRPr kumimoji="1" lang="en-US" altLang="zh-CN" dirty="0" smtClean="0"/>
          </a:p>
          <a:p>
            <a:endParaRPr kumimoji="1" lang="en-US" altLang="zh-CN" dirty="0"/>
          </a:p>
          <a:p>
            <a:r>
              <a:rPr kumimoji="1" lang="zh-CN" altLang="en-US" dirty="0" smtClean="0"/>
              <a:t>可灵活运用</a:t>
            </a:r>
            <a:r>
              <a:rPr kumimoji="1" lang="zh-CN" altLang="en-US" dirty="0"/>
              <a:t>在各种</a:t>
            </a:r>
            <a:r>
              <a:rPr kumimoji="1" lang="zh-CN" altLang="en-US" dirty="0" smtClean="0"/>
              <a:t>数字电路，</a:t>
            </a:r>
            <a:r>
              <a:rPr kumimoji="1" lang="zh-CN" altLang="en-US" dirty="0"/>
              <a:t>实现分频器等很多重要的功能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66044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74LS161</a:t>
            </a:r>
            <a:r>
              <a:rPr lang="zh-CN" altLang="en-US" dirty="0" smtClean="0"/>
              <a:t>功能描述</a:t>
            </a:r>
            <a:endParaRPr lang="zh-CN" alt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71600"/>
            <a:ext cx="3581400" cy="2433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1371600"/>
            <a:ext cx="4191000" cy="2363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Oval 19"/>
          <p:cNvSpPr>
            <a:spLocks noChangeArrowheads="1"/>
          </p:cNvSpPr>
          <p:nvPr/>
        </p:nvSpPr>
        <p:spPr bwMode="auto">
          <a:xfrm>
            <a:off x="5238055" y="1338684"/>
            <a:ext cx="2667000" cy="304800"/>
          </a:xfrm>
          <a:prstGeom prst="ellips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7" name="Oval 20"/>
          <p:cNvSpPr>
            <a:spLocks noChangeArrowheads="1"/>
          </p:cNvSpPr>
          <p:nvPr/>
        </p:nvSpPr>
        <p:spPr bwMode="auto">
          <a:xfrm>
            <a:off x="4552255" y="3015084"/>
            <a:ext cx="457200" cy="381000"/>
          </a:xfrm>
          <a:prstGeom prst="ellips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8" name="Oval 21"/>
          <p:cNvSpPr>
            <a:spLocks noChangeArrowheads="1"/>
          </p:cNvSpPr>
          <p:nvPr/>
        </p:nvSpPr>
        <p:spPr bwMode="auto">
          <a:xfrm>
            <a:off x="5466655" y="3548484"/>
            <a:ext cx="2438400" cy="228600"/>
          </a:xfrm>
          <a:prstGeom prst="ellipse">
            <a:avLst/>
          </a:prstGeom>
          <a:noFill/>
          <a:ln w="25400">
            <a:solidFill>
              <a:srgbClr val="FF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9" name="AutoShape 22"/>
          <p:cNvSpPr>
            <a:spLocks noChangeArrowheads="1"/>
          </p:cNvSpPr>
          <p:nvPr/>
        </p:nvSpPr>
        <p:spPr bwMode="auto">
          <a:xfrm>
            <a:off x="7828855" y="576684"/>
            <a:ext cx="1063625" cy="1079500"/>
          </a:xfrm>
          <a:prstGeom prst="wedgeRoundRectCallout">
            <a:avLst>
              <a:gd name="adj1" fmla="val -71940"/>
              <a:gd name="adj2" fmla="val 45884"/>
              <a:gd name="adj3" fmla="val 16667"/>
            </a:avLst>
          </a:prstGeom>
          <a:solidFill>
            <a:srgbClr val="CCFFCC"/>
          </a:solidFill>
          <a:ln w="12700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000" tIns="72000" rIns="72000" bIns="72000"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algn="ctr" eaLnBrk="0" hangingPunct="0"/>
            <a:r>
              <a:rPr kumimoji="1" lang="zh-CN" altLang="en-US" sz="2800">
                <a:solidFill>
                  <a:schemeClr val="hlink"/>
                </a:solidFill>
                <a:latin typeface="Times New Roman" pitchFamily="18" charset="0"/>
                <a:ea typeface="黑体" pitchFamily="2" charset="-122"/>
              </a:rPr>
              <a:t>状态输出</a:t>
            </a:r>
          </a:p>
        </p:txBody>
      </p:sp>
      <p:sp>
        <p:nvSpPr>
          <p:cNvPr id="10" name="AutoShape 24"/>
          <p:cNvSpPr>
            <a:spLocks noChangeArrowheads="1"/>
          </p:cNvSpPr>
          <p:nvPr/>
        </p:nvSpPr>
        <p:spPr bwMode="auto">
          <a:xfrm>
            <a:off x="7143055" y="4005684"/>
            <a:ext cx="1217613" cy="1079500"/>
          </a:xfrm>
          <a:prstGeom prst="wedgeRoundRectCallout">
            <a:avLst>
              <a:gd name="adj1" fmla="val -47653"/>
              <a:gd name="adj2" fmla="val -71616"/>
              <a:gd name="adj3" fmla="val 16667"/>
            </a:avLst>
          </a:prstGeom>
          <a:solidFill>
            <a:srgbClr val="A3C2FF"/>
          </a:solidFill>
          <a:ln w="12700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000" tIns="72000" rIns="72000" bIns="72000"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algn="ctr" eaLnBrk="0" hangingPunct="0"/>
            <a:r>
              <a:rPr kumimoji="1" lang="zh-CN" altLang="en-US" sz="2800">
                <a:solidFill>
                  <a:schemeClr val="hlink"/>
                </a:solidFill>
                <a:latin typeface="Times New Roman" pitchFamily="18" charset="0"/>
                <a:ea typeface="黑体" pitchFamily="2" charset="-122"/>
              </a:rPr>
              <a:t>并行输入</a:t>
            </a:r>
          </a:p>
        </p:txBody>
      </p:sp>
      <p:sp>
        <p:nvSpPr>
          <p:cNvPr id="11" name="AutoShape 23"/>
          <p:cNvSpPr>
            <a:spLocks noChangeArrowheads="1"/>
          </p:cNvSpPr>
          <p:nvPr/>
        </p:nvSpPr>
        <p:spPr bwMode="auto">
          <a:xfrm>
            <a:off x="3790255" y="3929484"/>
            <a:ext cx="1447800" cy="617538"/>
          </a:xfrm>
          <a:prstGeom prst="wedgeRoundRectCallout">
            <a:avLst>
              <a:gd name="adj1" fmla="val 14801"/>
              <a:gd name="adj2" fmla="val -134574"/>
              <a:gd name="adj3" fmla="val 16667"/>
            </a:avLst>
          </a:prstGeom>
          <a:solidFill>
            <a:srgbClr val="ECECC0"/>
          </a:solidFill>
          <a:ln w="12700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72000" tIns="72000" rIns="72000" bIns="72000" anchor="ctr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algn="just" eaLnBrk="0" hangingPunct="0"/>
            <a:r>
              <a:rPr kumimoji="1" lang="en-US" altLang="zh-CN" sz="2800">
                <a:solidFill>
                  <a:schemeClr val="hlink"/>
                </a:solidFill>
                <a:latin typeface="Times New Roman" pitchFamily="18" charset="0"/>
                <a:ea typeface="黑体" pitchFamily="2" charset="-122"/>
              </a:rPr>
              <a:t>CP</a:t>
            </a:r>
            <a:r>
              <a:rPr kumimoji="1" lang="zh-CN" altLang="en-US" sz="2800">
                <a:solidFill>
                  <a:schemeClr val="hlink"/>
                </a:solidFill>
                <a:latin typeface="Times New Roman" pitchFamily="18" charset="0"/>
                <a:ea typeface="黑体" pitchFamily="2" charset="-122"/>
              </a:rPr>
              <a:t>输入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6172" y="4285412"/>
            <a:ext cx="2366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异步清零端</a:t>
            </a:r>
            <a:r>
              <a:rPr lang="en-US" altLang="zh-CN" sz="2800" b="1" dirty="0" smtClean="0"/>
              <a:t>CR</a:t>
            </a:r>
            <a:endParaRPr lang="zh-CN" altLang="en-US" sz="2800" b="1" dirty="0"/>
          </a:p>
        </p:txBody>
      </p:sp>
      <p:cxnSp>
        <p:nvCxnSpPr>
          <p:cNvPr id="5" name="直接连接符 4"/>
          <p:cNvCxnSpPr/>
          <p:nvPr/>
        </p:nvCxnSpPr>
        <p:spPr>
          <a:xfrm flipH="1">
            <a:off x="2867139" y="4365104"/>
            <a:ext cx="33670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696" y="4840842"/>
            <a:ext cx="23663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同步加载端</a:t>
            </a:r>
            <a:r>
              <a:rPr lang="en-US" altLang="zh-CN" sz="2800" b="1" dirty="0" smtClean="0"/>
              <a:t>LD</a:t>
            </a:r>
            <a:endParaRPr lang="zh-CN" altLang="en-US" sz="2800" b="1" dirty="0"/>
          </a:p>
        </p:txBody>
      </p:sp>
      <p:cxnSp>
        <p:nvCxnSpPr>
          <p:cNvPr id="19" name="直接连接符 18"/>
          <p:cNvCxnSpPr/>
          <p:nvPr/>
        </p:nvCxnSpPr>
        <p:spPr>
          <a:xfrm flipH="1">
            <a:off x="2895663" y="4920534"/>
            <a:ext cx="33670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14696" y="5428577"/>
            <a:ext cx="26178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使能端</a:t>
            </a:r>
            <a:r>
              <a:rPr lang="en-US" altLang="zh-CN" sz="2800" b="1" dirty="0" smtClean="0"/>
              <a:t>CT</a:t>
            </a:r>
            <a:r>
              <a:rPr lang="en-US" altLang="zh-CN" sz="2800" b="1" baseline="-25000" dirty="0" smtClean="0"/>
              <a:t>P</a:t>
            </a:r>
            <a:r>
              <a:rPr lang="zh-CN" altLang="en-US" sz="2800" b="1" dirty="0" smtClean="0"/>
              <a:t>、</a:t>
            </a:r>
            <a:r>
              <a:rPr lang="en-US" altLang="zh-CN" sz="2800" b="1" dirty="0" smtClean="0"/>
              <a:t>CT</a:t>
            </a:r>
            <a:r>
              <a:rPr lang="en-US" altLang="zh-CN" sz="2800" b="1" baseline="-25000" dirty="0" smtClean="0"/>
              <a:t>T</a:t>
            </a:r>
            <a:endParaRPr lang="zh-CN" altLang="en-US" sz="2800" b="1" baseline="-25000" dirty="0"/>
          </a:p>
        </p:txBody>
      </p:sp>
      <p:sp>
        <p:nvSpPr>
          <p:cNvPr id="21" name="TextBox 20"/>
          <p:cNvSpPr txBox="1"/>
          <p:nvPr/>
        </p:nvSpPr>
        <p:spPr>
          <a:xfrm>
            <a:off x="4038600" y="5428577"/>
            <a:ext cx="24182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进位输出端</a:t>
            </a:r>
            <a:r>
              <a:rPr lang="en-US" altLang="zh-CN" sz="2800" b="1" dirty="0" smtClean="0"/>
              <a:t>CO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807307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74LS161</a:t>
            </a:r>
            <a:r>
              <a:rPr lang="zh-CN" altLang="en-US" dirty="0" smtClean="0"/>
              <a:t>功能</a:t>
            </a:r>
            <a:r>
              <a:rPr lang="zh-CN" altLang="en-US" dirty="0"/>
              <a:t>表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047527"/>
            <a:ext cx="7924800" cy="3541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369" descr="白色大理石"/>
          <p:cNvSpPr>
            <a:spLocks noChangeArrowheads="1"/>
          </p:cNvSpPr>
          <p:nvPr/>
        </p:nvSpPr>
        <p:spPr bwMode="auto">
          <a:xfrm>
            <a:off x="7740352" y="4595589"/>
            <a:ext cx="1371600" cy="1209675"/>
          </a:xfrm>
          <a:prstGeom prst="wedgeRoundRectCallout">
            <a:avLst>
              <a:gd name="adj1" fmla="val -51620"/>
              <a:gd name="adj2" fmla="val -106824"/>
              <a:gd name="adj3" fmla="val 16667"/>
            </a:avLst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kumimoji="1" lang="zh-CN" altLang="en-US" sz="2800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同步</a:t>
            </a:r>
            <a:r>
              <a:rPr kumimoji="1" lang="zh-CN" altLang="en-US" sz="2800" dirty="0" smtClean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ea typeface="黑体" pitchFamily="2" charset="-122"/>
              </a:rPr>
              <a:t>并行加载 </a:t>
            </a:r>
            <a:endParaRPr kumimoji="1" lang="zh-CN" altLang="en-US" sz="2800" dirty="0">
              <a:solidFill>
                <a:schemeClr val="hlink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ea typeface="黑体" pitchFamily="2" charset="-122"/>
            </a:endParaRPr>
          </a:p>
        </p:txBody>
      </p:sp>
      <p:sp>
        <p:nvSpPr>
          <p:cNvPr id="6" name="AutoShape 5" descr="花束"/>
          <p:cNvSpPr>
            <a:spLocks noChangeArrowheads="1"/>
          </p:cNvSpPr>
          <p:nvPr/>
        </p:nvSpPr>
        <p:spPr bwMode="auto">
          <a:xfrm>
            <a:off x="107504" y="1211213"/>
            <a:ext cx="2057400" cy="1209675"/>
          </a:xfrm>
          <a:prstGeom prst="wedgeRoundRectCallout">
            <a:avLst>
              <a:gd name="adj1" fmla="val -26265"/>
              <a:gd name="adj2" fmla="val 108872"/>
              <a:gd name="adj3" fmla="val 16667"/>
            </a:avLst>
          </a:prstGeom>
          <a:blipFill dpi="0" rotWithShape="0">
            <a:blip r:embed="rId4"/>
            <a:srcRect/>
            <a:tile tx="0" ty="0" sx="100000" sy="100000" flip="none" algn="tl"/>
          </a:blip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kumimoji="1"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黑体" pitchFamily="2" charset="-122"/>
              </a:rPr>
              <a:t>异步清</a:t>
            </a:r>
            <a:r>
              <a:rPr kumimoji="1" lang="en-US" altLang="zh-CN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黑体" pitchFamily="2" charset="-122"/>
              </a:rPr>
              <a:t>0</a:t>
            </a:r>
            <a:r>
              <a:rPr kumimoji="1" lang="zh-CN" alt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黑体" pitchFamily="2" charset="-122"/>
              </a:rPr>
              <a:t>功能最优先 </a:t>
            </a:r>
          </a:p>
        </p:txBody>
      </p:sp>
      <p:sp>
        <p:nvSpPr>
          <p:cNvPr id="7" name="AutoShape 370" descr="花束"/>
          <p:cNvSpPr>
            <a:spLocks noChangeArrowheads="1"/>
          </p:cNvSpPr>
          <p:nvPr/>
        </p:nvSpPr>
        <p:spPr bwMode="auto">
          <a:xfrm>
            <a:off x="1403648" y="5787851"/>
            <a:ext cx="1828800" cy="1025525"/>
          </a:xfrm>
          <a:prstGeom prst="wedgeRoundRectCallout">
            <a:avLst>
              <a:gd name="adj1" fmla="val 41875"/>
              <a:gd name="adj2" fmla="val -86069"/>
              <a:gd name="adj3" fmla="val 16667"/>
            </a:avLst>
          </a:prstGeom>
          <a:blipFill dpi="0" rotWithShape="0">
            <a:blip r:embed="rId4"/>
            <a:srcRect/>
            <a:tile tx="0" ty="0" sx="100000" sy="100000" flip="none" algn="tl"/>
          </a:blipFill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algn="ctr"/>
            <a:r>
              <a:rPr kumimoji="1" lang="en-US" altLang="zh-CN" sz="2800" i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CP</a:t>
            </a:r>
            <a:r>
              <a:rPr kumimoji="1" lang="zh-CN" altLang="en-US" sz="2800" b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上升沿有效</a:t>
            </a:r>
            <a:r>
              <a:rPr kumimoji="1" lang="zh-CN" altLang="en-US" sz="280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黑体" pitchFamily="2" charset="-122"/>
              </a:rPr>
              <a:t> </a:t>
            </a:r>
          </a:p>
        </p:txBody>
      </p:sp>
      <p:sp>
        <p:nvSpPr>
          <p:cNvPr id="8" name="Rectangle 377"/>
          <p:cNvSpPr>
            <a:spLocks noChangeArrowheads="1"/>
          </p:cNvSpPr>
          <p:nvPr/>
        </p:nvSpPr>
        <p:spPr bwMode="auto">
          <a:xfrm>
            <a:off x="3857773" y="5924698"/>
            <a:ext cx="3738563" cy="528638"/>
          </a:xfrm>
          <a:prstGeom prst="rect">
            <a:avLst/>
          </a:prstGeom>
          <a:solidFill>
            <a:srgbClr val="913CC6"/>
          </a:solidFill>
          <a:ln w="9525">
            <a:solidFill>
              <a:srgbClr val="008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algn="ctr"/>
            <a:r>
              <a:rPr kumimoji="1" lang="en-US" altLang="zh-CN" sz="2800">
                <a:latin typeface="Times New Roman" pitchFamily="18" charset="0"/>
                <a:ea typeface="黑体" pitchFamily="2" charset="-122"/>
              </a:rPr>
              <a:t>C</a:t>
            </a:r>
            <a:r>
              <a:rPr kumimoji="1" lang="en-US" altLang="zh-CN" sz="2800" i="1">
                <a:latin typeface="Times New Roman" pitchFamily="18" charset="0"/>
                <a:ea typeface="黑体" pitchFamily="2" charset="-122"/>
              </a:rPr>
              <a:t>O</a:t>
            </a:r>
            <a:r>
              <a:rPr kumimoji="1" lang="en-US" altLang="zh-CN" sz="2800">
                <a:latin typeface="Times New Roman" pitchFamily="18" charset="0"/>
                <a:ea typeface="黑体" pitchFamily="2" charset="-122"/>
              </a:rPr>
              <a:t>=</a:t>
            </a:r>
            <a:r>
              <a:rPr kumimoji="1" lang="en-US" altLang="zh-CN" sz="2800" i="1">
                <a:latin typeface="Times New Roman" pitchFamily="18" charset="0"/>
                <a:ea typeface="黑体" pitchFamily="2" charset="-122"/>
              </a:rPr>
              <a:t> Q</a:t>
            </a:r>
            <a:r>
              <a:rPr kumimoji="1" lang="en-US" altLang="zh-CN" sz="2800" baseline="-30000">
                <a:latin typeface="Times New Roman" pitchFamily="18" charset="0"/>
                <a:ea typeface="黑体" pitchFamily="2" charset="-122"/>
              </a:rPr>
              <a:t>3 </a:t>
            </a:r>
            <a:r>
              <a:rPr kumimoji="1" lang="en-US" altLang="zh-CN" sz="2800" i="1">
                <a:latin typeface="Times New Roman" pitchFamily="18" charset="0"/>
                <a:ea typeface="黑体" pitchFamily="2" charset="-122"/>
              </a:rPr>
              <a:t>Q</a:t>
            </a:r>
            <a:r>
              <a:rPr kumimoji="1" lang="en-US" altLang="zh-CN" sz="2800" baseline="-30000">
                <a:latin typeface="Times New Roman" pitchFamily="18" charset="0"/>
                <a:ea typeface="黑体" pitchFamily="2" charset="-122"/>
              </a:rPr>
              <a:t>2 </a:t>
            </a:r>
            <a:r>
              <a:rPr kumimoji="1" lang="en-US" altLang="zh-CN" sz="2800" i="1">
                <a:latin typeface="Times New Roman" pitchFamily="18" charset="0"/>
                <a:ea typeface="黑体" pitchFamily="2" charset="-122"/>
              </a:rPr>
              <a:t>Q</a:t>
            </a:r>
            <a:r>
              <a:rPr kumimoji="1" lang="en-US" altLang="zh-CN" sz="2800" baseline="-30000">
                <a:latin typeface="Times New Roman" pitchFamily="18" charset="0"/>
                <a:ea typeface="黑体" pitchFamily="2" charset="-122"/>
              </a:rPr>
              <a:t>1 </a:t>
            </a:r>
            <a:r>
              <a:rPr kumimoji="1" lang="en-US" altLang="zh-CN" sz="2800" i="1">
                <a:latin typeface="Times New Roman" pitchFamily="18" charset="0"/>
                <a:ea typeface="黑体" pitchFamily="2" charset="-122"/>
              </a:rPr>
              <a:t>Q</a:t>
            </a:r>
            <a:r>
              <a:rPr kumimoji="1" lang="en-US" altLang="zh-CN" sz="2800" baseline="-30000">
                <a:latin typeface="Times New Roman" pitchFamily="18" charset="0"/>
                <a:ea typeface="黑体" pitchFamily="2" charset="-122"/>
              </a:rPr>
              <a:t>0</a:t>
            </a:r>
            <a:r>
              <a:rPr kumimoji="1" lang="en-US" altLang="zh-CN" sz="2800" i="1">
                <a:latin typeface="Times New Roman" pitchFamily="18" charset="0"/>
                <a:ea typeface="黑体" pitchFamily="2" charset="-122"/>
              </a:rPr>
              <a:t> CT</a:t>
            </a:r>
            <a:r>
              <a:rPr kumimoji="1" lang="en-US" altLang="zh-CN" sz="2800" baseline="-30000">
                <a:latin typeface="Times New Roman" pitchFamily="18" charset="0"/>
                <a:ea typeface="黑体" pitchFamily="2" charset="-122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877013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74LS161</a:t>
            </a:r>
            <a:r>
              <a:rPr lang="zh-CN" altLang="en-US" dirty="0" smtClean="0"/>
              <a:t>时序图</a:t>
            </a:r>
            <a:endParaRPr lang="zh-CN" alt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124744"/>
            <a:ext cx="6248400" cy="568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539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异步清零的</a:t>
            </a:r>
            <a:r>
              <a:rPr lang="en-US" altLang="zh-CN" dirty="0" err="1" smtClean="0"/>
              <a:t>verilog</a:t>
            </a:r>
            <a:r>
              <a:rPr lang="zh-CN" altLang="en-US" dirty="0" smtClean="0"/>
              <a:t>代码写法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396266" y="2060848"/>
            <a:ext cx="578873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/>
              <a:t>always@(</a:t>
            </a:r>
            <a:r>
              <a:rPr lang="en-US" altLang="zh-CN" sz="2400" dirty="0" err="1"/>
              <a:t>posedge</a:t>
            </a:r>
            <a:r>
              <a:rPr lang="en-US" altLang="zh-CN" sz="2400" dirty="0"/>
              <a:t> </a:t>
            </a:r>
            <a:r>
              <a:rPr lang="en-US" altLang="zh-CN" sz="2400" dirty="0" err="1"/>
              <a:t>clk</a:t>
            </a:r>
            <a:r>
              <a:rPr lang="en-US" altLang="zh-CN" sz="2400" dirty="0"/>
              <a:t> or </a:t>
            </a:r>
            <a:r>
              <a:rPr lang="en-US" altLang="zh-CN" sz="2400" dirty="0" err="1"/>
              <a:t>negedge</a:t>
            </a:r>
            <a:r>
              <a:rPr lang="en-US" altLang="zh-CN" sz="2400" dirty="0"/>
              <a:t> </a:t>
            </a:r>
            <a:r>
              <a:rPr lang="en-US" altLang="zh-CN" sz="2400" dirty="0" err="1"/>
              <a:t>rst</a:t>
            </a:r>
            <a:r>
              <a:rPr lang="en-US" altLang="zh-CN" sz="2400" dirty="0"/>
              <a:t> )</a:t>
            </a:r>
            <a:br>
              <a:rPr lang="en-US" altLang="zh-CN" sz="2400" dirty="0"/>
            </a:br>
            <a:r>
              <a:rPr lang="en-US" altLang="zh-CN" sz="2400" dirty="0" smtClean="0"/>
              <a:t>	begin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 smtClean="0"/>
              <a:t>		if</a:t>
            </a:r>
            <a:r>
              <a:rPr lang="en-US" altLang="zh-CN" sz="2400" dirty="0"/>
              <a:t>(!</a:t>
            </a:r>
            <a:r>
              <a:rPr lang="en-US" altLang="zh-CN" sz="2400" dirty="0" err="1"/>
              <a:t>rst</a:t>
            </a:r>
            <a:r>
              <a:rPr lang="en-US" altLang="zh-CN" sz="2400" dirty="0"/>
              <a:t>) out &lt;= 0;</a:t>
            </a:r>
            <a:br>
              <a:rPr lang="en-US" altLang="zh-CN" sz="2400" dirty="0"/>
            </a:br>
            <a:r>
              <a:rPr lang="en-US" altLang="zh-CN" sz="2400" dirty="0" smtClean="0"/>
              <a:t>	else begin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 smtClean="0"/>
              <a:t>		……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 smtClean="0"/>
              <a:t>	end</a:t>
            </a:r>
            <a:r>
              <a:rPr lang="en-US" altLang="zh-CN" sz="2400" dirty="0"/>
              <a:t/>
            </a:r>
            <a:br>
              <a:rPr lang="en-US" altLang="zh-CN" sz="2400" dirty="0"/>
            </a:br>
            <a:r>
              <a:rPr lang="en-US" altLang="zh-CN" sz="2400" dirty="0" err="1"/>
              <a:t>end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12105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实现十进制计数器</a:t>
            </a:r>
            <a:endParaRPr lang="zh-CN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286495"/>
            <a:ext cx="5257800" cy="322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23528" y="4509120"/>
            <a:ext cx="849694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 smtClean="0"/>
              <a:t>利用</a:t>
            </a:r>
            <a:r>
              <a:rPr lang="zh-CN" altLang="en-US" sz="2400" b="1" dirty="0">
                <a:latin typeface="Times New Roman" pitchFamily="18" charset="0"/>
                <a:ea typeface="黑体" pitchFamily="2" charset="-122"/>
              </a:rPr>
              <a:t>与非门判断终止状态</a:t>
            </a:r>
            <a:r>
              <a:rPr lang="en-US" altLang="zh-CN" sz="2400" b="1" dirty="0">
                <a:latin typeface="Times New Roman" pitchFamily="18" charset="0"/>
                <a:ea typeface="黑体" pitchFamily="2" charset="-122"/>
              </a:rPr>
              <a:t>1010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/>
              <a:t>实现十进制计数 （</a:t>
            </a:r>
            <a:r>
              <a:rPr lang="en-US" altLang="zh-CN" sz="2400" b="1" dirty="0"/>
              <a:t>0000</a:t>
            </a:r>
            <a:r>
              <a:rPr lang="zh-CN" altLang="en-US" sz="2400" b="1" dirty="0"/>
              <a:t>到</a:t>
            </a:r>
            <a:r>
              <a:rPr lang="en-US" altLang="zh-CN" sz="2400" b="1" dirty="0"/>
              <a:t>1001</a:t>
            </a:r>
            <a:r>
              <a:rPr lang="zh-CN" altLang="en-US" sz="2400" b="1" dirty="0"/>
              <a:t>）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/>
              <a:t>改变与非门的输入信号 ，可以实现其它进制计数。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 smtClean="0"/>
              <a:t>改变与非门输出信号的功能和输入信号，可以实现同步加载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717835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实现</a:t>
            </a:r>
            <a:r>
              <a:rPr lang="en-US" altLang="zh-CN" dirty="0" smtClean="0"/>
              <a:t>16×16</a:t>
            </a:r>
            <a:r>
              <a:rPr lang="zh-CN" altLang="en-US" dirty="0"/>
              <a:t>进</a:t>
            </a:r>
            <a:r>
              <a:rPr lang="zh-CN" altLang="en-US" dirty="0" smtClean="0"/>
              <a:t>制计数器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1441474"/>
            <a:ext cx="8458200" cy="270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4610100" y="1441474"/>
            <a:ext cx="0" cy="3657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2171700" y="4337074"/>
            <a:ext cx="1260475" cy="528638"/>
          </a:xfrm>
          <a:prstGeom prst="rect">
            <a:avLst/>
          </a:prstGeom>
          <a:ln>
            <a:headEnd/>
            <a:tailEnd/>
          </a:ln>
          <a:ex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b"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低位片</a:t>
            </a:r>
          </a:p>
        </p:txBody>
      </p:sp>
      <p:sp>
        <p:nvSpPr>
          <p:cNvPr id="7" name="Rectangle 10"/>
          <p:cNvSpPr>
            <a:spLocks noChangeArrowheads="1"/>
          </p:cNvSpPr>
          <p:nvPr/>
        </p:nvSpPr>
        <p:spPr bwMode="auto">
          <a:xfrm>
            <a:off x="5981700" y="4337074"/>
            <a:ext cx="1260475" cy="528638"/>
          </a:xfrm>
          <a:prstGeom prst="rect">
            <a:avLst/>
          </a:prstGeom>
          <a:ln>
            <a:headEnd/>
            <a:tailEnd/>
          </a:ln>
          <a:ex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92075" tIns="46038" rIns="92075" bIns="46038" anchor="b"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高位片</a:t>
            </a:r>
          </a:p>
        </p:txBody>
      </p: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495300" y="5229200"/>
            <a:ext cx="8255000" cy="528638"/>
          </a:xfrm>
          <a:prstGeom prst="rect">
            <a:avLst/>
          </a:prstGeom>
          <a:ln>
            <a:headEnd/>
            <a:tailEnd/>
          </a:ln>
          <a:ex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lIns="92075" tIns="46038" rIns="92075" bIns="46038" anchor="b"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在计到</a:t>
            </a:r>
            <a:r>
              <a:rPr lang="en-US" altLang="zh-CN" sz="2800" dirty="0">
                <a:solidFill>
                  <a:schemeClr val="tx1"/>
                </a:solidFill>
                <a:effectLst/>
                <a:ea typeface="黑体" pitchFamily="2" charset="-122"/>
              </a:rPr>
              <a:t>1111</a:t>
            </a:r>
            <a:r>
              <a:rPr lang="zh-CN" altLang="en-US" sz="2800" dirty="0"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以前，</a:t>
            </a:r>
            <a:r>
              <a:rPr lang="en-US" altLang="zh-CN" sz="2800" dirty="0">
                <a:solidFill>
                  <a:schemeClr val="tx1"/>
                </a:solidFill>
                <a:effectLst/>
                <a:ea typeface="黑体" pitchFamily="2" charset="-122"/>
              </a:rPr>
              <a:t>CO</a:t>
            </a:r>
            <a:r>
              <a:rPr lang="en-US" altLang="zh-CN" sz="2800" baseline="-25000" dirty="0">
                <a:solidFill>
                  <a:schemeClr val="tx1"/>
                </a:solidFill>
                <a:effectLst/>
                <a:ea typeface="黑体" pitchFamily="2" charset="-122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＝</a:t>
            </a:r>
            <a:r>
              <a:rPr lang="en-US" altLang="zh-CN" sz="2800" dirty="0">
                <a:solidFill>
                  <a:schemeClr val="tx1"/>
                </a:solidFill>
                <a:effectLst/>
                <a:ea typeface="黑体" pitchFamily="2" charset="-122"/>
              </a:rPr>
              <a:t>0</a:t>
            </a:r>
            <a:r>
              <a:rPr lang="zh-CN" altLang="en-US" sz="2800" dirty="0">
                <a:solidFill>
                  <a:schemeClr val="tx1"/>
                </a:solidFill>
                <a:effectLst/>
                <a:ea typeface="黑体" pitchFamily="2" charset="-122"/>
              </a:rPr>
              <a:t>，</a:t>
            </a:r>
            <a:r>
              <a:rPr lang="zh-CN" altLang="en-US" sz="2800" dirty="0"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高位片保持原状态不变</a:t>
            </a:r>
          </a:p>
        </p:txBody>
      </p: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495300" y="5915000"/>
            <a:ext cx="8229600" cy="528638"/>
          </a:xfrm>
          <a:prstGeom prst="rect">
            <a:avLst/>
          </a:prstGeom>
          <a:ln>
            <a:headEnd/>
            <a:tailEnd/>
          </a:ln>
          <a:ex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2075" tIns="46038" rIns="92075" bIns="46038" anchor="b"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9pPr>
          </a:lstStyle>
          <a:p>
            <a:r>
              <a:rPr lang="zh-CN" altLang="en-US" sz="2800" dirty="0"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在计到</a:t>
            </a:r>
            <a:r>
              <a:rPr lang="en-US" altLang="zh-CN" sz="2800" dirty="0">
                <a:solidFill>
                  <a:schemeClr val="tx1"/>
                </a:solidFill>
                <a:effectLst/>
                <a:ea typeface="黑体" pitchFamily="2" charset="-122"/>
              </a:rPr>
              <a:t>1111</a:t>
            </a:r>
            <a:r>
              <a:rPr lang="zh-CN" altLang="en-US" sz="2800" dirty="0">
                <a:solidFill>
                  <a:schemeClr val="tx1"/>
                </a:solidFill>
                <a:effectLst/>
                <a:ea typeface="黑体" pitchFamily="2" charset="-122"/>
              </a:rPr>
              <a:t>时</a:t>
            </a:r>
            <a:r>
              <a:rPr lang="zh-CN" altLang="en-US" sz="2800" dirty="0"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effectLst/>
                <a:ea typeface="黑体" pitchFamily="2" charset="-122"/>
              </a:rPr>
              <a:t>CO</a:t>
            </a:r>
            <a:r>
              <a:rPr lang="en-US" altLang="zh-CN" sz="2800" baseline="-25000" dirty="0">
                <a:solidFill>
                  <a:schemeClr val="tx1"/>
                </a:solidFill>
                <a:effectLst/>
                <a:ea typeface="黑体" pitchFamily="2" charset="-122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＝</a:t>
            </a:r>
            <a:r>
              <a:rPr lang="en-US" altLang="zh-CN" sz="2800" dirty="0"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1</a:t>
            </a:r>
            <a:r>
              <a:rPr lang="zh-CN" altLang="en-US" sz="2800" dirty="0"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，高位片在下一个</a:t>
            </a:r>
            <a:r>
              <a:rPr lang="en-US" altLang="zh-CN" sz="2800" dirty="0"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CP</a:t>
            </a:r>
            <a:r>
              <a:rPr lang="zh-CN" altLang="en-US" sz="2800" dirty="0"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加一</a:t>
            </a:r>
          </a:p>
        </p:txBody>
      </p:sp>
    </p:spTree>
    <p:extLst>
      <p:ext uri="{BB962C8B-B14F-4D97-AF65-F5344CB8AC3E}">
        <p14:creationId xmlns:p14="http://schemas.microsoft.com/office/powerpoint/2010/main" val="3751714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实现</a:t>
            </a:r>
            <a:r>
              <a:rPr lang="en-US" altLang="zh-CN" dirty="0" smtClean="0"/>
              <a:t>50</a:t>
            </a:r>
            <a:r>
              <a:rPr lang="zh-CN" altLang="en-US" dirty="0" smtClean="0"/>
              <a:t>进</a:t>
            </a:r>
            <a:r>
              <a:rPr lang="zh-CN" altLang="en-US" dirty="0"/>
              <a:t>制计数器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84784"/>
            <a:ext cx="80772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Line 5"/>
          <p:cNvSpPr>
            <a:spLocks noChangeShapeType="1"/>
          </p:cNvSpPr>
          <p:nvPr/>
        </p:nvSpPr>
        <p:spPr bwMode="auto">
          <a:xfrm>
            <a:off x="4610100" y="1441474"/>
            <a:ext cx="0" cy="3657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100262" y="4700562"/>
            <a:ext cx="904875" cy="528638"/>
          </a:xfrm>
          <a:prstGeom prst="rect">
            <a:avLst/>
          </a:prstGeom>
          <a:ln>
            <a:headEnd/>
            <a:tailEnd/>
          </a:ln>
          <a:ex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lIns="92075" tIns="46038" rIns="92075" bIns="46038" anchor="b"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9pPr>
          </a:lstStyle>
          <a:p>
            <a:r>
              <a:rPr lang="en-US" altLang="zh-CN" sz="2800" dirty="0"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0010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138862" y="4700562"/>
            <a:ext cx="904875" cy="528638"/>
          </a:xfrm>
          <a:prstGeom prst="rect">
            <a:avLst/>
          </a:prstGeom>
          <a:ln>
            <a:headEnd/>
            <a:tailEnd/>
          </a:ln>
          <a:ex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92075" tIns="46038" rIns="92075" bIns="46038" anchor="b"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9pPr>
          </a:lstStyle>
          <a:p>
            <a:r>
              <a:rPr lang="en-US" altLang="zh-CN" sz="2800" dirty="0"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0011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55848" y="6140722"/>
            <a:ext cx="7848600" cy="528638"/>
          </a:xfrm>
          <a:prstGeom prst="rect">
            <a:avLst/>
          </a:prstGeom>
          <a:ln>
            <a:headEnd/>
            <a:tailEnd/>
          </a:ln>
          <a:ex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2075" tIns="46038" rIns="92075" bIns="46038" anchor="b"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algn="l"/>
            <a:r>
              <a:rPr lang="zh-CN" altLang="en-US" sz="2800" dirty="0"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实现从</a:t>
            </a:r>
            <a:r>
              <a:rPr lang="en-US" altLang="zh-CN" sz="2800" dirty="0"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0000  0000</a:t>
            </a:r>
            <a:r>
              <a:rPr lang="zh-CN" altLang="en-US" sz="2800" dirty="0"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到</a:t>
            </a:r>
            <a:r>
              <a:rPr lang="en-US" altLang="zh-CN" sz="2800" dirty="0"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0011  0001</a:t>
            </a:r>
            <a:r>
              <a:rPr lang="zh-CN" altLang="en-US" sz="2800" dirty="0"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的</a:t>
            </a:r>
            <a:r>
              <a:rPr lang="en-US" altLang="zh-CN" sz="2800" dirty="0"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50</a:t>
            </a:r>
            <a:r>
              <a:rPr lang="zh-CN" altLang="en-US" sz="2800" dirty="0"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进制计数器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755848" y="5454922"/>
            <a:ext cx="7848600" cy="528638"/>
          </a:xfrm>
          <a:prstGeom prst="rect">
            <a:avLst/>
          </a:prstGeom>
          <a:ln>
            <a:headEnd/>
            <a:tailEnd/>
          </a:ln>
          <a:ex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2075" tIns="46038" rIns="92075" bIns="46038" anchor="b">
            <a:spAutoFit/>
          </a:bodyPr>
          <a:lstStyle>
            <a:defPPr>
              <a:defRPr lang="zh-CN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宋体" pitchFamily="2" charset="-122"/>
                <a:cs typeface="+mn-cs"/>
              </a:defRPr>
            </a:lvl9pPr>
          </a:lstStyle>
          <a:p>
            <a:pPr algn="l"/>
            <a:r>
              <a:rPr lang="zh-CN" altLang="en-US" sz="2800"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十进制数</a:t>
            </a:r>
            <a:r>
              <a:rPr lang="en-US" altLang="zh-CN" sz="2800"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50</a:t>
            </a:r>
            <a:r>
              <a:rPr lang="zh-CN" altLang="en-US" sz="2800"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对应的二进制数为</a:t>
            </a:r>
            <a:r>
              <a:rPr lang="en-US" altLang="zh-CN" sz="2800">
                <a:solidFill>
                  <a:schemeClr val="tx1"/>
                </a:solidFill>
                <a:effectLst/>
                <a:latin typeface="Times New Roman" pitchFamily="18" charset="0"/>
                <a:ea typeface="黑体" pitchFamily="2" charset="-122"/>
              </a:rPr>
              <a:t>0011 0010 </a:t>
            </a:r>
          </a:p>
        </p:txBody>
      </p:sp>
    </p:spTree>
    <p:extLst>
      <p:ext uri="{BB962C8B-B14F-4D97-AF65-F5344CB8AC3E}">
        <p14:creationId xmlns:p14="http://schemas.microsoft.com/office/powerpoint/2010/main" val="351801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数字时钟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设计一个数字钟</a:t>
            </a:r>
            <a:r>
              <a:rPr lang="zh-CN" altLang="en-US" dirty="0" smtClean="0"/>
              <a:t>，使用</a:t>
            </a:r>
            <a:r>
              <a:rPr lang="en-US" altLang="zh-CN" dirty="0" smtClean="0"/>
              <a:t>74LS161</a:t>
            </a:r>
            <a:r>
              <a:rPr lang="zh-CN" altLang="en-US" dirty="0" smtClean="0"/>
              <a:t>模块，设计</a:t>
            </a:r>
            <a:r>
              <a:rPr lang="en-US" altLang="zh-CN" dirty="0" smtClean="0"/>
              <a:t>60</a:t>
            </a:r>
            <a:r>
              <a:rPr lang="zh-CN" altLang="en-US" dirty="0"/>
              <a:t>进制和</a:t>
            </a:r>
            <a:r>
              <a:rPr lang="en-US" altLang="zh-CN" dirty="0"/>
              <a:t>24</a:t>
            </a:r>
            <a:r>
              <a:rPr lang="zh-CN" altLang="en-US" dirty="0"/>
              <a:t>进制计数器，实现</a:t>
            </a:r>
            <a:r>
              <a:rPr lang="en-US" altLang="zh-CN" dirty="0"/>
              <a:t>24</a:t>
            </a:r>
            <a:r>
              <a:rPr lang="zh-CN" altLang="en-US" dirty="0"/>
              <a:t>小时内时间的实时显示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/>
              <a:t>数字钟的初值</a:t>
            </a:r>
            <a:r>
              <a:rPr lang="zh-CN" altLang="en-US" dirty="0" smtClean="0"/>
              <a:t>通过计数器同步置位的方式实现，默认加载</a:t>
            </a:r>
            <a:r>
              <a:rPr lang="en-US" altLang="zh-CN" dirty="0" smtClean="0"/>
              <a:t>23:58:30</a:t>
            </a:r>
            <a:r>
              <a:rPr lang="zh-CN" altLang="en-US" dirty="0" smtClean="0"/>
              <a:t>。选择大实验板上的</a:t>
            </a:r>
            <a:r>
              <a:rPr lang="en-US" altLang="zh-CN" dirty="0" smtClean="0"/>
              <a:t>6</a:t>
            </a:r>
            <a:r>
              <a:rPr lang="zh-CN" altLang="en-US" dirty="0" smtClean="0"/>
              <a:t>个数码管显示，前</a:t>
            </a:r>
            <a:r>
              <a:rPr lang="zh-CN" altLang="en-US" dirty="0"/>
              <a:t>两位显示</a:t>
            </a:r>
            <a:r>
              <a:rPr lang="zh-CN" altLang="en-US" dirty="0">
                <a:solidFill>
                  <a:srgbClr val="FF0000"/>
                </a:solidFill>
              </a:rPr>
              <a:t>小时</a:t>
            </a:r>
            <a:r>
              <a:rPr lang="zh-CN" altLang="en-US" dirty="0"/>
              <a:t>的十位和个位</a:t>
            </a:r>
            <a:r>
              <a:rPr lang="zh-CN" altLang="en-US" dirty="0" smtClean="0"/>
              <a:t>，中间两</a:t>
            </a:r>
            <a:r>
              <a:rPr lang="zh-CN" altLang="en-US" dirty="0"/>
              <a:t>位显示</a:t>
            </a:r>
            <a:r>
              <a:rPr lang="zh-CN" altLang="en-US" dirty="0">
                <a:solidFill>
                  <a:srgbClr val="FF0000"/>
                </a:solidFill>
              </a:rPr>
              <a:t>分钟</a:t>
            </a:r>
            <a:r>
              <a:rPr lang="zh-CN" altLang="en-US" dirty="0"/>
              <a:t>的十位和</a:t>
            </a:r>
            <a:r>
              <a:rPr lang="zh-CN" altLang="en-US" dirty="0" smtClean="0"/>
              <a:t>个位，最后两位显示秒的十位和个位。</a:t>
            </a:r>
            <a:endParaRPr lang="zh-CN" altLang="en-US" dirty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8381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实验内容与</a:t>
            </a:r>
            <a:r>
              <a:rPr lang="zh-CN" altLang="en-US" dirty="0" smtClean="0"/>
              <a:t>步骤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任务</a:t>
            </a:r>
            <a:r>
              <a:rPr lang="en-US" altLang="zh-CN" dirty="0"/>
              <a:t>1</a:t>
            </a:r>
            <a:r>
              <a:rPr lang="zh-CN" altLang="en-US" dirty="0"/>
              <a:t>：采用行为描述设计同步四位二进制计数器</a:t>
            </a:r>
            <a:r>
              <a:rPr lang="en-US" altLang="zh-CN" dirty="0"/>
              <a:t>74LS161</a:t>
            </a:r>
            <a:endParaRPr lang="zh-CN" altLang="en-US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任务</a:t>
            </a:r>
            <a:r>
              <a:rPr lang="en-US" altLang="zh-CN" dirty="0"/>
              <a:t>2</a:t>
            </a:r>
            <a:r>
              <a:rPr lang="zh-CN" altLang="en-US" dirty="0" smtClean="0"/>
              <a:t>：基于</a:t>
            </a:r>
            <a:r>
              <a:rPr lang="en-US" altLang="zh-CN" dirty="0" smtClean="0"/>
              <a:t>74LS161</a:t>
            </a:r>
            <a:r>
              <a:rPr lang="zh-CN" altLang="en-US" dirty="0"/>
              <a:t>设计</a:t>
            </a:r>
            <a:r>
              <a:rPr lang="zh-CN" altLang="en-US" dirty="0" smtClean="0"/>
              <a:t>时钟</a:t>
            </a:r>
            <a:r>
              <a:rPr lang="zh-CN" altLang="en-US" dirty="0"/>
              <a:t>应用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7516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509520" cy="95436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设计同步四位二进制计数器</a:t>
            </a:r>
            <a:r>
              <a:rPr lang="en-US" altLang="zh-CN" dirty="0"/>
              <a:t>74LS161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/>
          </a:bodyPr>
          <a:lstStyle/>
          <a:p>
            <a:r>
              <a:rPr lang="zh-CN" altLang="en-US" dirty="0"/>
              <a:t>新建</a:t>
            </a:r>
            <a:r>
              <a:rPr lang="zh-CN" altLang="en-US" dirty="0" smtClean="0"/>
              <a:t>工程</a:t>
            </a:r>
            <a:r>
              <a:rPr lang="en-US" altLang="zh-CN" dirty="0"/>
              <a:t>My74LS161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用行为描述设计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CR</a:t>
            </a:r>
            <a:r>
              <a:rPr lang="zh-CN" altLang="en-US" dirty="0" smtClean="0"/>
              <a:t>是异步清零，低电平有效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LD</a:t>
            </a:r>
            <a:r>
              <a:rPr lang="zh-CN" altLang="en-US" dirty="0" smtClean="0"/>
              <a:t>是同步置位，低电平有效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26710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激励代码</a:t>
            </a: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1700807"/>
            <a:ext cx="3600666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	initial begin</a:t>
            </a:r>
          </a:p>
          <a:p>
            <a:r>
              <a:rPr lang="en-US" altLang="zh-CN" sz="2400" dirty="0"/>
              <a:t>		CR = 0;</a:t>
            </a:r>
          </a:p>
          <a:p>
            <a:r>
              <a:rPr lang="en-US" altLang="zh-CN" sz="2400" dirty="0"/>
              <a:t>		D = 0;</a:t>
            </a:r>
          </a:p>
          <a:p>
            <a:r>
              <a:rPr lang="en-US" altLang="zh-CN" sz="2400" dirty="0"/>
              <a:t>		CTP = 0;</a:t>
            </a:r>
          </a:p>
          <a:p>
            <a:r>
              <a:rPr lang="en-US" altLang="zh-CN" sz="2400" dirty="0"/>
              <a:t>		CTT = 0;</a:t>
            </a:r>
          </a:p>
          <a:p>
            <a:r>
              <a:rPr lang="en-US" altLang="zh-CN" sz="2400" dirty="0"/>
              <a:t>		</a:t>
            </a:r>
            <a:r>
              <a:rPr lang="en-US" altLang="zh-CN" sz="2400" dirty="0" err="1"/>
              <a:t>Ld</a:t>
            </a:r>
            <a:r>
              <a:rPr lang="en-US" altLang="zh-CN" sz="2400" dirty="0"/>
              <a:t> = 0</a:t>
            </a:r>
            <a:r>
              <a:rPr lang="en-US" altLang="zh-CN" sz="2400" dirty="0" smtClean="0"/>
              <a:t>;</a:t>
            </a:r>
          </a:p>
          <a:p>
            <a:endParaRPr lang="en-US" altLang="zh-CN" sz="2400" dirty="0"/>
          </a:p>
          <a:p>
            <a:r>
              <a:rPr lang="en-US" altLang="zh-CN" sz="2400" dirty="0"/>
              <a:t>		#100;</a:t>
            </a:r>
          </a:p>
          <a:p>
            <a:r>
              <a:rPr lang="en-US" altLang="zh-CN" sz="2400" dirty="0"/>
              <a:t>		CR = 1;</a:t>
            </a:r>
          </a:p>
          <a:p>
            <a:r>
              <a:rPr lang="en-US" altLang="zh-CN" sz="2400" dirty="0"/>
              <a:t>		</a:t>
            </a:r>
            <a:r>
              <a:rPr lang="en-US" altLang="zh-CN" sz="2400" dirty="0" err="1"/>
              <a:t>Ld</a:t>
            </a:r>
            <a:r>
              <a:rPr lang="en-US" altLang="zh-CN" sz="2400" dirty="0"/>
              <a:t> = 1;</a:t>
            </a:r>
          </a:p>
          <a:p>
            <a:r>
              <a:rPr lang="en-US" altLang="zh-CN" sz="2400" dirty="0"/>
              <a:t>		D = 4'b1100;</a:t>
            </a:r>
          </a:p>
          <a:p>
            <a:r>
              <a:rPr lang="en-US" altLang="zh-CN" sz="2400" dirty="0"/>
              <a:t>		CTT = 0;</a:t>
            </a:r>
          </a:p>
          <a:p>
            <a:r>
              <a:rPr lang="en-US" altLang="zh-CN" sz="2400" dirty="0"/>
              <a:t>		CTP = 0;</a:t>
            </a:r>
            <a:endParaRPr lang="zh-CN" alt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4788024" y="1847134"/>
            <a:ext cx="356469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		#30 CR = 0;</a:t>
            </a:r>
          </a:p>
          <a:p>
            <a:r>
              <a:rPr lang="en-US" altLang="zh-CN" sz="2400" dirty="0"/>
              <a:t>		#20 CR = 1;</a:t>
            </a:r>
          </a:p>
          <a:p>
            <a:r>
              <a:rPr lang="en-US" altLang="zh-CN" sz="2400" dirty="0"/>
              <a:t>		#10 </a:t>
            </a:r>
            <a:r>
              <a:rPr lang="en-US" altLang="zh-CN" sz="2400" dirty="0" err="1"/>
              <a:t>Ld</a:t>
            </a:r>
            <a:r>
              <a:rPr lang="en-US" altLang="zh-CN" sz="2400" dirty="0"/>
              <a:t> = 0;</a:t>
            </a:r>
          </a:p>
          <a:p>
            <a:r>
              <a:rPr lang="en-US" altLang="zh-CN" sz="2400" dirty="0"/>
              <a:t>		#30 CTT = 1;</a:t>
            </a:r>
          </a:p>
          <a:p>
            <a:r>
              <a:rPr lang="en-US" altLang="zh-CN" sz="2400" dirty="0"/>
              <a:t>		CTP = 1;</a:t>
            </a:r>
          </a:p>
          <a:p>
            <a:r>
              <a:rPr lang="en-US" altLang="zh-CN" sz="2400" dirty="0"/>
              <a:t>		#10 </a:t>
            </a:r>
            <a:r>
              <a:rPr lang="en-US" altLang="zh-CN" sz="2400" dirty="0" err="1"/>
              <a:t>Ld</a:t>
            </a:r>
            <a:r>
              <a:rPr lang="en-US" altLang="zh-CN" sz="2400" dirty="0"/>
              <a:t> = 1</a:t>
            </a:r>
            <a:r>
              <a:rPr lang="en-US" altLang="zh-CN" sz="2400" dirty="0" smtClean="0"/>
              <a:t>;</a:t>
            </a:r>
          </a:p>
          <a:p>
            <a:endParaRPr lang="en-US" altLang="zh-CN" sz="2400" dirty="0"/>
          </a:p>
          <a:p>
            <a:r>
              <a:rPr lang="en-US" altLang="zh-CN" sz="2400" dirty="0"/>
              <a:t>		</a:t>
            </a:r>
            <a:r>
              <a:rPr lang="en-US" altLang="zh-CN" sz="2400" dirty="0" smtClean="0"/>
              <a:t>#</a:t>
            </a:r>
            <a:r>
              <a:rPr lang="en-US" altLang="zh-CN" sz="2400" dirty="0"/>
              <a:t>510;</a:t>
            </a:r>
          </a:p>
          <a:p>
            <a:r>
              <a:rPr lang="en-US" altLang="zh-CN" sz="2400" dirty="0"/>
              <a:t>		CR = 0;</a:t>
            </a:r>
          </a:p>
          <a:p>
            <a:r>
              <a:rPr lang="en-US" altLang="zh-CN" sz="2400" dirty="0"/>
              <a:t>		#20 CR = 1;</a:t>
            </a:r>
          </a:p>
          <a:p>
            <a:r>
              <a:rPr lang="en-US" altLang="zh-CN" sz="2400" dirty="0"/>
              <a:t>		#500;</a:t>
            </a:r>
          </a:p>
          <a:p>
            <a:r>
              <a:rPr lang="en-US" altLang="zh-CN" sz="2400" dirty="0"/>
              <a:t>	end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471499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行为仿真波形示例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2" y="1600200"/>
            <a:ext cx="8979235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132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0832" y="242392"/>
            <a:ext cx="7509520" cy="954360"/>
          </a:xfrm>
        </p:spPr>
        <p:txBody>
          <a:bodyPr>
            <a:normAutofit/>
          </a:bodyPr>
          <a:lstStyle/>
          <a:p>
            <a:r>
              <a:rPr lang="zh-CN" altLang="en-US" dirty="0"/>
              <a:t>基于</a:t>
            </a:r>
            <a:r>
              <a:rPr lang="en-US" altLang="zh-CN" dirty="0"/>
              <a:t>74LS161</a:t>
            </a:r>
            <a:r>
              <a:rPr lang="zh-CN" altLang="en-US" dirty="0"/>
              <a:t>设计时钟</a:t>
            </a:r>
            <a:r>
              <a:rPr lang="zh-CN" altLang="en-US" dirty="0" smtClean="0"/>
              <a:t>应用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853136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/>
              <a:t>新建</a:t>
            </a:r>
            <a:r>
              <a:rPr lang="zh-CN" altLang="en-US" dirty="0" smtClean="0"/>
              <a:t>工程</a:t>
            </a:r>
            <a:r>
              <a:rPr lang="en-US" altLang="zh-CN" dirty="0" err="1"/>
              <a:t>MyClock</a:t>
            </a:r>
            <a:endParaRPr lang="en-US" altLang="zh-CN" dirty="0"/>
          </a:p>
          <a:p>
            <a:r>
              <a:rPr lang="zh-CN" altLang="en-US" dirty="0" smtClean="0"/>
              <a:t>用行为描述设计，并进行仿真验证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调用</a:t>
            </a:r>
            <a:r>
              <a:rPr lang="en-US" altLang="zh-CN" dirty="0" smtClean="0"/>
              <a:t>My74LS161</a:t>
            </a:r>
            <a:r>
              <a:rPr lang="zh-CN" altLang="en-US" dirty="0" smtClean="0"/>
              <a:t>，设计时、分、秒计数器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调用分频模块，每</a:t>
            </a:r>
            <a:r>
              <a:rPr lang="en-US" altLang="zh-CN" dirty="0" smtClean="0"/>
              <a:t>128</a:t>
            </a:r>
            <a:r>
              <a:rPr lang="zh-CN" altLang="en-US" dirty="0" smtClean="0"/>
              <a:t>个</a:t>
            </a:r>
            <a:r>
              <a:rPr lang="en-US" altLang="zh-CN" dirty="0" err="1" smtClean="0"/>
              <a:t>clk</a:t>
            </a:r>
            <a:r>
              <a:rPr lang="zh-CN" altLang="en-US" dirty="0" smtClean="0"/>
              <a:t>产生</a:t>
            </a:r>
            <a:r>
              <a:rPr lang="en-US" altLang="zh-CN" dirty="0" smtClean="0"/>
              <a:t>1</a:t>
            </a:r>
            <a:r>
              <a:rPr lang="zh-CN" altLang="en-US" dirty="0" smtClean="0"/>
              <a:t>个秒计数脉冲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调用实验</a:t>
            </a:r>
            <a:r>
              <a:rPr lang="en-US" altLang="zh-CN" dirty="0" smtClean="0"/>
              <a:t>13</a:t>
            </a:r>
            <a:r>
              <a:rPr lang="zh-CN" altLang="en-US" dirty="0" smtClean="0"/>
              <a:t>的</a:t>
            </a:r>
            <a:r>
              <a:rPr lang="en-US" altLang="zh-CN" dirty="0" smtClean="0"/>
              <a:t>8</a:t>
            </a:r>
            <a:r>
              <a:rPr lang="zh-CN" altLang="en-US" dirty="0" smtClean="0"/>
              <a:t>位数码管显示模块，在</a:t>
            </a:r>
            <a:r>
              <a:rPr lang="en-US" altLang="zh-CN" dirty="0" smtClean="0"/>
              <a:t>8</a:t>
            </a:r>
            <a:r>
              <a:rPr lang="zh-CN" altLang="en-US" dirty="0" smtClean="0"/>
              <a:t>位数码管上从左到右显示两位</a:t>
            </a:r>
            <a:r>
              <a:rPr lang="en-US" altLang="zh-CN" dirty="0" smtClean="0"/>
              <a:t>00</a:t>
            </a:r>
            <a:r>
              <a:rPr lang="zh-CN" altLang="en-US" dirty="0"/>
              <a:t>、</a:t>
            </a:r>
            <a:r>
              <a:rPr lang="zh-CN" altLang="en-US" dirty="0" smtClean="0"/>
              <a:t>时、分、秒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将</a:t>
            </a:r>
            <a:r>
              <a:rPr lang="en-US" altLang="zh-CN" dirty="0" smtClean="0"/>
              <a:t>SW[15]</a:t>
            </a:r>
            <a:r>
              <a:rPr lang="zh-CN" altLang="en-US" dirty="0" smtClean="0"/>
              <a:t>拨到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，初始化时钟为</a:t>
            </a:r>
            <a:r>
              <a:rPr lang="en-US" altLang="zh-CN" dirty="0" smtClean="0"/>
              <a:t>23:58:30</a:t>
            </a:r>
          </a:p>
          <a:p>
            <a:pPr lvl="1"/>
            <a:r>
              <a:rPr lang="zh-CN" altLang="en-US" dirty="0"/>
              <a:t>控制</a:t>
            </a:r>
            <a:r>
              <a:rPr lang="en-US" altLang="zh-CN" dirty="0" err="1"/>
              <a:t>clk</a:t>
            </a:r>
            <a:r>
              <a:rPr lang="zh-CN" altLang="en-US" dirty="0"/>
              <a:t>周期宽度和仿真时长，仿真到时钟输出</a:t>
            </a:r>
            <a:r>
              <a:rPr lang="en-US" altLang="zh-CN" dirty="0"/>
              <a:t>00:00:02</a:t>
            </a:r>
          </a:p>
          <a:p>
            <a:pPr lvl="1"/>
            <a:r>
              <a:rPr lang="zh-CN" altLang="en-US" dirty="0"/>
              <a:t>在仿真中中将</a:t>
            </a:r>
            <a:r>
              <a:rPr lang="en-US" altLang="zh-CN" dirty="0"/>
              <a:t>8</a:t>
            </a:r>
            <a:r>
              <a:rPr lang="zh-CN" altLang="en-US" dirty="0"/>
              <a:t>位数码管显示模块的输入数据加入仿真波形进行观察</a:t>
            </a:r>
            <a:endParaRPr lang="en-US" altLang="zh-CN" dirty="0"/>
          </a:p>
          <a:p>
            <a:pPr lvl="1"/>
            <a:r>
              <a:rPr lang="zh-CN" altLang="en-US" dirty="0"/>
              <a:t>同时输出</a:t>
            </a:r>
            <a:r>
              <a:rPr lang="en-US" altLang="zh-CN" dirty="0"/>
              <a:t>SEGCLK</a:t>
            </a:r>
            <a:r>
              <a:rPr lang="zh-CN" altLang="en-US" dirty="0"/>
              <a:t>和</a:t>
            </a:r>
            <a:r>
              <a:rPr lang="en-US" altLang="zh-CN" dirty="0"/>
              <a:t>SEGDT</a:t>
            </a:r>
            <a:r>
              <a:rPr lang="zh-CN" altLang="en-US" dirty="0"/>
              <a:t>，观察是否有正确输出</a:t>
            </a:r>
            <a:endParaRPr lang="en-US" altLang="zh-CN" dirty="0"/>
          </a:p>
          <a:p>
            <a:pPr lvl="1"/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422358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下载验证要求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下载验证</a:t>
            </a:r>
            <a:endParaRPr lang="en-US" altLang="zh-CN" dirty="0"/>
          </a:p>
          <a:p>
            <a:pPr lvl="1"/>
            <a:r>
              <a:rPr lang="zh-CN" altLang="en-US" dirty="0" smtClean="0"/>
              <a:t>将秒计数脉冲改成</a:t>
            </a:r>
            <a:r>
              <a:rPr lang="en-US" altLang="zh-CN" dirty="0" smtClean="0"/>
              <a:t>100ms</a:t>
            </a:r>
            <a:r>
              <a:rPr lang="zh-CN" altLang="en-US" dirty="0" smtClean="0"/>
              <a:t>周期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下载验证，要求时分秒计数值自动更新，显示清晰无残影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246380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WordArt 3"/>
          <p:cNvSpPr>
            <a:spLocks noChangeArrowheads="1" noChangeShapeType="1" noTextEdit="1"/>
          </p:cNvSpPr>
          <p:nvPr/>
        </p:nvSpPr>
        <p:spPr bwMode="gray">
          <a:xfrm>
            <a:off x="2051720" y="3212976"/>
            <a:ext cx="4724400" cy="609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altLang="zh-CN" sz="5400" b="1" kern="10" dirty="0">
                <a:ln w="28575">
                  <a:solidFill>
                    <a:schemeClr val="bg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89803" dir="2700000" algn="ctr" rotWithShape="0">
                    <a:srgbClr val="000000">
                      <a:alpha val="50000"/>
                    </a:srgbClr>
                  </a:outerShdw>
                </a:effectLst>
                <a:latin typeface="Verdana"/>
                <a:ea typeface="Verdana"/>
                <a:cs typeface="Verdana"/>
              </a:rPr>
              <a:t>Thank You !</a:t>
            </a:r>
            <a:endParaRPr lang="zh-CN" altLang="en-US" sz="5400" b="1" kern="10" dirty="0">
              <a:ln w="28575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1"/>
              </a:gradFill>
              <a:effectLst>
                <a:outerShdw dist="89803" dir="2700000" algn="ctr" rotWithShape="0">
                  <a:srgbClr val="000000">
                    <a:alpha val="50000"/>
                  </a:srgbClr>
                </a:outerShdw>
              </a:effectLst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269391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实验室PPT模版2013 beta1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3117</TotalTime>
  <Words>623</Words>
  <Application>Microsoft Office PowerPoint</Application>
  <PresentationFormat>全屏显示(4:3)</PresentationFormat>
  <Paragraphs>120</Paragraphs>
  <Slides>22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22</vt:i4>
      </vt:variant>
    </vt:vector>
  </HeadingPairs>
  <TitlesOfParts>
    <vt:vector size="36" baseType="lpstr">
      <vt:lpstr>黑体</vt:lpstr>
      <vt:lpstr>华文细黑</vt:lpstr>
      <vt:lpstr>楷体_GB2312</vt:lpstr>
      <vt:lpstr>宋体</vt:lpstr>
      <vt:lpstr>微软雅黑</vt:lpstr>
      <vt:lpstr>Arial</vt:lpstr>
      <vt:lpstr>Calibri</vt:lpstr>
      <vt:lpstr>Helvetica</vt:lpstr>
      <vt:lpstr>Times New Roman</vt:lpstr>
      <vt:lpstr>Verdana</vt:lpstr>
      <vt:lpstr>Wingdings</vt:lpstr>
      <vt:lpstr>自定义设计方案</vt:lpstr>
      <vt:lpstr>实验室PPT模版2013 beta1</vt:lpstr>
      <vt:lpstr>1_自定义设计方案</vt:lpstr>
      <vt:lpstr>数字逻辑设计实验</vt:lpstr>
      <vt:lpstr>提  纲</vt:lpstr>
      <vt:lpstr>实验目的</vt:lpstr>
      <vt:lpstr>实验设备与材料</vt:lpstr>
      <vt:lpstr>实验任务</vt:lpstr>
      <vt:lpstr>实验原理</vt:lpstr>
      <vt:lpstr>同步四位二进制计数器74LS161</vt:lpstr>
      <vt:lpstr>74LS161功能描述</vt:lpstr>
      <vt:lpstr>74LS161功能表</vt:lpstr>
      <vt:lpstr>74LS161时序图</vt:lpstr>
      <vt:lpstr>异步清零的verilog代码写法</vt:lpstr>
      <vt:lpstr>实现十进制计数器</vt:lpstr>
      <vt:lpstr>实现16×16进制计数器</vt:lpstr>
      <vt:lpstr>实现50进制计数器</vt:lpstr>
      <vt:lpstr>数字时钟</vt:lpstr>
      <vt:lpstr>实验内容与步骤</vt:lpstr>
      <vt:lpstr>设计同步四位二进制计数器74LS161</vt:lpstr>
      <vt:lpstr>激励代码</vt:lpstr>
      <vt:lpstr>行为仿真波形示例</vt:lpstr>
      <vt:lpstr>基于74LS161设计时钟应用</vt:lpstr>
      <vt:lpstr>下载验证要求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xu3stones</dc:creator>
  <cp:lastModifiedBy>Think</cp:lastModifiedBy>
  <cp:revision>380</cp:revision>
  <dcterms:created xsi:type="dcterms:W3CDTF">2011-08-03T07:44:17Z</dcterms:created>
  <dcterms:modified xsi:type="dcterms:W3CDTF">2025-02-18T12:53:04Z</dcterms:modified>
</cp:coreProperties>
</file>