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2"/>
  </p:notesMasterIdLst>
  <p:sldIdLst>
    <p:sldId id="256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9" r:id="rId12"/>
    <p:sldId id="280" r:id="rId13"/>
    <p:sldId id="277" r:id="rId14"/>
    <p:sldId id="278" r:id="rId15"/>
    <p:sldId id="281" r:id="rId16"/>
    <p:sldId id="284" r:id="rId17"/>
    <p:sldId id="285" r:id="rId18"/>
    <p:sldId id="286" r:id="rId19"/>
    <p:sldId id="289" r:id="rId20"/>
    <p:sldId id="290" r:id="rId21"/>
    <p:sldId id="303" r:id="rId22"/>
    <p:sldId id="304" r:id="rId23"/>
    <p:sldId id="300" r:id="rId24"/>
    <p:sldId id="301" r:id="rId25"/>
    <p:sldId id="288" r:id="rId26"/>
    <p:sldId id="306" r:id="rId27"/>
    <p:sldId id="305" r:id="rId28"/>
    <p:sldId id="298" r:id="rId29"/>
    <p:sldId id="295" r:id="rId30"/>
    <p:sldId id="269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274"/>
            <p14:sldId id="275"/>
            <p14:sldId id="276"/>
            <p14:sldId id="279"/>
            <p14:sldId id="280"/>
            <p14:sldId id="277"/>
            <p14:sldId id="278"/>
            <p14:sldId id="281"/>
            <p14:sldId id="284"/>
            <p14:sldId id="285"/>
            <p14:sldId id="286"/>
            <p14:sldId id="289"/>
            <p14:sldId id="290"/>
            <p14:sldId id="303"/>
            <p14:sldId id="304"/>
            <p14:sldId id="300"/>
            <p14:sldId id="301"/>
            <p14:sldId id="288"/>
            <p14:sldId id="306"/>
            <p14:sldId id="305"/>
            <p14:sldId id="298"/>
            <p14:sldId id="295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2100" autoAdjust="0"/>
  </p:normalViewPr>
  <p:slideViewPr>
    <p:cSldViewPr>
      <p:cViewPr varScale="1">
        <p:scale>
          <a:sx n="69" d="100"/>
          <a:sy n="69" d="100"/>
        </p:scale>
        <p:origin x="1575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 dirty="0">
                <a:solidFill>
                  <a:schemeClr val="tx1"/>
                </a:solidFill>
                <a:ea typeface="宋体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5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、变量译码器设计与应用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  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  <a:endParaRPr lang="en-US" altLang="zh-CN" dirty="0"/>
          </a:p>
          <a:p>
            <a:r>
              <a:rPr lang="zh-CN" altLang="en-US" dirty="0"/>
              <a:t>实验设备与材料</a:t>
            </a:r>
            <a:endParaRPr lang="en-US" altLang="zh-CN" dirty="0"/>
          </a:p>
          <a:p>
            <a:r>
              <a:rPr lang="zh-CN" altLang="en-US" dirty="0"/>
              <a:t>实验任务</a:t>
            </a:r>
            <a:endParaRPr lang="en-US" altLang="zh-CN" dirty="0"/>
          </a:p>
          <a:p>
            <a:r>
              <a:rPr lang="zh-CN" altLang="en-US" dirty="0"/>
              <a:t>实验原理</a:t>
            </a:r>
            <a:endParaRPr lang="en-US" altLang="zh-CN" dirty="0"/>
          </a:p>
          <a:p>
            <a:r>
              <a:rPr lang="zh-CN" altLang="en-US" dirty="0"/>
              <a:t>实验内容与步骤</a:t>
            </a:r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507288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掌握变量译码器的的逻辑构成和逻辑功能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用变量译码器实现组合函数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采用原理图设计电路模块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进一步</a:t>
            </a:r>
            <a:r>
              <a:rPr lang="zh-CN" altLang="en-US" sz="2800" dirty="0" smtClean="0"/>
              <a:t>熟悉</a:t>
            </a:r>
            <a:r>
              <a:rPr lang="en-US" altLang="zh-CN" sz="2800" dirty="0" err="1" smtClean="0"/>
              <a:t>Vivado</a:t>
            </a:r>
            <a:r>
              <a:rPr lang="zh-CN" altLang="en-US" sz="2800" dirty="0" smtClean="0"/>
              <a:t>平台</a:t>
            </a:r>
            <a:r>
              <a:rPr lang="zh-CN" altLang="en-US" sz="2800" dirty="0"/>
              <a:t>及下载实验平台物理验证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实验设备与材料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</a:p>
          <a:p>
            <a:r>
              <a:rPr lang="zh-CN" altLang="en-US" dirty="0" smtClean="0"/>
              <a:t>实验</a:t>
            </a:r>
            <a:r>
              <a:rPr lang="zh-CN" altLang="en-US" dirty="0"/>
              <a:t>材料</a:t>
            </a:r>
          </a:p>
          <a:p>
            <a:pPr lvl="1"/>
            <a:r>
              <a:rPr lang="zh-CN" altLang="en-US" dirty="0"/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原理图设计实现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译码器模块</a:t>
            </a:r>
          </a:p>
          <a:p>
            <a:pPr>
              <a:lnSpc>
                <a:spcPct val="150000"/>
              </a:lnSpc>
            </a:pP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用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译码器实现楼道灯</a:t>
            </a:r>
            <a:r>
              <a:rPr lang="zh-CN" altLang="en-US" sz="2800" dirty="0" smtClean="0"/>
              <a:t>控制，具体功能和操作同实验四任务</a:t>
            </a:r>
            <a:r>
              <a:rPr lang="en-US" altLang="zh-CN" sz="2800" dirty="0" smtClean="0"/>
              <a:t>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译码器是将一种输入编码转换成另一种编码的电路，即将给定的代码进行“翻译”并转换成指定的状态或输出信号（脉冲或电平）</a:t>
            </a:r>
            <a:endParaRPr lang="en-US" altLang="zh-CN" sz="2800" dirty="0"/>
          </a:p>
          <a:p>
            <a:endParaRPr lang="zh-CN" altLang="en-US" sz="2800" dirty="0"/>
          </a:p>
          <a:p>
            <a:r>
              <a:rPr lang="zh-CN" altLang="en-US" sz="2800" dirty="0"/>
              <a:t>译码可分为：变量译码、显示译码</a:t>
            </a: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变量译码</a:t>
            </a:r>
            <a:r>
              <a:rPr lang="zh-CN" altLang="en-US" sz="2400" dirty="0"/>
              <a:t>一般是将一种较少位输入变为较多位输出的器件，如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zh-CN" altLang="en-US" sz="2400" dirty="0"/>
              <a:t>译码和</a:t>
            </a:r>
            <a:r>
              <a:rPr lang="en-US" altLang="zh-CN" sz="2400" dirty="0"/>
              <a:t>8421BCD</a:t>
            </a:r>
            <a:r>
              <a:rPr lang="zh-CN" altLang="en-US" sz="2400" dirty="0"/>
              <a:t>码译码</a:t>
            </a:r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显示译码</a:t>
            </a:r>
            <a:r>
              <a:rPr lang="zh-CN" altLang="en-US" sz="2400" dirty="0"/>
              <a:t>主要进行</a:t>
            </a:r>
            <a:r>
              <a:rPr lang="en-US" altLang="zh-CN" sz="2400" dirty="0"/>
              <a:t>2</a:t>
            </a:r>
            <a:r>
              <a:rPr lang="zh-CN" altLang="en-US" sz="2400" dirty="0"/>
              <a:t>进制数显示成</a:t>
            </a:r>
            <a:r>
              <a:rPr lang="en-US" altLang="zh-CN" sz="2400" dirty="0"/>
              <a:t>10</a:t>
            </a:r>
            <a:r>
              <a:rPr lang="zh-CN" altLang="en-US" sz="2400" dirty="0"/>
              <a:t>进制或</a:t>
            </a:r>
            <a:r>
              <a:rPr lang="en-US" altLang="zh-CN" sz="2400" dirty="0"/>
              <a:t>16</a:t>
            </a:r>
            <a:r>
              <a:rPr lang="zh-CN" altLang="en-US" sz="2400" dirty="0"/>
              <a:t>进制数的转换，可分为驱动</a:t>
            </a:r>
            <a:r>
              <a:rPr lang="en-US" altLang="zh-CN" sz="2400" dirty="0"/>
              <a:t>LED</a:t>
            </a:r>
            <a:r>
              <a:rPr lang="zh-CN" altLang="en-US" sz="2400" dirty="0"/>
              <a:t>和</a:t>
            </a:r>
            <a:r>
              <a:rPr lang="en-US" altLang="zh-CN" sz="2400" dirty="0"/>
              <a:t>LCD</a:t>
            </a:r>
            <a:r>
              <a:rPr lang="zh-CN" altLang="en-US" sz="2400" dirty="0"/>
              <a:t>两类</a:t>
            </a:r>
          </a:p>
        </p:txBody>
      </p:sp>
    </p:spTree>
    <p:extLst>
      <p:ext uri="{BB962C8B-B14F-4D97-AF65-F5344CB8AC3E}">
        <p14:creationId xmlns:p14="http://schemas.microsoft.com/office/powerpoint/2010/main" val="3547110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变量译码器是一个将</a:t>
            </a:r>
            <a:r>
              <a:rPr lang="en-US" altLang="zh-CN" i="1" dirty="0"/>
              <a:t>n</a:t>
            </a:r>
            <a:r>
              <a:rPr lang="zh-CN" altLang="en-US" dirty="0"/>
              <a:t>个输入变为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个最小项输出的多输出端的组合逻辑电路。</a:t>
            </a:r>
            <a:r>
              <a:rPr lang="en-US" altLang="zh-CN" i="1" dirty="0"/>
              <a:t>n</a:t>
            </a:r>
            <a:r>
              <a:rPr lang="zh-CN" altLang="en-US" dirty="0"/>
              <a:t>通常在</a:t>
            </a:r>
            <a:r>
              <a:rPr lang="en-US" altLang="zh-CN" dirty="0"/>
              <a:t>2~64</a:t>
            </a:r>
            <a:r>
              <a:rPr lang="zh-CN" altLang="en-US" dirty="0"/>
              <a:t>之间。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157795"/>
              </p:ext>
            </p:extLst>
          </p:nvPr>
        </p:nvGraphicFramePr>
        <p:xfrm>
          <a:off x="285750" y="3429000"/>
          <a:ext cx="85725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Visio" r:id="rId3" imgW="4652810" imgH="1115454" progId="Visio.Drawing.11">
                  <p:embed/>
                </p:oleObj>
              </mc:Choice>
              <mc:Fallback>
                <p:oleObj name="Visio" r:id="rId3" imgW="4652810" imgH="1115454" progId="Visio.Drawing.11">
                  <p:embed/>
                  <p:pic>
                    <p:nvPicPr>
                      <p:cNvPr id="0" name="变量译码器示意图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3429000"/>
                        <a:ext cx="857250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804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74LS138</a:t>
            </a:r>
            <a:r>
              <a:rPr lang="zh-CN" altLang="en-US" dirty="0"/>
              <a:t>变量译码器功能表和引脚</a:t>
            </a:r>
          </a:p>
        </p:txBody>
      </p:sp>
      <p:graphicFrame>
        <p:nvGraphicFramePr>
          <p:cNvPr id="4" name="74LS138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010005"/>
              </p:ext>
            </p:extLst>
          </p:nvPr>
        </p:nvGraphicFramePr>
        <p:xfrm>
          <a:off x="346968" y="2348880"/>
          <a:ext cx="3937000" cy="3855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3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3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输入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译码器输出</a:t>
                      </a:r>
                      <a:endParaRPr lang="en-US" altLang="zh-CN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（低电平有效）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使能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变量</a:t>
                      </a:r>
                    </a:p>
                  </a:txBody>
                  <a:tcPr marL="0" marR="0" marT="0" marB="0" anchor="ctr"/>
                </a:tc>
                <a:tc gridSpan="8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GG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2A</a:t>
                      </a:r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G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2B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 smtClean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ABC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2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3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4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5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6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7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000</a:t>
                      </a:r>
                      <a:endParaRPr lang="zh-CN" altLang="en-US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001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010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287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110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altLang="zh-CN" b="1" kern="1200" baseline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  <a:cs typeface="+mn-cs"/>
                        </a:rPr>
                        <a:t>0</a:t>
                      </a:r>
                      <a:endParaRPr kumimoji="0" lang="zh-CN" altLang="en-US" b="1" kern="1200" baseline="0" dirty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74LS138引脚图片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083157"/>
              </p:ext>
            </p:extLst>
          </p:nvPr>
        </p:nvGraphicFramePr>
        <p:xfrm>
          <a:off x="4663380" y="2600358"/>
          <a:ext cx="4229100" cy="3248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Visio" r:id="rId3" imgW="3043620" imgH="2499032" progId="Visio.Drawing.11">
                  <p:embed/>
                </p:oleObj>
              </mc:Choice>
              <mc:Fallback>
                <p:oleObj name="Visio" r:id="rId3" imgW="3043620" imgH="249903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380" y="2600358"/>
                        <a:ext cx="4229100" cy="32489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975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84784"/>
            <a:ext cx="3034680" cy="4525963"/>
          </a:xfrm>
        </p:spPr>
        <p:txBody>
          <a:bodyPr/>
          <a:lstStyle/>
          <a:p>
            <a:r>
              <a:rPr lang="zh-CN" altLang="en-US" dirty="0"/>
              <a:t>带</a:t>
            </a:r>
            <a:r>
              <a:rPr lang="en-US" altLang="zh-CN" dirty="0"/>
              <a:t>3</a:t>
            </a:r>
            <a:r>
              <a:rPr lang="zh-CN" altLang="en-US" dirty="0"/>
              <a:t>个使能端的</a:t>
            </a:r>
            <a:r>
              <a:rPr lang="en-US" altLang="zh-CN" dirty="0"/>
              <a:t>3-8</a:t>
            </a:r>
            <a:r>
              <a:rPr lang="zh-CN" altLang="en-US" dirty="0"/>
              <a:t>译码器的逻辑结构由三级门电路构成，输出低电平有效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735717"/>
              </p:ext>
            </p:extLst>
          </p:nvPr>
        </p:nvGraphicFramePr>
        <p:xfrm>
          <a:off x="3281808" y="1124744"/>
          <a:ext cx="5754688" cy="559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Visio" r:id="rId3" imgW="2957370" imgH="2876347" progId="Visio.Drawing.11">
                  <p:embed/>
                </p:oleObj>
              </mc:Choice>
              <mc:Fallback>
                <p:oleObj name="Visio" r:id="rId3" imgW="2957370" imgH="2876347" progId="Visio.Drawing.11">
                  <p:embed/>
                  <p:pic>
                    <p:nvPicPr>
                      <p:cNvPr id="0" name="3-8译码器逻辑图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808" y="1124744"/>
                        <a:ext cx="5754688" cy="559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01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—74LS138</a:t>
            </a:r>
            <a:endParaRPr lang="zh-CN" altLang="en-US" dirty="0"/>
          </a:p>
        </p:txBody>
      </p:sp>
      <p:sp>
        <p:nvSpPr>
          <p:cNvPr id="5" name="3-8译码器Verilog代码 10"/>
          <p:cNvSpPr/>
          <p:nvPr/>
        </p:nvSpPr>
        <p:spPr>
          <a:xfrm>
            <a:off x="457200" y="1282690"/>
            <a:ext cx="8001000" cy="5170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module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decoder_3_8(A,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B,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C,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G, G2A,G2B, Y);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input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wire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 A, B, C, G, G2A, G2B;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output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 </a:t>
            </a:r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wire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 [7:0] Y;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not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 	node_0_0(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A_n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A),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node_0_1(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B_n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B),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node_0_2(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C_n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C),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node_0_3(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G_n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G);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and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node_1_0(D0, 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B_n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</a:t>
            </a:r>
            <a:r>
              <a:rPr lang="en-US" altLang="zh-CN" sz="1600" b="1" dirty="0" err="1" smtClean="0">
                <a:latin typeface="Courier New" pitchFamily="49" charset="0"/>
                <a:ea typeface="新宋体" pitchFamily="49" charset="-122"/>
              </a:rPr>
              <a:t>C_n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node_1_1(D1, 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B_n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C 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node_1_2(D2, B,   </a:t>
            </a:r>
            <a:r>
              <a:rPr lang="en-US" altLang="zh-CN" sz="1600" b="1" dirty="0" err="1" smtClean="0">
                <a:latin typeface="Courier New" pitchFamily="49" charset="0"/>
                <a:ea typeface="新宋体" pitchFamily="49" charset="-122"/>
              </a:rPr>
              <a:t>C_n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node_1_3(D3, B,  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C 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);</a:t>
            </a:r>
          </a:p>
          <a:p>
            <a:r>
              <a:rPr lang="en-US" altLang="zh-CN" sz="1600" b="1" dirty="0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nor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node_1_4(EN, </a:t>
            </a:r>
            <a:r>
              <a:rPr lang="en-US" altLang="zh-CN" sz="1600" b="1" dirty="0" err="1">
                <a:latin typeface="Courier New" pitchFamily="49" charset="0"/>
                <a:ea typeface="新宋体" pitchFamily="49" charset="-122"/>
              </a:rPr>
              <a:t>G_n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, G2A, G2B);</a:t>
            </a:r>
          </a:p>
          <a:p>
            <a:r>
              <a:rPr lang="en-US" altLang="zh-CN" sz="1600" b="1" dirty="0" err="1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nand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node_2_0(Y[0], EN, D0, </a:t>
            </a:r>
            <a:r>
              <a:rPr lang="en-US" altLang="zh-CN" sz="1600" b="1" dirty="0" err="1" smtClean="0">
                <a:latin typeface="Courier New" pitchFamily="49" charset="0"/>
                <a:ea typeface="新宋体" pitchFamily="49" charset="-122"/>
              </a:rPr>
              <a:t>A_n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node_2_1(Y[1], EN, D1, </a:t>
            </a:r>
            <a:r>
              <a:rPr lang="en-US" altLang="zh-CN" sz="1600" b="1" dirty="0" err="1" smtClean="0">
                <a:latin typeface="Courier New" pitchFamily="49" charset="0"/>
                <a:ea typeface="新宋体" pitchFamily="49" charset="-122"/>
              </a:rPr>
              <a:t>A_n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node_2_2(Y[2], EN, D2, </a:t>
            </a:r>
            <a:r>
              <a:rPr lang="en-US" altLang="zh-CN" sz="1600" b="1" dirty="0" err="1" smtClean="0">
                <a:latin typeface="Courier New" pitchFamily="49" charset="0"/>
                <a:ea typeface="新宋体" pitchFamily="49" charset="-122"/>
              </a:rPr>
              <a:t>A_n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node_2_3(Y[3], EN, D3, </a:t>
            </a:r>
            <a:r>
              <a:rPr lang="en-US" altLang="zh-CN" sz="1600" b="1" dirty="0" err="1" smtClean="0">
                <a:latin typeface="Courier New" pitchFamily="49" charset="0"/>
                <a:ea typeface="新宋体" pitchFamily="49" charset="-122"/>
              </a:rPr>
              <a:t>A_n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node_2_4(Y[4], EN, D0,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A 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node_2_5(Y[5], EN, D1,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A 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node_2_6(Y[6], EN, D2,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A 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),</a:t>
            </a:r>
          </a:p>
          <a:p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	node_2_7(Y[7], EN, D3, </a:t>
            </a:r>
            <a:r>
              <a:rPr lang="en-US" altLang="zh-CN" sz="1600" b="1" dirty="0" smtClean="0">
                <a:latin typeface="Courier New" pitchFamily="49" charset="0"/>
                <a:ea typeface="新宋体" pitchFamily="49" charset="-122"/>
              </a:rPr>
              <a:t>A  </a:t>
            </a:r>
            <a:r>
              <a:rPr lang="en-US" altLang="zh-CN" sz="1600" b="1" dirty="0">
                <a:latin typeface="Courier New" pitchFamily="49" charset="0"/>
                <a:ea typeface="新宋体" pitchFamily="49" charset="-122"/>
              </a:rPr>
              <a:t>);</a:t>
            </a:r>
          </a:p>
          <a:p>
            <a:r>
              <a:rPr lang="en-US" altLang="zh-CN" sz="1600" b="1" dirty="0" err="1">
                <a:solidFill>
                  <a:srgbClr val="0000FF"/>
                </a:solidFill>
                <a:latin typeface="Courier New" pitchFamily="49" charset="0"/>
                <a:ea typeface="新宋体" pitchFamily="49" charset="-122"/>
              </a:rPr>
              <a:t>endmodule</a:t>
            </a:r>
            <a:endParaRPr lang="zh-CN" altLang="en-US" sz="1600" b="1" dirty="0">
              <a:solidFill>
                <a:srgbClr val="0000FF"/>
              </a:solidFill>
              <a:latin typeface="Courier New" pitchFamily="49" charset="0"/>
              <a:ea typeface="新宋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466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变量译码器</a:t>
            </a:r>
            <a:r>
              <a:rPr lang="en-US" altLang="zh-CN" dirty="0"/>
              <a:t>—74LS139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3970784" cy="4525963"/>
          </a:xfrm>
        </p:spPr>
        <p:txBody>
          <a:bodyPr/>
          <a:lstStyle/>
          <a:p>
            <a:r>
              <a:rPr lang="en-US" altLang="zh-CN" dirty="0"/>
              <a:t>74LS139</a:t>
            </a:r>
            <a:r>
              <a:rPr lang="zh-CN" altLang="en-US" dirty="0"/>
              <a:t>变量译码器功能表和引脚</a:t>
            </a:r>
          </a:p>
        </p:txBody>
      </p:sp>
      <p:graphicFrame>
        <p:nvGraphicFramePr>
          <p:cNvPr id="4" name="74LS139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464046"/>
              </p:ext>
            </p:extLst>
          </p:nvPr>
        </p:nvGraphicFramePr>
        <p:xfrm>
          <a:off x="5076056" y="1412776"/>
          <a:ext cx="3886202" cy="2484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输入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译码器输出</a:t>
                      </a:r>
                      <a:endParaRPr lang="en-US" altLang="zh-CN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  <a:p>
                      <a:pPr algn="ctr"/>
                      <a:r>
                        <a:rPr lang="zh-CN" altLang="en-US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（低电平有效）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使能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变量</a:t>
                      </a:r>
                    </a:p>
                  </a:txBody>
                  <a:tcPr marL="0" marR="0" marT="0" marB="0" anchor="ctr"/>
                </a:tc>
                <a:tc gridSpan="4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G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 smtClean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AB</a:t>
                      </a:r>
                      <a:endParaRPr lang="zh-CN" altLang="en-US" b="1" baseline="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="1" baseline="-2500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 dirty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2</a:t>
                      </a:r>
                      <a:endParaRPr lang="zh-CN" altLang="en-US" b="1" baseline="-25000" dirty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Y</a:t>
                      </a:r>
                      <a:r>
                        <a:rPr lang="en-US" altLang="zh-CN" b="1" baseline="-2500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3</a:t>
                      </a:r>
                      <a:endParaRPr lang="zh-CN" altLang="en-US" b="1" baseline="-2500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××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1</a:t>
                      </a:r>
                      <a:endParaRPr lang="zh-CN" altLang="en-US" baseline="0"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baseline="0" dirty="0">
                          <a:solidFill>
                            <a:srgbClr val="FF0000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Times New Roman" pitchFamily="18" charset="0"/>
                          <a:ea typeface="新宋体" pitchFamily="49" charset="-122"/>
                        </a:rPr>
                        <a:t>0</a:t>
                      </a:r>
                      <a:endParaRPr lang="zh-CN" altLang="en-US" b="1" baseline="0" dirty="0">
                        <a:solidFill>
                          <a:srgbClr val="FF0000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Times New Roman" pitchFamily="18" charset="0"/>
                        <a:ea typeface="新宋体" pitchFamily="49" charset="-122"/>
                      </a:endParaRP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74LS139引脚图片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473243"/>
              </p:ext>
            </p:extLst>
          </p:nvPr>
        </p:nvGraphicFramePr>
        <p:xfrm>
          <a:off x="270892" y="2708920"/>
          <a:ext cx="4229100" cy="324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Visio" r:id="rId3" imgW="3043949" imgH="2498967" progId="Visio.Drawing.11">
                  <p:embed/>
                </p:oleObj>
              </mc:Choice>
              <mc:Fallback>
                <p:oleObj name="Visio" r:id="rId3" imgW="3043949" imgH="249896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92" y="2708920"/>
                        <a:ext cx="4229100" cy="324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4572000" y="4077072"/>
            <a:ext cx="45720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decoder_2_4(B, A, G, Y,);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  //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端口及变量定义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case({B,A})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2’b00:Y=4’b0001;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2’b01:Y=4’b0010;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  2’b10:Y=4’b0100;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2’b11:Y=4’b0001;</a:t>
            </a:r>
          </a:p>
          <a:p>
            <a:pPr lvl="1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4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797552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用变量译码器</a:t>
            </a:r>
            <a:r>
              <a:rPr lang="zh-CN" altLang="en-US" dirty="0" smtClean="0"/>
              <a:t>实现楼道灯控制函数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变量译码器的输出对应所有输入变量的最小项组合，如果将函数转换成最小项和的形式，则可以用变量译码器实现函数的组合电路</a:t>
            </a:r>
            <a:r>
              <a:rPr lang="en-US" altLang="zh-CN" sz="2800" dirty="0"/>
              <a:t>: </a:t>
            </a:r>
          </a:p>
          <a:p>
            <a:pPr marL="0" indent="0">
              <a:buNone/>
            </a:pPr>
            <a:r>
              <a:rPr lang="en-US" altLang="zh-CN" sz="2800" dirty="0"/>
              <a:t>    </a:t>
            </a:r>
            <a:endParaRPr lang="zh-CN" altLang="en-US" sz="2800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563228"/>
              </p:ext>
            </p:extLst>
          </p:nvPr>
        </p:nvGraphicFramePr>
        <p:xfrm>
          <a:off x="1889149" y="3501008"/>
          <a:ext cx="5491163" cy="311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" name="Visio" r:id="rId3" imgW="4328970" imgH="2619172" progId="Visio.Drawing.11">
                  <p:embed/>
                </p:oleObj>
              </mc:Choice>
              <mc:Fallback>
                <p:oleObj name="Visio" r:id="rId3" imgW="4328970" imgH="2619172" progId="Visio.Drawing.11">
                  <p:embed/>
                  <p:pic>
                    <p:nvPicPr>
                      <p:cNvPr id="0" name="74LS138引脚图片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49" y="3501008"/>
                        <a:ext cx="5491163" cy="311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75656" y="3011488"/>
                <a:ext cx="5466881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011488"/>
                <a:ext cx="5466881" cy="462434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96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81528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用变量译码器实现楼道灯控制函数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612402" y="2060848"/>
            <a:ext cx="7920038" cy="1938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533400" indent="-533400" algn="just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module    </a:t>
            </a:r>
            <a:r>
              <a:rPr lang="en-US" altLang="zh-CN" sz="2000" b="1" dirty="0">
                <a:solidFill>
                  <a:schemeClr val="tx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lampCtr1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(s1, s2, s3, F);</a:t>
            </a:r>
          </a:p>
          <a:p>
            <a:pPr marL="533400" indent="-533400" algn="just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………………  //</a:t>
            </a:r>
            <a:r>
              <a:rPr lang="zh-CN" altLang="en-US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端口及变量定义</a:t>
            </a:r>
            <a:endParaRPr lang="en-US" altLang="zh-CN" sz="2000" b="1" dirty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marL="533400" indent="-533400" algn="just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decoder_3_8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Decoder3_8(</a:t>
            </a: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s3, s2, s1,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G, G2A,G2B, 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);</a:t>
            </a:r>
          </a:p>
          <a:p>
            <a:pPr marL="533400" indent="-533400" algn="just" eaLnBrk="1" hangingPunct="1">
              <a:buFont typeface="Wingdings" pitchFamily="2" charset="2"/>
              <a:buNone/>
              <a:defRPr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	</a:t>
            </a:r>
            <a:r>
              <a:rPr lang="en-US" altLang="zh-CN" sz="2000" b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nand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	   node(F, Y[1], Y[2], Y[4] , Y[7]);</a:t>
            </a:r>
          </a:p>
          <a:p>
            <a:pPr marL="533400" indent="-533400" algn="just" eaLnBrk="1" hangingPunct="1">
              <a:defRPr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endmodule</a:t>
            </a:r>
            <a:endParaRPr lang="en-US" altLang="zh-CN" sz="2000" b="1" dirty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marL="533400" indent="-533400" algn="just" eaLnBrk="1" hangingPunct="1">
              <a:buFont typeface="Wingdings" pitchFamily="2" charset="2"/>
              <a:buNone/>
              <a:defRPr/>
            </a:pPr>
            <a:endParaRPr lang="zh-CN" altLang="en-US" sz="2000" b="1" dirty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：原理图设计实现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译码器模块</a:t>
            </a:r>
          </a:p>
          <a:p>
            <a:pPr>
              <a:lnSpc>
                <a:spcPct val="150000"/>
              </a:lnSpc>
            </a:pP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：用</a:t>
            </a:r>
            <a:r>
              <a:rPr lang="en-US" altLang="zh-CN" sz="2800" dirty="0"/>
              <a:t>74LS138</a:t>
            </a:r>
            <a:r>
              <a:rPr lang="zh-CN" altLang="en-US" sz="2800" dirty="0"/>
              <a:t>译码器实现楼道灯控制器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67516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设计实现</a:t>
            </a:r>
            <a:r>
              <a:rPr lang="en-US" altLang="zh-CN" dirty="0"/>
              <a:t>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7"/>
            <a:ext cx="8229600" cy="72008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里画原理图，命名为</a:t>
            </a:r>
            <a:r>
              <a:rPr lang="en-US" altLang="zh-CN" dirty="0" smtClean="0"/>
              <a:t>D_74LS138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247991"/>
            <a:ext cx="6336704" cy="425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60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设计实现</a:t>
            </a:r>
            <a:r>
              <a:rPr lang="en-US" altLang="zh-CN" dirty="0"/>
              <a:t>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上设计测试用例，检查错误，将仿真结果写到实验报告里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导出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查看并学习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633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Vivado</a:t>
            </a:r>
            <a:r>
              <a:rPr lang="zh-CN" altLang="en-US" dirty="0" smtClean="0"/>
              <a:t>上仿真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在</a:t>
            </a:r>
            <a:r>
              <a:rPr lang="en-US" altLang="zh-CN" sz="2400" dirty="0" err="1" smtClean="0"/>
              <a:t>Vivado</a:t>
            </a:r>
            <a:r>
              <a:rPr lang="zh-CN" altLang="en-US" sz="2400" dirty="0" smtClean="0"/>
              <a:t>上新建</a:t>
            </a:r>
            <a:r>
              <a:rPr lang="zh-CN" altLang="en-US" sz="2400" dirty="0"/>
              <a:t>工程，工程名称用</a:t>
            </a:r>
            <a:r>
              <a:rPr lang="en-US" altLang="zh-CN" sz="2400" dirty="0"/>
              <a:t>D_74LS138_SCH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在</a:t>
            </a:r>
            <a:r>
              <a:rPr lang="en-US" altLang="zh-CN" sz="2400" dirty="0" err="1" smtClean="0"/>
              <a:t>Vivado</a:t>
            </a:r>
            <a:r>
              <a:rPr lang="zh-CN" altLang="en-US" sz="2400" dirty="0" smtClean="0"/>
              <a:t>上对</a:t>
            </a:r>
            <a:r>
              <a:rPr lang="en-US" altLang="zh-CN" sz="2400" dirty="0"/>
              <a:t>D_74LS138</a:t>
            </a:r>
            <a:r>
              <a:rPr lang="zh-CN" altLang="en-US" sz="2400" dirty="0"/>
              <a:t>模块进行仿真，激励代码如下：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45" y="2348880"/>
            <a:ext cx="46805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integer i;</a:t>
            </a:r>
          </a:p>
          <a:p>
            <a:r>
              <a:rPr lang="en-US" altLang="zh-CN" dirty="0"/>
              <a:t>	initial begin</a:t>
            </a:r>
          </a:p>
          <a:p>
            <a:r>
              <a:rPr lang="en-US" altLang="zh-CN" dirty="0"/>
              <a:t>		</a:t>
            </a:r>
            <a:r>
              <a:rPr lang="en-US" altLang="zh-CN" dirty="0" smtClean="0"/>
              <a:t>A </a:t>
            </a:r>
            <a:r>
              <a:rPr lang="en-US" altLang="zh-CN" dirty="0"/>
              <a:t>= 0;</a:t>
            </a:r>
          </a:p>
          <a:p>
            <a:r>
              <a:rPr lang="en-US" altLang="zh-CN" dirty="0"/>
              <a:t>		B = 0;</a:t>
            </a:r>
          </a:p>
          <a:p>
            <a:r>
              <a:rPr lang="en-US" altLang="zh-CN" dirty="0"/>
              <a:t>		</a:t>
            </a:r>
            <a:r>
              <a:rPr lang="en-US" altLang="zh-CN" dirty="0" smtClean="0"/>
              <a:t>C </a:t>
            </a:r>
            <a:r>
              <a:rPr lang="en-US" altLang="zh-CN" dirty="0"/>
              <a:t>= 0;</a:t>
            </a:r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		G = 1;</a:t>
            </a:r>
          </a:p>
          <a:p>
            <a:r>
              <a:rPr lang="en-US" altLang="zh-CN" dirty="0"/>
              <a:t>		G2A = 0;</a:t>
            </a:r>
          </a:p>
          <a:p>
            <a:r>
              <a:rPr lang="en-US" altLang="zh-CN" dirty="0"/>
              <a:t>		G2B = 0;</a:t>
            </a:r>
          </a:p>
          <a:p>
            <a:r>
              <a:rPr lang="en-US" altLang="zh-CN" dirty="0"/>
              <a:t>		#50;</a:t>
            </a:r>
          </a:p>
          <a:p>
            <a:endParaRPr lang="en-US" altLang="zh-CN" dirty="0"/>
          </a:p>
          <a:p>
            <a:r>
              <a:rPr lang="en-US" altLang="zh-CN" dirty="0"/>
              <a:t>		for (i=0; i&lt;=7;i=i+1) begin</a:t>
            </a:r>
          </a:p>
          <a:p>
            <a:r>
              <a:rPr lang="en-US" altLang="zh-CN" dirty="0"/>
              <a:t>			</a:t>
            </a:r>
            <a:r>
              <a:rPr lang="en-US" altLang="zh-CN" dirty="0" smtClean="0"/>
              <a:t>{A,B,C} </a:t>
            </a:r>
            <a:r>
              <a:rPr lang="en-US" altLang="zh-CN" dirty="0"/>
              <a:t>= i;</a:t>
            </a:r>
          </a:p>
          <a:p>
            <a:r>
              <a:rPr lang="en-US" altLang="zh-CN" dirty="0"/>
              <a:t>		#50;</a:t>
            </a:r>
          </a:p>
          <a:p>
            <a:r>
              <a:rPr lang="en-US" altLang="zh-CN" dirty="0"/>
              <a:t>		end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027481" y="2348880"/>
            <a:ext cx="387798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		assign G = 0;</a:t>
            </a:r>
          </a:p>
          <a:p>
            <a:r>
              <a:rPr lang="en-US" altLang="zh-CN" dirty="0"/>
              <a:t>		assign G2A = 0;</a:t>
            </a:r>
          </a:p>
          <a:p>
            <a:r>
              <a:rPr lang="en-US" altLang="zh-CN" dirty="0"/>
              <a:t>		assign G2B = 0;</a:t>
            </a:r>
          </a:p>
          <a:p>
            <a:r>
              <a:rPr lang="en-US" altLang="zh-CN" dirty="0"/>
              <a:t>		#50;</a:t>
            </a:r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		assign G = 1;</a:t>
            </a:r>
          </a:p>
          <a:p>
            <a:r>
              <a:rPr lang="en-US" altLang="zh-CN" dirty="0"/>
              <a:t>		assign G2A = 1;</a:t>
            </a:r>
          </a:p>
          <a:p>
            <a:r>
              <a:rPr lang="en-US" altLang="zh-CN" dirty="0"/>
              <a:t>		assign G2B = 0;</a:t>
            </a:r>
          </a:p>
          <a:p>
            <a:r>
              <a:rPr lang="en-US" altLang="zh-CN" dirty="0"/>
              <a:t>		#50;</a:t>
            </a:r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		assign G = 1;</a:t>
            </a:r>
          </a:p>
          <a:p>
            <a:r>
              <a:rPr lang="en-US" altLang="zh-CN" dirty="0"/>
              <a:t>		assign G2A = 0;</a:t>
            </a:r>
          </a:p>
          <a:p>
            <a:r>
              <a:rPr lang="en-US" altLang="zh-CN" dirty="0"/>
              <a:t>		assign G2B = 1;</a:t>
            </a:r>
          </a:p>
          <a:p>
            <a:r>
              <a:rPr lang="en-US" altLang="zh-CN" dirty="0"/>
              <a:t>		#50;		</a:t>
            </a:r>
          </a:p>
          <a:p>
            <a:r>
              <a:rPr lang="en-US" altLang="zh-CN" dirty="0"/>
              <a:t>	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0519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仿真波形</a:t>
            </a:r>
            <a:r>
              <a:rPr lang="zh-CN" altLang="en-US" dirty="0"/>
              <a:t>图示例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484784"/>
            <a:ext cx="6317928" cy="464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18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81528" cy="9543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Vivado</a:t>
            </a:r>
            <a:r>
              <a:rPr lang="zh-CN" altLang="en-US" dirty="0" smtClean="0"/>
              <a:t>中验证</a:t>
            </a:r>
            <a:r>
              <a:rPr lang="en-US" altLang="zh-CN" dirty="0" smtClean="0"/>
              <a:t>D_74LS138(1)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新建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文件“</a:t>
            </a:r>
            <a:r>
              <a:rPr lang="en-US" altLang="zh-CN" dirty="0"/>
              <a:t>D_74LS138_Test</a:t>
            </a:r>
            <a:r>
              <a:rPr lang="zh-CN" altLang="en-US" dirty="0" smtClean="0"/>
              <a:t>”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02" y="2348880"/>
            <a:ext cx="3240360" cy="22729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474" y="2420888"/>
            <a:ext cx="4340113" cy="12911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4005064"/>
            <a:ext cx="3918633" cy="245245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75856" y="3356992"/>
            <a:ext cx="391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96336" y="2981410"/>
            <a:ext cx="391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20072" y="5013176"/>
            <a:ext cx="391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4000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81528" cy="95436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Vivado</a:t>
            </a:r>
            <a:r>
              <a:rPr lang="zh-CN" altLang="en-US" dirty="0" smtClean="0"/>
              <a:t>中验证</a:t>
            </a:r>
            <a:r>
              <a:rPr lang="en-US" altLang="zh-CN" dirty="0" smtClean="0"/>
              <a:t>D_74LS138(2)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9"/>
            <a:ext cx="8229600" cy="79208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新建</a:t>
            </a:r>
            <a:r>
              <a:rPr lang="en-US" altLang="zh-CN" dirty="0" smtClean="0"/>
              <a:t>Verilog</a:t>
            </a:r>
            <a:r>
              <a:rPr lang="zh-CN" altLang="en-US" dirty="0" smtClean="0"/>
              <a:t>文件“</a:t>
            </a:r>
            <a:r>
              <a:rPr lang="en-US" altLang="zh-CN" dirty="0"/>
              <a:t>D_74LS138_Test</a:t>
            </a:r>
            <a:r>
              <a:rPr lang="zh-CN" altLang="en-US" dirty="0" smtClean="0"/>
              <a:t>”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547664" y="2039942"/>
            <a:ext cx="25922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dirty="0"/>
              <a:t>module D_74LS138_Test(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input S1,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input S2,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input S3,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input S4,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input S5,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input S6,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output [7:0] LED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);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D_74LS138 D1 (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.A(S3),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.B(S2),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.C(S1),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.G(S4),</a:t>
            </a:r>
          </a:p>
          <a:p>
            <a:pPr>
              <a:lnSpc>
                <a:spcPct val="90000"/>
              </a:lnSpc>
            </a:pPr>
            <a:r>
              <a:rPr lang="zh-CN" altLang="en-US" sz="1600" dirty="0"/>
              <a:t>    .G2A(S5),</a:t>
            </a:r>
          </a:p>
          <a:p>
            <a:pPr>
              <a:lnSpc>
                <a:spcPct val="90000"/>
              </a:lnSpc>
            </a:pPr>
            <a:r>
              <a:rPr lang="zh-CN" altLang="en-US" sz="1600" dirty="0" smtClean="0"/>
              <a:t>    .G2B(S6)</a:t>
            </a:r>
            <a:r>
              <a:rPr lang="en-US" altLang="zh-CN" sz="1600" dirty="0" smtClean="0"/>
              <a:t>,</a:t>
            </a:r>
          </a:p>
          <a:p>
            <a:pPr>
              <a:lnSpc>
                <a:spcPct val="90000"/>
              </a:lnSpc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.Y(LED)</a:t>
            </a:r>
            <a:endParaRPr lang="zh-CN" altLang="en-US" sz="1600" dirty="0" smtClean="0"/>
          </a:p>
          <a:p>
            <a:pPr>
              <a:lnSpc>
                <a:spcPct val="90000"/>
              </a:lnSpc>
            </a:pPr>
            <a:r>
              <a:rPr lang="zh-CN" altLang="en-US" sz="1600" dirty="0" smtClean="0"/>
              <a:t>    );    </a:t>
            </a:r>
          </a:p>
          <a:p>
            <a:pPr>
              <a:lnSpc>
                <a:spcPct val="90000"/>
              </a:lnSpc>
            </a:pPr>
            <a:r>
              <a:rPr lang="zh-CN" altLang="en-US" sz="1600" dirty="0" smtClean="0"/>
              <a:t>endmodule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2186210"/>
            <a:ext cx="4045898" cy="21158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364088" y="435765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工程目录树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10792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下载验证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832" y="1916832"/>
            <a:ext cx="405313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PACKAGE_PIN AA10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{S1}]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IOSTANDARD LVCMOS15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{S1}]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PACKAGE_PIN AB10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{S2}]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IOSTANDARD LVCMOS15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{S2}]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PACKAGE_PIN AA13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{S3}]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IOSTANDARD LVCMOS15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{S3}]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PACKAGE_PIN AA12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{S4}]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IOSTANDARD LVCMOS15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{S4}]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PACKAGE_PIN Y13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{S5}]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IOSTANDARD LVCMOS15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{S5}]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PACKAGE_PIN Y12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{S6}]</a:t>
            </a:r>
          </a:p>
          <a:p>
            <a:pPr marL="0" indent="0">
              <a:buNone/>
            </a:pP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set_property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IOSTANDARD LVCMOS15 [</a:t>
            </a:r>
            <a:r>
              <a:rPr lang="en-US" altLang="zh-CN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get_ports</a:t>
            </a:r>
            <a:r>
              <a:rPr lang="en-US" altLang="zh-CN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{S6</a:t>
            </a:r>
            <a:r>
              <a:rPr lang="en-US" altLang="zh-CN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23528" y="1268760"/>
            <a:ext cx="864096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sz="3200" b="1" kern="12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sz="2800" b="1" kern="120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 sz="24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 sz="2000" kern="1200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建立</a:t>
            </a:r>
            <a:r>
              <a:rPr lang="en-US" altLang="zh-CN" sz="2800" dirty="0" smtClean="0"/>
              <a:t>K7.xdf</a:t>
            </a:r>
            <a:r>
              <a:rPr lang="zh-CN" altLang="en-US" sz="2800" dirty="0" smtClean="0"/>
              <a:t>文件</a:t>
            </a:r>
            <a:r>
              <a:rPr lang="zh-CN" altLang="en-US" sz="2800" dirty="0"/>
              <a:t>：</a:t>
            </a:r>
            <a:endParaRPr lang="en-US" altLang="zh-CN" sz="2800" dirty="0"/>
          </a:p>
        </p:txBody>
      </p:sp>
      <p:sp>
        <p:nvSpPr>
          <p:cNvPr id="5" name="矩形 4"/>
          <p:cNvSpPr/>
          <p:nvPr/>
        </p:nvSpPr>
        <p:spPr>
          <a:xfrm>
            <a:off x="4283968" y="1772816"/>
            <a:ext cx="4572000" cy="3744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W23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{LED[0]}]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{LED[0]}]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AB26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{LED[1]}]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{LED[1]}]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Y25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{LED[2]}]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{LED[2]}]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AA23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{LED[3]}]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{LED[3]}]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Y23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{LED[4]}]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{LED[4]}]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Y22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{LED[5]}]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{LED[5]}]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AE21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{LED[6]}]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{LED[6]}]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PACKAGE_PIN AF24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{LED[7]}]</a:t>
            </a:r>
          </a:p>
          <a:p>
            <a:pPr>
              <a:spcBef>
                <a:spcPct val="20000"/>
              </a:spcBef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None/>
            </a:pP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set_property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IOSTANDARD LVCMOS33 [</a:t>
            </a:r>
            <a:r>
              <a:rPr lang="en-US" altLang="zh-CN" sz="1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get_ports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{LED[7]}]</a:t>
            </a:r>
          </a:p>
        </p:txBody>
      </p:sp>
    </p:spTree>
    <p:extLst>
      <p:ext uri="{BB962C8B-B14F-4D97-AF65-F5344CB8AC3E}">
        <p14:creationId xmlns:p14="http://schemas.microsoft.com/office/powerpoint/2010/main" val="77337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验证</a:t>
            </a:r>
            <a:r>
              <a:rPr lang="en-US" altLang="zh-CN" dirty="0"/>
              <a:t>D_74LS138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生成</a:t>
            </a:r>
            <a:r>
              <a:rPr lang="en-US" altLang="zh-CN" dirty="0" err="1" smtClean="0"/>
              <a:t>bitstream</a:t>
            </a:r>
            <a:r>
              <a:rPr lang="zh-CN" altLang="en-US" dirty="0" smtClean="0"/>
              <a:t>，下载到实验板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用</a:t>
            </a:r>
            <a:r>
              <a:rPr lang="en-US" altLang="zh-CN" dirty="0" smtClean="0"/>
              <a:t>S1-S6</a:t>
            </a:r>
            <a:r>
              <a:rPr lang="zh-CN" altLang="en-US" dirty="0" smtClean="0"/>
              <a:t>拨动开关</a:t>
            </a:r>
            <a:r>
              <a:rPr lang="zh-CN" altLang="en-US" dirty="0"/>
              <a:t>控制模块的输入，用</a:t>
            </a:r>
            <a:r>
              <a:rPr lang="en-US" altLang="zh-CN" dirty="0"/>
              <a:t>LED(7:0)</a:t>
            </a:r>
            <a:r>
              <a:rPr lang="zh-CN" altLang="en-US" dirty="0"/>
              <a:t>作为模块的输出，验证模块的</a:t>
            </a:r>
            <a:r>
              <a:rPr lang="zh-CN" altLang="en-US" dirty="0" smtClean="0"/>
              <a:t>功能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典型输入输出拍照，记录到实验报告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6422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：实现楼道灯</a:t>
            </a:r>
            <a:r>
              <a:rPr lang="zh-CN" altLang="en-US" dirty="0" smtClean="0"/>
              <a:t>控制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功能参考实验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的任务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zh-CN" altLang="en-US" sz="2800" dirty="0" smtClean="0"/>
              <a:t>在</a:t>
            </a:r>
            <a:r>
              <a:rPr lang="en-US" altLang="zh-CN" sz="2800" dirty="0" smtClean="0"/>
              <a:t>Digital</a:t>
            </a:r>
            <a:r>
              <a:rPr lang="zh-CN" altLang="en-US" sz="2800" dirty="0" smtClean="0"/>
              <a:t>新建电路并保存为文件</a:t>
            </a:r>
            <a:r>
              <a:rPr lang="en-US" altLang="zh-CN" sz="2800" dirty="0" smtClean="0"/>
              <a:t>LampCtrl138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/>
              <a:t>使用任务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建立的</a:t>
            </a:r>
            <a:r>
              <a:rPr lang="en-US" altLang="zh-CN" sz="2800" dirty="0" smtClean="0"/>
              <a:t>D_74LS138</a:t>
            </a:r>
            <a:r>
              <a:rPr lang="zh-CN" altLang="en-US" sz="2800" dirty="0" smtClean="0"/>
              <a:t>模块和一个</a:t>
            </a:r>
            <a:r>
              <a:rPr lang="en-US" altLang="zh-CN" sz="2800" dirty="0" smtClean="0"/>
              <a:t>4</a:t>
            </a:r>
            <a:r>
              <a:rPr lang="zh-CN" altLang="en-US" sz="2800" dirty="0" smtClean="0"/>
              <a:t>输入与非门实现三个开关的楼道灯控制逻辑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 smtClean="0"/>
              <a:t>D_74LS138</a:t>
            </a:r>
            <a:r>
              <a:rPr lang="zh-CN" altLang="en-US" sz="2800" dirty="0" smtClean="0"/>
              <a:t>输出是负逻辑的，所以译码器</a:t>
            </a:r>
            <a:r>
              <a:rPr lang="en-US" altLang="zh-CN" sz="2800" dirty="0" smtClean="0"/>
              <a:t>+</a:t>
            </a:r>
            <a:r>
              <a:rPr lang="zh-CN" altLang="en-US" sz="2800" dirty="0" smtClean="0"/>
              <a:t>或门实现逻辑函数时，或门就需要换成与非门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007074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：实现楼道灯</a:t>
            </a:r>
            <a:r>
              <a:rPr lang="zh-CN" altLang="en-US" dirty="0" smtClean="0"/>
              <a:t>控制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925144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把之前实验生成的</a:t>
            </a:r>
            <a:r>
              <a:rPr lang="en-US" altLang="zh-CN" sz="2800" dirty="0" smtClean="0"/>
              <a:t>D_74LS138.v</a:t>
            </a:r>
            <a:r>
              <a:rPr lang="zh-CN" altLang="en-US" sz="2800" dirty="0" smtClean="0"/>
              <a:t>文件放在</a:t>
            </a:r>
            <a:r>
              <a:rPr lang="en-US" altLang="zh-CN" sz="2800" dirty="0" smtClean="0"/>
              <a:t>LampCtrl138.dig</a:t>
            </a:r>
            <a:r>
              <a:rPr lang="zh-CN" altLang="en-US" sz="2800" dirty="0" smtClean="0"/>
              <a:t>相同的目录下</a:t>
            </a:r>
            <a:endParaRPr lang="en-US" altLang="zh-CN" sz="2800" dirty="0" smtClean="0"/>
          </a:p>
          <a:p>
            <a:r>
              <a:rPr lang="zh-CN" altLang="en-US" sz="2800" dirty="0" smtClean="0"/>
              <a:t>在“组件</a:t>
            </a:r>
            <a:r>
              <a:rPr lang="en-US" altLang="zh-CN" sz="2800" dirty="0" smtClean="0"/>
              <a:t>-&gt;</a:t>
            </a:r>
            <a:r>
              <a:rPr lang="zh-CN" altLang="en-US" sz="2800" dirty="0" smtClean="0"/>
              <a:t>自定义”下就可以看到</a:t>
            </a:r>
            <a:r>
              <a:rPr lang="en-US" altLang="zh-CN" sz="2800" dirty="0" smtClean="0"/>
              <a:t>D_74LS138</a:t>
            </a:r>
            <a:r>
              <a:rPr lang="zh-CN" altLang="en-US" sz="2800" dirty="0" smtClean="0"/>
              <a:t>模块，点击以后加入电路图中</a:t>
            </a:r>
            <a:endParaRPr lang="en-US" altLang="zh-CN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090898"/>
            <a:ext cx="3703889" cy="324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15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8157592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：实现楼道灯</a:t>
            </a:r>
            <a:r>
              <a:rPr lang="zh-CN" altLang="en-US" dirty="0" smtClean="0"/>
              <a:t>控制</a:t>
            </a:r>
            <a:r>
              <a:rPr lang="en-US" altLang="zh-CN" dirty="0" smtClean="0"/>
              <a:t>(3)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D_74LS138</a:t>
            </a:r>
            <a:r>
              <a:rPr lang="zh-CN" altLang="en-US" sz="2400" dirty="0" smtClean="0"/>
              <a:t>输出</a:t>
            </a:r>
            <a:r>
              <a:rPr lang="en-US" altLang="zh-CN" sz="2400" dirty="0" smtClean="0"/>
              <a:t>Y</a:t>
            </a:r>
            <a:r>
              <a:rPr lang="zh-CN" altLang="en-US" sz="2400" dirty="0" smtClean="0"/>
              <a:t>是总线，需要用分裂器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合并器分裂出各信号线</a:t>
            </a:r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zh-CN" altLang="en-US" sz="2400" dirty="0" smtClean="0"/>
              <a:t>用常量、地可以提供固定逻辑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输入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19299"/>
          <a:stretch/>
        </p:blipFill>
        <p:spPr>
          <a:xfrm>
            <a:off x="539552" y="3334706"/>
            <a:ext cx="4608513" cy="32192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3356992"/>
            <a:ext cx="2052638" cy="19764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02476" y="5466343"/>
            <a:ext cx="237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分裂器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合并器的设置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72303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原理图与仿真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67544" y="4797651"/>
            <a:ext cx="8363272" cy="1401019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导出</a:t>
            </a:r>
            <a:r>
              <a:rPr lang="en-US" altLang="zh-CN" sz="2400" dirty="0" smtClean="0"/>
              <a:t>Lampctrl138.v</a:t>
            </a:r>
            <a:r>
              <a:rPr lang="zh-CN" altLang="en-US" sz="2400" dirty="0" smtClean="0"/>
              <a:t>文件。</a:t>
            </a:r>
            <a:endParaRPr lang="en-US" altLang="zh-CN" sz="2400" dirty="0" smtClean="0"/>
          </a:p>
          <a:p>
            <a:r>
              <a:rPr lang="zh-CN" altLang="en-US" sz="2400" dirty="0" smtClean="0"/>
              <a:t>仿真波形文件、仿真波形输出应同</a:t>
            </a:r>
            <a:r>
              <a:rPr lang="zh-CN" altLang="en-US" sz="2400" dirty="0"/>
              <a:t>实验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任务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。加入测试用例，记录仿真波形写到实验报告中。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484784"/>
            <a:ext cx="6546909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94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下载验证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Vivado</a:t>
            </a:r>
            <a:r>
              <a:rPr lang="zh-CN" altLang="en-US" dirty="0" smtClean="0"/>
              <a:t>中新建工程，命名</a:t>
            </a:r>
            <a:r>
              <a:rPr lang="en-US" altLang="zh-CN" dirty="0" smtClean="0"/>
              <a:t>Lampctrl138</a:t>
            </a:r>
            <a:r>
              <a:rPr lang="zh-CN" altLang="en-US" dirty="0" smtClean="0"/>
              <a:t>，加入从</a:t>
            </a:r>
            <a:r>
              <a:rPr lang="en-US" altLang="zh-CN" dirty="0" smtClean="0"/>
              <a:t>Digital</a:t>
            </a:r>
            <a:r>
              <a:rPr lang="zh-CN" altLang="en-US" dirty="0" smtClean="0"/>
              <a:t>导出的</a:t>
            </a:r>
            <a:r>
              <a:rPr lang="en-US" altLang="zh-CN" dirty="0" smtClean="0"/>
              <a:t>Lampctrl138.v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参照实验</a:t>
            </a:r>
            <a:r>
              <a:rPr lang="en-US" altLang="zh-CN" dirty="0" smtClean="0"/>
              <a:t>4</a:t>
            </a:r>
            <a:r>
              <a:rPr lang="zh-CN" altLang="en-US" dirty="0" smtClean="0"/>
              <a:t>任务</a:t>
            </a:r>
            <a:r>
              <a:rPr lang="en-US" altLang="zh-CN" dirty="0" smtClean="0"/>
              <a:t>1</a:t>
            </a:r>
            <a:r>
              <a:rPr lang="zh-CN" altLang="en-US" dirty="0" smtClean="0"/>
              <a:t>创建约束文件，综合生成</a:t>
            </a:r>
            <a:r>
              <a:rPr lang="en-US" altLang="zh-CN" dirty="0" smtClean="0"/>
              <a:t>.bit</a:t>
            </a:r>
            <a:r>
              <a:rPr lang="zh-CN" altLang="en-US" dirty="0" smtClean="0"/>
              <a:t>文件后下载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SW[1]-SW[3]</a:t>
            </a:r>
            <a:r>
              <a:rPr lang="zh-CN" altLang="en-US" dirty="0" smtClean="0"/>
              <a:t>控制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LED</a:t>
            </a:r>
            <a:r>
              <a:rPr lang="zh-CN" altLang="en-US" dirty="0" smtClean="0"/>
              <a:t>开关，具体功能和操作同</a:t>
            </a:r>
            <a:r>
              <a:rPr lang="zh-CN" altLang="en-US" dirty="0"/>
              <a:t>实验</a:t>
            </a:r>
            <a:r>
              <a:rPr lang="en-US" altLang="zh-CN" dirty="0" smtClean="0"/>
              <a:t>4</a:t>
            </a:r>
            <a:r>
              <a:rPr lang="zh-CN" altLang="en-US" dirty="0" smtClean="0"/>
              <a:t>任务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，拍照记录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7125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2118</TotalTime>
  <Words>1382</Words>
  <Application>Microsoft Office PowerPoint</Application>
  <PresentationFormat>全屏显示(4:3)</PresentationFormat>
  <Paragraphs>369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黑体</vt:lpstr>
      <vt:lpstr>华文细黑</vt:lpstr>
      <vt:lpstr>楷体_GB2312</vt:lpstr>
      <vt:lpstr>宋体</vt:lpstr>
      <vt:lpstr>微软雅黑</vt:lpstr>
      <vt:lpstr>新宋体</vt:lpstr>
      <vt:lpstr>Arial</vt:lpstr>
      <vt:lpstr>Calibri</vt:lpstr>
      <vt:lpstr>Cambria Math</vt:lpstr>
      <vt:lpstr>Courier New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Visio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变量译码器</vt:lpstr>
      <vt:lpstr>变量译码器—74LS138</vt:lpstr>
      <vt:lpstr>变量译码器—74LS138</vt:lpstr>
      <vt:lpstr>变量译码器—74LS138</vt:lpstr>
      <vt:lpstr>变量译码器—74LS139</vt:lpstr>
      <vt:lpstr>用变量译码器实现楼道灯控制函数</vt:lpstr>
      <vt:lpstr>用变量译码器实现楼道灯控制函数</vt:lpstr>
      <vt:lpstr>实验内容与步骤</vt:lpstr>
      <vt:lpstr>设计实现74LS138</vt:lpstr>
      <vt:lpstr>设计实现74LS138</vt:lpstr>
      <vt:lpstr>在Vivado上仿真</vt:lpstr>
      <vt:lpstr>仿真波形图示例</vt:lpstr>
      <vt:lpstr>在Vivado中验证D_74LS138(1)</vt:lpstr>
      <vt:lpstr>在Vivado中验证D_74LS138(2)</vt:lpstr>
      <vt:lpstr>下载验证</vt:lpstr>
      <vt:lpstr>验证D_74LS138</vt:lpstr>
      <vt:lpstr>任务2：实现楼道灯控制(1)</vt:lpstr>
      <vt:lpstr>任务2：实现楼道灯控制(2)</vt:lpstr>
      <vt:lpstr>任务2：实现楼道灯控制(3)</vt:lpstr>
      <vt:lpstr>原理图与仿真</vt:lpstr>
      <vt:lpstr>下载验证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267</cp:revision>
  <dcterms:created xsi:type="dcterms:W3CDTF">2011-08-03T07:44:17Z</dcterms:created>
  <dcterms:modified xsi:type="dcterms:W3CDTF">2025-02-18T12:50:50Z</dcterms:modified>
</cp:coreProperties>
</file>